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walk the data team through the proposed changes to the monthly report, agree what we build, and confirm the open definitions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areas. Structure has the most items, so it gets four slides. eFAWATEERcom and ECCU get one each, then visual design and the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to 6 of the structure proposal on one slide. The next four slides show each in turn. Open question: where the remaining systems sit after IPS; I have left their order as it is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mock-up page. Headline numbers on top, then value share and volume share per system. IPS combines CliQ and JoMoPay, which is the same merge as the IPS section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six months: the Mar-26 rise of 11.8% looks like a new trend in a 3-month window, but December was nearly as high. More history lets readers separate a seasonal peak from a real change. Applies to every section, not just eFAWATEERcom.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formulas are my proposed wording, not agreed definitions. Ask the data team to confirm the denominators, especially what counts as an active account, and whether more rates should follow the same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5 by transactions in the mock-up: Telecommunication 2.2M, Water and Electricity 2.05M, Government Service 1.71M, Wallets and PSPs 588K, Financial Services 327K. The eight other categories are each 154K or less. The 95% figure is the Top 5 share of the categories listed on that page (about 6.88M of 7.25M).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layout sketch with placeholders, not data. Confirm where the technical return reasons come from and whether the monthly report breaks returned cheques down by reason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Ratios are WCAG contrast ratios measured from the mock-up colours. 4.5:1 is the usual minimum for body text. The status-pill and system-colour points are visual judgements from the overview mock-up,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getting an owner and a date for each of the four open points. Items 1 and 3 block the build; items 2 and 4 are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922"/>
                </a:solidFill>
                <a:latin typeface="IBM Plex Sans" pitchFamily="34" charset="0"/>
                <a:ea typeface="IBM Plex Sans" pitchFamily="34" charset="-122"/>
                <a:cs typeface="IBM Plex Sans" pitchFamily="34" charset="-120"/>
              </a:rPr>
              <a:t>JOPACC · MONTHLY REPORT</a:t>
            </a:r>
            <a:endParaRPr lang="en-US" sz="1400" dirty="0"/>
          </a:p>
        </p:txBody>
      </p:sp>
      <p:sp>
        <p:nvSpPr>
          <p:cNvPr id="3" name="Shape 1"/>
          <p:cNvSpPr/>
          <p:nvPr/>
        </p:nvSpPr>
        <p:spPr>
          <a:xfrm>
            <a:off x="812800" y="2171700"/>
            <a:ext cx="1016000" cy="76200"/>
          </a:xfrm>
          <a:prstGeom prst="rect">
            <a:avLst/>
          </a:prstGeom>
          <a:solidFill>
            <a:srgbClr val="F2A922"/>
          </a:solidFill>
          <a:ln/>
        </p:spPr>
      </p:sp>
      <p:sp>
        <p:nvSpPr>
          <p:cNvPr id="4" name="Text 2"/>
          <p:cNvSpPr/>
          <p:nvPr>
            <p:ph type="title"/>
          </p:nvPr>
        </p:nvSpPr>
        <p:spPr>
          <a:xfrm>
            <a:off x="812800" y="2501900"/>
            <a:ext cx="91567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IBM Plex Sans" pitchFamily="34" charset="0"/>
                <a:ea typeface="IBM Plex Sans" pitchFamily="34" charset="-122"/>
                <a:cs typeface="IBM Plex Sans" pitchFamily="34" charset="-120"/>
              </a:rPr>
              <a:t>Monthly report: proposed changes</a:t>
            </a:r>
            <a:endParaRPr lang="en-US" sz="6000" dirty="0"/>
          </a:p>
        </p:txBody>
      </p:sp>
      <p:sp>
        <p:nvSpPr>
          <p:cNvPr id="5" name="Text 3"/>
          <p:cNvSpPr/>
          <p:nvPr/>
        </p:nvSpPr>
        <p:spPr>
          <a:xfrm>
            <a:off x="812800" y="4356100"/>
            <a:ext cx="7848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CFD8"/>
                </a:solidFill>
                <a:latin typeface="IBM Plex Sans" pitchFamily="34" charset="0"/>
                <a:ea typeface="IBM Plex Sans" pitchFamily="34" charset="-122"/>
                <a:cs typeface="IBM Plex Sans" pitchFamily="34" charset="-120"/>
              </a:rPr>
              <a:t>Structure, eFAWATEERcom, ECCU and visual design</a:t>
            </a:r>
            <a:endParaRPr lang="en-US" sz="20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Data team review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Four areas of change</a:t>
            </a:r>
            <a:endParaRPr lang="en-US" sz="3600" dirty="0"/>
          </a:p>
        </p:txBody>
      </p:sp>
      <p:sp>
        <p:nvSpPr>
          <p:cNvPr id="3" name="Shape 1"/>
          <p:cNvSpPr/>
          <p:nvPr/>
        </p:nvSpPr>
        <p:spPr>
          <a:xfrm>
            <a:off x="815975" y="1725265"/>
            <a:ext cx="2482850" cy="2157611"/>
          </a:xfrm>
          <a:prstGeom prst="roundRect">
            <a:avLst>
              <a:gd name="adj" fmla="val 4562"/>
            </a:avLst>
          </a:prstGeom>
          <a:solidFill>
            <a:srgbClr val="FDFCFA"/>
          </a:solidFill>
          <a:ln w="6350">
            <a:solidFill>
              <a:srgbClr val="E2DFD6"/>
            </a:solidFill>
            <a:prstDash val="solid"/>
          </a:ln>
        </p:spPr>
      </p:sp>
      <p:sp>
        <p:nvSpPr>
          <p:cNvPr id="4" name="Text 2"/>
          <p:cNvSpPr/>
          <p:nvPr/>
        </p:nvSpPr>
        <p:spPr>
          <a:xfrm>
            <a:off x="10731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algn="ct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073150" y="2459930"/>
            <a:ext cx="22225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Report structure</a:t>
            </a:r>
            <a:endParaRPr lang="en-US" sz="2000" dirty="0"/>
          </a:p>
        </p:txBody>
      </p:sp>
      <p:sp>
        <p:nvSpPr>
          <p:cNvPr id="6" name="Text 4"/>
          <p:cNvSpPr/>
          <p:nvPr/>
        </p:nvSpPr>
        <p:spPr>
          <a:xfrm>
            <a:off x="1073150" y="2879030"/>
            <a:ext cx="20275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Six changes to sections, history and metrics</a:t>
            </a:r>
            <a:endParaRPr lang="en-US" sz="1400" dirty="0"/>
          </a:p>
        </p:txBody>
      </p:sp>
      <p:sp>
        <p:nvSpPr>
          <p:cNvPr id="7" name="Shape 5"/>
          <p:cNvSpPr/>
          <p:nvPr/>
        </p:nvSpPr>
        <p:spPr>
          <a:xfrm>
            <a:off x="3508375" y="1725265"/>
            <a:ext cx="2482850" cy="2157611"/>
          </a:xfrm>
          <a:prstGeom prst="roundRect">
            <a:avLst>
              <a:gd name="adj" fmla="val 4562"/>
            </a:avLst>
          </a:prstGeom>
          <a:solidFill>
            <a:srgbClr val="FDFCFA"/>
          </a:solidFill>
          <a:ln w="6350">
            <a:solidFill>
              <a:srgbClr val="E2DFD6"/>
            </a:solidFill>
            <a:prstDash val="solid"/>
          </a:ln>
        </p:spPr>
      </p:sp>
      <p:sp>
        <p:nvSpPr>
          <p:cNvPr id="8" name="Text 6"/>
          <p:cNvSpPr/>
          <p:nvPr/>
        </p:nvSpPr>
        <p:spPr>
          <a:xfrm>
            <a:off x="37655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algn="ct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2</a:t>
            </a:r>
            <a:endParaRPr lang="en-US" sz="1400" dirty="0"/>
          </a:p>
        </p:txBody>
      </p:sp>
      <p:sp>
        <p:nvSpPr>
          <p:cNvPr id="9" name="Text 7"/>
          <p:cNvSpPr/>
          <p:nvPr/>
        </p:nvSpPr>
        <p:spPr>
          <a:xfrm>
            <a:off x="3765550" y="2459930"/>
            <a:ext cx="22225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eFAWATEERcom</a:t>
            </a:r>
            <a:endParaRPr lang="en-US" sz="2000" dirty="0"/>
          </a:p>
        </p:txBody>
      </p:sp>
      <p:sp>
        <p:nvSpPr>
          <p:cNvPr id="10" name="Text 8"/>
          <p:cNvSpPr/>
          <p:nvPr/>
        </p:nvSpPr>
        <p:spPr>
          <a:xfrm>
            <a:off x="3765550" y="2879030"/>
            <a:ext cx="20275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Top 5 categories in the chart, the rest in a table</a:t>
            </a:r>
            <a:endParaRPr lang="en-US" sz="1400" dirty="0"/>
          </a:p>
        </p:txBody>
      </p:sp>
      <p:sp>
        <p:nvSpPr>
          <p:cNvPr id="11" name="Shape 9"/>
          <p:cNvSpPr/>
          <p:nvPr/>
        </p:nvSpPr>
        <p:spPr>
          <a:xfrm>
            <a:off x="6200775" y="1725265"/>
            <a:ext cx="2482850" cy="2157611"/>
          </a:xfrm>
          <a:prstGeom prst="roundRect">
            <a:avLst>
              <a:gd name="adj" fmla="val 4562"/>
            </a:avLst>
          </a:prstGeom>
          <a:solidFill>
            <a:srgbClr val="FDFCFA"/>
          </a:solidFill>
          <a:ln w="6350">
            <a:solidFill>
              <a:srgbClr val="E2DFD6"/>
            </a:solidFill>
            <a:prstDash val="solid"/>
          </a:ln>
        </p:spPr>
      </p:sp>
      <p:sp>
        <p:nvSpPr>
          <p:cNvPr id="12" name="Text 10"/>
          <p:cNvSpPr/>
          <p:nvPr/>
        </p:nvSpPr>
        <p:spPr>
          <a:xfrm>
            <a:off x="64579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algn="ct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3</a:t>
            </a:r>
            <a:endParaRPr lang="en-US" sz="1400" dirty="0"/>
          </a:p>
        </p:txBody>
      </p:sp>
      <p:sp>
        <p:nvSpPr>
          <p:cNvPr id="13" name="Text 11"/>
          <p:cNvSpPr/>
          <p:nvPr/>
        </p:nvSpPr>
        <p:spPr>
          <a:xfrm>
            <a:off x="6457950" y="2459930"/>
            <a:ext cx="202755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ECCU</a:t>
            </a:r>
            <a:endParaRPr lang="en-US" sz="2000" dirty="0"/>
          </a:p>
        </p:txBody>
      </p:sp>
      <p:sp>
        <p:nvSpPr>
          <p:cNvPr id="14" name="Text 12"/>
          <p:cNvSpPr/>
          <p:nvPr/>
        </p:nvSpPr>
        <p:spPr>
          <a:xfrm>
            <a:off x="6457950" y="2879030"/>
            <a:ext cx="202755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Highlight the top 3 technical reasons for returned cheques</a:t>
            </a:r>
            <a:endParaRPr lang="en-US" sz="1400" dirty="0"/>
          </a:p>
        </p:txBody>
      </p:sp>
      <p:sp>
        <p:nvSpPr>
          <p:cNvPr id="15" name="Shape 13"/>
          <p:cNvSpPr/>
          <p:nvPr/>
        </p:nvSpPr>
        <p:spPr>
          <a:xfrm>
            <a:off x="8893175" y="1725265"/>
            <a:ext cx="2482850" cy="2157611"/>
          </a:xfrm>
          <a:prstGeom prst="roundRect">
            <a:avLst>
              <a:gd name="adj" fmla="val 4562"/>
            </a:avLst>
          </a:prstGeom>
          <a:solidFill>
            <a:srgbClr val="FDFCFA"/>
          </a:solidFill>
          <a:ln w="6350">
            <a:solidFill>
              <a:srgbClr val="E2DFD6"/>
            </a:solidFill>
            <a:prstDash val="solid"/>
          </a:ln>
        </p:spPr>
      </p:sp>
      <p:sp>
        <p:nvSpPr>
          <p:cNvPr id="16" name="Text 14"/>
          <p:cNvSpPr/>
          <p:nvPr/>
        </p:nvSpPr>
        <p:spPr>
          <a:xfrm>
            <a:off x="91503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algn="ct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4</a:t>
            </a:r>
            <a:endParaRPr lang="en-US" sz="1400" dirty="0"/>
          </a:p>
        </p:txBody>
      </p:sp>
      <p:sp>
        <p:nvSpPr>
          <p:cNvPr id="17" name="Text 15"/>
          <p:cNvSpPr/>
          <p:nvPr/>
        </p:nvSpPr>
        <p:spPr>
          <a:xfrm>
            <a:off x="9150350" y="2459930"/>
            <a:ext cx="202755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Visual design</a:t>
            </a:r>
            <a:endParaRPr lang="en-US" sz="2000" dirty="0"/>
          </a:p>
        </p:txBody>
      </p:sp>
      <p:sp>
        <p:nvSpPr>
          <p:cNvPr id="18" name="Text 16"/>
          <p:cNvSpPr/>
          <p:nvPr/>
        </p:nvSpPr>
        <p:spPr>
          <a:xfrm>
            <a:off x="9150350" y="2879030"/>
            <a:ext cx="202755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Review and improve colour contrast throughout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Proposed report flow</a:t>
            </a:r>
            <a:endParaRPr lang="en-US" sz="3600" dirty="0"/>
          </a:p>
        </p:txBody>
      </p:sp>
      <p:sp>
        <p:nvSpPr>
          <p:cNvPr id="3" name="Shape 1"/>
          <p:cNvSpPr/>
          <p:nvPr/>
        </p:nvSpPr>
        <p:spPr>
          <a:xfrm>
            <a:off x="812800" y="1823045"/>
            <a:ext cx="2967534" cy="1851521"/>
          </a:xfrm>
          <a:prstGeom prst="roundRect">
            <a:avLst>
              <a:gd name="adj" fmla="val 5487"/>
            </a:avLst>
          </a:prstGeom>
          <a:solidFill>
            <a:srgbClr val="172033"/>
          </a:solidFill>
          <a:ln/>
        </p:spPr>
      </p:sp>
      <p:sp>
        <p:nvSpPr>
          <p:cNvPr id="4" name="Text 2"/>
          <p:cNvSpPr/>
          <p:nvPr/>
        </p:nvSpPr>
        <p:spPr>
          <a:xfrm>
            <a:off x="1066800" y="2077045"/>
            <a:ext cx="25333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1 · START</a:t>
            </a:r>
            <a:endParaRPr lang="en-US" sz="1400" dirty="0"/>
          </a:p>
        </p:txBody>
      </p:sp>
      <p:sp>
        <p:nvSpPr>
          <p:cNvPr id="5" name="Text 3"/>
          <p:cNvSpPr/>
          <p:nvPr/>
        </p:nvSpPr>
        <p:spPr>
          <a:xfrm>
            <a:off x="1066800" y="2427536"/>
            <a:ext cx="2533320"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6F5F1"/>
                </a:solidFill>
                <a:latin typeface="IBM Plex Sans" pitchFamily="34" charset="0"/>
                <a:ea typeface="IBM Plex Sans" pitchFamily="34" charset="-122"/>
                <a:cs typeface="IBM Plex Sans" pitchFamily="34" charset="-120"/>
              </a:rPr>
              <a:t>All Systems overview</a:t>
            </a:r>
            <a:endParaRPr lang="en-US" sz="2200" dirty="0"/>
          </a:p>
        </p:txBody>
      </p:sp>
      <p:sp>
        <p:nvSpPr>
          <p:cNvPr id="6" name="Text 4"/>
          <p:cNvSpPr/>
          <p:nvPr/>
        </p:nvSpPr>
        <p:spPr>
          <a:xfrm>
            <a:off x="1066800" y="3171676"/>
            <a:ext cx="271353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One page for the whole month</a:t>
            </a:r>
            <a:endParaRPr lang="en-US" sz="1400" dirty="0"/>
          </a:p>
        </p:txBody>
      </p:sp>
      <p:pic>
        <p:nvPicPr>
          <p:cNvPr id="7" name="Image 0" descr="arrow-right">    </p:cNvPr>
          <p:cNvPicPr>
            <a:picLocks noChangeAspect="1"/>
          </p:cNvPicPr>
          <p:nvPr/>
        </p:nvPicPr>
        <p:blipFill>
          <a:blip r:embed="rId1"/>
          <a:srcRect l="0" r="0" t="0" b="0"/>
          <a:stretch/>
        </p:blipFill>
        <p:spPr>
          <a:xfrm>
            <a:off x="3932734" y="2596406"/>
            <a:ext cx="508000" cy="304800"/>
          </a:xfrm>
          <a:prstGeom prst="rect">
            <a:avLst/>
          </a:prstGeom>
        </p:spPr>
      </p:pic>
      <p:sp>
        <p:nvSpPr>
          <p:cNvPr id="8" name="Shape 5"/>
          <p:cNvSpPr/>
          <p:nvPr/>
        </p:nvSpPr>
        <p:spPr>
          <a:xfrm>
            <a:off x="4599484" y="1728440"/>
            <a:ext cx="2980283" cy="2040731"/>
          </a:xfrm>
          <a:prstGeom prst="roundRect">
            <a:avLst>
              <a:gd name="adj" fmla="val 4667"/>
            </a:avLst>
          </a:prstGeom>
          <a:solidFill>
            <a:srgbClr val="FDFCFA"/>
          </a:solidFill>
          <a:ln w="12700">
            <a:solidFill>
              <a:srgbClr val="172033"/>
            </a:solidFill>
            <a:prstDash val="solid"/>
          </a:ln>
        </p:spPr>
      </p:sp>
      <p:sp>
        <p:nvSpPr>
          <p:cNvPr id="9" name="Text 6"/>
          <p:cNvSpPr/>
          <p:nvPr/>
        </p:nvSpPr>
        <p:spPr>
          <a:xfrm>
            <a:off x="4859834" y="1988790"/>
            <a:ext cx="253337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2 · IPS FIRST</a:t>
            </a:r>
            <a:endParaRPr lang="en-US" sz="1400" dirty="0"/>
          </a:p>
        </p:txBody>
      </p:sp>
      <p:sp>
        <p:nvSpPr>
          <p:cNvPr id="10" name="Text 7"/>
          <p:cNvSpPr/>
          <p:nvPr/>
        </p:nvSpPr>
        <p:spPr>
          <a:xfrm>
            <a:off x="4859834" y="2339280"/>
            <a:ext cx="253337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IPS</a:t>
            </a:r>
            <a:endParaRPr lang="en-US" sz="2200" dirty="0"/>
          </a:p>
        </p:txBody>
      </p:sp>
      <p:sp>
        <p:nvSpPr>
          <p:cNvPr id="11" name="Text 8"/>
          <p:cNvSpPr/>
          <p:nvPr/>
        </p:nvSpPr>
        <p:spPr>
          <a:xfrm>
            <a:off x="4859834" y="2762151"/>
            <a:ext cx="253337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Interoperability and Instant Payment merged, then CliQ, then JoMoPay</a:t>
            </a:r>
            <a:endParaRPr lang="en-US" sz="1400" dirty="0"/>
          </a:p>
        </p:txBody>
      </p:sp>
      <p:pic>
        <p:nvPicPr>
          <p:cNvPr id="12" name="Image 1" descr="arrow-right">    </p:cNvPr>
          <p:cNvPicPr>
            <a:picLocks noChangeAspect="1"/>
          </p:cNvPicPr>
          <p:nvPr/>
        </p:nvPicPr>
        <p:blipFill>
          <a:blip r:embed="rId2"/>
          <a:srcRect l="0" r="0" t="0" b="0"/>
          <a:stretch/>
        </p:blipFill>
        <p:spPr>
          <a:xfrm>
            <a:off x="7738517" y="2596406"/>
            <a:ext cx="508000" cy="304800"/>
          </a:xfrm>
          <a:prstGeom prst="rect">
            <a:avLst/>
          </a:prstGeom>
        </p:spPr>
      </p:pic>
      <p:sp>
        <p:nvSpPr>
          <p:cNvPr id="13" name="Shape 9"/>
          <p:cNvSpPr/>
          <p:nvPr/>
        </p:nvSpPr>
        <p:spPr>
          <a:xfrm>
            <a:off x="8402092" y="1856036"/>
            <a:ext cx="2973933" cy="1785491"/>
          </a:xfrm>
          <a:prstGeom prst="roundRect">
            <a:avLst>
              <a:gd name="adj" fmla="val 5512"/>
            </a:avLst>
          </a:prstGeom>
          <a:solidFill>
            <a:srgbClr val="FDFCFA"/>
          </a:solidFill>
          <a:ln w="6350">
            <a:solidFill>
              <a:srgbClr val="E2DFD6"/>
            </a:solidFill>
            <a:prstDash val="solid"/>
          </a:ln>
        </p:spPr>
      </p:sp>
      <p:sp>
        <p:nvSpPr>
          <p:cNvPr id="14" name="Text 10"/>
          <p:cNvSpPr/>
          <p:nvPr/>
        </p:nvSpPr>
        <p:spPr>
          <a:xfrm>
            <a:off x="8659267" y="2113211"/>
            <a:ext cx="253337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3 · THEN</a:t>
            </a:r>
            <a:endParaRPr lang="en-US" sz="1400" dirty="0"/>
          </a:p>
        </p:txBody>
      </p:sp>
      <p:sp>
        <p:nvSpPr>
          <p:cNvPr id="15" name="Text 11"/>
          <p:cNvSpPr/>
          <p:nvPr/>
        </p:nvSpPr>
        <p:spPr>
          <a:xfrm>
            <a:off x="8659267" y="2463701"/>
            <a:ext cx="2533371"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Other systems</a:t>
            </a:r>
            <a:endParaRPr lang="en-US" sz="2200" dirty="0"/>
          </a:p>
        </p:txBody>
      </p:sp>
      <p:sp>
        <p:nvSpPr>
          <p:cNvPr id="16" name="Text 12"/>
          <p:cNvSpPr/>
          <p:nvPr/>
        </p:nvSpPr>
        <p:spPr>
          <a:xfrm>
            <a:off x="8659267" y="2886571"/>
            <a:ext cx="253337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Remaining sections as today, with the new changes</a:t>
            </a:r>
            <a:endParaRPr lang="en-US" sz="1400" dirty="0"/>
          </a:p>
        </p:txBody>
      </p:sp>
      <p:sp>
        <p:nvSpPr>
          <p:cNvPr id="17" name="Text 13"/>
          <p:cNvSpPr/>
          <p:nvPr/>
        </p:nvSpPr>
        <p:spPr>
          <a:xfrm>
            <a:off x="812800" y="4181921"/>
            <a:ext cx="5181600" cy="904180"/>
          </a:xfrm>
          <a:prstGeom prst="roundRect">
            <a:avLst>
              <a:gd name="adj" fmla="val 11237"/>
            </a:avLst>
          </a:prstGeom>
          <a:solidFill>
            <a:srgbClr val="F2A922"/>
          </a:solidFill>
          <a:ln/>
        </p:spPr>
        <p:txBody>
          <a:bodyPr wrap="square" lIns="198842" tIns="148042" rIns="57110" bIns="122642" rtlCol="0" anchor="t">
            <a:normAutofit/>
          </a:bodyPr>
          <a:lstStyle/>
          <a:p>
            <a:pPr algn="l" indent="0" marL="0">
              <a:lnSpc>
                <a:spcPts val="2160"/>
              </a:lnSpc>
              <a:buNone/>
            </a:pPr>
            <a:r>
              <a:rPr lang="en-US" sz="1600" b="1" dirty="0">
                <a:solidFill>
                  <a:srgbClr val="172033"/>
                </a:solidFill>
                <a:latin typeface="IBM Plex Sans" pitchFamily="34" charset="0"/>
                <a:ea typeface="IBM Plex Sans" pitchFamily="34" charset="-122"/>
                <a:cs typeface="IBM Plex Sans" pitchFamily="34" charset="-120"/>
              </a:rPr>
              <a:t>3 to 6 months</a:t>
            </a:r>
            <a:r>
              <a:rPr lang="en-US" sz="1600" dirty="0">
                <a:solidFill>
                  <a:srgbClr val="172033"/>
                </a:solidFill>
                <a:latin typeface="IBM Plex Sans" pitchFamily="34" charset="0"/>
                <a:ea typeface="IBM Plex Sans" pitchFamily="34" charset="-122"/>
                <a:cs typeface="IBM Plex Sans" pitchFamily="34" charset="-120"/>
              </a:rPr>
              <a:t> of comparison across every section</a:t>
            </a:r>
            <a:endParaRPr lang="en-US" sz="1600" dirty="0"/>
          </a:p>
        </p:txBody>
      </p:sp>
      <p:sp>
        <p:nvSpPr>
          <p:cNvPr id="18" name="Text 14"/>
          <p:cNvSpPr/>
          <p:nvPr/>
        </p:nvSpPr>
        <p:spPr>
          <a:xfrm>
            <a:off x="6197600" y="4181921"/>
            <a:ext cx="5181600" cy="904180"/>
          </a:xfrm>
          <a:prstGeom prst="roundRect">
            <a:avLst>
              <a:gd name="adj" fmla="val 11237"/>
            </a:avLst>
          </a:prstGeom>
          <a:solidFill>
            <a:srgbClr val="F2A922"/>
          </a:solidFill>
          <a:ln/>
        </p:spPr>
        <p:txBody>
          <a:bodyPr wrap="square" lIns="198842" tIns="148042" rIns="57110" bIns="122642" rtlCol="0" anchor="t">
            <a:normAutofit/>
          </a:bodyPr>
          <a:lstStyle/>
          <a:p>
            <a:pPr algn="l" indent="0" marL="0">
              <a:lnSpc>
                <a:spcPts val="2160"/>
              </a:lnSpc>
              <a:buNone/>
            </a:pPr>
            <a:r>
              <a:rPr lang="en-US" sz="1600" b="1" dirty="0">
                <a:solidFill>
                  <a:srgbClr val="172033"/>
                </a:solidFill>
                <a:latin typeface="IBM Plex Sans" pitchFamily="34" charset="0"/>
                <a:ea typeface="IBM Plex Sans" pitchFamily="34" charset="-122"/>
                <a:cs typeface="IBM Plex Sans" pitchFamily="34" charset="-120"/>
              </a:rPr>
              <a:t>Active accounts</a:t>
            </a:r>
            <a:r>
              <a:rPr lang="en-US" sz="1600" dirty="0">
                <a:solidFill>
                  <a:srgbClr val="172033"/>
                </a:solidFill>
                <a:latin typeface="IBM Plex Sans" pitchFamily="34" charset="0"/>
                <a:ea typeface="IBM Plex Sans" pitchFamily="34" charset="-122"/>
                <a:cs typeface="IBM Plex Sans" pitchFamily="34" charset="-120"/>
              </a:rPr>
              <a:t> and percentage rates added to the data</a:t>
            </a:r>
            <a:endParaRPr lang="en-US" sz="16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Start with an All Systems overview</a:t>
            </a:r>
            <a:endParaRPr lang="en-US" sz="3600" dirty="0"/>
          </a:p>
        </p:txBody>
      </p:sp>
      <p:sp>
        <p:nvSpPr>
          <p:cNvPr id="3" name="Text 1"/>
          <p:cNvSpPr/>
          <p:nvPr/>
        </p:nvSpPr>
        <p:spPr>
          <a:xfrm>
            <a:off x="812800" y="2430760"/>
            <a:ext cx="366268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The report opens with one page that frames the whole month before any system detail.</a:t>
            </a:r>
            <a:endParaRPr lang="en-US" sz="1600" dirty="0"/>
          </a:p>
        </p:txBody>
      </p:sp>
      <p:sp>
        <p:nvSpPr>
          <p:cNvPr id="4" name="Text 2"/>
          <p:cNvSpPr/>
          <p:nvPr/>
        </p:nvSpPr>
        <p:spPr>
          <a:xfrm>
            <a:off x="883920" y="3461941"/>
            <a:ext cx="3583940" cy="13589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Transactions, value and average value, each with change vs last month</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Value and volume split by system</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IPS shown as one block, with CliQ and JoMoPay inside it</a:t>
            </a:r>
            <a:endParaRPr lang="en-US" sz="1500" dirty="0"/>
          </a:p>
        </p:txBody>
      </p:sp>
      <p:pic>
        <p:nvPicPr>
          <p:cNvPr id="5" name="Image 0" descr="Mock-up of the All Systems monthly performance overview page">    </p:cNvPr>
          <p:cNvPicPr>
            <a:picLocks noChangeAspect="1"/>
          </p:cNvPicPr>
          <p:nvPr/>
        </p:nvPicPr>
        <p:blipFill>
          <a:blip r:embed="rId1"/>
          <a:srcRect l="-115" r="-115" t="0" b="0"/>
          <a:stretch/>
        </p:blipFill>
        <p:spPr>
          <a:xfrm>
            <a:off x="4781550" y="1677640"/>
            <a:ext cx="6337300" cy="3556000"/>
          </a:xfrm>
          <a:prstGeom prst="roundRect">
            <a:avLst>
              <a:gd name="adj" fmla="val 1964"/>
            </a:avLst>
          </a:prstGeom>
        </p:spPr>
      </p:pic>
      <p:sp>
        <p:nvSpPr>
          <p:cNvPr id="6" name="Shape 3"/>
          <p:cNvSpPr/>
          <p:nvPr/>
        </p:nvSpPr>
        <p:spPr>
          <a:xfrm>
            <a:off x="4778375" y="1674465"/>
            <a:ext cx="6343650" cy="3562350"/>
          </a:xfrm>
          <a:prstGeom prst="roundRect">
            <a:avLst>
              <a:gd name="adj" fmla="val 2050"/>
            </a:avLst>
          </a:prstGeom>
          <a:noFill/>
          <a:ln w="6350">
            <a:solidFill>
              <a:srgbClr val="E2DFD6"/>
            </a:solidFill>
            <a:prstDash val="solid"/>
          </a:ln>
        </p:spPr>
      </p:sp>
      <p:sp>
        <p:nvSpPr>
          <p:cNvPr id="7" name="Text 4"/>
          <p:cNvSpPr/>
          <p:nvPr/>
        </p:nvSpPr>
        <p:spPr>
          <a:xfrm>
            <a:off x="4775200" y="534159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Mock-up: All Systems overview</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Compare the last 6 months, not 3</a:t>
            </a:r>
            <a:endParaRPr lang="en-US" sz="3600" dirty="0"/>
          </a:p>
        </p:txBody>
      </p:sp>
      <p:sp>
        <p:nvSpPr>
          <p:cNvPr id="3" name="Shape 1"/>
          <p:cNvSpPr/>
          <p:nvPr/>
        </p:nvSpPr>
        <p:spPr>
          <a:xfrm>
            <a:off x="812800" y="1671290"/>
            <a:ext cx="6350000" cy="3568700"/>
          </a:xfrm>
          <a:prstGeom prst="roundRect">
            <a:avLst>
              <a:gd name="adj" fmla="val 2135"/>
            </a:avLst>
          </a:prstGeom>
          <a:solidFill>
            <a:srgbClr val="FFFFFF"/>
          </a:solidFill>
          <a:ln/>
        </p:spPr>
      </p:sp>
      <p:pic>
        <p:nvPicPr>
          <p:cNvPr id="4" name="Image 0" descr="Bar chart of eFAWATEERcom transactions, Oct-25 to Mar-26, with Mar-26 up 11.8 percent">    </p:cNvPr>
          <p:cNvPicPr>
            <a:picLocks noChangeAspect="1"/>
          </p:cNvPicPr>
          <p:nvPr/>
        </p:nvPicPr>
        <p:blipFill>
          <a:blip r:embed="rId1"/>
          <a:srcRect l="-123" r="-123" t="0" b="0"/>
          <a:stretch/>
        </p:blipFill>
        <p:spPr>
          <a:xfrm>
            <a:off x="819150" y="1677640"/>
            <a:ext cx="6337300" cy="3556000"/>
          </a:xfrm>
          <a:prstGeom prst="roundRect">
            <a:avLst>
              <a:gd name="adj" fmla="val 1964"/>
            </a:avLst>
          </a:prstGeom>
        </p:spPr>
      </p:pic>
      <p:sp>
        <p:nvSpPr>
          <p:cNvPr id="5" name="Shape 2"/>
          <p:cNvSpPr/>
          <p:nvPr/>
        </p:nvSpPr>
        <p:spPr>
          <a:xfrm>
            <a:off x="815975" y="1674465"/>
            <a:ext cx="6343650" cy="3562350"/>
          </a:xfrm>
          <a:prstGeom prst="roundRect">
            <a:avLst>
              <a:gd name="adj" fmla="val 2050"/>
            </a:avLst>
          </a:prstGeom>
          <a:noFill/>
          <a:ln w="6350">
            <a:solidFill>
              <a:srgbClr val="E2DFD6"/>
            </a:solidFill>
            <a:prstDash val="solid"/>
          </a:ln>
        </p:spPr>
      </p:sp>
      <p:sp>
        <p:nvSpPr>
          <p:cNvPr id="6" name="Text 3"/>
          <p:cNvSpPr/>
          <p:nvPr/>
        </p:nvSpPr>
        <p:spPr>
          <a:xfrm>
            <a:off x="812800" y="534159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Example: eFAWATEERcom transactions, Oct-25 to Mar-26</a:t>
            </a:r>
            <a:endParaRPr lang="en-US" sz="1200" dirty="0"/>
          </a:p>
        </p:txBody>
      </p:sp>
      <p:sp>
        <p:nvSpPr>
          <p:cNvPr id="7" name="Text 4"/>
          <p:cNvSpPr/>
          <p:nvPr/>
        </p:nvSpPr>
        <p:spPr>
          <a:xfrm>
            <a:off x="7569200" y="2378670"/>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72033"/>
                </a:solidFill>
                <a:latin typeface="IBM Plex Sans" pitchFamily="34" charset="0"/>
                <a:ea typeface="IBM Plex Sans" pitchFamily="34" charset="-122"/>
                <a:cs typeface="IBM Plex Sans" pitchFamily="34" charset="-120"/>
              </a:rPr>
              <a:t>3 → 6</a:t>
            </a:r>
            <a:endParaRPr lang="en-US" sz="6000" dirty="0"/>
          </a:p>
        </p:txBody>
      </p:sp>
      <p:sp>
        <p:nvSpPr>
          <p:cNvPr id="8" name="Text 5"/>
          <p:cNvSpPr/>
          <p:nvPr/>
        </p:nvSpPr>
        <p:spPr>
          <a:xfrm>
            <a:off x="7569200" y="3318470"/>
            <a:ext cx="426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months of history in every comparison</a:t>
            </a:r>
            <a:endParaRPr lang="en-US" sz="1600" dirty="0"/>
          </a:p>
        </p:txBody>
      </p:sp>
      <p:sp>
        <p:nvSpPr>
          <p:cNvPr id="9" name="Text 6"/>
          <p:cNvSpPr/>
          <p:nvPr/>
        </p:nvSpPr>
        <p:spPr>
          <a:xfrm>
            <a:off x="7640320" y="3780730"/>
            <a:ext cx="3583940" cy="10922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A 3-month view (Jan to Mar) shows only a jump to 7.36M</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The 6-month view shows Dec-25 also reached 7.03M</a:t>
            </a:r>
            <a:endParaRPr lang="en-US" sz="15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Add active accounts and rates</a:t>
            </a:r>
            <a:endParaRPr lang="en-US" sz="3600" dirty="0"/>
          </a:p>
        </p:txBody>
      </p:sp>
      <p:sp>
        <p:nvSpPr>
          <p:cNvPr id="3" name="Shape 1"/>
          <p:cNvSpPr/>
          <p:nvPr/>
        </p:nvSpPr>
        <p:spPr>
          <a:xfrm>
            <a:off x="815975" y="1674465"/>
            <a:ext cx="3380284" cy="2538512"/>
          </a:xfrm>
          <a:prstGeom prst="roundRect">
            <a:avLst>
              <a:gd name="adj" fmla="val 3877"/>
            </a:avLst>
          </a:prstGeom>
          <a:solidFill>
            <a:srgbClr val="FDFCFA"/>
          </a:solidFill>
          <a:ln w="6350">
            <a:solidFill>
              <a:srgbClr val="E2DFD6"/>
            </a:solidFill>
            <a:prstDash val="solid"/>
          </a:ln>
        </p:spPr>
      </p:sp>
      <p:sp>
        <p:nvSpPr>
          <p:cNvPr id="4" name="Text 2"/>
          <p:cNvSpPr/>
          <p:nvPr/>
        </p:nvSpPr>
        <p:spPr>
          <a:xfrm>
            <a:off x="1073150" y="193164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NEW COUNT</a:t>
            </a:r>
            <a:endParaRPr lang="en-US" sz="1200" dirty="0"/>
          </a:p>
        </p:txBody>
      </p:sp>
      <p:sp>
        <p:nvSpPr>
          <p:cNvPr id="5" name="Text 3"/>
          <p:cNvSpPr/>
          <p:nvPr/>
        </p:nvSpPr>
        <p:spPr>
          <a:xfrm>
            <a:off x="1073150" y="2271961"/>
            <a:ext cx="2951912"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Active accounts</a:t>
            </a:r>
            <a:endParaRPr lang="en-US" sz="2200" dirty="0"/>
          </a:p>
        </p:txBody>
      </p:sp>
      <p:sp>
        <p:nvSpPr>
          <p:cNvPr id="6" name="Text 4"/>
          <p:cNvSpPr/>
          <p:nvPr/>
        </p:nvSpPr>
        <p:spPr>
          <a:xfrm>
            <a:off x="1073150" y="2720231"/>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Shown alongside transactions and value for each system</a:t>
            </a:r>
            <a:endParaRPr lang="en-US" sz="1400" dirty="0"/>
          </a:p>
        </p:txBody>
      </p:sp>
      <p:sp>
        <p:nvSpPr>
          <p:cNvPr id="7" name="Shape 5"/>
          <p:cNvSpPr/>
          <p:nvPr/>
        </p:nvSpPr>
        <p:spPr>
          <a:xfrm>
            <a:off x="4405809" y="1674465"/>
            <a:ext cx="3380333" cy="2538512"/>
          </a:xfrm>
          <a:prstGeom prst="roundRect">
            <a:avLst>
              <a:gd name="adj" fmla="val 3877"/>
            </a:avLst>
          </a:prstGeom>
          <a:solidFill>
            <a:srgbClr val="FDFCFA"/>
          </a:solidFill>
          <a:ln w="6350">
            <a:solidFill>
              <a:srgbClr val="E2DFD6"/>
            </a:solidFill>
            <a:prstDash val="solid"/>
          </a:ln>
        </p:spPr>
      </p:sp>
      <p:sp>
        <p:nvSpPr>
          <p:cNvPr id="8" name="Text 6"/>
          <p:cNvSpPr/>
          <p:nvPr/>
        </p:nvSpPr>
        <p:spPr>
          <a:xfrm>
            <a:off x="4662984" y="193164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NEW RATE</a:t>
            </a:r>
            <a:endParaRPr lang="en-US" sz="1200" dirty="0"/>
          </a:p>
        </p:txBody>
      </p:sp>
      <p:sp>
        <p:nvSpPr>
          <p:cNvPr id="9" name="Text 7"/>
          <p:cNvSpPr/>
          <p:nvPr/>
        </p:nvSpPr>
        <p:spPr>
          <a:xfrm>
            <a:off x="4662984" y="2271961"/>
            <a:ext cx="2951963"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Active Accounts Rate</a:t>
            </a:r>
            <a:endParaRPr lang="en-US" sz="2200" dirty="0"/>
          </a:p>
        </p:txBody>
      </p:sp>
      <p:sp>
        <p:nvSpPr>
          <p:cNvPr id="10" name="Text 8"/>
          <p:cNvSpPr/>
          <p:nvPr/>
        </p:nvSpPr>
        <p:spPr>
          <a:xfrm>
            <a:off x="4662984" y="272023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active accounts ÷ total accounts</a:t>
            </a:r>
            <a:endParaRPr lang="en-US" sz="1400" dirty="0"/>
          </a:p>
        </p:txBody>
      </p:sp>
      <p:sp>
        <p:nvSpPr>
          <p:cNvPr id="11" name="Text 9"/>
          <p:cNvSpPr/>
          <p:nvPr/>
        </p:nvSpPr>
        <p:spPr>
          <a:xfrm>
            <a:off x="4662984" y="3345011"/>
            <a:ext cx="1905000" cy="289520"/>
          </a:xfrm>
          <a:custGeom>
            <a:avLst/>
            <a:gdLst/>
            <a:ahLst/>
            <a:cxnLst/>
            <a:rect l="l" t="t" r="r" b="b"/>
            <a:pathLst>
              <a:path w="1905000" h="289520">
                <a:moveTo>
                  <a:pt x="144760" y="0"/>
                </a:moveTo>
                <a:lnTo>
                  <a:pt x="1760240" y="0"/>
                </a:lnTo>
                <a:arcTo hR="144760" wR="144760" stAng="16200000" swAng="5400000"/>
                <a:lnTo>
                  <a:pt x="19050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A922"/>
          </a:solidFill>
          <a:ln/>
        </p:spPr>
        <p:txBody>
          <a:bodyPr wrap="square" lIns="88900" tIns="38100" rIns="88900" bIns="12700" rtlCol="0" anchor="t">
            <a:normAutofit/>
          </a:bodyPr>
          <a:lstStyle/>
          <a:p>
            <a:pPr algn="ctr" indent="0" marL="0">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Definition to confirm</a:t>
            </a:r>
            <a:endParaRPr lang="en-US" sz="1200" dirty="0"/>
          </a:p>
        </p:txBody>
      </p:sp>
      <p:sp>
        <p:nvSpPr>
          <p:cNvPr id="12" name="Shape 10"/>
          <p:cNvSpPr/>
          <p:nvPr/>
        </p:nvSpPr>
        <p:spPr>
          <a:xfrm>
            <a:off x="7995692" y="1674465"/>
            <a:ext cx="3380333" cy="2538512"/>
          </a:xfrm>
          <a:prstGeom prst="roundRect">
            <a:avLst>
              <a:gd name="adj" fmla="val 3877"/>
            </a:avLst>
          </a:prstGeom>
          <a:solidFill>
            <a:srgbClr val="FDFCFA"/>
          </a:solidFill>
          <a:ln w="6350">
            <a:solidFill>
              <a:srgbClr val="E2DFD6"/>
            </a:solidFill>
            <a:prstDash val="solid"/>
          </a:ln>
        </p:spPr>
      </p:sp>
      <p:sp>
        <p:nvSpPr>
          <p:cNvPr id="13" name="Text 11"/>
          <p:cNvSpPr/>
          <p:nvPr/>
        </p:nvSpPr>
        <p:spPr>
          <a:xfrm>
            <a:off x="8252867" y="193164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573"/>
                </a:solidFill>
                <a:latin typeface="IBM Plex Sans" pitchFamily="34" charset="0"/>
                <a:ea typeface="IBM Plex Sans" pitchFamily="34" charset="-122"/>
                <a:cs typeface="IBM Plex Sans" pitchFamily="34" charset="-120"/>
              </a:rPr>
              <a:t>NEW RATE</a:t>
            </a:r>
            <a:endParaRPr lang="en-US" sz="1200" dirty="0"/>
          </a:p>
        </p:txBody>
      </p:sp>
      <p:sp>
        <p:nvSpPr>
          <p:cNvPr id="14" name="Text 12"/>
          <p:cNvSpPr/>
          <p:nvPr/>
        </p:nvSpPr>
        <p:spPr>
          <a:xfrm>
            <a:off x="8252867" y="2271961"/>
            <a:ext cx="2951963"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Successful Cheques Rate</a:t>
            </a:r>
            <a:endParaRPr lang="en-US" sz="2200" dirty="0"/>
          </a:p>
        </p:txBody>
      </p:sp>
      <p:sp>
        <p:nvSpPr>
          <p:cNvPr id="15" name="Text 13"/>
          <p:cNvSpPr/>
          <p:nvPr/>
        </p:nvSpPr>
        <p:spPr>
          <a:xfrm>
            <a:off x="8252867" y="304150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successful cheques ÷ total cheques presented</a:t>
            </a:r>
            <a:endParaRPr lang="en-US" sz="1400" dirty="0"/>
          </a:p>
        </p:txBody>
      </p:sp>
      <p:sp>
        <p:nvSpPr>
          <p:cNvPr id="16" name="Text 14"/>
          <p:cNvSpPr/>
          <p:nvPr/>
        </p:nvSpPr>
        <p:spPr>
          <a:xfrm>
            <a:off x="8252867" y="3666282"/>
            <a:ext cx="1905000" cy="289520"/>
          </a:xfrm>
          <a:custGeom>
            <a:avLst/>
            <a:gdLst/>
            <a:ahLst/>
            <a:cxnLst/>
            <a:rect l="l" t="t" r="r" b="b"/>
            <a:pathLst>
              <a:path w="1905000" h="289520">
                <a:moveTo>
                  <a:pt x="144760" y="0"/>
                </a:moveTo>
                <a:lnTo>
                  <a:pt x="1760240" y="0"/>
                </a:lnTo>
                <a:arcTo hR="144760" wR="144760" stAng="16200000" swAng="5400000"/>
                <a:lnTo>
                  <a:pt x="19050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A922"/>
          </a:solidFill>
          <a:ln/>
        </p:spPr>
        <p:txBody>
          <a:bodyPr wrap="square" lIns="88900" tIns="38100" rIns="88900" bIns="12700" rtlCol="0" anchor="t">
            <a:normAutofit/>
          </a:bodyPr>
          <a:lstStyle/>
          <a:p>
            <a:pPr algn="ctr" indent="0" marL="0">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Definition to confirm</a:t>
            </a:r>
            <a:endParaRPr lang="en-US" sz="1200" dirty="0"/>
          </a:p>
        </p:txBody>
      </p:sp>
      <p:sp>
        <p:nvSpPr>
          <p:cNvPr id="17" name="Text 15"/>
          <p:cNvSpPr/>
          <p:nvPr/>
        </p:nvSpPr>
        <p:spPr>
          <a:xfrm>
            <a:off x="812800" y="4571752"/>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Rates make a count readable without context: 38.79M transactions means more once it is a share of the whole.</a:t>
            </a:r>
            <a:endParaRPr lang="en-US" sz="16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74"/>
              </a:lnSpc>
              <a:buNone/>
            </a:pPr>
            <a:r>
              <a:rPr lang="en-US" sz="3431" b="1" i="0" dirty="0">
                <a:solidFill>
                  <a:srgbClr val="172033"/>
                </a:solidFill>
                <a:latin typeface="IBM Plex Sans" pitchFamily="34" charset="0"/>
                <a:ea typeface="IBM Plex Sans" pitchFamily="34" charset="-122"/>
                <a:cs typeface="IBM Plex Sans" pitchFamily="34" charset="-120"/>
              </a:rPr>
              <a:t>eFAWATEERcom: Top 5 plus a table</a:t>
            </a:r>
            <a:endParaRPr lang="en-US" sz="3431" dirty="0"/>
          </a:p>
        </p:txBody>
      </p:sp>
      <p:sp>
        <p:nvSpPr>
          <p:cNvPr id="3" name="Text 1"/>
          <p:cNvSpPr/>
          <p:nvPr/>
        </p:nvSpPr>
        <p:spPr>
          <a:xfrm>
            <a:off x="883920" y="2123480"/>
            <a:ext cx="3845560" cy="13589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Bar chart shows only the Top 5 categories</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All other categories sit in a table beside it</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Same layout for transaction count and transaction value</a:t>
            </a:r>
            <a:endParaRPr lang="en-US" sz="1500" dirty="0"/>
          </a:p>
        </p:txBody>
      </p:sp>
      <p:sp>
        <p:nvSpPr>
          <p:cNvPr id="4" name="Text 2"/>
          <p:cNvSpPr/>
          <p:nvPr/>
        </p:nvSpPr>
        <p:spPr>
          <a:xfrm>
            <a:off x="812800" y="3634780"/>
            <a:ext cx="3810000" cy="1051471"/>
          </a:xfrm>
          <a:prstGeom prst="roundRect">
            <a:avLst>
              <a:gd name="adj" fmla="val 9663"/>
            </a:avLst>
          </a:prstGeom>
          <a:solidFill>
            <a:srgbClr val="F2A922"/>
          </a:solidFill>
          <a:ln/>
        </p:spPr>
        <p:txBody>
          <a:bodyPr wrap="square" lIns="148042" tIns="122642" rIns="44410" bIns="97242"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In the mock-up the Top 5 carry about 95% of listed volume, so the chart stays readable.</a:t>
            </a:r>
            <a:endParaRPr lang="en-US" sz="1400" dirty="0"/>
          </a:p>
        </p:txBody>
      </p:sp>
      <p:sp>
        <p:nvSpPr>
          <p:cNvPr id="5" name="Text 3"/>
          <p:cNvSpPr/>
          <p:nvPr/>
        </p:nvSpPr>
        <p:spPr>
          <a:xfrm>
            <a:off x="812800" y="4864050"/>
            <a:ext cx="392430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4505F"/>
                </a:solidFill>
                <a:latin typeface="IBM Plex Sans" pitchFamily="34" charset="0"/>
                <a:ea typeface="IBM Plex Sans" pitchFamily="34" charset="-122"/>
                <a:cs typeface="IBM Plex Sans" pitchFamily="34" charset="-120"/>
              </a:rPr>
              <a:t>Fix:</a:t>
            </a:r>
            <a:r>
              <a:rPr lang="en-US" sz="1400" dirty="0">
                <a:solidFill>
                  <a:srgbClr val="44505F"/>
                </a:solidFill>
                <a:latin typeface="IBM Plex Sans" pitchFamily="34" charset="0"/>
                <a:ea typeface="IBM Plex Sans" pitchFamily="34" charset="-122"/>
                <a:cs typeface="IBM Plex Sans" pitchFamily="34" charset="-120"/>
              </a:rPr>
              <a:t> sort the table by volume. Charities (16K) currently sits below Banks (15K).</a:t>
            </a:r>
            <a:endParaRPr lang="en-US" sz="1400" dirty="0"/>
          </a:p>
        </p:txBody>
      </p:sp>
      <p:sp>
        <p:nvSpPr>
          <p:cNvPr id="6" name="Shape 4"/>
          <p:cNvSpPr/>
          <p:nvPr/>
        </p:nvSpPr>
        <p:spPr>
          <a:xfrm>
            <a:off x="5029200" y="1520180"/>
            <a:ext cx="6146800" cy="4445000"/>
          </a:xfrm>
          <a:prstGeom prst="roundRect">
            <a:avLst>
              <a:gd name="adj" fmla="val 1714"/>
            </a:avLst>
          </a:prstGeom>
          <a:solidFill>
            <a:srgbClr val="FFFFFF"/>
          </a:solidFill>
          <a:ln/>
        </p:spPr>
      </p:sp>
      <p:pic>
        <p:nvPicPr>
          <p:cNvPr id="7" name="Image 0" descr="Mock-up of the eFAWATEERcom breakdown: Top 5 categories as bars and other categories in a table">    </p:cNvPr>
          <p:cNvPicPr>
            <a:picLocks noChangeAspect="1"/>
          </p:cNvPicPr>
          <p:nvPr/>
        </p:nvPicPr>
        <p:blipFill>
          <a:blip r:embed="rId1"/>
          <a:srcRect l="-41" r="-41" t="0" b="0"/>
          <a:stretch/>
        </p:blipFill>
        <p:spPr>
          <a:xfrm>
            <a:off x="5035550" y="1526530"/>
            <a:ext cx="6134100" cy="4432300"/>
          </a:xfrm>
          <a:prstGeom prst="roundRect">
            <a:avLst>
              <a:gd name="adj" fmla="val 1576"/>
            </a:avLst>
          </a:prstGeom>
        </p:spPr>
      </p:pic>
      <p:sp>
        <p:nvSpPr>
          <p:cNvPr id="8" name="Shape 5"/>
          <p:cNvSpPr/>
          <p:nvPr/>
        </p:nvSpPr>
        <p:spPr>
          <a:xfrm>
            <a:off x="5032375" y="1523355"/>
            <a:ext cx="6140450" cy="4438650"/>
          </a:xfrm>
          <a:prstGeom prst="roundRect">
            <a:avLst>
              <a:gd name="adj" fmla="val 1645"/>
            </a:avLst>
          </a:prstGeom>
          <a:noFill/>
          <a:ln w="6350">
            <a:solidFill>
              <a:srgbClr val="E2DFD6"/>
            </a:solidFill>
            <a:prstDash val="solid"/>
          </a:ln>
        </p:spPr>
      </p:sp>
      <p:sp>
        <p:nvSpPr>
          <p:cNvPr id="9"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 · Mock-up: number of transactions by category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ECCU: top 3 reasons for returned cheques</a:t>
            </a:r>
            <a:endParaRPr lang="en-US" sz="3600" dirty="0"/>
          </a:p>
        </p:txBody>
      </p:sp>
      <p:sp>
        <p:nvSpPr>
          <p:cNvPr id="3" name="Text 1"/>
          <p:cNvSpPr/>
          <p:nvPr/>
        </p:nvSpPr>
        <p:spPr>
          <a:xfrm>
            <a:off x="812800" y="1671290"/>
            <a:ext cx="3662680"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Rank the three biggest technical reasons for returned cheques at the top of the ECCU section, so the cause is visible before the detail.</a:t>
            </a:r>
            <a:endParaRPr lang="en-US" sz="1600" dirty="0"/>
          </a:p>
        </p:txBody>
      </p:sp>
      <p:sp>
        <p:nvSpPr>
          <p:cNvPr id="4" name="Text 2"/>
          <p:cNvSpPr/>
          <p:nvPr/>
        </p:nvSpPr>
        <p:spPr>
          <a:xfrm>
            <a:off x="883920" y="2986931"/>
            <a:ext cx="3583940" cy="8255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Count and share of returned cheques per reason</a:t>
            </a:r>
            <a:endParaRPr lang="en-US" sz="1500" dirty="0"/>
          </a:p>
          <a:p>
            <a:pPr algn="l" marL="182880" indent="-182880">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Same three slots every month</a:t>
            </a:r>
            <a:endParaRPr lang="en-US" sz="1500" dirty="0"/>
          </a:p>
        </p:txBody>
      </p:sp>
      <p:sp>
        <p:nvSpPr>
          <p:cNvPr id="5" name="Shape 3"/>
          <p:cNvSpPr/>
          <p:nvPr/>
        </p:nvSpPr>
        <p:spPr>
          <a:xfrm>
            <a:off x="4775200" y="1671290"/>
            <a:ext cx="6604000" cy="975320"/>
          </a:xfrm>
          <a:prstGeom prst="roundRect">
            <a:avLst>
              <a:gd name="adj" fmla="val 10417"/>
            </a:avLst>
          </a:prstGeom>
          <a:solidFill>
            <a:srgbClr val="172033"/>
          </a:solidFill>
          <a:ln/>
        </p:spPr>
      </p:sp>
      <p:sp>
        <p:nvSpPr>
          <p:cNvPr id="6" name="Text 4"/>
          <p:cNvSpPr/>
          <p:nvPr/>
        </p:nvSpPr>
        <p:spPr>
          <a:xfrm>
            <a:off x="5029200" y="1874490"/>
            <a:ext cx="558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922"/>
                </a:solidFill>
                <a:latin typeface="IBM Plex Sans" pitchFamily="34" charset="0"/>
                <a:ea typeface="IBM Plex Sans" pitchFamily="34" charset="-122"/>
                <a:cs typeface="IBM Plex Sans" pitchFamily="34" charset="-120"/>
              </a:rPr>
              <a:t>1</a:t>
            </a:r>
            <a:endParaRPr lang="en-US" sz="3200" dirty="0"/>
          </a:p>
        </p:txBody>
      </p:sp>
      <p:sp>
        <p:nvSpPr>
          <p:cNvPr id="7" name="Text 5"/>
          <p:cNvSpPr/>
          <p:nvPr/>
        </p:nvSpPr>
        <p:spPr>
          <a:xfrm>
            <a:off x="5740400" y="1998911"/>
            <a:ext cx="352471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5F1"/>
                </a:solidFill>
                <a:latin typeface="IBM Plex Sans" pitchFamily="34" charset="0"/>
                <a:ea typeface="IBM Plex Sans" pitchFamily="34" charset="-122"/>
                <a:cs typeface="IBM Plex Sans" pitchFamily="34" charset="-120"/>
              </a:rPr>
              <a:t>[Reason 1]</a:t>
            </a:r>
            <a:endParaRPr lang="en-US" sz="1800" dirty="0"/>
          </a:p>
        </p:txBody>
      </p:sp>
      <p:sp>
        <p:nvSpPr>
          <p:cNvPr id="8" name="Text 6"/>
          <p:cNvSpPr/>
          <p:nvPr/>
        </p:nvSpPr>
        <p:spPr>
          <a:xfrm>
            <a:off x="9365655" y="2016720"/>
            <a:ext cx="201354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FD8"/>
                </a:solidFill>
                <a:latin typeface="IBM Plex Sans" pitchFamily="34" charset="0"/>
                <a:ea typeface="IBM Plex Sans" pitchFamily="34" charset="-122"/>
                <a:cs typeface="IBM Plex Sans" pitchFamily="34" charset="-120"/>
              </a:rPr>
              <a:t>[__ cheques · __%]</a:t>
            </a:r>
            <a:endParaRPr lang="en-US" sz="1600" dirty="0"/>
          </a:p>
        </p:txBody>
      </p:sp>
      <p:sp>
        <p:nvSpPr>
          <p:cNvPr id="9" name="Shape 7"/>
          <p:cNvSpPr/>
          <p:nvPr/>
        </p:nvSpPr>
        <p:spPr>
          <a:xfrm>
            <a:off x="4781550" y="2805361"/>
            <a:ext cx="6591300" cy="988020"/>
          </a:xfrm>
          <a:prstGeom prst="roundRect">
            <a:avLst>
              <a:gd name="adj" fmla="val 9640"/>
            </a:avLst>
          </a:prstGeom>
          <a:solidFill>
            <a:srgbClr val="FDFCFA"/>
          </a:solidFill>
          <a:ln w="12700">
            <a:solidFill>
              <a:srgbClr val="172033"/>
            </a:solidFill>
            <a:prstDash val="solid"/>
          </a:ln>
        </p:spPr>
      </p:sp>
      <p:sp>
        <p:nvSpPr>
          <p:cNvPr id="10" name="Text 8"/>
          <p:cNvSpPr/>
          <p:nvPr/>
        </p:nvSpPr>
        <p:spPr>
          <a:xfrm>
            <a:off x="5041900" y="3014911"/>
            <a:ext cx="558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2</a:t>
            </a:r>
            <a:endParaRPr lang="en-US" sz="3200" dirty="0"/>
          </a:p>
        </p:txBody>
      </p:sp>
      <p:sp>
        <p:nvSpPr>
          <p:cNvPr id="11" name="Text 9"/>
          <p:cNvSpPr/>
          <p:nvPr/>
        </p:nvSpPr>
        <p:spPr>
          <a:xfrm>
            <a:off x="5753100" y="3139331"/>
            <a:ext cx="349855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2]</a:t>
            </a:r>
            <a:endParaRPr lang="en-US" sz="1800" dirty="0"/>
          </a:p>
        </p:txBody>
      </p:sp>
      <p:sp>
        <p:nvSpPr>
          <p:cNvPr id="12" name="Text 10"/>
          <p:cNvSpPr/>
          <p:nvPr/>
        </p:nvSpPr>
        <p:spPr>
          <a:xfrm>
            <a:off x="9352955" y="3157141"/>
            <a:ext cx="201354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[__ cheques · __%]</a:t>
            </a:r>
            <a:endParaRPr lang="en-US" sz="1600" dirty="0"/>
          </a:p>
        </p:txBody>
      </p:sp>
      <p:sp>
        <p:nvSpPr>
          <p:cNvPr id="13" name="Shape 11"/>
          <p:cNvSpPr/>
          <p:nvPr/>
        </p:nvSpPr>
        <p:spPr>
          <a:xfrm>
            <a:off x="4778375" y="3955306"/>
            <a:ext cx="6597650" cy="981670"/>
          </a:xfrm>
          <a:prstGeom prst="roundRect">
            <a:avLst>
              <a:gd name="adj" fmla="val 10026"/>
            </a:avLst>
          </a:prstGeom>
          <a:solidFill>
            <a:srgbClr val="FDFCFA"/>
          </a:solidFill>
          <a:ln w="6350">
            <a:solidFill>
              <a:srgbClr val="E2DFD6"/>
            </a:solidFill>
            <a:prstDash val="solid"/>
          </a:ln>
        </p:spPr>
      </p:sp>
      <p:sp>
        <p:nvSpPr>
          <p:cNvPr id="14" name="Text 12"/>
          <p:cNvSpPr/>
          <p:nvPr/>
        </p:nvSpPr>
        <p:spPr>
          <a:xfrm>
            <a:off x="5035550" y="4161681"/>
            <a:ext cx="558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3</a:t>
            </a:r>
            <a:endParaRPr lang="en-US" sz="3200" dirty="0"/>
          </a:p>
        </p:txBody>
      </p:sp>
      <p:sp>
        <p:nvSpPr>
          <p:cNvPr id="15" name="Text 13"/>
          <p:cNvSpPr/>
          <p:nvPr/>
        </p:nvSpPr>
        <p:spPr>
          <a:xfrm>
            <a:off x="5746750" y="4286101"/>
            <a:ext cx="351163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3]</a:t>
            </a:r>
            <a:endParaRPr lang="en-US" sz="1800" dirty="0"/>
          </a:p>
        </p:txBody>
      </p:sp>
      <p:sp>
        <p:nvSpPr>
          <p:cNvPr id="16" name="Text 14"/>
          <p:cNvSpPr/>
          <p:nvPr/>
        </p:nvSpPr>
        <p:spPr>
          <a:xfrm>
            <a:off x="9359305" y="4303911"/>
            <a:ext cx="201354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F"/>
                </a:solidFill>
                <a:latin typeface="IBM Plex Sans" pitchFamily="34" charset="0"/>
                <a:ea typeface="IBM Plex Sans" pitchFamily="34" charset="-122"/>
                <a:cs typeface="IBM Plex Sans" pitchFamily="34" charset="-120"/>
              </a:rPr>
              <a:t>[__ cheques · __%]</a:t>
            </a:r>
            <a:endParaRPr lang="en-US" sz="1600" dirty="0"/>
          </a:p>
        </p:txBody>
      </p:sp>
      <p:sp>
        <p:nvSpPr>
          <p:cNvPr id="17" name="Text 15"/>
          <p:cNvSpPr/>
          <p:nvPr/>
        </p:nvSpPr>
        <p:spPr>
          <a:xfrm>
            <a:off x="4775200" y="5092551"/>
            <a:ext cx="680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Layout sketch: reasons and figures to be filled from the monthly ECCU data</a:t>
            </a:r>
            <a:endParaRPr lang="en-US" sz="12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Improve colour contrast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178943"/>
        </p:xfrm>
        <a:graphic>
          <a:graphicData uri="http://schemas.openxmlformats.org/drawingml/2006/table">
            <a:tbl>
              <a:tblPr/>
              <a:tblGrid>
                <a:gridCol w="2743962"/>
                <a:gridCol w="3588258"/>
                <a:gridCol w="4221480"/>
              </a:tblGrid>
              <a:tr h="386011">
                <a:tc>
                  <a:txBody>
                    <a:bodyPr/>
                    <a:lstStyle/>
                    <a:p>
                      <a:pP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Proposed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634901">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Subtitles and labels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Light grey on white, 2.6:1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Darker grey, at least 4.5:1 (5.9:1 in the swatch below)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Amber highlight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1.8:1 on white, 2.7:1 next to grey bars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Fill only, with dark text on it (8.1:1)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System colours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IPS and ACH are both dark and look alike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Differ in lightness, not only hue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6011">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Status pills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Small text on pale green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Larger text, with a +/− sign beside the colour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Shape 1"/>
          <p:cNvSpPr/>
          <p:nvPr/>
        </p:nvSpPr>
        <p:spPr>
          <a:xfrm>
            <a:off x="815975" y="4120108"/>
            <a:ext cx="5175250" cy="595610"/>
          </a:xfrm>
          <a:prstGeom prst="roundRect">
            <a:avLst>
              <a:gd name="adj" fmla="val 16525"/>
            </a:avLst>
          </a:prstGeom>
          <a:solidFill>
            <a:srgbClr val="FFFFFF"/>
          </a:solidFill>
          <a:ln w="6350">
            <a:solidFill>
              <a:srgbClr val="E2DFD6"/>
            </a:solidFill>
            <a:prstDash val="solid"/>
          </a:ln>
        </p:spPr>
      </p:sp>
      <p:sp>
        <p:nvSpPr>
          <p:cNvPr id="5" name="Text 2"/>
          <p:cNvSpPr/>
          <p:nvPr/>
        </p:nvSpPr>
        <p:spPr>
          <a:xfrm>
            <a:off x="1022350" y="4275683"/>
            <a:ext cx="11962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0A1A2"/>
                </a:solidFill>
                <a:latin typeface="IBM Plex Sans" pitchFamily="34" charset="0"/>
                <a:ea typeface="IBM Plex Sans" pitchFamily="34" charset="-122"/>
                <a:cs typeface="IBM Plex Sans" pitchFamily="34" charset="-120"/>
              </a:rPr>
              <a:t>Aa Subtitle</a:t>
            </a:r>
            <a:endParaRPr lang="en-US" sz="1600" dirty="0"/>
          </a:p>
        </p:txBody>
      </p:sp>
      <p:sp>
        <p:nvSpPr>
          <p:cNvPr id="6" name="Text 3"/>
          <p:cNvSpPr/>
          <p:nvPr/>
        </p:nvSpPr>
        <p:spPr>
          <a:xfrm>
            <a:off x="2218630" y="4293443"/>
            <a:ext cx="12453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Today · 2.6:1</a:t>
            </a:r>
            <a:endParaRPr lang="en-US" sz="1400" dirty="0"/>
          </a:p>
        </p:txBody>
      </p:sp>
      <p:sp>
        <p:nvSpPr>
          <p:cNvPr id="7" name="Shape 4"/>
          <p:cNvSpPr/>
          <p:nvPr/>
        </p:nvSpPr>
        <p:spPr>
          <a:xfrm>
            <a:off x="6200775" y="4120108"/>
            <a:ext cx="5175250" cy="595610"/>
          </a:xfrm>
          <a:prstGeom prst="roundRect">
            <a:avLst>
              <a:gd name="adj" fmla="val 16525"/>
            </a:avLst>
          </a:prstGeom>
          <a:solidFill>
            <a:srgbClr val="FFFFFF"/>
          </a:solidFill>
          <a:ln w="6350">
            <a:solidFill>
              <a:srgbClr val="E2DFD6"/>
            </a:solidFill>
            <a:prstDash val="solid"/>
          </a:ln>
        </p:spPr>
      </p:sp>
      <p:sp>
        <p:nvSpPr>
          <p:cNvPr id="8" name="Text 5"/>
          <p:cNvSpPr/>
          <p:nvPr/>
        </p:nvSpPr>
        <p:spPr>
          <a:xfrm>
            <a:off x="6407150" y="4275683"/>
            <a:ext cx="11962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B6573"/>
                </a:solidFill>
                <a:latin typeface="IBM Plex Sans" pitchFamily="34" charset="0"/>
                <a:ea typeface="IBM Plex Sans" pitchFamily="34" charset="-122"/>
                <a:cs typeface="IBM Plex Sans" pitchFamily="34" charset="-120"/>
              </a:rPr>
              <a:t>Aa Subtitle</a:t>
            </a:r>
            <a:endParaRPr lang="en-US" sz="1600" dirty="0"/>
          </a:p>
        </p:txBody>
      </p:sp>
      <p:sp>
        <p:nvSpPr>
          <p:cNvPr id="9" name="Text 6"/>
          <p:cNvSpPr/>
          <p:nvPr/>
        </p:nvSpPr>
        <p:spPr>
          <a:xfrm>
            <a:off x="7603430" y="4293443"/>
            <a:ext cx="158656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 5.9:1</a:t>
            </a:r>
            <a:endParaRPr lang="en-US" sz="14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 · Ratios measured on the mock-ups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0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1"/>
                </a:solidFill>
                <a:latin typeface="IBM Plex Sans" pitchFamily="34" charset="0"/>
                <a:ea typeface="IBM Plex Sans" pitchFamily="34" charset="-122"/>
                <a:cs typeface="IBM Plex Sans" pitchFamily="34" charset="-120"/>
              </a:rPr>
              <a:t>Decisions needed from the data team</a:t>
            </a:r>
            <a:endParaRPr lang="en-US" sz="3600" dirty="0"/>
          </a:p>
        </p:txBody>
      </p:sp>
      <p:sp>
        <p:nvSpPr>
          <p:cNvPr id="3" name="Shape 1"/>
          <p:cNvSpPr/>
          <p:nvPr/>
        </p:nvSpPr>
        <p:spPr>
          <a:xfrm>
            <a:off x="812800" y="1671290"/>
            <a:ext cx="5181600" cy="1732161"/>
          </a:xfrm>
          <a:prstGeom prst="roundRect">
            <a:avLst>
              <a:gd name="adj" fmla="val 5866"/>
            </a:avLst>
          </a:prstGeom>
          <a:solidFill>
            <a:srgbClr val="22304A"/>
          </a:solidFill>
          <a:ln/>
        </p:spPr>
      </p:sp>
      <p:sp>
        <p:nvSpPr>
          <p:cNvPr id="4" name="Text 2"/>
          <p:cNvSpPr/>
          <p:nvPr/>
        </p:nvSpPr>
        <p:spPr>
          <a:xfrm>
            <a:off x="1066800" y="1925290"/>
            <a:ext cx="481380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066800" y="2275780"/>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IBM Plex Sans" pitchFamily="34" charset="0"/>
                <a:ea typeface="IBM Plex Sans" pitchFamily="34" charset="-122"/>
                <a:cs typeface="IBM Plex Sans" pitchFamily="34" charset="-120"/>
              </a:rPr>
              <a:t>Definitions</a:t>
            </a:r>
            <a:endParaRPr lang="en-US" sz="1800" dirty="0"/>
          </a:p>
        </p:txBody>
      </p:sp>
      <p:sp>
        <p:nvSpPr>
          <p:cNvPr id="6" name="Text 4"/>
          <p:cNvSpPr/>
          <p:nvPr/>
        </p:nvSpPr>
        <p:spPr>
          <a:xfrm>
            <a:off x="1066800" y="265167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What counts as an active account, and the denominators for both rates?</a:t>
            </a:r>
            <a:endParaRPr lang="en-US" sz="1400" dirty="0"/>
          </a:p>
        </p:txBody>
      </p:sp>
      <p:sp>
        <p:nvSpPr>
          <p:cNvPr id="7" name="Shape 5"/>
          <p:cNvSpPr/>
          <p:nvPr/>
        </p:nvSpPr>
        <p:spPr>
          <a:xfrm>
            <a:off x="6197600" y="1671290"/>
            <a:ext cx="5181600" cy="1732161"/>
          </a:xfrm>
          <a:prstGeom prst="roundRect">
            <a:avLst>
              <a:gd name="adj" fmla="val 5866"/>
            </a:avLst>
          </a:prstGeom>
          <a:solidFill>
            <a:srgbClr val="22304A"/>
          </a:solidFill>
          <a:ln/>
        </p:spPr>
      </p:sp>
      <p:sp>
        <p:nvSpPr>
          <p:cNvPr id="8" name="Text 6"/>
          <p:cNvSpPr/>
          <p:nvPr/>
        </p:nvSpPr>
        <p:spPr>
          <a:xfrm>
            <a:off x="6451600" y="1925290"/>
            <a:ext cx="481380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2</a:t>
            </a:r>
            <a:endParaRPr lang="en-US" sz="1400" dirty="0"/>
          </a:p>
        </p:txBody>
      </p:sp>
      <p:sp>
        <p:nvSpPr>
          <p:cNvPr id="9" name="Text 7"/>
          <p:cNvSpPr/>
          <p:nvPr/>
        </p:nvSpPr>
        <p:spPr>
          <a:xfrm>
            <a:off x="6451600" y="2275780"/>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IBM Plex Sans" pitchFamily="34" charset="0"/>
                <a:ea typeface="IBM Plex Sans" pitchFamily="34" charset="-122"/>
                <a:cs typeface="IBM Plex Sans" pitchFamily="34" charset="-120"/>
              </a:rPr>
              <a:t>Six-month history</a:t>
            </a:r>
            <a:endParaRPr lang="en-US" sz="1800" dirty="0"/>
          </a:p>
        </p:txBody>
      </p:sp>
      <p:sp>
        <p:nvSpPr>
          <p:cNvPr id="10" name="Text 8"/>
          <p:cNvSpPr/>
          <p:nvPr/>
        </p:nvSpPr>
        <p:spPr>
          <a:xfrm>
            <a:off x="6451600" y="2651671"/>
            <a:ext cx="4927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Is it available for every system, including active accounts?</a:t>
            </a:r>
            <a:endParaRPr lang="en-US" sz="1400" dirty="0"/>
          </a:p>
        </p:txBody>
      </p:sp>
      <p:sp>
        <p:nvSpPr>
          <p:cNvPr id="11" name="Shape 9"/>
          <p:cNvSpPr/>
          <p:nvPr/>
        </p:nvSpPr>
        <p:spPr>
          <a:xfrm>
            <a:off x="812800" y="3606651"/>
            <a:ext cx="5181600" cy="1732161"/>
          </a:xfrm>
          <a:prstGeom prst="roundRect">
            <a:avLst>
              <a:gd name="adj" fmla="val 5866"/>
            </a:avLst>
          </a:prstGeom>
          <a:solidFill>
            <a:srgbClr val="22304A"/>
          </a:solidFill>
          <a:ln/>
        </p:spPr>
      </p:sp>
      <p:sp>
        <p:nvSpPr>
          <p:cNvPr id="12" name="Text 10"/>
          <p:cNvSpPr/>
          <p:nvPr/>
        </p:nvSpPr>
        <p:spPr>
          <a:xfrm>
            <a:off x="1066800" y="3860651"/>
            <a:ext cx="481380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3</a:t>
            </a:r>
            <a:endParaRPr lang="en-US" sz="1400" dirty="0"/>
          </a:p>
        </p:txBody>
      </p:sp>
      <p:sp>
        <p:nvSpPr>
          <p:cNvPr id="13" name="Text 11"/>
          <p:cNvSpPr/>
          <p:nvPr/>
        </p:nvSpPr>
        <p:spPr>
          <a:xfrm>
            <a:off x="1066800" y="421114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IBM Plex Sans" pitchFamily="34" charset="0"/>
                <a:ea typeface="IBM Plex Sans" pitchFamily="34" charset="-122"/>
                <a:cs typeface="IBM Plex Sans" pitchFamily="34" charset="-120"/>
              </a:rPr>
              <a:t>ECCU return reasons</a:t>
            </a:r>
            <a:endParaRPr lang="en-US" sz="1800" dirty="0"/>
          </a:p>
        </p:txBody>
      </p:sp>
      <p:sp>
        <p:nvSpPr>
          <p:cNvPr id="14" name="Text 12"/>
          <p:cNvSpPr/>
          <p:nvPr/>
        </p:nvSpPr>
        <p:spPr>
          <a:xfrm>
            <a:off x="1066800" y="4587032"/>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Where do the technical reasons come from, and are they categorised?</a:t>
            </a:r>
            <a:endParaRPr lang="en-US" sz="1400" dirty="0"/>
          </a:p>
        </p:txBody>
      </p:sp>
      <p:sp>
        <p:nvSpPr>
          <p:cNvPr id="15" name="Shape 13"/>
          <p:cNvSpPr/>
          <p:nvPr/>
        </p:nvSpPr>
        <p:spPr>
          <a:xfrm>
            <a:off x="6197600" y="3606651"/>
            <a:ext cx="5181600" cy="1732161"/>
          </a:xfrm>
          <a:prstGeom prst="roundRect">
            <a:avLst>
              <a:gd name="adj" fmla="val 5866"/>
            </a:avLst>
          </a:prstGeom>
          <a:solidFill>
            <a:srgbClr val="22304A"/>
          </a:solidFill>
          <a:ln/>
        </p:spPr>
      </p:sp>
      <p:sp>
        <p:nvSpPr>
          <p:cNvPr id="16" name="Text 14"/>
          <p:cNvSpPr/>
          <p:nvPr/>
        </p:nvSpPr>
        <p:spPr>
          <a:xfrm>
            <a:off x="6451600" y="3860651"/>
            <a:ext cx="481380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4</a:t>
            </a:r>
            <a:endParaRPr lang="en-US" sz="1400" dirty="0"/>
          </a:p>
        </p:txBody>
      </p:sp>
      <p:sp>
        <p:nvSpPr>
          <p:cNvPr id="17" name="Text 15"/>
          <p:cNvSpPr/>
          <p:nvPr/>
        </p:nvSpPr>
        <p:spPr>
          <a:xfrm>
            <a:off x="6451600" y="421114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IBM Plex Sans" pitchFamily="34" charset="0"/>
                <a:ea typeface="IBM Plex Sans" pitchFamily="34" charset="-122"/>
                <a:cs typeface="IBM Plex Sans" pitchFamily="34" charset="-120"/>
              </a:rPr>
              <a:t>Value chart ranking</a:t>
            </a:r>
            <a:endParaRPr lang="en-US" sz="1800" dirty="0"/>
          </a:p>
        </p:txBody>
      </p:sp>
      <p:sp>
        <p:nvSpPr>
          <p:cNvPr id="18" name="Text 16"/>
          <p:cNvSpPr/>
          <p:nvPr/>
        </p:nvSpPr>
        <p:spPr>
          <a:xfrm>
            <a:off x="6451600" y="4587032"/>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8"/>
                </a:solidFill>
                <a:latin typeface="IBM Plex Sans" pitchFamily="34" charset="0"/>
                <a:ea typeface="IBM Plex Sans" pitchFamily="34" charset="-122"/>
                <a:cs typeface="IBM Plex Sans" pitchFamily="34" charset="-120"/>
              </a:rPr>
              <a:t>Is the eFAWATEERcom Top 5 by value the same five as by count?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8"/>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theme/theme1.xml><?xml version="1.0" encoding="utf-8"?>
<a:theme xmlns:a="http://schemas.openxmlformats.org/drawingml/2006/main" name="JOPACC Monthly Report: Proposed Changes">
  <a:themeElements>
    <a:clrScheme name="JOPACC Monthly Report: Proposed Changes">
      <a:dk1>
        <a:srgbClr val="172033"/>
      </a:dk1>
      <a:lt1>
        <a:srgbClr val="F6F5F1"/>
      </a:lt1>
      <a:dk2>
        <a:srgbClr val="4F5563"/>
      </a:dk2>
      <a:lt2>
        <a:srgbClr val="E0E0DE"/>
      </a:lt2>
      <a:accent1>
        <a:srgbClr val="F2A922"/>
      </a:accent1>
      <a:accent2>
        <a:srgbClr val="44505F"/>
      </a:accent2>
      <a:accent3>
        <a:srgbClr val="5B6573"/>
      </a:accent3>
      <a:accent4>
        <a:srgbClr val="C9CFD8"/>
      </a:accent4>
      <a:accent5>
        <a:srgbClr val="A0A1A2"/>
      </a:accent5>
      <a:accent6>
        <a:srgbClr val="9AA0A6"/>
      </a:accent6>
      <a:hlink>
        <a:srgbClr val="0563C1"/>
      </a:hlink>
      <a:folHlink>
        <a:srgbClr val="954F72"/>
      </a:folHlink>
    </a:clrScheme>
    <a:fontScheme name="JOPACC Monthly Report: Proposed Chang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Monthly Report: Proposed Changes</dc:title>
  <dc:subject/>
  <dc:creator/>
  <cp:lastModifiedBy/>
  <cp:revision>1</cp:revision>
  <dcterms:created xsi:type="dcterms:W3CDTF">2026-10-11T11:27:31Z</dcterms:created>
  <dcterms:modified xsi:type="dcterms:W3CDTF">2026-10-11T11:27:31Z</dcterms:modified>
</cp:coreProperties>
</file>