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charts/chart1.xml" ContentType="application/vnd.openxmlformats-officedocument.drawingml.chart+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charts/chart2.xml" ContentType="application/vnd.openxmlformats-officedocument.drawingml.chart+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charts/chart3.xml" ContentType="application/vnd.openxmlformats-officedocument.drawingml.chart+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charts/chart4.xml" ContentType="application/vnd.openxmlformats-officedocument.drawingml.chart+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charts/chart5.xml" ContentType="application/vnd.openxmlformats-officedocument.drawingml.chart+xml"/>
  <Override PartName="/ppt/charts/chart6.xml" ContentType="application/vnd.openxmlformats-officedocument.drawingml.chart+xml"/>
  <Override PartName="/ppt/charts/chart7.xml" ContentType="application/vnd.openxmlformats-officedocument.drawingml.chart+xml"/>
  <Override PartName="/ppt/slideMasters/slideMaster14.xml" ContentType="application/vnd.openxmlformats-officedocument.presentationml.slideMaster+xml"/>
  <Override PartName="/ppt/slides/slide14.xml" ContentType="application/vnd.openxmlformats-officedocument.presentationml.slide+xml"/>
  <Override PartName="/ppt/charts/chart8.xml" ContentType="application/vnd.openxmlformats-officedocument.drawingml.chart+xml"/>
  <Override PartName="/ppt/charts/chart9.xml" ContentType="application/vnd.openxmlformats-officedocument.drawingml.chart+xml"/>
  <Override PartName="/ppt/slideMasters/slideMaster15.xml" ContentType="application/vnd.openxmlformats-officedocument.presentationml.slideMaster+xml"/>
  <Override PartName="/ppt/slides/slide15.xml" ContentType="application/vnd.openxmlformats-officedocument.presentationml.slide+xml"/>
  <Override PartName="/ppt/charts/chart10.xml" ContentType="application/vnd.openxmlformats-officedocument.drawingml.chart+xml"/>
  <Override PartName="/ppt/slideMasters/slideMaster16.xml" ContentType="application/vnd.openxmlformats-officedocument.presentationml.slideMaster+xml"/>
  <Override PartName="/ppt/slides/slide16.xml" ContentType="application/vnd.openxmlformats-officedocument.presentationml.slide+xml"/>
  <Override PartName="/ppt/charts/chart11.xml" ContentType="application/vnd.openxmlformats-officedocument.drawingml.chart+xml"/>
  <Override PartName="/ppt/slideMasters/slideMaster17.xml" ContentType="application/vnd.openxmlformats-officedocument.presentationml.slideMaster+xml"/>
  <Override PartName="/ppt/slides/slide17.xml" ContentType="application/vnd.openxmlformats-officedocument.presentationml.slide+xml"/>
  <Override PartName="/ppt/charts/chart12.xml" ContentType="application/vnd.openxmlformats-officedocument.drawingml.chart+xml"/>
  <Override PartName="/ppt/charts/chart13.xml" ContentType="application/vnd.openxmlformats-officedocument.drawingml.chart+xml"/>
  <Override PartName="/ppt/charts/chart14.xml" ContentType="application/vnd.openxmlformats-officedocument.drawingml.chart+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Lst>
  <p:notesMasterIdLst>
    <p:notesMasterId r:id="rId1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The story" id="{e8178079-e2e5-14eb-a1f7-f3ad9db67433}">
          <p14:sldIdLst>
            <p14:sldId id="256"/>
            <p14:sldId id="257"/>
            <p14:sldId id="258"/>
          </p14:sldIdLst>
        </p14:section>
        <p14:section name="The proposal" id="{55d6ec02-1361-b0eb-f205-a424ed1ed904}">
          <p14:sldIdLst>
            <p14:sldId id="259"/>
            <p14:sldId id="260"/>
            <p14:sldId id="261"/>
            <p14:sldId id="262"/>
          </p14:sldIdLst>
        </p14:section>
        <p14:section name="Wrap-up" id="{f2f3b232-ffbe-b285-6e06-1abc293b2dbe}">
          <p14:sldIdLst>
            <p14:sldId id="263"/>
            <p14:sldId id="264"/>
          </p14:sldIdLst>
        </p14:section>
        <p14:section name="Appendix" id="{a554aecd-742b-03fc-ee8d-76283f454f5e}">
          <p14:sldIdLst>
            <p14:sldId id="265"/>
            <p14:sldId id="266"/>
            <p14:sldId id="267"/>
            <p14:sldId id="268"/>
            <p14:sldId id="269"/>
            <p14:sldId id="270"/>
            <p14:sldId id="271"/>
            <p14:sldId id="272"/>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notesMaster" Target="notesMasters/notesMaster1.xml"/><Relationship Id="rId20" Type="http://schemas.openxmlformats.org/officeDocument/2006/relationships/presProps" Target="presProps.xml"/><Relationship Id="rId21" Type="http://schemas.openxmlformats.org/officeDocument/2006/relationships/viewProps" Target="viewProps.xml"/><Relationship Id="rId22" Type="http://schemas.openxmlformats.org/officeDocument/2006/relationships/theme" Target="theme/theme1.xml"/><Relationship Id="rId23"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Relationships xmlns="http://schemas.openxmlformats.org/package/2006/relationships"><Relationship Id="rId1" Type="http://schemas.openxmlformats.org/officeDocument/2006/relationships/package" Target="../embeddings/Microsoft_Excel_Worksheet4.xlsx"/></Relationships>
</file>

<file path=ppt/charts/_rels/chart5.xml.rels><?xml version="1.0" encoding="UTF-8" standalone="yes"?><Relationships xmlns="http://schemas.openxmlformats.org/package/2006/relationships"><Relationship Id="rId1" Type="http://schemas.openxmlformats.org/officeDocument/2006/relationships/package" Target="../embeddings/Microsoft_Excel_Worksheet5.xlsx"/></Relationships>
</file>

<file path=ppt/charts/_rels/chart6.xml.rels><?xml version="1.0" encoding="UTF-8" standalone="yes"?><Relationships xmlns="http://schemas.openxmlformats.org/package/2006/relationships"><Relationship Id="rId1" Type="http://schemas.openxmlformats.org/officeDocument/2006/relationships/package" Target="../embeddings/Microsoft_Excel_Worksheet6.xlsx"/></Relationships>
</file>

<file path=ppt/charts/_rels/chart7.xml.rels><?xml version="1.0" encoding="UTF-8" standalone="yes"?><Relationships xmlns="http://schemas.openxmlformats.org/package/2006/relationships"><Relationship Id="rId1" Type="http://schemas.openxmlformats.org/officeDocument/2006/relationships/package" Target="../embeddings/Microsoft_Excel_Worksheet7.xlsx"/></Relationships>
</file>

<file path=ppt/charts/_rels/chart8.xml.rels><?xml version="1.0" encoding="UTF-8" standalone="yes"?><Relationships xmlns="http://schemas.openxmlformats.org/package/2006/relationships"><Relationship Id="rId1" Type="http://schemas.openxmlformats.org/officeDocument/2006/relationships/package" Target="../embeddings/Microsoft_Excel_Worksheet8.xlsx"/></Relationships>
</file>

<file path=ppt/charts/_rels/chart9.xml.rels><?xml version="1.0" encoding="UTF-8" standalone="yes"?><Relationships xmlns="http://schemas.openxmlformats.org/package/2006/relationships"><Relationship Id="rId1" Type="http://schemas.openxmlformats.org/officeDocument/2006/relationships/package" Target="../embeddings/Microsoft_Excel_Worksheet9.xlsx"/></Relationships>
</file>

<file path=ppt/charts/_rels/chart10.xml.rels><?xml version="1.0" encoding="UTF-8" standalone="yes"?><Relationships xmlns="http://schemas.openxmlformats.org/package/2006/relationships"><Relationship Id="rId1" Type="http://schemas.openxmlformats.org/officeDocument/2006/relationships/package" Target="../embeddings/Microsoft_Excel_Worksheet10.xlsx"/></Relationships>
</file>

<file path=ppt/charts/_rels/chart11.xml.rels><?xml version="1.0" encoding="UTF-8" standalone="yes"?><Relationships xmlns="http://schemas.openxmlformats.org/package/2006/relationships"><Relationship Id="rId1" Type="http://schemas.openxmlformats.org/officeDocument/2006/relationships/package" Target="../embeddings/Microsoft_Excel_Worksheet11.xlsx"/></Relationships>
</file>

<file path=ppt/charts/_rels/chart12.xml.rels><?xml version="1.0" encoding="UTF-8" standalone="yes"?><Relationships xmlns="http://schemas.openxmlformats.org/package/2006/relationships"><Relationship Id="rId1" Type="http://schemas.openxmlformats.org/officeDocument/2006/relationships/package" Target="../embeddings/Microsoft_Excel_Worksheet12.xlsx"/></Relationships>
</file>

<file path=ppt/charts/_rels/chart13.xml.rels><?xml version="1.0" encoding="UTF-8" standalone="yes"?><Relationships xmlns="http://schemas.openxmlformats.org/package/2006/relationships"><Relationship Id="rId1" Type="http://schemas.openxmlformats.org/officeDocument/2006/relationships/package" Target="../embeddings/Microsoft_Excel_Worksheet13.xlsx"/></Relationships>
</file>

<file path=ppt/charts/_rels/chart14.xml.rels><?xml version="1.0" encoding="UTF-8" standalone="yes"?><Relationships xmlns="http://schemas.openxmlformats.org/package/2006/relationships"><Relationship Id="rId1" Type="http://schemas.openxmlformats.org/officeDocument/2006/relationships/package" Target="../embeddings/Microsoft_Excel_Worksheet14.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243746"/>
                </a:solidFill>
                <a:latin typeface="+mn-lt"/>
              </a:defRPr>
            </a:pPr>
            <a:r>
              <a:rPr sz="1400" b="0" i="0" u="none" strike="noStrike">
                <a:solidFill>
                  <a:srgbClr val="243746"/>
                </a:solidFill>
                <a:latin typeface="+mn-lt"/>
              </a:rPr>
              <a:t>Average transaction value (JOD)</a:t>
            </a:r>
          </a:p>
        </c:rich>
      </c:tx>
      <c:layout/>
      <c:overlay val="0"/>
    </c:title>
    <c:autoTitleDeleted val="0"/>
    <c:plotArea>
      <c:layout/>
      <c:barChart>
        <c:barDir val="col"/>
        <c:grouping val="clustered"/>
        <c:varyColors val="0"/>
        <c:ser>
          <c:idx val="0"/>
          <c:order val="0"/>
          <c:tx>
            <c:strRef>
              <c:f>Sheet1!$B$1</c:f>
              <c:strCache>
                <c:ptCount val="1"/>
                <c:pt idx="0">
                  <c:v>Average transaction value (JOD)</c:v>
                </c:pt>
              </c:strCache>
            </c:strRef>
          </c:tx>
          <c:spPr>
            <a:solidFill>
              <a:srgbClr val="9EA1A2"/>
            </a:solidFill>
            <a:effectLst/>
          </c:spPr>
          <c:invertIfNegative val="0"/>
          <c:dLbls>
            <c:numFmt formatCode="0.0" sourceLinked="0"/>
            <c:txPr>
              <a:bodyPr/>
              <a:lstStyle/>
              <a:p>
                <a:pPr>
                  <a:defRPr b="0" i="0" strike="noStrike" sz="1200" u="none">
                    <a:solidFill>
                      <a:srgbClr val="243746"/>
                    </a:solidFill>
                    <a:latin typeface="+mn-lt"/>
                  </a:defRPr>
                </a:pPr>
              </a:p>
            </c:txPr>
            <c:showLegendKey val="0"/>
            <c:showVal val="1"/>
            <c:showCatName val="0"/>
            <c:showSerName val="0"/>
            <c:showPercent val="0"/>
            <c:showBubbleSize val="0"/>
            <c:showLeaderLines val="0"/>
          </c:dLbls>
          <c:dPt>
            <c:idx val="0"/>
            <c:invertIfNegative val="0"/>
            <c:bubble3D val="0"/>
            <c:spPr>
              <a:solidFill>
                <a:srgbClr val="9EA1A2"/>
              </a:solidFill>
              <a:effectLst/>
            </c:spPr>
          </c:dPt>
          <c:dPt>
            <c:idx val="1"/>
            <c:invertIfNegative val="0"/>
            <c:bubble3D val="0"/>
            <c:spPr>
              <a:solidFill>
                <a:srgbClr val="9EA1A2"/>
              </a:solidFill>
              <a:effectLst/>
            </c:spPr>
          </c:dPt>
          <c:dPt>
            <c:idx val="2"/>
            <c:invertIfNegative val="0"/>
            <c:bubble3D val="0"/>
            <c:spPr>
              <a:solidFill>
                <a:srgbClr val="243746"/>
              </a:solidFill>
              <a:effectLst/>
            </c:spPr>
          </c:dPt>
          <c:cat>
            <c:multiLvlStrRef>
              <c:f>Sheet1!$A$2:$A$4</c:f>
              <c:multiLvlStrCache>
                <c:ptCount val="3"/>
                <c:lvl>
                  <c:pt idx="0">
                    <c:v>2023</c:v>
                  </c:pt>
                  <c:pt idx="1">
                    <c:v>2024</c:v>
                  </c:pt>
                  <c:pt idx="2">
                    <c:v>2025</c:v>
                  </c:pt>
                </c:lvl>
              </c:multiLvlStrCache>
            </c:multiLvlStrRef>
          </c:cat>
          <c:val>
            <c:numRef>
              <c:f>Sheet1!$B$2:$B$4</c:f>
              <c:numCache>
                <c:formatCode>General</c:formatCode>
                <c:ptCount val="3"/>
                <c:pt idx="0">
                  <c:v>546.5</c:v>
                </c:pt>
                <c:pt idx="1">
                  <c:v>355.9</c:v>
                </c:pt>
                <c:pt idx="2">
                  <c:v>256.3</c:v>
                </c:pt>
              </c:numCache>
            </c:numRef>
          </c:val>
        </c:ser>
        <c:dLbls>
          <c:numFmt formatCode="0.0" sourceLinked="0"/>
          <c:txPr>
            <a:bodyPr/>
            <a:lstStyle/>
            <a:p>
              <a:pPr>
                <a:defRPr b="0" i="0" strike="noStrike" sz="1200" u="none">
                  <a:solidFill>
                    <a:srgbClr val="243746"/>
                  </a:solidFill>
                  <a:latin typeface="+mn-lt"/>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6F7271"/>
                </a:solidFill>
                <a:latin typeface="+mn-lt"/>
              </a:defRPr>
            </a:pPr>
            <a:endParaRPr lang="en-US"/>
          </a:p>
        </c:txPr>
        <c:crossAx val="2094734552"/>
        <c:crosses val="autoZero"/>
        <c:auto val="1"/>
        <c:lblAlgn val="ctr"/>
        <c:noMultiLvlLbl val="1"/>
      </c:catAx>
      <c:valAx>
        <c:axId val="2094734552"/>
        <c:scaling>
          <c:orientation val="minMax"/>
          <c:min val="0"/>
        </c:scaling>
        <c:delete val="1"/>
        <c:axPos val="l"/>
        <c:majorGridlines>
          <c:spPr>
            <a:ln w="6350" cap="flat">
              <a:solidFill>
                <a:srgbClr val="DFE2E4"/>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6F7271"/>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243746"/>
                </a:solidFill>
                <a:latin typeface="+mn-lt"/>
              </a:defRPr>
            </a:pPr>
            <a:r>
              <a:rPr sz="1400" b="0" i="0" u="none" strike="noStrike">
                <a:solidFill>
                  <a:srgbClr val="243746"/>
                </a:solidFill>
                <a:latin typeface="+mn-lt"/>
              </a:rPr>
              <a:t>Average transaction value (JOD)</a:t>
            </a:r>
          </a:p>
        </c:rich>
      </c:tx>
      <c:layout/>
      <c:overlay val="0"/>
    </c:title>
    <c:autoTitleDeleted val="0"/>
    <c:plotArea>
      <c:layout/>
      <c:barChart>
        <c:barDir val="col"/>
        <c:grouping val="clustered"/>
        <c:varyColors val="0"/>
        <c:ser>
          <c:idx val="0"/>
          <c:order val="0"/>
          <c:tx>
            <c:strRef>
              <c:f>Sheet1!$B$1</c:f>
              <c:strCache>
                <c:ptCount val="1"/>
                <c:pt idx="0">
                  <c:v>Average transaction value (JOD)</c:v>
                </c:pt>
              </c:strCache>
            </c:strRef>
          </c:tx>
          <c:spPr>
            <a:solidFill>
              <a:srgbClr val="9EA1A2"/>
            </a:solidFill>
            <a:effectLst/>
          </c:spPr>
          <c:invertIfNegative val="0"/>
          <c:dLbls>
            <c:numFmt formatCode="0.0" sourceLinked="0"/>
            <c:txPr>
              <a:bodyPr/>
              <a:lstStyle/>
              <a:p>
                <a:pPr>
                  <a:defRPr b="0" i="0" strike="noStrike" sz="1200" u="none">
                    <a:solidFill>
                      <a:srgbClr val="243746"/>
                    </a:solidFill>
                    <a:latin typeface="+mn-lt"/>
                  </a:defRPr>
                </a:pPr>
              </a:p>
            </c:txPr>
            <c:showLegendKey val="0"/>
            <c:showVal val="1"/>
            <c:showCatName val="0"/>
            <c:showSerName val="0"/>
            <c:showPercent val="0"/>
            <c:showBubbleSize val="0"/>
            <c:showLeaderLines val="0"/>
          </c:dLbls>
          <c:dPt>
            <c:idx val="0"/>
            <c:invertIfNegative val="0"/>
            <c:bubble3D val="0"/>
            <c:spPr>
              <a:solidFill>
                <a:srgbClr val="9EA1A2"/>
              </a:solidFill>
              <a:effectLst/>
            </c:spPr>
          </c:dPt>
          <c:dPt>
            <c:idx val="1"/>
            <c:invertIfNegative val="0"/>
            <c:bubble3D val="0"/>
            <c:spPr>
              <a:solidFill>
                <a:srgbClr val="9EA1A2"/>
              </a:solidFill>
              <a:effectLst/>
            </c:spPr>
          </c:dPt>
          <c:dPt>
            <c:idx val="2"/>
            <c:invertIfNegative val="0"/>
            <c:bubble3D val="0"/>
            <c:spPr>
              <a:solidFill>
                <a:srgbClr val="243746"/>
              </a:solidFill>
              <a:effectLst/>
            </c:spPr>
          </c:dPt>
          <c:cat>
            <c:multiLvlStrRef>
              <c:f>Sheet1!$A$2:$A$4</c:f>
              <c:multiLvlStrCache>
                <c:ptCount val="3"/>
                <c:lvl>
                  <c:pt idx="0">
                    <c:v>2023</c:v>
                  </c:pt>
                  <c:pt idx="1">
                    <c:v>2024</c:v>
                  </c:pt>
                  <c:pt idx="2">
                    <c:v>2025</c:v>
                  </c:pt>
                </c:lvl>
              </c:multiLvlStrCache>
            </c:multiLvlStrRef>
          </c:cat>
          <c:val>
            <c:numRef>
              <c:f>Sheet1!$B$2:$B$4</c:f>
              <c:numCache>
                <c:formatCode>General</c:formatCode>
                <c:ptCount val="3"/>
                <c:pt idx="0">
                  <c:v>546.5</c:v>
                </c:pt>
                <c:pt idx="1">
                  <c:v>355.9</c:v>
                </c:pt>
                <c:pt idx="2">
                  <c:v>256.3</c:v>
                </c:pt>
              </c:numCache>
            </c:numRef>
          </c:val>
        </c:ser>
        <c:dLbls>
          <c:numFmt formatCode="0.0" sourceLinked="0"/>
          <c:txPr>
            <a:bodyPr/>
            <a:lstStyle/>
            <a:p>
              <a:pPr>
                <a:defRPr b="0" i="0" strike="noStrike" sz="1200" u="none">
                  <a:solidFill>
                    <a:srgbClr val="243746"/>
                  </a:solidFill>
                  <a:latin typeface="+mn-lt"/>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6F7271"/>
                </a:solidFill>
                <a:latin typeface="+mn-lt"/>
              </a:defRPr>
            </a:pPr>
            <a:endParaRPr lang="en-US"/>
          </a:p>
        </c:txPr>
        <c:crossAx val="2094734552"/>
        <c:crosses val="autoZero"/>
        <c:auto val="1"/>
        <c:lblAlgn val="ctr"/>
        <c:noMultiLvlLbl val="1"/>
      </c:catAx>
      <c:valAx>
        <c:axId val="2094734552"/>
        <c:scaling>
          <c:orientation val="minMax"/>
          <c:min val="0"/>
        </c:scaling>
        <c:delete val="1"/>
        <c:axPos val="l"/>
        <c:majorGridlines>
          <c:spPr>
            <a:ln w="6350" cap="flat">
              <a:solidFill>
                <a:srgbClr val="DFE2E4"/>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6F7271"/>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243746"/>
                </a:solidFill>
                <a:latin typeface="+mn-lt"/>
              </a:defRPr>
            </a:pPr>
            <a:r>
              <a:rPr sz="1400" b="0" i="0" u="none" strike="noStrike">
                <a:solidFill>
                  <a:srgbClr val="243746"/>
                </a:solidFill>
                <a:latin typeface="+mn-lt"/>
              </a:rPr>
              <a:t>Payments per band (%): the busiest band in gold</a:t>
            </a:r>
          </a:p>
        </c:rich>
      </c:tx>
      <c:layout/>
      <c:overlay val="0"/>
    </c:title>
    <c:autoTitleDeleted val="0"/>
    <c:plotArea>
      <c:layout/>
      <c:barChart>
        <c:barDir val="col"/>
        <c:grouping val="clustered"/>
        <c:varyColors val="0"/>
        <c:ser>
          <c:idx val="0"/>
          <c:order val="0"/>
          <c:tx>
            <c:strRef>
              <c:f>Sheet1!$B$1</c:f>
              <c:strCache>
                <c:ptCount val="1"/>
                <c:pt idx="0">
                  <c:v>Share of payments (%)</c:v>
                </c:pt>
              </c:strCache>
            </c:strRef>
          </c:tx>
          <c:spPr>
            <a:solidFill>
              <a:srgbClr val="9EA1A2"/>
            </a:solidFill>
            <a:effectLst/>
          </c:spPr>
          <c:invertIfNegative val="0"/>
          <c:dLbls>
            <c:numFmt formatCode="0" sourceLinked="0"/>
            <c:txPr>
              <a:bodyPr/>
              <a:lstStyle/>
              <a:p>
                <a:pPr>
                  <a:defRPr b="0" i="0" strike="noStrike" sz="1200" u="none">
                    <a:solidFill>
                      <a:srgbClr val="243746"/>
                    </a:solidFill>
                    <a:latin typeface="+mn-lt"/>
                  </a:defRPr>
                </a:pPr>
              </a:p>
            </c:txPr>
            <c:showLegendKey val="0"/>
            <c:showVal val="1"/>
            <c:showCatName val="0"/>
            <c:showSerName val="0"/>
            <c:showPercent val="0"/>
            <c:showBubbleSize val="0"/>
            <c:showLeaderLines val="0"/>
          </c:dLbls>
          <c:dPt>
            <c:idx val="0"/>
            <c:invertIfNegative val="0"/>
            <c:bubble3D val="0"/>
            <c:spPr>
              <a:solidFill>
                <a:srgbClr val="9EA1A2"/>
              </a:solidFill>
              <a:effectLst/>
            </c:spPr>
          </c:dPt>
          <c:dPt>
            <c:idx val="1"/>
            <c:invertIfNegative val="0"/>
            <c:bubble3D val="0"/>
            <c:spPr>
              <a:solidFill>
                <a:srgbClr val="FFB600"/>
              </a:solidFill>
              <a:effectLst/>
            </c:spPr>
          </c:dPt>
          <c:dPt>
            <c:idx val="2"/>
            <c:invertIfNegative val="0"/>
            <c:bubble3D val="0"/>
            <c:spPr>
              <a:solidFill>
                <a:srgbClr val="9EA1A2"/>
              </a:solidFill>
              <a:effectLst/>
            </c:spPr>
          </c:dPt>
          <c:dPt>
            <c:idx val="3"/>
            <c:invertIfNegative val="0"/>
            <c:bubble3D val="0"/>
            <c:spPr>
              <a:solidFill>
                <a:srgbClr val="9EA1A2"/>
              </a:solidFill>
              <a:effectLst/>
            </c:spPr>
          </c:dPt>
          <c:dPt>
            <c:idx val="4"/>
            <c:invertIfNegative val="0"/>
            <c:bubble3D val="0"/>
            <c:spPr>
              <a:solidFill>
                <a:srgbClr val="9EA1A2"/>
              </a:solidFill>
              <a:effectLst/>
            </c:spPr>
          </c:dPt>
          <c:dPt>
            <c:idx val="5"/>
            <c:invertIfNegative val="0"/>
            <c:bubble3D val="0"/>
            <c:spPr>
              <a:solidFill>
                <a:srgbClr val="9EA1A2"/>
              </a:solidFill>
              <a:effectLst/>
            </c:spPr>
          </c:dPt>
          <c:cat>
            <c:multiLvlStrRef>
              <c:f>Sheet1!$A$2:$A$7</c:f>
              <c:multiLvlStrCache>
                <c:ptCount val="6"/>
                <c:lvl>
                  <c:pt idx="0">
                    <c:v>1-100</c:v>
                  </c:pt>
                  <c:pt idx="1">
                    <c:v>101-200</c:v>
                  </c:pt>
                  <c:pt idx="2">
                    <c:v>201-300</c:v>
                  </c:pt>
                  <c:pt idx="3">
                    <c:v>301-400</c:v>
                  </c:pt>
                  <c:pt idx="4">
                    <c:v>401-500</c:v>
                  </c:pt>
                  <c:pt idx="5">
                    <c:v>500+</c:v>
                  </c:pt>
                </c:lvl>
              </c:multiLvlStrCache>
            </c:multiLvlStrRef>
          </c:cat>
          <c:val>
            <c:numRef>
              <c:f>Sheet1!$B$2:$B$7</c:f>
              <c:numCache>
                <c:formatCode>General</c:formatCode>
                <c:ptCount val="6"/>
                <c:pt idx="0">
                  <c:v>20</c:v>
                </c:pt>
                <c:pt idx="1">
                  <c:v>34</c:v>
                </c:pt>
                <c:pt idx="2">
                  <c:v>22</c:v>
                </c:pt>
                <c:pt idx="3">
                  <c:v>11</c:v>
                </c:pt>
                <c:pt idx="4">
                  <c:v>6</c:v>
                </c:pt>
                <c:pt idx="5">
                  <c:v>7</c:v>
                </c:pt>
              </c:numCache>
            </c:numRef>
          </c:val>
        </c:ser>
        <c:dLbls>
          <c:numFmt formatCode="0" sourceLinked="0"/>
          <c:txPr>
            <a:bodyPr/>
            <a:lstStyle/>
            <a:p>
              <a:pPr>
                <a:defRPr b="0" i="0" strike="noStrike" sz="1200" u="none">
                  <a:solidFill>
                    <a:srgbClr val="243746"/>
                  </a:solidFill>
                  <a:latin typeface="+mn-lt"/>
                </a:defRPr>
              </a:pPr>
            </a:p>
          </c:txPr>
          <c:showLegendKey val="0"/>
          <c:showVal val="1"/>
          <c:showCatName val="0"/>
          <c:showSerName val="0"/>
          <c:showPercent val="0"/>
          <c:showBubbleSize val="0"/>
          <c:showLeaderLines val="0"/>
        </c:dLbls>
        <c:gapWidth val="4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6F7271"/>
                </a:solidFill>
                <a:latin typeface="+mn-lt"/>
              </a:defRPr>
            </a:pPr>
            <a:endParaRPr lang="en-US"/>
          </a:p>
        </c:txPr>
        <c:crossAx val="2094734552"/>
        <c:crosses val="autoZero"/>
        <c:auto val="1"/>
        <c:lblAlgn val="ctr"/>
        <c:noMultiLvlLbl val="1"/>
      </c:catAx>
      <c:valAx>
        <c:axId val="2094734552"/>
        <c:scaling>
          <c:orientation val="minMax"/>
          <c:max val="42"/>
          <c:min val="0"/>
        </c:scaling>
        <c:delete val="1"/>
        <c:axPos val="l"/>
        <c:majorGridlines>
          <c:spPr>
            <a:ln w="6350" cap="flat">
              <a:solidFill>
                <a:srgbClr val="DFE2E4"/>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6F7271"/>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2024</c:v>
                </c:pt>
              </c:strCache>
            </c:strRef>
          </c:tx>
          <c:spPr>
            <a:solidFill>
              <a:srgbClr val="9EA1A2"/>
            </a:solidFill>
            <a:effectLst/>
          </c:spPr>
          <c:invertIfNegative val="0"/>
          <c:dLbls>
            <c:numFmt formatCode="0" sourceLinked="0"/>
            <c:txPr>
              <a:bodyPr/>
              <a:lstStyle/>
              <a:p>
                <a:pPr>
                  <a:defRPr b="0" i="0" strike="noStrike" sz="1200" u="none">
                    <a:solidFill>
                      <a:srgbClr val="243746"/>
                    </a:solidFill>
                    <a:latin typeface="+mn-lt"/>
                  </a:defRPr>
                </a:pPr>
              </a:p>
            </c:txPr>
            <c:showLegendKey val="0"/>
            <c:showVal val="1"/>
            <c:showCatName val="0"/>
            <c:showSerName val="0"/>
            <c:showPercent val="0"/>
            <c:showBubbleSize val="0"/>
            <c:showLeaderLines val="0"/>
          </c:dLbls>
          <c:cat>
            <c:multiLvlStrRef>
              <c:f>Sheet1!$A$2:$A$4</c:f>
              <c:multiLvlStrCache>
                <c:ptCount val="3"/>
                <c:lvl>
                  <c:pt idx="0">
                    <c:v>Users (breadth)</c:v>
                  </c:pt>
                  <c:pt idx="1">
                    <c:v>Transactions per user (depth)</c:v>
                  </c:pt>
                  <c:pt idx="2">
                    <c:v>Total transactions</c:v>
                  </c:pt>
                </c:lvl>
              </c:multiLvlStrCache>
            </c:multiLvlStrRef>
          </c:cat>
          <c:val>
            <c:numRef>
              <c:f>Sheet1!$B$2:$B$4</c:f>
              <c:numCache>
                <c:formatCode>General</c:formatCode>
                <c:ptCount val="3"/>
                <c:pt idx="0">
                  <c:v>100</c:v>
                </c:pt>
                <c:pt idx="1">
                  <c:v>100</c:v>
                </c:pt>
                <c:pt idx="2">
                  <c:v>100</c:v>
                </c:pt>
              </c:numCache>
            </c:numRef>
          </c:val>
        </c:ser>
        <c:ser>
          <c:idx val="1"/>
          <c:order val="1"/>
          <c:tx>
            <c:strRef>
              <c:f>Sheet1!$C$1</c:f>
              <c:strCache>
                <c:ptCount val="1"/>
                <c:pt idx="0">
                  <c:v>2025</c:v>
                </c:pt>
              </c:strCache>
            </c:strRef>
          </c:tx>
          <c:spPr>
            <a:solidFill>
              <a:srgbClr val="243746"/>
            </a:solidFill>
            <a:effectLst/>
          </c:spPr>
          <c:invertIfNegative val="0"/>
          <c:dLbls>
            <c:numFmt formatCode="0" sourceLinked="0"/>
            <c:txPr>
              <a:bodyPr/>
              <a:lstStyle/>
              <a:p>
                <a:pPr>
                  <a:defRPr b="0" i="0" strike="noStrike" sz="1200" u="none">
                    <a:solidFill>
                      <a:srgbClr val="243746"/>
                    </a:solidFill>
                    <a:latin typeface="+mn-lt"/>
                  </a:defRPr>
                </a:pPr>
              </a:p>
            </c:txPr>
            <c:showLegendKey val="0"/>
            <c:showVal val="1"/>
            <c:showCatName val="0"/>
            <c:showSerName val="0"/>
            <c:showPercent val="0"/>
            <c:showBubbleSize val="0"/>
            <c:showLeaderLines val="0"/>
          </c:dLbls>
          <c:cat>
            <c:multiLvlStrRef>
              <c:f>Sheet1!$A$2:$A$4</c:f>
              <c:multiLvlStrCache>
                <c:ptCount val="3"/>
                <c:lvl>
                  <c:pt idx="0">
                    <c:v>Users (breadth)</c:v>
                  </c:pt>
                  <c:pt idx="1">
                    <c:v>Transactions per user (depth)</c:v>
                  </c:pt>
                  <c:pt idx="2">
                    <c:v>Total transactions</c:v>
                  </c:pt>
                </c:lvl>
              </c:multiLvlStrCache>
            </c:multiLvlStrRef>
          </c:cat>
          <c:val>
            <c:numRef>
              <c:f>Sheet1!$C$2:$C$4</c:f>
              <c:numCache>
                <c:formatCode>General</c:formatCode>
                <c:ptCount val="3"/>
                <c:pt idx="0">
                  <c:v>127</c:v>
                </c:pt>
                <c:pt idx="1">
                  <c:v>157</c:v>
                </c:pt>
                <c:pt idx="2">
                  <c:v>200</c:v>
                </c:pt>
              </c:numCache>
            </c:numRef>
          </c:val>
        </c:ser>
        <c:dLbls>
          <c:numFmt formatCode="0" sourceLinked="0"/>
          <c:txPr>
            <a:bodyPr/>
            <a:lstStyle/>
            <a:p>
              <a:pPr>
                <a:defRPr b="0" i="0" strike="noStrike" sz="1200" u="none">
                  <a:solidFill>
                    <a:srgbClr val="243746"/>
                  </a:solidFill>
                  <a:latin typeface="+mn-lt"/>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6F7271"/>
                </a:solidFill>
                <a:latin typeface="+mn-lt"/>
              </a:defRPr>
            </a:pPr>
            <a:endParaRPr lang="en-US"/>
          </a:p>
        </c:txPr>
        <c:crossAx val="2094734552"/>
        <c:crosses val="autoZero"/>
        <c:auto val="1"/>
        <c:lblAlgn val="ctr"/>
        <c:noMultiLvlLbl val="1"/>
      </c:catAx>
      <c:valAx>
        <c:axId val="2094734552"/>
        <c:scaling>
          <c:orientation val="minMax"/>
          <c:max val="230"/>
          <c:min val="0"/>
        </c:scaling>
        <c:delete val="1"/>
        <c:axPos val="l"/>
        <c:majorGridlines>
          <c:spPr>
            <a:ln w="6350" cap="flat">
              <a:solidFill>
                <a:srgbClr val="DFE2E4"/>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6F7271"/>
                </a:solidFill>
                <a:latin typeface="+mn-lt"/>
              </a:defRPr>
            </a:pPr>
            <a:endParaRPr lang="en-US"/>
          </a:p>
        </c:txPr>
        <c:crossAx val="2094734554"/>
        <c:crosses val="autoZero"/>
        <c:crossBetween val="between"/>
      </c:valAx>
      <c:spPr>
        <a:noFill/>
        <a:ln>
          <a:noFill/>
        </a:ln>
        <a:effectLst/>
      </c:spPr>
    </c:plotArea>
    <c:legend>
      <c:legendPos val="b"/>
      <c:overlay val="0"/>
      <c:txPr>
        <a:bodyPr/>
        <a:lstStyle/>
        <a:p>
          <a:pPr>
            <a:defRPr sz="1200">
              <a:latin typeface="+mn-lt"/>
              <a:cs typeface="+mn-lt"/>
            </a:defRPr>
          </a:pPr>
          <a:endParaRPr lang="en-US"/>
        </a:p>
      </c:txPr>
    </c:legend>
    <c:plotVisOnly val="1"/>
    <c:dispBlanksAs val="span"/>
  </c:chart>
  <c:spPr>
    <a:no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243746"/>
                </a:solidFill>
                <a:latin typeface="+mn-lt"/>
              </a:defRPr>
            </a:pPr>
            <a:r>
              <a:rPr sz="1400" b="0" i="0" u="none" strike="noStrike">
                <a:solidFill>
                  <a:srgbClr val="243746"/>
                </a:solidFill>
                <a:latin typeface="+mn-lt"/>
              </a:rPr>
              <a:t>Share of transactions (%)</a:t>
            </a:r>
          </a:p>
        </c:rich>
      </c:tx>
      <c:layout/>
      <c:overlay val="0"/>
    </c:title>
    <c:autoTitleDeleted val="0"/>
    <c:plotArea>
      <c:layout/>
      <c:barChart>
        <c:barDir val="col"/>
        <c:grouping val="clustered"/>
        <c:varyColors val="0"/>
        <c:ser>
          <c:idx val="0"/>
          <c:order val="0"/>
          <c:tx>
            <c:strRef>
              <c:f>Sheet1!$B$1</c:f>
              <c:strCache>
                <c:ptCount val="1"/>
                <c:pt idx="0">
                  <c:v>2024</c:v>
                </c:pt>
              </c:strCache>
            </c:strRef>
          </c:tx>
          <c:spPr>
            <a:solidFill>
              <a:srgbClr val="9EA1A2"/>
            </a:solidFill>
            <a:effectLst/>
          </c:spPr>
          <c:invertIfNegative val="0"/>
          <c:dLbls>
            <c:numFmt formatCode="0.0" sourceLinked="0"/>
            <c:txPr>
              <a:bodyPr/>
              <a:lstStyle/>
              <a:p>
                <a:pPr>
                  <a:defRPr b="0" i="0" strike="noStrike" sz="1200" u="none">
                    <a:solidFill>
                      <a:srgbClr val="243746"/>
                    </a:solidFill>
                    <a:latin typeface="+mn-lt"/>
                  </a:defRPr>
                </a:pPr>
              </a:p>
            </c:txPr>
            <c:showLegendKey val="0"/>
            <c:showVal val="1"/>
            <c:showCatName val="0"/>
            <c:showSerName val="0"/>
            <c:showPercent val="0"/>
            <c:showBubbleSize val="0"/>
            <c:showLeaderLines val="0"/>
          </c:dLbls>
          <c:cat>
            <c:multiLvlStrRef>
              <c:f>Sheet1!$A$2:$A$3</c:f>
              <c:multiLvlStrCache>
                <c:ptCount val="2"/>
                <c:lvl>
                  <c:pt idx="0">
                    <c:v>Cash Out</c:v>
                  </c:pt>
                  <c:pt idx="1">
                    <c:v>Purchases</c:v>
                  </c:pt>
                </c:lvl>
              </c:multiLvlStrCache>
            </c:multiLvlStrRef>
          </c:cat>
          <c:val>
            <c:numRef>
              <c:f>Sheet1!$B$2:$B$3</c:f>
              <c:numCache>
                <c:formatCode>General</c:formatCode>
                <c:ptCount val="2"/>
                <c:pt idx="0">
                  <c:v>3.6</c:v>
                </c:pt>
                <c:pt idx="1">
                  <c:v>3.9</c:v>
                </c:pt>
              </c:numCache>
            </c:numRef>
          </c:val>
        </c:ser>
        <c:ser>
          <c:idx val="1"/>
          <c:order val="1"/>
          <c:tx>
            <c:strRef>
              <c:f>Sheet1!$C$1</c:f>
              <c:strCache>
                <c:ptCount val="1"/>
                <c:pt idx="0">
                  <c:v>2025</c:v>
                </c:pt>
              </c:strCache>
            </c:strRef>
          </c:tx>
          <c:spPr>
            <a:solidFill>
              <a:srgbClr val="243746"/>
            </a:solidFill>
            <a:effectLst/>
          </c:spPr>
          <c:invertIfNegative val="0"/>
          <c:dLbls>
            <c:numFmt formatCode="0.0" sourceLinked="0"/>
            <c:txPr>
              <a:bodyPr/>
              <a:lstStyle/>
              <a:p>
                <a:pPr>
                  <a:defRPr b="0" i="0" strike="noStrike" sz="1200" u="none">
                    <a:solidFill>
                      <a:srgbClr val="243746"/>
                    </a:solidFill>
                    <a:latin typeface="+mn-lt"/>
                  </a:defRPr>
                </a:pPr>
              </a:p>
            </c:txPr>
            <c:showLegendKey val="0"/>
            <c:showVal val="1"/>
            <c:showCatName val="0"/>
            <c:showSerName val="0"/>
            <c:showPercent val="0"/>
            <c:showBubbleSize val="0"/>
            <c:showLeaderLines val="0"/>
          </c:dLbls>
          <c:cat>
            <c:multiLvlStrRef>
              <c:f>Sheet1!$A$2:$A$3</c:f>
              <c:multiLvlStrCache>
                <c:ptCount val="2"/>
                <c:lvl>
                  <c:pt idx="0">
                    <c:v>Cash Out</c:v>
                  </c:pt>
                  <c:pt idx="1">
                    <c:v>Purchases</c:v>
                  </c:pt>
                </c:lvl>
              </c:multiLvlStrCache>
            </c:multiLvlStrRef>
          </c:cat>
          <c:val>
            <c:numRef>
              <c:f>Sheet1!$C$2:$C$3</c:f>
              <c:numCache>
                <c:formatCode>General</c:formatCode>
                <c:ptCount val="2"/>
                <c:pt idx="0">
                  <c:v>1.7</c:v>
                </c:pt>
                <c:pt idx="1">
                  <c:v>8.4</c:v>
                </c:pt>
              </c:numCache>
            </c:numRef>
          </c:val>
        </c:ser>
        <c:dLbls>
          <c:numFmt formatCode="0.0" sourceLinked="0"/>
          <c:txPr>
            <a:bodyPr/>
            <a:lstStyle/>
            <a:p>
              <a:pPr>
                <a:defRPr b="0" i="0" strike="noStrike" sz="1200" u="none">
                  <a:solidFill>
                    <a:srgbClr val="243746"/>
                  </a:solidFill>
                  <a:latin typeface="+mn-lt"/>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6F7271"/>
                </a:solidFill>
                <a:latin typeface="+mn-lt"/>
              </a:defRPr>
            </a:pPr>
            <a:endParaRPr lang="en-US"/>
          </a:p>
        </c:txPr>
        <c:crossAx val="2094734552"/>
        <c:crosses val="autoZero"/>
        <c:auto val="1"/>
        <c:lblAlgn val="ctr"/>
        <c:noMultiLvlLbl val="1"/>
      </c:catAx>
      <c:valAx>
        <c:axId val="2094734552"/>
        <c:scaling>
          <c:orientation val="minMax"/>
        </c:scaling>
        <c:delete val="1"/>
        <c:axPos val="l"/>
        <c:majorGridlines>
          <c:spPr>
            <a:ln w="6350" cap="flat">
              <a:solidFill>
                <a:srgbClr val="DFE2E4"/>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6F7271"/>
                </a:solidFill>
                <a:latin typeface="+mn-lt"/>
              </a:defRPr>
            </a:pPr>
            <a:endParaRPr lang="en-US"/>
          </a:p>
        </c:txPr>
        <c:crossAx val="2094734554"/>
        <c:crosses val="autoZero"/>
        <c:crossBetween val="between"/>
      </c:valAx>
      <c:spPr>
        <a:noFill/>
        <a:ln>
          <a:noFill/>
        </a:ln>
        <a:effectLst/>
      </c:spPr>
    </c:plotArea>
    <c:legend>
      <c:legendPos val="b"/>
      <c:overlay val="0"/>
      <c:txPr>
        <a:bodyPr/>
        <a:lstStyle/>
        <a:p>
          <a:pPr>
            <a:defRPr sz="1200">
              <a:latin typeface="+mn-lt"/>
              <a:cs typeface="+mn-lt"/>
            </a:defRPr>
          </a:pPr>
          <a:endParaRPr lang="en-US"/>
        </a:p>
      </c:txPr>
    </c:legend>
    <c:plotVisOnly val="1"/>
    <c:dispBlanksAs val="span"/>
  </c:chart>
  <c:spPr>
    <a:noFill/>
    <a:ln>
      <a:noFill/>
    </a:ln>
    <a:effectLst/>
  </c:sp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243746"/>
                </a:solidFill>
                <a:latin typeface="+mn-lt"/>
              </a:defRPr>
            </a:pPr>
            <a:r>
              <a:rPr sz="1400" b="0" i="0" u="none" strike="noStrike">
                <a:solidFill>
                  <a:srgbClr val="243746"/>
                </a:solidFill>
                <a:latin typeface="+mn-lt"/>
              </a:rPr>
              <a:t>Female user growth (%)</a:t>
            </a:r>
          </a:p>
        </c:rich>
      </c:tx>
      <c:layout/>
      <c:overlay val="0"/>
    </c:title>
    <c:autoTitleDeleted val="0"/>
    <c:plotArea>
      <c:layout/>
      <c:barChart>
        <c:barDir val="col"/>
        <c:grouping val="clustered"/>
        <c:varyColors val="0"/>
        <c:ser>
          <c:idx val="0"/>
          <c:order val="0"/>
          <c:tx>
            <c:strRef>
              <c:f>Sheet1!$B$1</c:f>
              <c:strCache>
                <c:ptCount val="1"/>
                <c:pt idx="0">
                  <c:v>Female user growth</c:v>
                </c:pt>
              </c:strCache>
            </c:strRef>
          </c:tx>
          <c:spPr>
            <a:solidFill>
              <a:srgbClr val="9EA1A2"/>
            </a:solidFill>
            <a:effectLst/>
          </c:spPr>
          <c:invertIfNegative val="0"/>
          <c:dLbls>
            <c:numFmt formatCode="0.0" sourceLinked="0"/>
            <c:txPr>
              <a:bodyPr/>
              <a:lstStyle/>
              <a:p>
                <a:pPr>
                  <a:defRPr b="0" i="0" strike="noStrike" sz="1200" u="none">
                    <a:solidFill>
                      <a:srgbClr val="243746"/>
                    </a:solidFill>
                    <a:latin typeface="+mn-lt"/>
                  </a:defRPr>
                </a:pPr>
              </a:p>
            </c:txPr>
            <c:showLegendKey val="0"/>
            <c:showVal val="1"/>
            <c:showCatName val="0"/>
            <c:showSerName val="0"/>
            <c:showPercent val="0"/>
            <c:showBubbleSize val="0"/>
            <c:showLeaderLines val="0"/>
          </c:dLbls>
          <c:dPt>
            <c:idx val="0"/>
            <c:invertIfNegative val="0"/>
            <c:bubble3D val="0"/>
            <c:spPr>
              <a:solidFill>
                <a:srgbClr val="9EA1A2"/>
              </a:solidFill>
              <a:effectLst/>
            </c:spPr>
          </c:dPt>
          <c:dPt>
            <c:idx val="1"/>
            <c:invertIfNegative val="0"/>
            <c:bubble3D val="0"/>
            <c:spPr>
              <a:solidFill>
                <a:srgbClr val="C0463C"/>
              </a:solidFill>
              <a:effectLst/>
            </c:spPr>
          </c:dPt>
          <c:cat>
            <c:multiLvlStrRef>
              <c:f>Sheet1!$A$2:$A$3</c:f>
              <c:multiLvlStrCache>
                <c:ptCount val="2"/>
                <c:lvl>
                  <c:pt idx="0">
                    <c:v>2024</c:v>
                  </c:pt>
                  <c:pt idx="1">
                    <c:v>2025</c:v>
                  </c:pt>
                </c:lvl>
              </c:multiLvlStrCache>
            </c:multiLvlStrRef>
          </c:cat>
          <c:val>
            <c:numRef>
              <c:f>Sheet1!$B$2:$B$3</c:f>
              <c:numCache>
                <c:formatCode>General</c:formatCode>
                <c:ptCount val="2"/>
                <c:pt idx="0">
                  <c:v>23.7</c:v>
                </c:pt>
                <c:pt idx="1">
                  <c:v>4.2</c:v>
                </c:pt>
              </c:numCache>
            </c:numRef>
          </c:val>
        </c:ser>
        <c:dLbls>
          <c:numFmt formatCode="0.0" sourceLinked="0"/>
          <c:txPr>
            <a:bodyPr/>
            <a:lstStyle/>
            <a:p>
              <a:pPr>
                <a:defRPr b="0" i="0" strike="noStrike" sz="1200" u="none">
                  <a:solidFill>
                    <a:srgbClr val="243746"/>
                  </a:solidFill>
                  <a:latin typeface="+mn-lt"/>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6F7271"/>
                </a:solidFill>
                <a:latin typeface="+mn-lt"/>
              </a:defRPr>
            </a:pPr>
            <a:endParaRPr lang="en-US"/>
          </a:p>
        </c:txPr>
        <c:crossAx val="2094734552"/>
        <c:crosses val="autoZero"/>
        <c:auto val="1"/>
        <c:lblAlgn val="ctr"/>
        <c:noMultiLvlLbl val="1"/>
      </c:catAx>
      <c:valAx>
        <c:axId val="2094734552"/>
        <c:scaling>
          <c:orientation val="minMax"/>
        </c:scaling>
        <c:delete val="1"/>
        <c:axPos val="l"/>
        <c:majorGridlines>
          <c:spPr>
            <a:ln w="6350" cap="flat">
              <a:solidFill>
                <a:srgbClr val="DFE2E4"/>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6F7271"/>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243746"/>
                </a:solidFill>
                <a:latin typeface="+mn-lt"/>
              </a:defRPr>
            </a:pPr>
            <a:r>
              <a:rPr sz="1400" b="0" i="0" u="none" strike="noStrike">
                <a:solidFill>
                  <a:srgbClr val="243746"/>
                </a:solidFill>
                <a:latin typeface="+mn-lt"/>
              </a:rPr>
              <a:t>QR as % of purchases</a:t>
            </a:r>
          </a:p>
        </c:rich>
      </c:tx>
      <c:layout/>
      <c:overlay val="0"/>
    </c:title>
    <c:autoTitleDeleted val="0"/>
    <c:plotArea>
      <c:layout/>
      <c:barChart>
        <c:barDir val="col"/>
        <c:grouping val="clustered"/>
        <c:varyColors val="0"/>
        <c:ser>
          <c:idx val="0"/>
          <c:order val="0"/>
          <c:tx>
            <c:strRef>
              <c:f>Sheet1!$B$1</c:f>
              <c:strCache>
                <c:ptCount val="1"/>
                <c:pt idx="0">
                  <c:v>QR as % of purchases</c:v>
                </c:pt>
              </c:strCache>
            </c:strRef>
          </c:tx>
          <c:spPr>
            <a:solidFill>
              <a:srgbClr val="9EA1A2"/>
            </a:solidFill>
            <a:effectLst/>
          </c:spPr>
          <c:invertIfNegative val="0"/>
          <c:dLbls>
            <c:numFmt formatCode="0.0" sourceLinked="0"/>
            <c:txPr>
              <a:bodyPr/>
              <a:lstStyle/>
              <a:p>
                <a:pPr>
                  <a:defRPr b="0" i="0" strike="noStrike" sz="1200" u="none">
                    <a:solidFill>
                      <a:srgbClr val="243746"/>
                    </a:solidFill>
                    <a:latin typeface="+mn-lt"/>
                  </a:defRPr>
                </a:pPr>
              </a:p>
            </c:txPr>
            <c:showLegendKey val="0"/>
            <c:showVal val="1"/>
            <c:showCatName val="0"/>
            <c:showSerName val="0"/>
            <c:showPercent val="0"/>
            <c:showBubbleSize val="0"/>
            <c:showLeaderLines val="0"/>
          </c:dLbls>
          <c:dPt>
            <c:idx val="0"/>
            <c:invertIfNegative val="0"/>
            <c:bubble3D val="0"/>
            <c:spPr>
              <a:solidFill>
                <a:srgbClr val="9EA1A2"/>
              </a:solidFill>
              <a:effectLst/>
            </c:spPr>
          </c:dPt>
          <c:dPt>
            <c:idx val="1"/>
            <c:invertIfNegative val="0"/>
            <c:bubble3D val="0"/>
            <c:spPr>
              <a:solidFill>
                <a:srgbClr val="243746"/>
              </a:solidFill>
              <a:effectLst/>
            </c:spPr>
          </c:dPt>
          <c:cat>
            <c:multiLvlStrRef>
              <c:f>Sheet1!$A$2:$A$3</c:f>
              <c:multiLvlStrCache>
                <c:ptCount val="2"/>
                <c:lvl>
                  <c:pt idx="0">
                    <c:v>2024</c:v>
                  </c:pt>
                  <c:pt idx="1">
                    <c:v>2025</c:v>
                  </c:pt>
                </c:lvl>
              </c:multiLvlStrCache>
            </c:multiLvlStrRef>
          </c:cat>
          <c:val>
            <c:numRef>
              <c:f>Sheet1!$B$2:$B$3</c:f>
              <c:numCache>
                <c:formatCode>General</c:formatCode>
                <c:ptCount val="2"/>
                <c:pt idx="0">
                  <c:v>10.8</c:v>
                </c:pt>
                <c:pt idx="1">
                  <c:v>17.9</c:v>
                </c:pt>
              </c:numCache>
            </c:numRef>
          </c:val>
        </c:ser>
        <c:dLbls>
          <c:numFmt formatCode="0.0" sourceLinked="0"/>
          <c:txPr>
            <a:bodyPr/>
            <a:lstStyle/>
            <a:p>
              <a:pPr>
                <a:defRPr b="0" i="0" strike="noStrike" sz="1200" u="none">
                  <a:solidFill>
                    <a:srgbClr val="243746"/>
                  </a:solidFill>
                  <a:latin typeface="+mn-lt"/>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6F7271"/>
                </a:solidFill>
                <a:latin typeface="+mn-lt"/>
              </a:defRPr>
            </a:pPr>
            <a:endParaRPr lang="en-US"/>
          </a:p>
        </c:txPr>
        <c:crossAx val="2094734552"/>
        <c:crosses val="autoZero"/>
        <c:auto val="1"/>
        <c:lblAlgn val="ctr"/>
        <c:noMultiLvlLbl val="1"/>
      </c:catAx>
      <c:valAx>
        <c:axId val="2094734552"/>
        <c:scaling>
          <c:orientation val="minMax"/>
        </c:scaling>
        <c:delete val="1"/>
        <c:axPos val="l"/>
        <c:majorGridlines>
          <c:spPr>
            <a:ln w="6350" cap="flat">
              <a:solidFill>
                <a:srgbClr val="DFE2E4"/>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6F7271"/>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243746"/>
                </a:solidFill>
                <a:latin typeface="+mn-lt"/>
              </a:defRPr>
            </a:pPr>
            <a:r>
              <a:rPr sz="1400" b="0" i="0" u="none" strike="noStrike">
                <a:solidFill>
                  <a:srgbClr val="243746"/>
                </a:solidFill>
                <a:latin typeface="+mn-lt"/>
              </a:rPr>
              <a:t>Users by payment type (%)</a:t>
            </a:r>
          </a:p>
        </c:rich>
      </c:tx>
      <c:layout/>
      <c:overlay val="0"/>
    </c:title>
    <c:autoTitleDeleted val="0"/>
    <c:plotArea>
      <c:layout/>
      <c:barChart>
        <c:barDir val="col"/>
        <c:grouping val="clustered"/>
        <c:varyColors val="0"/>
        <c:ser>
          <c:idx val="0"/>
          <c:order val="0"/>
          <c:tx>
            <c:strRef>
              <c:f>Sheet1!$B$1</c:f>
              <c:strCache>
                <c:ptCount val="1"/>
                <c:pt idx="0">
                  <c:v>2024</c:v>
                </c:pt>
              </c:strCache>
            </c:strRef>
          </c:tx>
          <c:spPr>
            <a:solidFill>
              <a:srgbClr val="9EA1A2"/>
            </a:solidFill>
            <a:effectLst/>
          </c:spPr>
          <c:invertIfNegative val="0"/>
          <c:dLbls>
            <c:numFmt formatCode="0.0" sourceLinked="0"/>
            <c:txPr>
              <a:bodyPr/>
              <a:lstStyle/>
              <a:p>
                <a:pPr>
                  <a:defRPr b="0" i="0" strike="noStrike" sz="1200" u="none">
                    <a:solidFill>
                      <a:srgbClr val="243746"/>
                    </a:solidFill>
                    <a:latin typeface="+mn-lt"/>
                  </a:defRPr>
                </a:pPr>
              </a:p>
            </c:txPr>
            <c:showLegendKey val="0"/>
            <c:showVal val="1"/>
            <c:showCatName val="0"/>
            <c:showSerName val="0"/>
            <c:showPercent val="0"/>
            <c:showBubbleSize val="0"/>
            <c:showLeaderLines val="0"/>
          </c:dLbls>
          <c:cat>
            <c:multiLvlStrRef>
              <c:f>Sheet1!$A$2:$A$3</c:f>
              <c:multiLvlStrCache>
                <c:ptCount val="2"/>
                <c:lvl>
                  <c:pt idx="0">
                    <c:v>Digital-only users</c:v>
                  </c:pt>
                  <c:pt idx="1">
                    <c:v>Cash-only users</c:v>
                  </c:pt>
                </c:lvl>
              </c:multiLvlStrCache>
            </c:multiLvlStrRef>
          </c:cat>
          <c:val>
            <c:numRef>
              <c:f>Sheet1!$B$2:$B$3</c:f>
              <c:numCache>
                <c:formatCode>General</c:formatCode>
                <c:ptCount val="2"/>
                <c:pt idx="0">
                  <c:v>88.5</c:v>
                </c:pt>
                <c:pt idx="1">
                  <c:v>6.3</c:v>
                </c:pt>
              </c:numCache>
            </c:numRef>
          </c:val>
        </c:ser>
        <c:ser>
          <c:idx val="1"/>
          <c:order val="1"/>
          <c:tx>
            <c:strRef>
              <c:f>Sheet1!$C$1</c:f>
              <c:strCache>
                <c:ptCount val="1"/>
                <c:pt idx="0">
                  <c:v>2025</c:v>
                </c:pt>
              </c:strCache>
            </c:strRef>
          </c:tx>
          <c:spPr>
            <a:solidFill>
              <a:srgbClr val="243746"/>
            </a:solidFill>
            <a:effectLst/>
          </c:spPr>
          <c:invertIfNegative val="0"/>
          <c:dLbls>
            <c:numFmt formatCode="0.0" sourceLinked="0"/>
            <c:txPr>
              <a:bodyPr/>
              <a:lstStyle/>
              <a:p>
                <a:pPr>
                  <a:defRPr b="0" i="0" strike="noStrike" sz="1200" u="none">
                    <a:solidFill>
                      <a:srgbClr val="243746"/>
                    </a:solidFill>
                    <a:latin typeface="+mn-lt"/>
                  </a:defRPr>
                </a:pPr>
              </a:p>
            </c:txPr>
            <c:showLegendKey val="0"/>
            <c:showVal val="1"/>
            <c:showCatName val="0"/>
            <c:showSerName val="0"/>
            <c:showPercent val="0"/>
            <c:showBubbleSize val="0"/>
            <c:showLeaderLines val="0"/>
          </c:dLbls>
          <c:cat>
            <c:multiLvlStrRef>
              <c:f>Sheet1!$A$2:$A$3</c:f>
              <c:multiLvlStrCache>
                <c:ptCount val="2"/>
                <c:lvl>
                  <c:pt idx="0">
                    <c:v>Digital-only users</c:v>
                  </c:pt>
                  <c:pt idx="1">
                    <c:v>Cash-only users</c:v>
                  </c:pt>
                </c:lvl>
              </c:multiLvlStrCache>
            </c:multiLvlStrRef>
          </c:cat>
          <c:val>
            <c:numRef>
              <c:f>Sheet1!$C$2:$C$3</c:f>
              <c:numCache>
                <c:formatCode>General</c:formatCode>
                <c:ptCount val="2"/>
                <c:pt idx="0">
                  <c:v>92.1</c:v>
                </c:pt>
                <c:pt idx="1">
                  <c:v>3.7</c:v>
                </c:pt>
              </c:numCache>
            </c:numRef>
          </c:val>
        </c:ser>
        <c:dLbls>
          <c:numFmt formatCode="0.0" sourceLinked="0"/>
          <c:txPr>
            <a:bodyPr/>
            <a:lstStyle/>
            <a:p>
              <a:pPr>
                <a:defRPr b="0" i="0" strike="noStrike" sz="1200" u="none">
                  <a:solidFill>
                    <a:srgbClr val="243746"/>
                  </a:solidFill>
                  <a:latin typeface="+mn-lt"/>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6F7271"/>
                </a:solidFill>
                <a:latin typeface="+mn-lt"/>
              </a:defRPr>
            </a:pPr>
            <a:endParaRPr lang="en-US"/>
          </a:p>
        </c:txPr>
        <c:crossAx val="2094734552"/>
        <c:crosses val="autoZero"/>
        <c:auto val="1"/>
        <c:lblAlgn val="ctr"/>
        <c:noMultiLvlLbl val="1"/>
      </c:catAx>
      <c:valAx>
        <c:axId val="2094734552"/>
        <c:scaling>
          <c:orientation val="minMax"/>
        </c:scaling>
        <c:delete val="1"/>
        <c:axPos val="l"/>
        <c:majorGridlines>
          <c:spPr>
            <a:ln w="6350" cap="flat">
              <a:solidFill>
                <a:srgbClr val="DFE2E4"/>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6F7271"/>
                </a:solidFill>
                <a:latin typeface="+mn-lt"/>
              </a:defRPr>
            </a:pPr>
            <a:endParaRPr lang="en-US"/>
          </a:p>
        </c:txPr>
        <c:crossAx val="2094734554"/>
        <c:crosses val="autoZero"/>
        <c:crossBetween val="between"/>
      </c:valAx>
      <c:spPr>
        <a:noFill/>
        <a:ln>
          <a:noFill/>
        </a:ln>
        <a:effectLst/>
      </c:spPr>
    </c:plotArea>
    <c:legend>
      <c:legendPos val="b"/>
      <c:overlay val="0"/>
      <c:txPr>
        <a:bodyPr/>
        <a:lstStyle/>
        <a:p>
          <a:pPr>
            <a:defRPr sz="1200">
              <a:latin typeface="+mn-lt"/>
              <a:cs typeface="+mn-lt"/>
            </a:defRPr>
          </a:pPr>
          <a:endParaRPr lang="en-US"/>
        </a:p>
      </c:txPr>
    </c:legend>
    <c:plotVisOnly val="1"/>
    <c:dispBlanksAs val="span"/>
  </c:chart>
  <c:spPr>
    <a:noFill/>
    <a:ln>
      <a:noFill/>
    </a:ln>
    <a:effectLst/>
  </c:spPr>
  <c:externalData r:id="rId1">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243746"/>
                </a:solidFill>
                <a:latin typeface="+mn-lt"/>
              </a:defRPr>
            </a:pPr>
            <a:r>
              <a:rPr sz="1400" b="0" i="0" u="none" strike="noStrike">
                <a:solidFill>
                  <a:srgbClr val="243746"/>
                </a:solidFill>
                <a:latin typeface="+mn-lt"/>
              </a:rPr>
              <a:t>Digital share of payments (%)</a:t>
            </a:r>
          </a:p>
        </c:rich>
      </c:tx>
      <c:layout/>
      <c:overlay val="0"/>
    </c:title>
    <c:autoTitleDeleted val="0"/>
    <c:plotArea>
      <c:layout/>
      <c:barChart>
        <c:barDir val="col"/>
        <c:grouping val="clustered"/>
        <c:varyColors val="0"/>
        <c:ser>
          <c:idx val="0"/>
          <c:order val="0"/>
          <c:tx>
            <c:strRef>
              <c:f>Sheet1!$B$1</c:f>
              <c:strCache>
                <c:ptCount val="1"/>
                <c:pt idx="0">
                  <c:v>Digital share (%)</c:v>
                </c:pt>
              </c:strCache>
            </c:strRef>
          </c:tx>
          <c:spPr>
            <a:solidFill>
              <a:srgbClr val="9EA1A2"/>
            </a:solidFill>
            <a:effectLst/>
          </c:spPr>
          <c:invertIfNegative val="0"/>
          <c:dLbls>
            <c:numFmt formatCode="0.0" sourceLinked="0"/>
            <c:txPr>
              <a:bodyPr/>
              <a:lstStyle/>
              <a:p>
                <a:pPr>
                  <a:defRPr b="0" i="0" strike="noStrike" sz="1200" u="none">
                    <a:solidFill>
                      <a:srgbClr val="243746"/>
                    </a:solidFill>
                    <a:latin typeface="+mn-lt"/>
                  </a:defRPr>
                </a:pPr>
              </a:p>
            </c:txPr>
            <c:showLegendKey val="0"/>
            <c:showVal val="1"/>
            <c:showCatName val="0"/>
            <c:showSerName val="0"/>
            <c:showPercent val="0"/>
            <c:showBubbleSize val="0"/>
            <c:showLeaderLines val="0"/>
          </c:dLbls>
          <c:dPt>
            <c:idx val="0"/>
            <c:invertIfNegative val="0"/>
            <c:bubble3D val="0"/>
            <c:spPr>
              <a:solidFill>
                <a:srgbClr val="9EA1A2"/>
              </a:solidFill>
              <a:effectLst/>
            </c:spPr>
          </c:dPt>
          <c:dPt>
            <c:idx val="1"/>
            <c:invertIfNegative val="0"/>
            <c:bubble3D val="0"/>
            <c:spPr>
              <a:solidFill>
                <a:srgbClr val="9EA1A2"/>
              </a:solidFill>
              <a:effectLst/>
            </c:spPr>
          </c:dPt>
          <c:dPt>
            <c:idx val="2"/>
            <c:invertIfNegative val="0"/>
            <c:bubble3D val="0"/>
            <c:spPr>
              <a:solidFill>
                <a:srgbClr val="243746"/>
              </a:solidFill>
              <a:effectLst/>
            </c:spPr>
          </c:dPt>
          <c:cat>
            <c:multiLvlStrRef>
              <c:f>Sheet1!$A$2:$A$4</c:f>
              <c:multiLvlStrCache>
                <c:ptCount val="3"/>
                <c:lvl>
                  <c:pt idx="0">
                    <c:v>2023</c:v>
                  </c:pt>
                  <c:pt idx="1">
                    <c:v>2024</c:v>
                  </c:pt>
                  <c:pt idx="2">
                    <c:v>2025</c:v>
                  </c:pt>
                </c:lvl>
              </c:multiLvlStrCache>
            </c:multiLvlStrRef>
          </c:cat>
          <c:val>
            <c:numRef>
              <c:f>Sheet1!$B$2:$B$4</c:f>
              <c:numCache>
                <c:formatCode>General</c:formatCode>
                <c:ptCount val="3"/>
                <c:pt idx="0">
                  <c:v>79.4</c:v>
                </c:pt>
                <c:pt idx="1">
                  <c:v>80</c:v>
                </c:pt>
                <c:pt idx="2">
                  <c:v>81.3</c:v>
                </c:pt>
              </c:numCache>
            </c:numRef>
          </c:val>
        </c:ser>
        <c:dLbls>
          <c:numFmt formatCode="0.0" sourceLinked="0"/>
          <c:txPr>
            <a:bodyPr/>
            <a:lstStyle/>
            <a:p>
              <a:pPr>
                <a:defRPr b="0" i="0" strike="noStrike" sz="1200" u="none">
                  <a:solidFill>
                    <a:srgbClr val="243746"/>
                  </a:solidFill>
                  <a:latin typeface="+mn-lt"/>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6F7271"/>
                </a:solidFill>
                <a:latin typeface="+mn-lt"/>
              </a:defRPr>
            </a:pPr>
            <a:endParaRPr lang="en-US"/>
          </a:p>
        </c:txPr>
        <c:crossAx val="2094734552"/>
        <c:crosses val="autoZero"/>
        <c:auto val="1"/>
        <c:lblAlgn val="ctr"/>
        <c:noMultiLvlLbl val="1"/>
      </c:catAx>
      <c:valAx>
        <c:axId val="2094734552"/>
        <c:scaling>
          <c:orientation val="minMax"/>
          <c:max val="84"/>
          <c:min val="75"/>
        </c:scaling>
        <c:delete val="1"/>
        <c:axPos val="l"/>
        <c:majorGridlines>
          <c:spPr>
            <a:ln w="6350" cap="flat">
              <a:solidFill>
                <a:srgbClr val="DFE2E4"/>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6F7271"/>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10.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243746"/>
                </a:solidFill>
                <a:latin typeface="+mn-lt"/>
              </a:defRPr>
            </a:pPr>
            <a:r>
              <a:rPr sz="1400" b="0" i="0" u="none" strike="noStrike">
                <a:solidFill>
                  <a:srgbClr val="243746"/>
                </a:solidFill>
                <a:latin typeface="+mn-lt"/>
              </a:rPr>
              <a:t>Average GBP transaction (+14.8%)</a:t>
            </a:r>
          </a:p>
        </c:rich>
      </c:tx>
      <c:layout/>
      <c:overlay val="0"/>
    </c:title>
    <c:autoTitleDeleted val="0"/>
    <c:plotArea>
      <c:layout/>
      <c:barChart>
        <c:barDir val="col"/>
        <c:grouping val="clustered"/>
        <c:varyColors val="0"/>
        <c:ser>
          <c:idx val="0"/>
          <c:order val="0"/>
          <c:tx>
            <c:strRef>
              <c:f>Sheet1!$B$1</c:f>
              <c:strCache>
                <c:ptCount val="1"/>
                <c:pt idx="0">
                  <c:v>Average GBP transaction</c:v>
                </c:pt>
              </c:strCache>
            </c:strRef>
          </c:tx>
          <c:spPr>
            <a:solidFill>
              <a:srgbClr val="9EA1A2"/>
            </a:solidFill>
            <a:effectLst/>
          </c:spPr>
          <c:invertIfNegative val="0"/>
          <c:dLbls>
            <c:numFmt formatCode="#,##0" sourceLinked="0"/>
            <c:txPr>
              <a:bodyPr/>
              <a:lstStyle/>
              <a:p>
                <a:pPr>
                  <a:defRPr b="0" i="0" strike="noStrike" sz="1200" u="none">
                    <a:solidFill>
                      <a:srgbClr val="243746"/>
                    </a:solidFill>
                    <a:latin typeface="+mn-lt"/>
                  </a:defRPr>
                </a:pPr>
              </a:p>
            </c:txPr>
            <c:showLegendKey val="0"/>
            <c:showVal val="1"/>
            <c:showCatName val="0"/>
            <c:showSerName val="0"/>
            <c:showPercent val="0"/>
            <c:showBubbleSize val="0"/>
            <c:showLeaderLines val="0"/>
          </c:dLbls>
          <c:dPt>
            <c:idx val="0"/>
            <c:invertIfNegative val="0"/>
            <c:bubble3D val="0"/>
            <c:spPr>
              <a:solidFill>
                <a:srgbClr val="9EA1A2"/>
              </a:solidFill>
              <a:effectLst/>
            </c:spPr>
          </c:dPt>
          <c:dPt>
            <c:idx val="1"/>
            <c:invertIfNegative val="0"/>
            <c:bubble3D val="0"/>
            <c:spPr>
              <a:solidFill>
                <a:srgbClr val="243746"/>
              </a:solidFill>
              <a:effectLst/>
            </c:spPr>
          </c:dPt>
          <c:cat>
            <c:multiLvlStrRef>
              <c:f>Sheet1!$A$2:$A$3</c:f>
              <c:multiLvlStrCache>
                <c:ptCount val="2"/>
                <c:lvl>
                  <c:pt idx="0">
                    <c:v>2024</c:v>
                  </c:pt>
                  <c:pt idx="1">
                    <c:v>2025</c:v>
                  </c:pt>
                </c:lvl>
              </c:multiLvlStrCache>
            </c:multiLvlStrRef>
          </c:cat>
          <c:val>
            <c:numRef>
              <c:f>Sheet1!$B$2:$B$3</c:f>
              <c:numCache>
                <c:formatCode>General</c:formatCode>
                <c:ptCount val="2"/>
                <c:pt idx="0">
                  <c:v>8070</c:v>
                </c:pt>
                <c:pt idx="1">
                  <c:v>9262</c:v>
                </c:pt>
              </c:numCache>
            </c:numRef>
          </c:val>
        </c:ser>
        <c:dLbls>
          <c:numFmt formatCode="#,##0" sourceLinked="0"/>
          <c:txPr>
            <a:bodyPr/>
            <a:lstStyle/>
            <a:p>
              <a:pPr>
                <a:defRPr b="0" i="0" strike="noStrike" sz="1200" u="none">
                  <a:solidFill>
                    <a:srgbClr val="243746"/>
                  </a:solidFill>
                  <a:latin typeface="+mn-lt"/>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6F7271"/>
                </a:solidFill>
                <a:latin typeface="+mn-lt"/>
              </a:defRPr>
            </a:pPr>
            <a:endParaRPr lang="en-US"/>
          </a:p>
        </c:txPr>
        <c:crossAx val="2094734552"/>
        <c:crosses val="autoZero"/>
        <c:auto val="1"/>
        <c:lblAlgn val="ctr"/>
        <c:noMultiLvlLbl val="1"/>
      </c:catAx>
      <c:valAx>
        <c:axId val="2094734552"/>
        <c:scaling>
          <c:orientation val="minMax"/>
        </c:scaling>
        <c:delete val="1"/>
        <c:axPos val="l"/>
        <c:majorGridlines>
          <c:spPr>
            <a:ln w="6350" cap="flat">
              <a:solidFill>
                <a:srgbClr val="DFE2E4"/>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6F7271"/>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1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243746"/>
                </a:solidFill>
                <a:latin typeface="+mn-lt"/>
              </a:defRPr>
            </a:pPr>
            <a:r>
              <a:rPr sz="1400" b="0" i="0" u="none" strike="noStrike">
                <a:solidFill>
                  <a:srgbClr val="243746"/>
                </a:solidFill>
                <a:latin typeface="+mn-lt"/>
              </a:rPr>
              <a:t>Returned cheque value change (%)</a:t>
            </a:r>
          </a:p>
        </c:rich>
      </c:tx>
      <c:layout/>
      <c:overlay val="0"/>
    </c:title>
    <c:autoTitleDeleted val="0"/>
    <c:plotArea>
      <c:layout/>
      <c:barChart>
        <c:barDir val="col"/>
        <c:grouping val="clustered"/>
        <c:varyColors val="0"/>
        <c:ser>
          <c:idx val="0"/>
          <c:order val="0"/>
          <c:tx>
            <c:strRef>
              <c:f>Sheet1!$B$1</c:f>
              <c:strCache>
                <c:ptCount val="1"/>
                <c:pt idx="0">
                  <c:v>Returned cheque value change</c:v>
                </c:pt>
              </c:strCache>
            </c:strRef>
          </c:tx>
          <c:spPr>
            <a:solidFill>
              <a:srgbClr val="C0463C"/>
            </a:solidFill>
            <a:effectLst/>
          </c:spPr>
          <c:invertIfNegative val="0"/>
          <c:dLbls>
            <c:numFmt formatCode="0.0" sourceLinked="0"/>
            <c:txPr>
              <a:bodyPr/>
              <a:lstStyle/>
              <a:p>
                <a:pPr>
                  <a:defRPr b="0" i="0" strike="noStrike" sz="1200" u="none">
                    <a:solidFill>
                      <a:srgbClr val="243746"/>
                    </a:solidFill>
                    <a:latin typeface="+mn-lt"/>
                  </a:defRPr>
                </a:pPr>
              </a:p>
            </c:txPr>
            <c:showLegendKey val="0"/>
            <c:showVal val="1"/>
            <c:showCatName val="0"/>
            <c:showSerName val="0"/>
            <c:showPercent val="0"/>
            <c:showBubbleSize val="0"/>
            <c:showLeaderLines val="0"/>
          </c:dLbls>
          <c:dPt>
            <c:idx val="0"/>
            <c:invertIfNegative val="0"/>
            <c:bubble3D val="0"/>
            <c:spPr>
              <a:solidFill>
                <a:srgbClr val="C0463C"/>
              </a:solidFill>
              <a:effectLst/>
            </c:spPr>
          </c:dPt>
          <c:dPt>
            <c:idx val="1"/>
            <c:invertIfNegative val="0"/>
            <c:bubble3D val="0"/>
            <c:spPr>
              <a:solidFill>
                <a:srgbClr val="2E8B63"/>
              </a:solidFill>
              <a:effectLst/>
            </c:spPr>
          </c:dPt>
          <c:cat>
            <c:multiLvlStrRef>
              <c:f>Sheet1!$A$2:$A$3</c:f>
              <c:multiLvlStrCache>
                <c:ptCount val="2"/>
                <c:lvl>
                  <c:pt idx="0">
                    <c:v>2024</c:v>
                  </c:pt>
                  <c:pt idx="1">
                    <c:v>2025</c:v>
                  </c:pt>
                </c:lvl>
              </c:multiLvlStrCache>
            </c:multiLvlStrRef>
          </c:cat>
          <c:val>
            <c:numRef>
              <c:f>Sheet1!$B$2:$B$3</c:f>
              <c:numCache>
                <c:formatCode>General</c:formatCode>
                <c:ptCount val="2"/>
                <c:pt idx="0">
                  <c:v>10.6</c:v>
                </c:pt>
                <c:pt idx="1">
                  <c:v>-26.5</c:v>
                </c:pt>
              </c:numCache>
            </c:numRef>
          </c:val>
        </c:ser>
        <c:dLbls>
          <c:numFmt formatCode="0.0" sourceLinked="0"/>
          <c:txPr>
            <a:bodyPr/>
            <a:lstStyle/>
            <a:p>
              <a:pPr>
                <a:defRPr b="0" i="0" strike="noStrike" sz="1200" u="none">
                  <a:solidFill>
                    <a:srgbClr val="243746"/>
                  </a:solidFill>
                  <a:latin typeface="+mn-lt"/>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6F7271"/>
                </a:solidFill>
                <a:latin typeface="+mn-lt"/>
              </a:defRPr>
            </a:pPr>
            <a:endParaRPr lang="en-US"/>
          </a:p>
        </c:txPr>
        <c:crossAx val="2094734552"/>
        <c:crosses val="autoZero"/>
        <c:auto val="1"/>
        <c:lblAlgn val="ctr"/>
        <c:noMultiLvlLbl val="1"/>
      </c:catAx>
      <c:valAx>
        <c:axId val="2094734552"/>
        <c:scaling>
          <c:orientation val="minMax"/>
        </c:scaling>
        <c:delete val="1"/>
        <c:axPos val="l"/>
        <c:majorGridlines>
          <c:spPr>
            <a:ln w="6350" cap="flat">
              <a:solidFill>
                <a:srgbClr val="DFE2E4"/>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6F7271"/>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1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243746"/>
                </a:solidFill>
                <a:latin typeface="+mn-lt"/>
              </a:defRPr>
            </a:pPr>
            <a:r>
              <a:rPr sz="1400" b="0" i="0" u="none" strike="noStrike">
                <a:solidFill>
                  <a:srgbClr val="243746"/>
                </a:solidFill>
                <a:latin typeface="+mn-lt"/>
              </a:rPr>
              <a:t>Transactions per user / year</a:t>
            </a:r>
          </a:p>
        </c:rich>
      </c:tx>
      <c:layout/>
      <c:overlay val="0"/>
    </c:title>
    <c:autoTitleDeleted val="0"/>
    <c:plotArea>
      <c:layout/>
      <c:barChart>
        <c:barDir val="col"/>
        <c:grouping val="clustered"/>
        <c:varyColors val="0"/>
        <c:ser>
          <c:idx val="0"/>
          <c:order val="0"/>
          <c:tx>
            <c:strRef>
              <c:f>Sheet1!$B$1</c:f>
              <c:strCache>
                <c:ptCount val="1"/>
                <c:pt idx="0">
                  <c:v>Transactions per IPS user</c:v>
                </c:pt>
              </c:strCache>
            </c:strRef>
          </c:tx>
          <c:spPr>
            <a:solidFill>
              <a:srgbClr val="9EA1A2"/>
            </a:solidFill>
            <a:effectLst/>
          </c:spPr>
          <c:invertIfNegative val="0"/>
          <c:dLbls>
            <c:numFmt formatCode="0" sourceLinked="0"/>
            <c:txPr>
              <a:bodyPr/>
              <a:lstStyle/>
              <a:p>
                <a:pPr>
                  <a:defRPr b="0" i="0" strike="noStrike" sz="1200" u="none">
                    <a:solidFill>
                      <a:srgbClr val="243746"/>
                    </a:solidFill>
                    <a:latin typeface="+mn-lt"/>
                  </a:defRPr>
                </a:pPr>
              </a:p>
            </c:txPr>
            <c:showLegendKey val="0"/>
            <c:showVal val="1"/>
            <c:showCatName val="0"/>
            <c:showSerName val="0"/>
            <c:showPercent val="0"/>
            <c:showBubbleSize val="0"/>
            <c:showLeaderLines val="0"/>
          </c:dLbls>
          <c:dPt>
            <c:idx val="0"/>
            <c:invertIfNegative val="0"/>
            <c:bubble3D val="0"/>
            <c:spPr>
              <a:solidFill>
                <a:srgbClr val="9EA1A2"/>
              </a:solidFill>
              <a:effectLst/>
            </c:spPr>
          </c:dPt>
          <c:dPt>
            <c:idx val="1"/>
            <c:invertIfNegative val="0"/>
            <c:bubble3D val="0"/>
            <c:spPr>
              <a:solidFill>
                <a:srgbClr val="2E8B63"/>
              </a:solidFill>
              <a:effectLst/>
            </c:spPr>
          </c:dPt>
          <c:cat>
            <c:multiLvlStrRef>
              <c:f>Sheet1!$A$2:$A$3</c:f>
              <c:multiLvlStrCache>
                <c:ptCount val="2"/>
                <c:lvl>
                  <c:pt idx="0">
                    <c:v>2024</c:v>
                  </c:pt>
                  <c:pt idx="1">
                    <c:v>2025</c:v>
                  </c:pt>
                </c:lvl>
              </c:multiLvlStrCache>
            </c:multiLvlStrRef>
          </c:cat>
          <c:val>
            <c:numRef>
              <c:f>Sheet1!$B$2:$B$3</c:f>
              <c:numCache>
                <c:formatCode>General</c:formatCode>
                <c:ptCount val="2"/>
                <c:pt idx="0">
                  <c:v>40</c:v>
                </c:pt>
                <c:pt idx="1">
                  <c:v>69</c:v>
                </c:pt>
              </c:numCache>
            </c:numRef>
          </c:val>
        </c:ser>
        <c:dLbls>
          <c:numFmt formatCode="0" sourceLinked="0"/>
          <c:txPr>
            <a:bodyPr/>
            <a:lstStyle/>
            <a:p>
              <a:pPr>
                <a:defRPr b="0" i="0" strike="noStrike" sz="1200" u="none">
                  <a:solidFill>
                    <a:srgbClr val="243746"/>
                  </a:solidFill>
                  <a:latin typeface="+mn-lt"/>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6F7271"/>
                </a:solidFill>
                <a:latin typeface="+mn-lt"/>
              </a:defRPr>
            </a:pPr>
            <a:endParaRPr lang="en-US"/>
          </a:p>
        </c:txPr>
        <c:crossAx val="2094734552"/>
        <c:crosses val="autoZero"/>
        <c:auto val="1"/>
        <c:lblAlgn val="ctr"/>
        <c:noMultiLvlLbl val="1"/>
      </c:catAx>
      <c:valAx>
        <c:axId val="2094734552"/>
        <c:scaling>
          <c:orientation val="minMax"/>
        </c:scaling>
        <c:delete val="1"/>
        <c:axPos val="l"/>
        <c:majorGridlines>
          <c:spPr>
            <a:ln w="6350" cap="flat">
              <a:solidFill>
                <a:srgbClr val="DFE2E4"/>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6F7271"/>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13.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243746"/>
                </a:solidFill>
                <a:latin typeface="+mn-lt"/>
              </a:defRPr>
            </a:pPr>
            <a:r>
              <a:rPr sz="1400" b="0" i="0" u="none" strike="noStrike">
                <a:solidFill>
                  <a:srgbClr val="243746"/>
                </a:solidFill>
                <a:latin typeface="+mn-lt"/>
              </a:rPr>
              <a:t>Avg new users per month (K)</a:t>
            </a:r>
          </a:p>
        </c:rich>
      </c:tx>
      <c:layout/>
      <c:overlay val="0"/>
    </c:title>
    <c:autoTitleDeleted val="0"/>
    <c:plotArea>
      <c:layout/>
      <c:barChart>
        <c:barDir val="col"/>
        <c:grouping val="clustered"/>
        <c:varyColors val="0"/>
        <c:ser>
          <c:idx val="0"/>
          <c:order val="0"/>
          <c:tx>
            <c:strRef>
              <c:f>Sheet1!$B$1</c:f>
              <c:strCache>
                <c:ptCount val="1"/>
                <c:pt idx="0">
                  <c:v>New users per month (K)</c:v>
                </c:pt>
              </c:strCache>
            </c:strRef>
          </c:tx>
          <c:spPr>
            <a:solidFill>
              <a:srgbClr val="9EA1A2"/>
            </a:solidFill>
            <a:effectLst/>
          </c:spPr>
          <c:invertIfNegative val="0"/>
          <c:dLbls>
            <c:numFmt formatCode="0.0" sourceLinked="0"/>
            <c:txPr>
              <a:bodyPr/>
              <a:lstStyle/>
              <a:p>
                <a:pPr>
                  <a:defRPr b="0" i="0" strike="noStrike" sz="1200" u="none">
                    <a:solidFill>
                      <a:srgbClr val="243746"/>
                    </a:solidFill>
                    <a:latin typeface="+mn-lt"/>
                  </a:defRPr>
                </a:pPr>
              </a:p>
            </c:txPr>
            <c:showLegendKey val="0"/>
            <c:showVal val="1"/>
            <c:showCatName val="0"/>
            <c:showSerName val="0"/>
            <c:showPercent val="0"/>
            <c:showBubbleSize val="0"/>
            <c:showLeaderLines val="0"/>
          </c:dLbls>
          <c:dPt>
            <c:idx val="0"/>
            <c:invertIfNegative val="0"/>
            <c:bubble3D val="0"/>
            <c:spPr>
              <a:solidFill>
                <a:srgbClr val="9EA1A2"/>
              </a:solidFill>
              <a:effectLst/>
            </c:spPr>
          </c:dPt>
          <c:dPt>
            <c:idx val="1"/>
            <c:invertIfNegative val="0"/>
            <c:bubble3D val="0"/>
            <c:spPr>
              <a:solidFill>
                <a:srgbClr val="C0463C"/>
              </a:solidFill>
              <a:effectLst/>
            </c:spPr>
          </c:dPt>
          <c:cat>
            <c:multiLvlStrRef>
              <c:f>Sheet1!$A$2:$A$3</c:f>
              <c:multiLvlStrCache>
                <c:ptCount val="2"/>
                <c:lvl>
                  <c:pt idx="0">
                    <c:v>2024</c:v>
                  </c:pt>
                  <c:pt idx="1">
                    <c:v>2025</c:v>
                  </c:pt>
                </c:lvl>
              </c:multiLvlStrCache>
            </c:multiLvlStrRef>
          </c:cat>
          <c:val>
            <c:numRef>
              <c:f>Sheet1!$B$2:$B$3</c:f>
              <c:numCache>
                <c:formatCode>General</c:formatCode>
                <c:ptCount val="2"/>
                <c:pt idx="0">
                  <c:v>51.5</c:v>
                </c:pt>
                <c:pt idx="1">
                  <c:v>37.4</c:v>
                </c:pt>
              </c:numCache>
            </c:numRef>
          </c:val>
        </c:ser>
        <c:dLbls>
          <c:numFmt formatCode="0.0" sourceLinked="0"/>
          <c:txPr>
            <a:bodyPr/>
            <a:lstStyle/>
            <a:p>
              <a:pPr>
                <a:defRPr b="0" i="0" strike="noStrike" sz="1200" u="none">
                  <a:solidFill>
                    <a:srgbClr val="243746"/>
                  </a:solidFill>
                  <a:latin typeface="+mn-lt"/>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6F7271"/>
                </a:solidFill>
                <a:latin typeface="+mn-lt"/>
              </a:defRPr>
            </a:pPr>
            <a:endParaRPr lang="en-US"/>
          </a:p>
        </c:txPr>
        <c:crossAx val="2094734552"/>
        <c:crosses val="autoZero"/>
        <c:auto val="1"/>
        <c:lblAlgn val="ctr"/>
        <c:noMultiLvlLbl val="1"/>
      </c:catAx>
      <c:valAx>
        <c:axId val="2094734552"/>
        <c:scaling>
          <c:orientation val="minMax"/>
        </c:scaling>
        <c:delete val="1"/>
        <c:axPos val="l"/>
        <c:majorGridlines>
          <c:spPr>
            <a:ln w="6350" cap="flat">
              <a:solidFill>
                <a:srgbClr val="DFE2E4"/>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6F7271"/>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14.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243746"/>
                </a:solidFill>
                <a:latin typeface="+mn-lt"/>
              </a:defRPr>
            </a:pPr>
            <a:r>
              <a:rPr sz="1400" b="0" i="0" u="none" strike="noStrike">
                <a:solidFill>
                  <a:srgbClr val="243746"/>
                </a:solidFill>
                <a:latin typeface="+mn-lt"/>
              </a:rPr>
              <a:t>User segment change (%)</a:t>
            </a:r>
          </a:p>
        </c:rich>
      </c:tx>
      <c:layout/>
      <c:overlay val="0"/>
    </c:title>
    <c:autoTitleDeleted val="0"/>
    <c:plotArea>
      <c:layout/>
      <c:barChart>
        <c:barDir val="col"/>
        <c:grouping val="clustered"/>
        <c:varyColors val="0"/>
        <c:ser>
          <c:idx val="0"/>
          <c:order val="0"/>
          <c:tx>
            <c:strRef>
              <c:f>Sheet1!$B$1</c:f>
              <c:strCache>
                <c:ptCount val="1"/>
                <c:pt idx="0">
                  <c:v>User segment change (%)</c:v>
                </c:pt>
              </c:strCache>
            </c:strRef>
          </c:tx>
          <c:spPr>
            <a:solidFill>
              <a:srgbClr val="2E8B63"/>
            </a:solidFill>
            <a:effectLst/>
          </c:spPr>
          <c:invertIfNegative val="0"/>
          <c:dLbls>
            <c:numFmt formatCode="0.0" sourceLinked="0"/>
            <c:txPr>
              <a:bodyPr/>
              <a:lstStyle/>
              <a:p>
                <a:pPr>
                  <a:defRPr b="0" i="0" strike="noStrike" sz="1200" u="none">
                    <a:solidFill>
                      <a:srgbClr val="243746"/>
                    </a:solidFill>
                    <a:latin typeface="+mn-lt"/>
                  </a:defRPr>
                </a:pPr>
              </a:p>
            </c:txPr>
            <c:showLegendKey val="0"/>
            <c:showVal val="1"/>
            <c:showCatName val="0"/>
            <c:showSerName val="0"/>
            <c:showPercent val="0"/>
            <c:showBubbleSize val="0"/>
            <c:showLeaderLines val="0"/>
          </c:dLbls>
          <c:dPt>
            <c:idx val="0"/>
            <c:invertIfNegative val="0"/>
            <c:bubble3D val="0"/>
            <c:spPr>
              <a:solidFill>
                <a:srgbClr val="2E8B63"/>
              </a:solidFill>
              <a:effectLst/>
            </c:spPr>
          </c:dPt>
          <c:dPt>
            <c:idx val="1"/>
            <c:invertIfNegative val="0"/>
            <c:bubble3D val="0"/>
            <c:spPr>
              <a:solidFill>
                <a:srgbClr val="C0463C"/>
              </a:solidFill>
              <a:effectLst/>
            </c:spPr>
          </c:dPt>
          <c:cat>
            <c:multiLvlStrRef>
              <c:f>Sheet1!$A$2:$A$3</c:f>
              <c:multiLvlStrCache>
                <c:ptCount val="2"/>
                <c:lvl>
                  <c:pt idx="0">
                    <c:v>Bank + wallet</c:v>
                  </c:pt>
                  <c:pt idx="1">
                    <c:v>Wallet only</c:v>
                  </c:pt>
                </c:lvl>
              </c:multiLvlStrCache>
            </c:multiLvlStrRef>
          </c:cat>
          <c:val>
            <c:numRef>
              <c:f>Sheet1!$B$2:$B$3</c:f>
              <c:numCache>
                <c:formatCode>General</c:formatCode>
                <c:ptCount val="2"/>
                <c:pt idx="0">
                  <c:v>28.7</c:v>
                </c:pt>
                <c:pt idx="1">
                  <c:v>-0.6</c:v>
                </c:pt>
              </c:numCache>
            </c:numRef>
          </c:val>
        </c:ser>
        <c:dLbls>
          <c:numFmt formatCode="0.0" sourceLinked="0"/>
          <c:txPr>
            <a:bodyPr/>
            <a:lstStyle/>
            <a:p>
              <a:pPr>
                <a:defRPr b="0" i="0" strike="noStrike" sz="1200" u="none">
                  <a:solidFill>
                    <a:srgbClr val="243746"/>
                  </a:solidFill>
                  <a:latin typeface="+mn-lt"/>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6F7271"/>
                </a:solidFill>
                <a:latin typeface="+mn-lt"/>
              </a:defRPr>
            </a:pPr>
            <a:endParaRPr lang="en-US"/>
          </a:p>
        </c:txPr>
        <c:crossAx val="2094734552"/>
        <c:crosses val="autoZero"/>
        <c:auto val="1"/>
        <c:lblAlgn val="ctr"/>
        <c:noMultiLvlLbl val="1"/>
      </c:catAx>
      <c:valAx>
        <c:axId val="2094734552"/>
        <c:scaling>
          <c:orientation val="minMax"/>
        </c:scaling>
        <c:delete val="1"/>
        <c:axPos val="l"/>
        <c:majorGridlines>
          <c:spPr>
            <a:ln w="6350" cap="flat">
              <a:solidFill>
                <a:srgbClr val="DFE2E4"/>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6F7271"/>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with the one-line promise: accurate reports that tell us what happened, but not why. Point to the marker key so nobody mistakes invented or calculated numbers for published ones.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Start with the good news: volume up 62%, value up 16.6%. Then the tension: the average payment fell 28%, and it has fallen three years running. Ask: what does that mean? We come back to this at slide 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examples of one pattern. CliQ: users +27% but transactions doubled, so about +57% per user (derived). ECCU: the June 2025 law change is a footnote, but a likely main driver. IPS: monthly user additions slowed (51.5K to 37.4K) while transactions per user rose from about 40 to 69 (approximate, derived).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Same falling average, two very different meanings. If A is true, everyday payments are getting smaller. If B is true, a few large payments faded away. The reports only give the average, so they cannot tell us which one it is. The sketches on the right are concepts, not data.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Hypothetical example, not JoPACC data. Year 1: nine everyday payments (20 to 95 JOD) and one of 2,000 JOD, average 253.5. Year 2: the large payment is 300 JOD, average 83.5, a 67% fall. In both years nine of ten payments sit in the 1-100 JOD band. The average says everything changed; the most frequent range shows almost nothing did. Circle sizes show relative payment size.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Solution: group payments into fixed bands, count each band, report the busiest band (the modal class) with its share. Keep the average for continuity and add the median where available. The bands and counts on this slide are illustrative. Limits: it needs transaction-level values or counts per band, depends on band width, and is not the median or the typical user.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Pick two examples (for example CliQ and ECCU) and say the rest follow the same logic. Other places: returned cheques after the June 2025 law, IPS activity per user, and cross-system comparison using the same bands. All are questions to test once distribution data exists.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plan in one slide: each tile shows how the report works today and how it should work. You can skim this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End on the three open questions to invite discussion.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Users x1.273, transactions x2.0, so transactions per user x1.57. The 65/35 split is a log decomposition. Values are indexed, not actual counts.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DARK">
    <p:bg>
      <p:bgPr>
        <a:solidFill>
          <a:schemeClr val="tx1"/>
        </a:solidFill>
      </p:bgPr>
    </p:bg>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rtlCol="0"/>
          <a:lstStyle>
            <a:lvl1pPr algn="l" indent="0" marL="0">
              <a:buNone/>
              <a:defRPr lang="en-US" sz="2800" b="1" dirty="0">
                <a:solidFill>
                  <a:schemeClr val="tx1"/>
                </a:solidFill>
              </a:defRPr>
            </a:lvl1pPr>
          </a:lstStyle>
          <a:p>
            <a:pPr algn="l" indent="0" marL="0">
              <a:buNone/>
            </a:pPr>
            <a:endParaRPr lang="en-US" sz="2800" dirty="0"/>
          </a:p>
        </p:txBody>
      </p:sp>
      <p:sp>
        <p:nvSpPr>
          <p:cNvPr id="3" name="Text 0"/>
          <p:cNvSpPr/>
          <p:nvPr/>
        </p:nvSpPr>
        <p:spPr>
          <a:xfrm>
            <a:off x="548640" y="6400800"/>
            <a:ext cx="5486400" cy="274320"/>
          </a:xfrm>
          <a:prstGeom prst="rect">
            <a:avLst/>
          </a:prstGeom>
          <a:noFill/>
          <a:ln/>
        </p:spPr>
        <p:txBody>
          <a:bodyPr wrap="square" lIns="0" tIns="0" rIns="0" bIns="0" rtlCol="0" anchor="ctr"/>
          <a:lstStyle/>
          <a:p>
            <a:pPr indent="0" marL="0">
              <a:buNone/>
            </a:pPr>
            <a:r>
              <a:rPr lang="en-US" sz="1000" dirty="0">
                <a:solidFill>
                  <a:schemeClr val="tx2"/>
                </a:solidFill>
              </a:rPr>
              <a:t>JoPACC  |  2024-2025 report comparison</a:t>
            </a:r>
            <a:endParaRPr lang="en-US" sz="1000" dirty="0"/>
          </a:p>
        </p:txBody>
      </p:sp>
      <p:sp>
        <p:nvSpPr>
          <p:cNvPr id="25"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3.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3.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slideLayout" Target="../slideLayouts/slideLayout3.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chart" Target="/ppt/charts/chart4.xml"/><Relationship Id="rId2" Type="http://schemas.openxmlformats.org/officeDocument/2006/relationships/slideLayout" Target="../slideLayouts/slideLayout3.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slideLayout" Target="../slideLayouts/slideLayout3.xml"/><Relationship Id="rId6"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chart" Target="/ppt/charts/chart5.xml"/><Relationship Id="rId2" Type="http://schemas.openxmlformats.org/officeDocument/2006/relationships/chart" Target="/ppt/charts/chart6.xml"/><Relationship Id="rId3" Type="http://schemas.openxmlformats.org/officeDocument/2006/relationships/chart" Target="/ppt/charts/chart7.xml"/><Relationship Id="rId4" Type="http://schemas.openxmlformats.org/officeDocument/2006/relationships/slideLayout" Target="../slideLayouts/slideLayout3.xml"/><Relationship Id="rId5"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chart" Target="/ppt/charts/chart8.xml"/><Relationship Id="rId2" Type="http://schemas.openxmlformats.org/officeDocument/2006/relationships/chart" Target="/ppt/charts/chart9.xml"/><Relationship Id="rId3" Type="http://schemas.openxmlformats.org/officeDocument/2006/relationships/slideLayout" Target="../slideLayouts/slideLayout3.xml"/><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chart" Target="/ppt/charts/chart10.xml"/><Relationship Id="rId2" Type="http://schemas.openxmlformats.org/officeDocument/2006/relationships/slideLayout" Target="../slideLayouts/slideLayout3.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chart" Target="/ppt/charts/chart11.xml"/><Relationship Id="rId2" Type="http://schemas.openxmlformats.org/officeDocument/2006/relationships/slideLayout" Target="../slideLayouts/slideLayout3.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chart" Target="/ppt/charts/chart12.xml"/><Relationship Id="rId2" Type="http://schemas.openxmlformats.org/officeDocument/2006/relationships/chart" Target="/ppt/charts/chart13.xml"/><Relationship Id="rId3" Type="http://schemas.openxmlformats.org/officeDocument/2006/relationships/chart" Target="/ppt/charts/chart14.xml"/><Relationship Id="rId4" Type="http://schemas.openxmlformats.org/officeDocument/2006/relationships/slideLayout" Target="../slideLayouts/slideLayout3.xml"/><Relationship Id="rId5" Type="http://schemas.openxmlformats.org/officeDocument/2006/relationships/notesSlide" Target="../notesSlides/notesSlide17.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motif1"/>
          <p:cNvSpPr/>
          <p:nvPr/>
        </p:nvSpPr>
        <p:spPr>
          <a:xfrm>
            <a:off x="8595360" y="-1097280"/>
            <a:ext cx="5029200" cy="5029200"/>
          </a:xfrm>
          <a:prstGeom prst="ellipse">
            <a:avLst/>
          </a:prstGeom>
          <a:solidFill>
            <a:schemeClr val="accent2">
              <a:alpha val="20000"/>
            </a:schemeClr>
          </a:solidFill>
          <a:ln w="12700">
            <a:solidFill>
              <a:schemeClr val="accent2">
                <a:alpha val="0"/>
              </a:schemeClr>
            </a:solidFill>
            <a:prstDash val="solid"/>
          </a:ln>
        </p:spPr>
      </p:sp>
      <p:sp>
        <p:nvSpPr>
          <p:cNvPr id="3" name="motif2"/>
          <p:cNvSpPr/>
          <p:nvPr/>
        </p:nvSpPr>
        <p:spPr>
          <a:xfrm>
            <a:off x="9966960" y="3291840"/>
            <a:ext cx="3291840" cy="3291840"/>
          </a:xfrm>
          <a:prstGeom prst="ellipse">
            <a:avLst/>
          </a:prstGeom>
          <a:solidFill>
            <a:schemeClr val="accent2">
              <a:alpha val="40000"/>
            </a:schemeClr>
          </a:solidFill>
          <a:ln w="12700">
            <a:solidFill>
              <a:schemeClr val="accent2">
                <a:alpha val="0"/>
              </a:schemeClr>
            </a:solidFill>
            <a:prstDash val="solid"/>
          </a:ln>
        </p:spPr>
      </p:sp>
      <p:sp>
        <p:nvSpPr>
          <p:cNvPr id="4" name="tag"/>
          <p:cNvSpPr/>
          <p:nvPr/>
        </p:nvSpPr>
        <p:spPr>
          <a:xfrm>
            <a:off x="731520" y="1188720"/>
            <a:ext cx="1554480" cy="457200"/>
          </a:xfrm>
          <a:prstGeom prst="roundRect">
            <a:avLst>
              <a:gd name="adj" fmla="val 16000"/>
            </a:avLst>
          </a:prstGeom>
          <a:solidFill>
            <a:schemeClr val="accent2"/>
          </a:solidFill>
          <a:ln w="12700">
            <a:solidFill>
              <a:schemeClr val="accent2"/>
            </a:solidFill>
            <a:prstDash val="solid"/>
          </a:ln>
        </p:spPr>
      </p:sp>
      <p:sp>
        <p:nvSpPr>
          <p:cNvPr id="5" name="Text 3"/>
          <p:cNvSpPr txBox="1"/>
          <p:nvPr/>
        </p:nvSpPr>
        <p:spPr>
          <a:xfrm>
            <a:off x="731520" y="1188720"/>
            <a:ext cx="1554480" cy="457200"/>
          </a:xfrm>
          <a:prstGeom prst="rect">
            <a:avLst/>
          </a:prstGeom>
          <a:noFill/>
          <a:ln/>
        </p:spPr>
        <p:txBody>
          <a:bodyPr wrap="square" lIns="0" tIns="0" rIns="0" bIns="0" rtlCol="0" anchor="ctr"/>
          <a:lstStyle/>
          <a:p>
            <a:pPr algn="ctr" indent="0" marL="0">
              <a:buNone/>
            </a:pPr>
            <a:r>
              <a:rPr lang="en-US" sz="1800" b="1" dirty="0">
                <a:solidFill>
                  <a:schemeClr val="tx1"/>
                </a:solidFill>
                <a:latin typeface="Calibri" pitchFamily="34" charset="0"/>
                <a:ea typeface="Calibri" pitchFamily="34" charset="-122"/>
                <a:cs typeface="Calibri" pitchFamily="34" charset="-120"/>
              </a:rPr>
              <a:t>JoPACC</a:t>
            </a:r>
            <a:endParaRPr lang="en-US" sz="1800" dirty="0"/>
          </a:p>
        </p:txBody>
      </p:sp>
      <p:sp>
        <p:nvSpPr>
          <p:cNvPr id="6" name="Text 4"/>
          <p:cNvSpPr txBox="1"/>
          <p:nvPr/>
        </p:nvSpPr>
        <p:spPr>
          <a:xfrm>
            <a:off x="731520" y="2103120"/>
            <a:ext cx="8229600" cy="914400"/>
          </a:xfrm>
          <a:prstGeom prst="rect">
            <a:avLst/>
          </a:prstGeom>
          <a:noFill/>
          <a:ln/>
        </p:spPr>
        <p:txBody>
          <a:bodyPr wrap="square" lIns="0" tIns="0" rIns="0" bIns="0" rtlCol="0" anchor="ctr"/>
          <a:lstStyle/>
          <a:p>
            <a:pPr indent="0" marL="0">
              <a:buNone/>
            </a:pPr>
            <a:r>
              <a:rPr lang="en-US" sz="4400" b="1" dirty="0">
                <a:solidFill>
                  <a:schemeClr val="bg1"/>
                </a:solidFill>
                <a:latin typeface="Calibri" pitchFamily="34" charset="0"/>
                <a:ea typeface="Calibri" pitchFamily="34" charset="-122"/>
                <a:cs typeface="Calibri" pitchFamily="34" charset="-120"/>
              </a:rPr>
              <a:t>2024-2025 report comparison</a:t>
            </a:r>
            <a:endParaRPr lang="en-US" sz="4400" dirty="0"/>
          </a:p>
        </p:txBody>
      </p:sp>
      <p:sp>
        <p:nvSpPr>
          <p:cNvPr id="7" name="Text 5"/>
          <p:cNvSpPr txBox="1"/>
          <p:nvPr/>
        </p:nvSpPr>
        <p:spPr>
          <a:xfrm>
            <a:off x="731520" y="3108960"/>
            <a:ext cx="8229600" cy="548640"/>
          </a:xfrm>
          <a:prstGeom prst="rect">
            <a:avLst/>
          </a:prstGeom>
          <a:noFill/>
          <a:ln/>
        </p:spPr>
        <p:txBody>
          <a:bodyPr wrap="square" lIns="0" tIns="0" rIns="0" bIns="0" rtlCol="0" anchor="t"/>
          <a:lstStyle/>
          <a:p>
            <a:pPr indent="0" marL="0">
              <a:buNone/>
            </a:pPr>
            <a:r>
              <a:rPr lang="en-US" sz="2200" dirty="0">
                <a:solidFill>
                  <a:schemeClr val="accent2"/>
                </a:solidFill>
                <a:latin typeface="Calibri" pitchFamily="34" charset="0"/>
                <a:ea typeface="Calibri" pitchFamily="34" charset="-122"/>
                <a:cs typeface="Calibri" pitchFamily="34" charset="-120"/>
              </a:rPr>
              <a:t>What the reports say vs. what the data can tell us</a:t>
            </a:r>
            <a:endParaRPr lang="en-US" sz="2200" dirty="0"/>
          </a:p>
        </p:txBody>
      </p:sp>
      <p:sp>
        <p:nvSpPr>
          <p:cNvPr id="8" name="data marker"/>
          <p:cNvSpPr/>
          <p:nvPr/>
        </p:nvSpPr>
        <p:spPr>
          <a:xfrm>
            <a:off x="731520" y="5577840"/>
            <a:ext cx="2011680" cy="347472"/>
          </a:xfrm>
          <a:prstGeom prst="roundRect">
            <a:avLst>
              <a:gd name="adj" fmla="val 21053"/>
            </a:avLst>
          </a:prstGeom>
          <a:solidFill>
            <a:schemeClr val="accent2"/>
          </a:solidFill>
          <a:ln w="12700">
            <a:solidFill>
              <a:schemeClr val="accent2"/>
            </a:solidFill>
            <a:prstDash val="solid"/>
          </a:ln>
        </p:spPr>
      </p:sp>
      <p:sp>
        <p:nvSpPr>
          <p:cNvPr id="9" name="Text 7"/>
          <p:cNvSpPr txBox="1"/>
          <p:nvPr/>
        </p:nvSpPr>
        <p:spPr>
          <a:xfrm>
            <a:off x="731520" y="5577840"/>
            <a:ext cx="2011680" cy="347472"/>
          </a:xfrm>
          <a:prstGeom prst="rect">
            <a:avLst/>
          </a:prstGeom>
          <a:noFill/>
          <a:ln/>
        </p:spPr>
        <p:txBody>
          <a:bodyPr wrap="square" lIns="0" tIns="0" rIns="0" bIns="0" rtlCol="0" anchor="ctr"/>
          <a:lstStyle/>
          <a:p>
            <a:pPr algn="ctr" indent="0" marL="0">
              <a:buNone/>
            </a:pPr>
            <a:r>
              <a:rPr lang="en-US" sz="1100" b="1" dirty="0">
                <a:solidFill>
                  <a:schemeClr val="tx1"/>
                </a:solidFill>
                <a:latin typeface="Calibri" pitchFamily="34" charset="0"/>
                <a:ea typeface="Calibri" pitchFamily="34" charset="-122"/>
                <a:cs typeface="Calibri" pitchFamily="34" charset="-120"/>
              </a:rPr>
              <a:t>ILLUSTRATIVE = invented</a:t>
            </a:r>
            <a:endParaRPr lang="en-US" sz="1100" dirty="0"/>
          </a:p>
        </p:txBody>
      </p:sp>
      <p:sp>
        <p:nvSpPr>
          <p:cNvPr id="10" name="data marker"/>
          <p:cNvSpPr/>
          <p:nvPr/>
        </p:nvSpPr>
        <p:spPr>
          <a:xfrm>
            <a:off x="2926080" y="5577840"/>
            <a:ext cx="2651760" cy="347472"/>
          </a:xfrm>
          <a:prstGeom prst="roundRect">
            <a:avLst>
              <a:gd name="adj" fmla="val 21053"/>
            </a:avLst>
          </a:prstGeom>
          <a:solidFill>
            <a:schemeClr val="bg2"/>
          </a:solidFill>
          <a:ln w="12700">
            <a:solidFill>
              <a:schemeClr val="accent4"/>
            </a:solidFill>
            <a:prstDash val="solid"/>
          </a:ln>
        </p:spPr>
      </p:sp>
      <p:sp>
        <p:nvSpPr>
          <p:cNvPr id="11" name="Text 9"/>
          <p:cNvSpPr txBox="1"/>
          <p:nvPr/>
        </p:nvSpPr>
        <p:spPr>
          <a:xfrm>
            <a:off x="2926080" y="5577840"/>
            <a:ext cx="2651760" cy="347472"/>
          </a:xfrm>
          <a:prstGeom prst="rect">
            <a:avLst/>
          </a:prstGeom>
          <a:noFill/>
          <a:ln/>
        </p:spPr>
        <p:txBody>
          <a:bodyPr wrap="square" lIns="0" tIns="0" rIns="0" bIns="0" rtlCol="0" anchor="ctr"/>
          <a:lstStyle/>
          <a:p>
            <a:pPr algn="ctr" indent="0" marL="0">
              <a:buNone/>
            </a:pPr>
            <a:r>
              <a:rPr lang="en-US" sz="1100" b="1" dirty="0">
                <a:solidFill>
                  <a:schemeClr val="tx1"/>
                </a:solidFill>
                <a:latin typeface="Calibri" pitchFamily="34" charset="0"/>
                <a:ea typeface="Calibri" pitchFamily="34" charset="-122"/>
                <a:cs typeface="Calibri" pitchFamily="34" charset="-120"/>
              </a:rPr>
              <a:t>DERIVED = calculated from reports</a:t>
            </a:r>
            <a:endParaRPr lang="en-US" sz="1100" dirty="0"/>
          </a:p>
        </p:txBody>
      </p:sp>
      <p:sp>
        <p:nvSpPr>
          <p:cNvPr id="12" name="Text 10"/>
          <p:cNvSpPr txBox="1"/>
          <p:nvPr/>
        </p:nvSpPr>
        <p:spPr>
          <a:xfrm>
            <a:off x="5760720" y="5577840"/>
            <a:ext cx="5486400" cy="347472"/>
          </a:xfrm>
          <a:prstGeom prst="rect">
            <a:avLst/>
          </a:prstGeom>
          <a:noFill/>
          <a:ln/>
        </p:spPr>
        <p:txBody>
          <a:bodyPr wrap="square" lIns="0" tIns="0" rIns="0" bIns="0" rtlCol="0" anchor="ctr"/>
          <a:lstStyle/>
          <a:p>
            <a:pPr indent="0" marL="0">
              <a:buNone/>
            </a:pPr>
            <a:r>
              <a:rPr lang="en-US" sz="1300" dirty="0">
                <a:solidFill>
                  <a:schemeClr val="accent4"/>
                </a:solidFill>
                <a:latin typeface="Calibri" pitchFamily="34" charset="0"/>
                <a:ea typeface="Calibri" pitchFamily="34" charset="-122"/>
                <a:cs typeface="Calibri" pitchFamily="34" charset="-120"/>
              </a:rPr>
              <a:t>Unmarked figures come from the 2024-2025 JoPACC reports.</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lIns="0" tIns="0" rIns="0" bIns="0" rtlCol="0" anchor="ctr"/>
          <a:lstStyle/>
          <a:p>
            <a:pPr algn="l" indent="0" marL="0">
              <a:buNone/>
            </a:pPr>
            <a:r>
              <a:rPr lang="en-US" sz="2800" b="1" dirty="0">
                <a:solidFill>
                  <a:schemeClr val="tx1"/>
                </a:solidFill>
              </a:rPr>
              <a:t>Volume surged 62%, but each payment is getting smaller</a:t>
            </a:r>
            <a:endParaRPr lang="en-US" sz="2800" dirty="0"/>
          </a:p>
        </p:txBody>
      </p:sp>
      <p:sp>
        <p:nvSpPr>
          <p:cNvPr id="3" name="card"/>
          <p:cNvSpPr/>
          <p:nvPr/>
        </p:nvSpPr>
        <p:spPr>
          <a:xfrm>
            <a:off x="548640" y="1371600"/>
            <a:ext cx="3566160" cy="1417320"/>
          </a:xfrm>
          <a:prstGeom prst="roundRect">
            <a:avLst>
              <a:gd name="adj" fmla="val 7742"/>
            </a:avLst>
          </a:prstGeom>
          <a:solidFill>
            <a:schemeClr val="bg2"/>
          </a:solidFill>
          <a:ln w="12700">
            <a:solidFill>
              <a:schemeClr val="bg2"/>
            </a:solidFill>
            <a:prstDash val="solid"/>
          </a:ln>
        </p:spPr>
      </p:sp>
      <p:sp>
        <p:nvSpPr>
          <p:cNvPr id="4" name="Text 2"/>
          <p:cNvSpPr txBox="1"/>
          <p:nvPr/>
        </p:nvSpPr>
        <p:spPr>
          <a:xfrm>
            <a:off x="731520" y="1508760"/>
            <a:ext cx="3200400" cy="731520"/>
          </a:xfrm>
          <a:prstGeom prst="rect">
            <a:avLst/>
          </a:prstGeom>
          <a:noFill/>
          <a:ln/>
        </p:spPr>
        <p:txBody>
          <a:bodyPr wrap="square" lIns="0" tIns="0" rIns="0" bIns="0" rtlCol="0" anchor="ctr"/>
          <a:lstStyle/>
          <a:p>
            <a:pPr algn="ctr" indent="0" marL="0">
              <a:buNone/>
            </a:pPr>
            <a:r>
              <a:rPr lang="en-US" sz="4000" b="1" dirty="0">
                <a:solidFill>
                  <a:srgbClr val="2E8B63"/>
                </a:solidFill>
                <a:latin typeface="Calibri" pitchFamily="34" charset="0"/>
                <a:ea typeface="Calibri" pitchFamily="34" charset="-122"/>
                <a:cs typeface="Calibri" pitchFamily="34" charset="-120"/>
              </a:rPr>
              <a:t>+62%</a:t>
            </a:r>
            <a:endParaRPr lang="en-US" sz="4000" dirty="0"/>
          </a:p>
        </p:txBody>
      </p:sp>
      <p:sp>
        <p:nvSpPr>
          <p:cNvPr id="5" name="Text 3"/>
          <p:cNvSpPr txBox="1"/>
          <p:nvPr/>
        </p:nvSpPr>
        <p:spPr>
          <a:xfrm>
            <a:off x="731520" y="2240280"/>
            <a:ext cx="3200400" cy="457200"/>
          </a:xfrm>
          <a:prstGeom prst="rect">
            <a:avLst/>
          </a:prstGeom>
          <a:noFill/>
          <a:ln/>
        </p:spPr>
        <p:txBody>
          <a:bodyPr wrap="square" lIns="0" tIns="0" rIns="0" bIns="0" rtlCol="0" anchor="t"/>
          <a:lstStyle/>
          <a:p>
            <a:pPr algn="ctr" indent="0" marL="0">
              <a:buNone/>
            </a:pPr>
            <a:r>
              <a:rPr lang="en-US" sz="1400" dirty="0">
                <a:solidFill>
                  <a:schemeClr val="tx2"/>
                </a:solidFill>
                <a:latin typeface="Calibri" pitchFamily="34" charset="0"/>
                <a:ea typeface="Calibri" pitchFamily="34" charset="-122"/>
                <a:cs typeface="Calibri" pitchFamily="34" charset="-120"/>
              </a:rPr>
              <a:t>Transactions</a:t>
            </a:r>
            <a:endParaRPr lang="en-US" sz="1400" dirty="0"/>
          </a:p>
        </p:txBody>
      </p:sp>
      <p:sp>
        <p:nvSpPr>
          <p:cNvPr id="6" name="card"/>
          <p:cNvSpPr/>
          <p:nvPr/>
        </p:nvSpPr>
        <p:spPr>
          <a:xfrm>
            <a:off x="4297680" y="1371600"/>
            <a:ext cx="3566160" cy="1417320"/>
          </a:xfrm>
          <a:prstGeom prst="roundRect">
            <a:avLst>
              <a:gd name="adj" fmla="val 7742"/>
            </a:avLst>
          </a:prstGeom>
          <a:solidFill>
            <a:schemeClr val="bg2"/>
          </a:solidFill>
          <a:ln w="12700">
            <a:solidFill>
              <a:schemeClr val="bg2"/>
            </a:solidFill>
            <a:prstDash val="solid"/>
          </a:ln>
        </p:spPr>
      </p:sp>
      <p:sp>
        <p:nvSpPr>
          <p:cNvPr id="7" name="Text 5"/>
          <p:cNvSpPr txBox="1"/>
          <p:nvPr/>
        </p:nvSpPr>
        <p:spPr>
          <a:xfrm>
            <a:off x="4480560" y="1508760"/>
            <a:ext cx="3200400" cy="731520"/>
          </a:xfrm>
          <a:prstGeom prst="rect">
            <a:avLst/>
          </a:prstGeom>
          <a:noFill/>
          <a:ln/>
        </p:spPr>
        <p:txBody>
          <a:bodyPr wrap="square" lIns="0" tIns="0" rIns="0" bIns="0" rtlCol="0" anchor="ctr"/>
          <a:lstStyle/>
          <a:p>
            <a:pPr algn="ctr" indent="0" marL="0">
              <a:buNone/>
            </a:pPr>
            <a:r>
              <a:rPr lang="en-US" sz="4000" b="1" dirty="0">
                <a:solidFill>
                  <a:srgbClr val="2E8B63"/>
                </a:solidFill>
                <a:latin typeface="Calibri" pitchFamily="34" charset="0"/>
                <a:ea typeface="Calibri" pitchFamily="34" charset="-122"/>
                <a:cs typeface="Calibri" pitchFamily="34" charset="-120"/>
              </a:rPr>
              <a:t>+16.6%</a:t>
            </a:r>
            <a:endParaRPr lang="en-US" sz="4000" dirty="0"/>
          </a:p>
        </p:txBody>
      </p:sp>
      <p:sp>
        <p:nvSpPr>
          <p:cNvPr id="8" name="Text 6"/>
          <p:cNvSpPr txBox="1"/>
          <p:nvPr/>
        </p:nvSpPr>
        <p:spPr>
          <a:xfrm>
            <a:off x="4480560" y="2240280"/>
            <a:ext cx="3200400" cy="457200"/>
          </a:xfrm>
          <a:prstGeom prst="rect">
            <a:avLst/>
          </a:prstGeom>
          <a:noFill/>
          <a:ln/>
        </p:spPr>
        <p:txBody>
          <a:bodyPr wrap="square" lIns="0" tIns="0" rIns="0" bIns="0" rtlCol="0" anchor="t"/>
          <a:lstStyle/>
          <a:p>
            <a:pPr algn="ctr" indent="0" marL="0">
              <a:buNone/>
            </a:pPr>
            <a:r>
              <a:rPr lang="en-US" sz="1400" dirty="0">
                <a:solidFill>
                  <a:schemeClr val="tx2"/>
                </a:solidFill>
                <a:latin typeface="Calibri" pitchFamily="34" charset="0"/>
                <a:ea typeface="Calibri" pitchFamily="34" charset="-122"/>
                <a:cs typeface="Calibri" pitchFamily="34" charset="-120"/>
              </a:rPr>
              <a:t>Value</a:t>
            </a:r>
            <a:endParaRPr lang="en-US" sz="1400" dirty="0"/>
          </a:p>
        </p:txBody>
      </p:sp>
      <p:sp>
        <p:nvSpPr>
          <p:cNvPr id="9" name="card"/>
          <p:cNvSpPr/>
          <p:nvPr/>
        </p:nvSpPr>
        <p:spPr>
          <a:xfrm>
            <a:off x="8046720" y="1371600"/>
            <a:ext cx="3566160" cy="1417320"/>
          </a:xfrm>
          <a:prstGeom prst="roundRect">
            <a:avLst>
              <a:gd name="adj" fmla="val 7742"/>
            </a:avLst>
          </a:prstGeom>
          <a:solidFill>
            <a:schemeClr val="bg2"/>
          </a:solidFill>
          <a:ln w="12700">
            <a:solidFill>
              <a:schemeClr val="bg2"/>
            </a:solidFill>
            <a:prstDash val="solid"/>
          </a:ln>
        </p:spPr>
      </p:sp>
      <p:sp>
        <p:nvSpPr>
          <p:cNvPr id="10" name="Text 8"/>
          <p:cNvSpPr txBox="1"/>
          <p:nvPr/>
        </p:nvSpPr>
        <p:spPr>
          <a:xfrm>
            <a:off x="8229600" y="1508760"/>
            <a:ext cx="3200400" cy="731520"/>
          </a:xfrm>
          <a:prstGeom prst="rect">
            <a:avLst/>
          </a:prstGeom>
          <a:noFill/>
          <a:ln/>
        </p:spPr>
        <p:txBody>
          <a:bodyPr wrap="square" lIns="0" tIns="0" rIns="0" bIns="0" rtlCol="0" anchor="ctr"/>
          <a:lstStyle/>
          <a:p>
            <a:pPr algn="ctr" indent="0" marL="0">
              <a:buNone/>
            </a:pPr>
            <a:r>
              <a:rPr lang="en-US" sz="4000" b="1" dirty="0">
                <a:solidFill>
                  <a:srgbClr val="C0463C"/>
                </a:solidFill>
                <a:latin typeface="Calibri" pitchFamily="34" charset="0"/>
                <a:ea typeface="Calibri" pitchFamily="34" charset="-122"/>
                <a:cs typeface="Calibri" pitchFamily="34" charset="-120"/>
              </a:rPr>
              <a:t>-28%</a:t>
            </a:r>
            <a:endParaRPr lang="en-US" sz="4000" dirty="0"/>
          </a:p>
        </p:txBody>
      </p:sp>
      <p:sp>
        <p:nvSpPr>
          <p:cNvPr id="11" name="Text 9"/>
          <p:cNvSpPr txBox="1"/>
          <p:nvPr/>
        </p:nvSpPr>
        <p:spPr>
          <a:xfrm>
            <a:off x="8229600" y="2240280"/>
            <a:ext cx="3200400" cy="457200"/>
          </a:xfrm>
          <a:prstGeom prst="rect">
            <a:avLst/>
          </a:prstGeom>
          <a:noFill/>
          <a:ln/>
        </p:spPr>
        <p:txBody>
          <a:bodyPr wrap="square" lIns="0" tIns="0" rIns="0" bIns="0" rtlCol="0" anchor="t"/>
          <a:lstStyle/>
          <a:p>
            <a:pPr algn="ctr" indent="0" marL="0">
              <a:buNone/>
            </a:pPr>
            <a:r>
              <a:rPr lang="en-US" sz="1400" dirty="0">
                <a:solidFill>
                  <a:schemeClr val="tx2"/>
                </a:solidFill>
                <a:latin typeface="Calibri" pitchFamily="34" charset="0"/>
                <a:ea typeface="Calibri" pitchFamily="34" charset="-122"/>
                <a:cs typeface="Calibri" pitchFamily="34" charset="-120"/>
              </a:rPr>
              <a:t>Average payment value</a:t>
            </a:r>
            <a:endParaRPr lang="en-US" sz="1400" dirty="0"/>
          </a:p>
        </p:txBody>
      </p:sp>
      <p:graphicFrame>
        <p:nvGraphicFramePr>
          <p:cNvPr id="12" name="Chart 0" descr=""/>
          <p:cNvGraphicFramePr/>
          <p:nvPr/>
        </p:nvGraphicFramePr>
        <p:xfrm>
          <a:off x="548640" y="3017520"/>
          <a:ext cx="6583680" cy="3291840"/>
        </p:xfrm>
        <a:graphic xmlns:a="http://schemas.openxmlformats.org/drawingml/2006/main">
          <a:graphicData uri="http://schemas.openxmlformats.org/drawingml/2006/chart">
            <c:chart xmlns:c="http://schemas.openxmlformats.org/drawingml/2006/chart" r:id="rId1"/>
          </a:graphicData>
        </a:graphic>
      </p:graphicFrame>
      <p:sp>
        <p:nvSpPr>
          <p:cNvPr id="13" name="card"/>
          <p:cNvSpPr/>
          <p:nvPr/>
        </p:nvSpPr>
        <p:spPr>
          <a:xfrm>
            <a:off x="7406640" y="3200400"/>
            <a:ext cx="4206240" cy="2834640"/>
          </a:xfrm>
          <a:prstGeom prst="roundRect">
            <a:avLst>
              <a:gd name="adj" fmla="val 3871"/>
            </a:avLst>
          </a:prstGeom>
          <a:solidFill>
            <a:schemeClr val="bg2"/>
          </a:solidFill>
          <a:ln w="12700">
            <a:solidFill>
              <a:schemeClr val="bg2"/>
            </a:solidFill>
            <a:prstDash val="solid"/>
          </a:ln>
        </p:spPr>
      </p:sp>
      <p:sp>
        <p:nvSpPr>
          <p:cNvPr id="14" name="Text 11"/>
          <p:cNvSpPr txBox="1"/>
          <p:nvPr/>
        </p:nvSpPr>
        <p:spPr>
          <a:xfrm>
            <a:off x="7589520" y="3474720"/>
            <a:ext cx="3840480" cy="1005840"/>
          </a:xfrm>
          <a:prstGeom prst="rect">
            <a:avLst/>
          </a:prstGeom>
          <a:noFill/>
          <a:ln/>
        </p:spPr>
        <p:txBody>
          <a:bodyPr wrap="square" lIns="0" tIns="0" rIns="0" bIns="0" rtlCol="0" anchor="ctr"/>
          <a:lstStyle/>
          <a:p>
            <a:pPr algn="ctr" indent="0" marL="0">
              <a:buNone/>
            </a:pPr>
            <a:r>
              <a:rPr lang="en-US" sz="5400" b="1" dirty="0">
                <a:solidFill>
                  <a:srgbClr val="C0463C"/>
                </a:solidFill>
                <a:latin typeface="Calibri" pitchFamily="34" charset="0"/>
                <a:ea typeface="Calibri" pitchFamily="34" charset="-122"/>
                <a:cs typeface="Calibri" pitchFamily="34" charset="-120"/>
              </a:rPr>
              <a:t>-53%</a:t>
            </a:r>
            <a:endParaRPr lang="en-US" sz="5400" dirty="0"/>
          </a:p>
        </p:txBody>
      </p:sp>
      <p:sp>
        <p:nvSpPr>
          <p:cNvPr id="15" name="Text 12"/>
          <p:cNvSpPr txBox="1"/>
          <p:nvPr/>
        </p:nvSpPr>
        <p:spPr>
          <a:xfrm>
            <a:off x="7680960" y="4572000"/>
            <a:ext cx="3657600" cy="914400"/>
          </a:xfrm>
          <a:prstGeom prst="rect">
            <a:avLst/>
          </a:prstGeom>
          <a:noFill/>
          <a:ln/>
        </p:spPr>
        <p:txBody>
          <a:bodyPr wrap="square" lIns="0" tIns="0" rIns="0" bIns="0" rtlCol="0" anchor="t"/>
          <a:lstStyle/>
          <a:p>
            <a:pPr algn="ctr" indent="0" marL="0">
              <a:buNone/>
            </a:pPr>
            <a:r>
              <a:rPr lang="en-US" sz="1600" dirty="0">
                <a:solidFill>
                  <a:schemeClr val="tx1"/>
                </a:solidFill>
                <a:latin typeface="Calibri" pitchFamily="34" charset="0"/>
                <a:ea typeface="Calibri" pitchFamily="34" charset="-122"/>
                <a:cs typeface="Calibri" pitchFamily="34" charset="-120"/>
              </a:rPr>
              <a:t>in two years: the third straight year of decline</a:t>
            </a:r>
            <a:endParaRPr lang="en-US" sz="1600" dirty="0"/>
          </a:p>
        </p:txBody>
      </p:sp>
      <p:sp>
        <p:nvSpPr>
          <p:cNvPr id="25"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lIns="0" tIns="0" rIns="0" bIns="0" rtlCol="0" anchor="ctr"/>
          <a:lstStyle/>
          <a:p>
            <a:pPr algn="l" indent="0" marL="0">
              <a:buNone/>
            </a:pPr>
            <a:r>
              <a:rPr lang="en-US" sz="2800" b="1" dirty="0">
                <a:solidFill>
                  <a:schemeClr val="tx1"/>
                </a:solidFill>
              </a:rPr>
              <a:t>The reports describe what happened, not why</a:t>
            </a:r>
            <a:endParaRPr lang="en-US" sz="2800" dirty="0"/>
          </a:p>
        </p:txBody>
      </p:sp>
      <p:sp>
        <p:nvSpPr>
          <p:cNvPr id="3" name="card"/>
          <p:cNvSpPr/>
          <p:nvPr/>
        </p:nvSpPr>
        <p:spPr>
          <a:xfrm>
            <a:off x="548640" y="1371600"/>
            <a:ext cx="3566160" cy="3749040"/>
          </a:xfrm>
          <a:prstGeom prst="roundRect">
            <a:avLst>
              <a:gd name="adj" fmla="val 3077"/>
            </a:avLst>
          </a:prstGeom>
          <a:solidFill>
            <a:schemeClr val="bg2"/>
          </a:solidFill>
          <a:ln w="12700">
            <a:solidFill>
              <a:schemeClr val="bg2"/>
            </a:solidFill>
            <a:prstDash val="solid"/>
          </a:ln>
        </p:spPr>
      </p:sp>
      <p:sp>
        <p:nvSpPr>
          <p:cNvPr id="4" name="Text 2"/>
          <p:cNvSpPr txBox="1"/>
          <p:nvPr/>
        </p:nvSpPr>
        <p:spPr>
          <a:xfrm>
            <a:off x="777240" y="1554480"/>
            <a:ext cx="2011680" cy="365760"/>
          </a:xfrm>
          <a:prstGeom prst="rect">
            <a:avLst/>
          </a:prstGeom>
          <a:noFill/>
          <a:ln/>
        </p:spPr>
        <p:txBody>
          <a:bodyPr wrap="square" lIns="0" tIns="0" rIns="0" bIns="0" rtlCol="0" anchor="ctr"/>
          <a:lstStyle/>
          <a:p>
            <a:pPr indent="0" marL="0">
              <a:buNone/>
            </a:pPr>
            <a:r>
              <a:rPr lang="en-US" sz="1600" b="1" dirty="0">
                <a:solidFill>
                  <a:schemeClr val="accent3"/>
                </a:solidFill>
                <a:latin typeface="Calibri" pitchFamily="34" charset="0"/>
                <a:ea typeface="Calibri" pitchFamily="34" charset="-122"/>
                <a:cs typeface="Calibri" pitchFamily="34" charset="-120"/>
              </a:rPr>
              <a:t>CliQ</a:t>
            </a:r>
            <a:endParaRPr lang="en-US" sz="1600" dirty="0"/>
          </a:p>
        </p:txBody>
      </p:sp>
      <p:sp>
        <p:nvSpPr>
          <p:cNvPr id="5" name="data marker"/>
          <p:cNvSpPr/>
          <p:nvPr/>
        </p:nvSpPr>
        <p:spPr>
          <a:xfrm>
            <a:off x="2834640" y="1572768"/>
            <a:ext cx="1097280" cy="347472"/>
          </a:xfrm>
          <a:prstGeom prst="roundRect">
            <a:avLst>
              <a:gd name="adj" fmla="val 21053"/>
            </a:avLst>
          </a:prstGeom>
          <a:solidFill>
            <a:schemeClr val="bg2"/>
          </a:solidFill>
          <a:ln w="12700">
            <a:solidFill>
              <a:schemeClr val="accent4"/>
            </a:solidFill>
            <a:prstDash val="solid"/>
          </a:ln>
        </p:spPr>
      </p:sp>
      <p:sp>
        <p:nvSpPr>
          <p:cNvPr id="6" name="Text 4"/>
          <p:cNvSpPr txBox="1"/>
          <p:nvPr/>
        </p:nvSpPr>
        <p:spPr>
          <a:xfrm>
            <a:off x="2834640" y="1572768"/>
            <a:ext cx="1097280" cy="347472"/>
          </a:xfrm>
          <a:prstGeom prst="rect">
            <a:avLst/>
          </a:prstGeom>
          <a:noFill/>
          <a:ln/>
        </p:spPr>
        <p:txBody>
          <a:bodyPr wrap="square" lIns="0" tIns="0" rIns="0" bIns="0" rtlCol="0" anchor="ctr"/>
          <a:lstStyle/>
          <a:p>
            <a:pPr algn="ctr" indent="0" marL="0">
              <a:buNone/>
            </a:pPr>
            <a:r>
              <a:rPr lang="en-US" sz="1100" b="1" dirty="0">
                <a:solidFill>
                  <a:schemeClr val="tx1"/>
                </a:solidFill>
                <a:latin typeface="Calibri" pitchFamily="34" charset="0"/>
                <a:ea typeface="Calibri" pitchFamily="34" charset="-122"/>
                <a:cs typeface="Calibri" pitchFamily="34" charset="-120"/>
              </a:rPr>
              <a:t>DERIVED</a:t>
            </a:r>
            <a:endParaRPr lang="en-US" sz="1100" dirty="0"/>
          </a:p>
        </p:txBody>
      </p:sp>
      <p:sp>
        <p:nvSpPr>
          <p:cNvPr id="7" name="Text 5"/>
          <p:cNvSpPr txBox="1"/>
          <p:nvPr/>
        </p:nvSpPr>
        <p:spPr>
          <a:xfrm>
            <a:off x="777240" y="2011680"/>
            <a:ext cx="3108960" cy="822960"/>
          </a:xfrm>
          <a:prstGeom prst="rect">
            <a:avLst/>
          </a:prstGeom>
          <a:noFill/>
          <a:ln/>
        </p:spPr>
        <p:txBody>
          <a:bodyPr wrap="square" lIns="0" tIns="0" rIns="0" bIns="0" rtlCol="0" anchor="ctr"/>
          <a:lstStyle/>
          <a:p>
            <a:pPr indent="0" marL="0">
              <a:buNone/>
            </a:pPr>
            <a:r>
              <a:rPr lang="en-US" sz="4400" b="1" dirty="0">
                <a:solidFill>
                  <a:schemeClr val="tx1"/>
                </a:solidFill>
                <a:latin typeface="Calibri" pitchFamily="34" charset="0"/>
                <a:ea typeface="Calibri" pitchFamily="34" charset="-122"/>
                <a:cs typeface="Calibri" pitchFamily="34" charset="-120"/>
              </a:rPr>
              <a:t>+57%</a:t>
            </a:r>
            <a:endParaRPr lang="en-US" sz="4400" dirty="0"/>
          </a:p>
        </p:txBody>
      </p:sp>
      <p:sp>
        <p:nvSpPr>
          <p:cNvPr id="8" name="Text 6"/>
          <p:cNvSpPr txBox="1"/>
          <p:nvPr/>
        </p:nvSpPr>
        <p:spPr>
          <a:xfrm>
            <a:off x="777240" y="2834640"/>
            <a:ext cx="3108960" cy="365760"/>
          </a:xfrm>
          <a:prstGeom prst="rect">
            <a:avLst/>
          </a:prstGeom>
          <a:noFill/>
          <a:ln/>
        </p:spPr>
        <p:txBody>
          <a:bodyPr wrap="square" lIns="0" tIns="0" rIns="0" bIns="0" rtlCol="0" anchor="t"/>
          <a:lstStyle/>
          <a:p>
            <a:pPr indent="0" marL="0">
              <a:buNone/>
            </a:pPr>
            <a:r>
              <a:rPr lang="en-US" sz="1400" dirty="0">
                <a:solidFill>
                  <a:schemeClr val="tx2"/>
                </a:solidFill>
                <a:latin typeface="Calibri" pitchFamily="34" charset="0"/>
                <a:ea typeface="Calibri" pitchFamily="34" charset="-122"/>
                <a:cs typeface="Calibri" pitchFamily="34" charset="-120"/>
              </a:rPr>
              <a:t>transactions per user</a:t>
            </a:r>
            <a:endParaRPr lang="en-US" sz="1400" dirty="0"/>
          </a:p>
        </p:txBody>
      </p:sp>
      <p:sp>
        <p:nvSpPr>
          <p:cNvPr id="9" name="Text 7"/>
          <p:cNvSpPr txBox="1"/>
          <p:nvPr/>
        </p:nvSpPr>
        <p:spPr>
          <a:xfrm>
            <a:off x="777240" y="3429000"/>
            <a:ext cx="3108960" cy="1554480"/>
          </a:xfrm>
          <a:prstGeom prst="rect">
            <a:avLst/>
          </a:prstGeom>
          <a:noFill/>
          <a:ln/>
        </p:spPr>
        <p:txBody>
          <a:bodyPr wrap="square" lIns="0" tIns="0" rIns="0" bIns="0" rtlCol="0" anchor="t"/>
          <a:lstStyle/>
          <a:p>
            <a:pPr indent="0" marL="0">
              <a:buNone/>
            </a:pPr>
            <a:r>
              <a:rPr lang="en-US" sz="1100" b="1" dirty="0">
                <a:solidFill>
                  <a:schemeClr val="tx2"/>
                </a:solidFill>
                <a:latin typeface="Calibri" pitchFamily="34" charset="0"/>
                <a:ea typeface="Calibri" pitchFamily="34" charset="-122"/>
                <a:cs typeface="Calibri" pitchFamily="34" charset="-120"/>
              </a:rPr>
              <a:t>REPORT</a:t>
            </a:r>
            <a:endParaRPr lang="en-US" sz="1100" dirty="0"/>
          </a:p>
          <a:p>
            <a:pPr indent="0" marL="0">
              <a:buNone/>
            </a:pPr>
            <a:r>
              <a:rPr lang="en-US" sz="1600" dirty="0">
                <a:solidFill>
                  <a:schemeClr val="tx1"/>
                </a:solidFill>
                <a:latin typeface="Calibri" pitchFamily="34" charset="0"/>
                <a:ea typeface="Calibri" pitchFamily="34" charset="-122"/>
                <a:cs typeface="Calibri" pitchFamily="34" charset="-120"/>
              </a:rPr>
              <a:t>Transactions doubled.</a:t>
            </a:r>
            <a:endParaRPr lang="en-US" sz="1100" dirty="0"/>
          </a:p>
          <a:p>
            <a:pPr indent="0" marL="0">
              <a:buNone/>
            </a:pPr>
            <a:r>
              <a:rPr lang="en-US" sz="800" dirty="0">
                <a:solidFill>
                  <a:schemeClr val="tx1"/>
                </a:solidFill>
                <a:latin typeface="Calibri" pitchFamily="34" charset="0"/>
                <a:ea typeface="Calibri" pitchFamily="34" charset="-122"/>
                <a:cs typeface="Calibri" pitchFamily="34" charset="-120"/>
              </a:rPr>
              <a:t> </a:t>
            </a:r>
            <a:endParaRPr lang="en-US" sz="1100" dirty="0"/>
          </a:p>
          <a:p>
            <a:pPr indent="0" marL="0">
              <a:buNone/>
            </a:pPr>
            <a:r>
              <a:rPr lang="en-US" sz="1100" b="1" dirty="0">
                <a:solidFill>
                  <a:schemeClr val="accent3"/>
                </a:solidFill>
                <a:latin typeface="Calibri" pitchFamily="34" charset="0"/>
                <a:ea typeface="Calibri" pitchFamily="34" charset="-122"/>
                <a:cs typeface="Calibri" pitchFamily="34" charset="-120"/>
              </a:rPr>
              <a:t>MISSED</a:t>
            </a:r>
            <a:endParaRPr lang="en-US" sz="1100" dirty="0"/>
          </a:p>
          <a:p>
            <a:pPr indent="0" marL="0">
              <a:buNone/>
            </a:pPr>
            <a:r>
              <a:rPr lang="en-US" sz="1600" b="1" dirty="0">
                <a:solidFill>
                  <a:schemeClr val="tx1"/>
                </a:solidFill>
                <a:latin typeface="Calibri" pitchFamily="34" charset="0"/>
                <a:ea typeface="Calibri" pitchFamily="34" charset="-122"/>
                <a:cs typeface="Calibri" pitchFamily="34" charset="-120"/>
              </a:rPr>
              <a:t>Existing users doing more.</a:t>
            </a:r>
            <a:endParaRPr lang="en-US" sz="1100" dirty="0"/>
          </a:p>
        </p:txBody>
      </p:sp>
      <p:sp>
        <p:nvSpPr>
          <p:cNvPr id="10" name="card"/>
          <p:cNvSpPr/>
          <p:nvPr/>
        </p:nvSpPr>
        <p:spPr>
          <a:xfrm>
            <a:off x="4297680" y="1371600"/>
            <a:ext cx="3566160" cy="3749040"/>
          </a:xfrm>
          <a:prstGeom prst="roundRect">
            <a:avLst>
              <a:gd name="adj" fmla="val 3077"/>
            </a:avLst>
          </a:prstGeom>
          <a:solidFill>
            <a:schemeClr val="bg2"/>
          </a:solidFill>
          <a:ln w="12700">
            <a:solidFill>
              <a:schemeClr val="bg2"/>
            </a:solidFill>
            <a:prstDash val="solid"/>
          </a:ln>
        </p:spPr>
      </p:sp>
      <p:sp>
        <p:nvSpPr>
          <p:cNvPr id="11" name="Text 9"/>
          <p:cNvSpPr txBox="1"/>
          <p:nvPr/>
        </p:nvSpPr>
        <p:spPr>
          <a:xfrm>
            <a:off x="4526280" y="1554480"/>
            <a:ext cx="2011680" cy="365760"/>
          </a:xfrm>
          <a:prstGeom prst="rect">
            <a:avLst/>
          </a:prstGeom>
          <a:noFill/>
          <a:ln/>
        </p:spPr>
        <p:txBody>
          <a:bodyPr wrap="square" lIns="0" tIns="0" rIns="0" bIns="0" rtlCol="0" anchor="ctr"/>
          <a:lstStyle/>
          <a:p>
            <a:pPr indent="0" marL="0">
              <a:buNone/>
            </a:pPr>
            <a:r>
              <a:rPr lang="en-US" sz="1600" b="1" dirty="0">
                <a:solidFill>
                  <a:schemeClr val="accent3"/>
                </a:solidFill>
                <a:latin typeface="Calibri" pitchFamily="34" charset="0"/>
                <a:ea typeface="Calibri" pitchFamily="34" charset="-122"/>
                <a:cs typeface="Calibri" pitchFamily="34" charset="-120"/>
              </a:rPr>
              <a:t>ECCU cheques</a:t>
            </a:r>
            <a:endParaRPr lang="en-US" sz="1600" dirty="0"/>
          </a:p>
        </p:txBody>
      </p:sp>
      <p:sp>
        <p:nvSpPr>
          <p:cNvPr id="12" name="Text 10"/>
          <p:cNvSpPr txBox="1"/>
          <p:nvPr/>
        </p:nvSpPr>
        <p:spPr>
          <a:xfrm>
            <a:off x="4526280" y="2011680"/>
            <a:ext cx="3108960" cy="822960"/>
          </a:xfrm>
          <a:prstGeom prst="rect">
            <a:avLst/>
          </a:prstGeom>
          <a:noFill/>
          <a:ln/>
        </p:spPr>
        <p:txBody>
          <a:bodyPr wrap="square" lIns="0" tIns="0" rIns="0" bIns="0" rtlCol="0" anchor="ctr"/>
          <a:lstStyle/>
          <a:p>
            <a:pPr indent="0" marL="0">
              <a:buNone/>
            </a:pPr>
            <a:r>
              <a:rPr lang="en-US" sz="4400" b="1" dirty="0">
                <a:solidFill>
                  <a:schemeClr val="tx1"/>
                </a:solidFill>
                <a:latin typeface="Calibri" pitchFamily="34" charset="0"/>
                <a:ea typeface="Calibri" pitchFamily="34" charset="-122"/>
                <a:cs typeface="Calibri" pitchFamily="34" charset="-120"/>
              </a:rPr>
              <a:t>-26.5%</a:t>
            </a:r>
            <a:endParaRPr lang="en-US" sz="4400" dirty="0"/>
          </a:p>
        </p:txBody>
      </p:sp>
      <p:sp>
        <p:nvSpPr>
          <p:cNvPr id="13" name="Text 11"/>
          <p:cNvSpPr txBox="1"/>
          <p:nvPr/>
        </p:nvSpPr>
        <p:spPr>
          <a:xfrm>
            <a:off x="4526280" y="2834640"/>
            <a:ext cx="3108960" cy="365760"/>
          </a:xfrm>
          <a:prstGeom prst="rect">
            <a:avLst/>
          </a:prstGeom>
          <a:noFill/>
          <a:ln/>
        </p:spPr>
        <p:txBody>
          <a:bodyPr wrap="square" lIns="0" tIns="0" rIns="0" bIns="0" rtlCol="0" anchor="t"/>
          <a:lstStyle/>
          <a:p>
            <a:pPr indent="0" marL="0">
              <a:buNone/>
            </a:pPr>
            <a:r>
              <a:rPr lang="en-US" sz="1400" dirty="0">
                <a:solidFill>
                  <a:schemeClr val="tx2"/>
                </a:solidFill>
                <a:latin typeface="Calibri" pitchFamily="34" charset="0"/>
                <a:ea typeface="Calibri" pitchFamily="34" charset="-122"/>
                <a:cs typeface="Calibri" pitchFamily="34" charset="-120"/>
              </a:rPr>
              <a:t>returned cheque value</a:t>
            </a:r>
            <a:endParaRPr lang="en-US" sz="1400" dirty="0"/>
          </a:p>
        </p:txBody>
      </p:sp>
      <p:sp>
        <p:nvSpPr>
          <p:cNvPr id="14" name="Text 12"/>
          <p:cNvSpPr txBox="1"/>
          <p:nvPr/>
        </p:nvSpPr>
        <p:spPr>
          <a:xfrm>
            <a:off x="4526280" y="3429000"/>
            <a:ext cx="3108960" cy="1554480"/>
          </a:xfrm>
          <a:prstGeom prst="rect">
            <a:avLst/>
          </a:prstGeom>
          <a:noFill/>
          <a:ln/>
        </p:spPr>
        <p:txBody>
          <a:bodyPr wrap="square" lIns="0" tIns="0" rIns="0" bIns="0" rtlCol="0" anchor="t"/>
          <a:lstStyle/>
          <a:p>
            <a:pPr indent="0" marL="0">
              <a:buNone/>
            </a:pPr>
            <a:r>
              <a:rPr lang="en-US" sz="1100" b="1" dirty="0">
                <a:solidFill>
                  <a:schemeClr val="tx2"/>
                </a:solidFill>
                <a:latin typeface="Calibri" pitchFamily="34" charset="0"/>
                <a:ea typeface="Calibri" pitchFamily="34" charset="-122"/>
                <a:cs typeface="Calibri" pitchFamily="34" charset="-120"/>
              </a:rPr>
              <a:t>REPORT</a:t>
            </a:r>
            <a:endParaRPr lang="en-US" sz="1100" dirty="0"/>
          </a:p>
          <a:p>
            <a:pPr indent="0" marL="0">
              <a:buNone/>
            </a:pPr>
            <a:r>
              <a:rPr lang="en-US" sz="1600" dirty="0">
                <a:solidFill>
                  <a:schemeClr val="tx1"/>
                </a:solidFill>
                <a:latin typeface="Calibri" pitchFamily="34" charset="0"/>
                <a:ea typeface="Calibri" pitchFamily="34" charset="-122"/>
                <a:cs typeface="Calibri" pitchFamily="34" charset="-120"/>
              </a:rPr>
              <a:t>Law change as a footnote.</a:t>
            </a:r>
            <a:endParaRPr lang="en-US" sz="1100" dirty="0"/>
          </a:p>
          <a:p>
            <a:pPr indent="0" marL="0">
              <a:buNone/>
            </a:pPr>
            <a:r>
              <a:rPr lang="en-US" sz="800" dirty="0">
                <a:solidFill>
                  <a:schemeClr val="tx1"/>
                </a:solidFill>
                <a:latin typeface="Calibri" pitchFamily="34" charset="0"/>
                <a:ea typeface="Calibri" pitchFamily="34" charset="-122"/>
                <a:cs typeface="Calibri" pitchFamily="34" charset="-120"/>
              </a:rPr>
              <a:t> </a:t>
            </a:r>
            <a:endParaRPr lang="en-US" sz="1100" dirty="0"/>
          </a:p>
          <a:p>
            <a:pPr indent="0" marL="0">
              <a:buNone/>
            </a:pPr>
            <a:r>
              <a:rPr lang="en-US" sz="1100" b="1" dirty="0">
                <a:solidFill>
                  <a:schemeClr val="accent3"/>
                </a:solidFill>
                <a:latin typeface="Calibri" pitchFamily="34" charset="0"/>
                <a:ea typeface="Calibri" pitchFamily="34" charset="-122"/>
                <a:cs typeface="Calibri" pitchFamily="34" charset="-120"/>
              </a:rPr>
              <a:t>MISSED</a:t>
            </a:r>
            <a:endParaRPr lang="en-US" sz="1100" dirty="0"/>
          </a:p>
          <a:p>
            <a:pPr indent="0" marL="0">
              <a:buNone/>
            </a:pPr>
            <a:r>
              <a:rPr lang="en-US" sz="1600" b="1" dirty="0">
                <a:solidFill>
                  <a:schemeClr val="tx1"/>
                </a:solidFill>
                <a:latin typeface="Calibri" pitchFamily="34" charset="0"/>
                <a:ea typeface="Calibri" pitchFamily="34" charset="-122"/>
                <a:cs typeface="Calibri" pitchFamily="34" charset="-120"/>
              </a:rPr>
              <a:t>It likely drove the drop.</a:t>
            </a:r>
            <a:endParaRPr lang="en-US" sz="1100" dirty="0"/>
          </a:p>
        </p:txBody>
      </p:sp>
      <p:sp>
        <p:nvSpPr>
          <p:cNvPr id="15" name="card"/>
          <p:cNvSpPr/>
          <p:nvPr/>
        </p:nvSpPr>
        <p:spPr>
          <a:xfrm>
            <a:off x="8046720" y="1371600"/>
            <a:ext cx="3566160" cy="3749040"/>
          </a:xfrm>
          <a:prstGeom prst="roundRect">
            <a:avLst>
              <a:gd name="adj" fmla="val 3077"/>
            </a:avLst>
          </a:prstGeom>
          <a:solidFill>
            <a:schemeClr val="bg2"/>
          </a:solidFill>
          <a:ln w="12700">
            <a:solidFill>
              <a:schemeClr val="bg2"/>
            </a:solidFill>
            <a:prstDash val="solid"/>
          </a:ln>
        </p:spPr>
      </p:sp>
      <p:sp>
        <p:nvSpPr>
          <p:cNvPr id="16" name="Text 14"/>
          <p:cNvSpPr txBox="1"/>
          <p:nvPr/>
        </p:nvSpPr>
        <p:spPr>
          <a:xfrm>
            <a:off x="8275320" y="1554480"/>
            <a:ext cx="2011680" cy="365760"/>
          </a:xfrm>
          <a:prstGeom prst="rect">
            <a:avLst/>
          </a:prstGeom>
          <a:noFill/>
          <a:ln/>
        </p:spPr>
        <p:txBody>
          <a:bodyPr wrap="square" lIns="0" tIns="0" rIns="0" bIns="0" rtlCol="0" anchor="ctr"/>
          <a:lstStyle/>
          <a:p>
            <a:pPr indent="0" marL="0">
              <a:buNone/>
            </a:pPr>
            <a:r>
              <a:rPr lang="en-US" sz="1600" b="1" dirty="0">
                <a:solidFill>
                  <a:schemeClr val="accent3"/>
                </a:solidFill>
                <a:latin typeface="Calibri" pitchFamily="34" charset="0"/>
                <a:ea typeface="Calibri" pitchFamily="34" charset="-122"/>
                <a:cs typeface="Calibri" pitchFamily="34" charset="-120"/>
              </a:rPr>
              <a:t>IPS</a:t>
            </a:r>
            <a:endParaRPr lang="en-US" sz="1600" dirty="0"/>
          </a:p>
        </p:txBody>
      </p:sp>
      <p:sp>
        <p:nvSpPr>
          <p:cNvPr id="17" name="data marker"/>
          <p:cNvSpPr/>
          <p:nvPr/>
        </p:nvSpPr>
        <p:spPr>
          <a:xfrm>
            <a:off x="10332720" y="1572768"/>
            <a:ext cx="1097280" cy="347472"/>
          </a:xfrm>
          <a:prstGeom prst="roundRect">
            <a:avLst>
              <a:gd name="adj" fmla="val 21053"/>
            </a:avLst>
          </a:prstGeom>
          <a:solidFill>
            <a:schemeClr val="bg2"/>
          </a:solidFill>
          <a:ln w="12700">
            <a:solidFill>
              <a:schemeClr val="accent4"/>
            </a:solidFill>
            <a:prstDash val="solid"/>
          </a:ln>
        </p:spPr>
      </p:sp>
      <p:sp>
        <p:nvSpPr>
          <p:cNvPr id="18" name="Text 16"/>
          <p:cNvSpPr txBox="1"/>
          <p:nvPr/>
        </p:nvSpPr>
        <p:spPr>
          <a:xfrm>
            <a:off x="10332720" y="1572768"/>
            <a:ext cx="1097280" cy="347472"/>
          </a:xfrm>
          <a:prstGeom prst="rect">
            <a:avLst/>
          </a:prstGeom>
          <a:noFill/>
          <a:ln/>
        </p:spPr>
        <p:txBody>
          <a:bodyPr wrap="square" lIns="0" tIns="0" rIns="0" bIns="0" rtlCol="0" anchor="ctr"/>
          <a:lstStyle/>
          <a:p>
            <a:pPr algn="ctr" indent="0" marL="0">
              <a:buNone/>
            </a:pPr>
            <a:r>
              <a:rPr lang="en-US" sz="1100" b="1" dirty="0">
                <a:solidFill>
                  <a:schemeClr val="tx1"/>
                </a:solidFill>
                <a:latin typeface="Calibri" pitchFamily="34" charset="0"/>
                <a:ea typeface="Calibri" pitchFamily="34" charset="-122"/>
                <a:cs typeface="Calibri" pitchFamily="34" charset="-120"/>
              </a:rPr>
              <a:t>DERIVED</a:t>
            </a:r>
            <a:endParaRPr lang="en-US" sz="1100" dirty="0"/>
          </a:p>
        </p:txBody>
      </p:sp>
      <p:sp>
        <p:nvSpPr>
          <p:cNvPr id="19" name="Text 17"/>
          <p:cNvSpPr txBox="1"/>
          <p:nvPr/>
        </p:nvSpPr>
        <p:spPr>
          <a:xfrm>
            <a:off x="8275320" y="2011680"/>
            <a:ext cx="3108960" cy="822960"/>
          </a:xfrm>
          <a:prstGeom prst="rect">
            <a:avLst/>
          </a:prstGeom>
          <a:noFill/>
          <a:ln/>
        </p:spPr>
        <p:txBody>
          <a:bodyPr wrap="square" lIns="0" tIns="0" rIns="0" bIns="0" rtlCol="0" anchor="ctr"/>
          <a:lstStyle/>
          <a:p>
            <a:pPr indent="0" marL="0">
              <a:buNone/>
            </a:pPr>
            <a:r>
              <a:rPr lang="en-US" sz="4400" b="1" dirty="0">
                <a:solidFill>
                  <a:schemeClr val="tx1"/>
                </a:solidFill>
                <a:latin typeface="Calibri" pitchFamily="34" charset="0"/>
                <a:ea typeface="Calibri" pitchFamily="34" charset="-122"/>
                <a:cs typeface="Calibri" pitchFamily="34" charset="-120"/>
              </a:rPr>
              <a:t>40 to 69</a:t>
            </a:r>
            <a:endParaRPr lang="en-US" sz="4400" dirty="0"/>
          </a:p>
        </p:txBody>
      </p:sp>
      <p:sp>
        <p:nvSpPr>
          <p:cNvPr id="20" name="Text 18"/>
          <p:cNvSpPr txBox="1"/>
          <p:nvPr/>
        </p:nvSpPr>
        <p:spPr>
          <a:xfrm>
            <a:off x="8275320" y="2834640"/>
            <a:ext cx="3108960" cy="365760"/>
          </a:xfrm>
          <a:prstGeom prst="rect">
            <a:avLst/>
          </a:prstGeom>
          <a:noFill/>
          <a:ln/>
        </p:spPr>
        <p:txBody>
          <a:bodyPr wrap="square" lIns="0" tIns="0" rIns="0" bIns="0" rtlCol="0" anchor="t"/>
          <a:lstStyle/>
          <a:p>
            <a:pPr indent="0" marL="0">
              <a:buNone/>
            </a:pPr>
            <a:r>
              <a:rPr lang="en-US" sz="1400" dirty="0">
                <a:solidFill>
                  <a:schemeClr val="tx2"/>
                </a:solidFill>
                <a:latin typeface="Calibri" pitchFamily="34" charset="0"/>
                <a:ea typeface="Calibri" pitchFamily="34" charset="-122"/>
                <a:cs typeface="Calibri" pitchFamily="34" charset="-120"/>
              </a:rPr>
              <a:t>transactions per user (approx.)</a:t>
            </a:r>
            <a:endParaRPr lang="en-US" sz="1400" dirty="0"/>
          </a:p>
        </p:txBody>
      </p:sp>
      <p:sp>
        <p:nvSpPr>
          <p:cNvPr id="21" name="Text 19"/>
          <p:cNvSpPr txBox="1"/>
          <p:nvPr/>
        </p:nvSpPr>
        <p:spPr>
          <a:xfrm>
            <a:off x="8275320" y="3429000"/>
            <a:ext cx="3108960" cy="1554480"/>
          </a:xfrm>
          <a:prstGeom prst="rect">
            <a:avLst/>
          </a:prstGeom>
          <a:noFill/>
          <a:ln/>
        </p:spPr>
        <p:txBody>
          <a:bodyPr wrap="square" lIns="0" tIns="0" rIns="0" bIns="0" rtlCol="0" anchor="t"/>
          <a:lstStyle/>
          <a:p>
            <a:pPr indent="0" marL="0">
              <a:buNone/>
            </a:pPr>
            <a:r>
              <a:rPr lang="en-US" sz="1100" b="1" dirty="0">
                <a:solidFill>
                  <a:schemeClr val="tx2"/>
                </a:solidFill>
                <a:latin typeface="Calibri" pitchFamily="34" charset="0"/>
                <a:ea typeface="Calibri" pitchFamily="34" charset="-122"/>
                <a:cs typeface="Calibri" pitchFamily="34" charset="-120"/>
              </a:rPr>
              <a:t>REPORT</a:t>
            </a:r>
            <a:endParaRPr lang="en-US" sz="1100" dirty="0"/>
          </a:p>
          <a:p>
            <a:pPr indent="0" marL="0">
              <a:buNone/>
            </a:pPr>
            <a:r>
              <a:rPr lang="en-US" sz="1600" dirty="0">
                <a:solidFill>
                  <a:schemeClr val="tx1"/>
                </a:solidFill>
                <a:latin typeface="Calibri" pitchFamily="34" charset="0"/>
                <a:ea typeface="Calibri" pitchFamily="34" charset="-122"/>
                <a:cs typeface="Calibri" pitchFamily="34" charset="-120"/>
              </a:rPr>
              <a:t>Static user counts.</a:t>
            </a:r>
            <a:endParaRPr lang="en-US" sz="1100" dirty="0"/>
          </a:p>
          <a:p>
            <a:pPr indent="0" marL="0">
              <a:buNone/>
            </a:pPr>
            <a:r>
              <a:rPr lang="en-US" sz="800" dirty="0">
                <a:solidFill>
                  <a:schemeClr val="tx1"/>
                </a:solidFill>
                <a:latin typeface="Calibri" pitchFamily="34" charset="0"/>
                <a:ea typeface="Calibri" pitchFamily="34" charset="-122"/>
                <a:cs typeface="Calibri" pitchFamily="34" charset="-120"/>
              </a:rPr>
              <a:t> </a:t>
            </a:r>
            <a:endParaRPr lang="en-US" sz="1100" dirty="0"/>
          </a:p>
          <a:p>
            <a:pPr indent="0" marL="0">
              <a:buNone/>
            </a:pPr>
            <a:r>
              <a:rPr lang="en-US" sz="1100" b="1" dirty="0">
                <a:solidFill>
                  <a:schemeClr val="accent3"/>
                </a:solidFill>
                <a:latin typeface="Calibri" pitchFamily="34" charset="0"/>
                <a:ea typeface="Calibri" pitchFamily="34" charset="-122"/>
                <a:cs typeface="Calibri" pitchFamily="34" charset="-120"/>
              </a:rPr>
              <a:t>MISSED</a:t>
            </a:r>
            <a:endParaRPr lang="en-US" sz="1100" dirty="0"/>
          </a:p>
          <a:p>
            <a:pPr indent="0" marL="0">
              <a:buNone/>
            </a:pPr>
            <a:r>
              <a:rPr lang="en-US" sz="1600" b="1" dirty="0">
                <a:solidFill>
                  <a:schemeClr val="tx1"/>
                </a:solidFill>
                <a:latin typeface="Calibri" pitchFamily="34" charset="0"/>
                <a:ea typeface="Calibri" pitchFamily="34" charset="-122"/>
                <a:cs typeface="Calibri" pitchFamily="34" charset="-120"/>
              </a:rPr>
              <a:t>Fewer new users, more activity.</a:t>
            </a:r>
            <a:endParaRPr lang="en-US" sz="1100" dirty="0"/>
          </a:p>
        </p:txBody>
      </p:sp>
      <p:sp>
        <p:nvSpPr>
          <p:cNvPr id="22" name="takeaway"/>
          <p:cNvSpPr/>
          <p:nvPr/>
        </p:nvSpPr>
        <p:spPr>
          <a:xfrm>
            <a:off x="548640" y="5349240"/>
            <a:ext cx="11064240" cy="822960"/>
          </a:xfrm>
          <a:prstGeom prst="roundRect">
            <a:avLst>
              <a:gd name="adj" fmla="val 13333"/>
            </a:avLst>
          </a:prstGeom>
          <a:solidFill>
            <a:schemeClr val="bg2"/>
          </a:solidFill>
          <a:ln w="12700">
            <a:solidFill>
              <a:schemeClr val="bg2"/>
            </a:solidFill>
            <a:prstDash val="solid"/>
          </a:ln>
        </p:spPr>
      </p:sp>
      <p:sp>
        <p:nvSpPr>
          <p:cNvPr id="23" name="Text 21"/>
          <p:cNvSpPr txBox="1"/>
          <p:nvPr/>
        </p:nvSpPr>
        <p:spPr>
          <a:xfrm>
            <a:off x="777240" y="5486400"/>
            <a:ext cx="10607040" cy="548640"/>
          </a:xfrm>
          <a:prstGeom prst="rect">
            <a:avLst/>
          </a:prstGeom>
          <a:noFill/>
          <a:ln/>
        </p:spPr>
        <p:txBody>
          <a:bodyPr wrap="square" lIns="0" tIns="0" rIns="0" bIns="0" rtlCol="0" anchor="ctr"/>
          <a:lstStyle/>
          <a:p>
            <a:pPr indent="0" marL="0">
              <a:buNone/>
            </a:pPr>
            <a:r>
              <a:rPr lang="en-US" sz="1600" b="1" dirty="0">
                <a:solidFill>
                  <a:schemeClr val="accent3"/>
                </a:solidFill>
                <a:latin typeface="Calibri" pitchFamily="34" charset="0"/>
                <a:ea typeface="Calibri" pitchFamily="34" charset="-122"/>
                <a:cs typeface="Calibri" pitchFamily="34" charset="-120"/>
              </a:rPr>
              <a:t>Why it matters:  </a:t>
            </a:r>
            <a:pPr indent="0" marL="0">
              <a:buNone/>
            </a:pPr>
            <a:r>
              <a:rPr lang="en-US" sz="1600" dirty="0">
                <a:solidFill>
                  <a:schemeClr val="tx1"/>
                </a:solidFill>
                <a:latin typeface="Calibri" pitchFamily="34" charset="0"/>
                <a:ea typeface="Calibri" pitchFamily="34" charset="-122"/>
                <a:cs typeface="Calibri" pitchFamily="34" charset="-120"/>
              </a:rPr>
              <a:t>accurate numbers, no explanation. Details are in the appendix.</a:t>
            </a:r>
            <a:endParaRPr lang="en-US" sz="1600" dirty="0"/>
          </a:p>
        </p:txBody>
      </p:sp>
      <p:sp>
        <p:nvSpPr>
          <p:cNvPr id="25"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lIns="0" tIns="0" rIns="0" bIns="0" rtlCol="0" anchor="ctr"/>
          <a:lstStyle/>
          <a:p>
            <a:pPr algn="l" indent="0" marL="0">
              <a:buNone/>
            </a:pPr>
            <a:r>
              <a:rPr lang="en-US" sz="2800" b="1" dirty="0">
                <a:solidFill>
                  <a:schemeClr val="tx1"/>
                </a:solidFill>
              </a:rPr>
              <a:t>The average keeps falling, but nobody can say why</a:t>
            </a:r>
            <a:endParaRPr lang="en-US" sz="2800" dirty="0"/>
          </a:p>
        </p:txBody>
      </p:sp>
      <p:graphicFrame>
        <p:nvGraphicFramePr>
          <p:cNvPr id="3" name="Chart 0" descr=""/>
          <p:cNvGraphicFramePr/>
          <p:nvPr/>
        </p:nvGraphicFramePr>
        <p:xfrm>
          <a:off x="548640" y="1371600"/>
          <a:ext cx="6035040" cy="4023360"/>
        </p:xfrm>
        <a:graphic xmlns:a="http://schemas.openxmlformats.org/drawingml/2006/main">
          <a:graphicData uri="http://schemas.openxmlformats.org/drawingml/2006/chart">
            <c:chart xmlns:c="http://schemas.openxmlformats.org/drawingml/2006/chart" r:id="rId1"/>
          </a:graphicData>
        </a:graphic>
      </p:graphicFrame>
      <p:sp>
        <p:nvSpPr>
          <p:cNvPr id="4" name="card"/>
          <p:cNvSpPr/>
          <p:nvPr/>
        </p:nvSpPr>
        <p:spPr>
          <a:xfrm>
            <a:off x="6949440" y="1371600"/>
            <a:ext cx="4663440" cy="1920240"/>
          </a:xfrm>
          <a:prstGeom prst="roundRect">
            <a:avLst>
              <a:gd name="adj" fmla="val 5714"/>
            </a:avLst>
          </a:prstGeom>
          <a:solidFill>
            <a:schemeClr val="bg2"/>
          </a:solidFill>
          <a:ln w="12700">
            <a:solidFill>
              <a:schemeClr val="bg2"/>
            </a:solidFill>
            <a:prstDash val="solid"/>
          </a:ln>
        </p:spPr>
      </p:sp>
      <p:sp>
        <p:nvSpPr>
          <p:cNvPr id="5" name="Text 2"/>
          <p:cNvSpPr txBox="1"/>
          <p:nvPr/>
        </p:nvSpPr>
        <p:spPr>
          <a:xfrm>
            <a:off x="7178040" y="1481328"/>
            <a:ext cx="4206240" cy="365760"/>
          </a:xfrm>
          <a:prstGeom prst="rect">
            <a:avLst/>
          </a:prstGeom>
          <a:noFill/>
          <a:ln/>
        </p:spPr>
        <p:txBody>
          <a:bodyPr wrap="square" lIns="0" tIns="0" rIns="0" bIns="0" rtlCol="0" anchor="t"/>
          <a:lstStyle/>
          <a:p>
            <a:pPr indent="0" marL="0">
              <a:buNone/>
            </a:pPr>
            <a:r>
              <a:rPr lang="en-US" sz="1600" b="1" dirty="0">
                <a:solidFill>
                  <a:schemeClr val="tx1"/>
                </a:solidFill>
                <a:latin typeface="Calibri" pitchFamily="34" charset="0"/>
                <a:ea typeface="Calibri" pitchFamily="34" charset="-122"/>
                <a:cs typeface="Calibri" pitchFamily="34" charset="-120"/>
              </a:rPr>
              <a:t>A: everyday payments shrank</a:t>
            </a:r>
            <a:endParaRPr lang="en-US" sz="1600" dirty="0"/>
          </a:p>
        </p:txBody>
      </p:sp>
      <p:sp>
        <p:nvSpPr>
          <p:cNvPr id="6" name="sketch tile"/>
          <p:cNvSpPr/>
          <p:nvPr/>
        </p:nvSpPr>
        <p:spPr>
          <a:xfrm>
            <a:off x="7315200" y="2331720"/>
            <a:ext cx="457200" cy="822960"/>
          </a:xfrm>
          <a:prstGeom prst="roundRect">
            <a:avLst>
              <a:gd name="adj" fmla="val 12000"/>
            </a:avLst>
          </a:prstGeom>
          <a:solidFill>
            <a:schemeClr val="accent1"/>
          </a:solidFill>
          <a:ln w="6350">
            <a:solidFill>
              <a:schemeClr val="accent1"/>
            </a:solidFill>
            <a:prstDash val="solid"/>
          </a:ln>
        </p:spPr>
      </p:sp>
      <p:sp>
        <p:nvSpPr>
          <p:cNvPr id="7" name="sketch tile"/>
          <p:cNvSpPr/>
          <p:nvPr/>
        </p:nvSpPr>
        <p:spPr>
          <a:xfrm>
            <a:off x="7909560" y="2423160"/>
            <a:ext cx="457200" cy="731520"/>
          </a:xfrm>
          <a:prstGeom prst="roundRect">
            <a:avLst>
              <a:gd name="adj" fmla="val 12000"/>
            </a:avLst>
          </a:prstGeom>
          <a:solidFill>
            <a:schemeClr val="accent1"/>
          </a:solidFill>
          <a:ln w="6350">
            <a:solidFill>
              <a:schemeClr val="accent1"/>
            </a:solidFill>
            <a:prstDash val="solid"/>
          </a:ln>
        </p:spPr>
      </p:sp>
      <p:sp>
        <p:nvSpPr>
          <p:cNvPr id="8" name="sketch tile"/>
          <p:cNvSpPr/>
          <p:nvPr/>
        </p:nvSpPr>
        <p:spPr>
          <a:xfrm>
            <a:off x="8503920" y="2514600"/>
            <a:ext cx="457200" cy="640080"/>
          </a:xfrm>
          <a:prstGeom prst="roundRect">
            <a:avLst>
              <a:gd name="adj" fmla="val 12000"/>
            </a:avLst>
          </a:prstGeom>
          <a:solidFill>
            <a:schemeClr val="accent1"/>
          </a:solidFill>
          <a:ln w="6350">
            <a:solidFill>
              <a:schemeClr val="accent1"/>
            </a:solidFill>
            <a:prstDash val="solid"/>
          </a:ln>
        </p:spPr>
      </p:sp>
      <p:sp>
        <p:nvSpPr>
          <p:cNvPr id="9" name="sketch tile"/>
          <p:cNvSpPr/>
          <p:nvPr/>
        </p:nvSpPr>
        <p:spPr>
          <a:xfrm>
            <a:off x="9098280" y="2606040"/>
            <a:ext cx="457200" cy="548640"/>
          </a:xfrm>
          <a:prstGeom prst="roundRect">
            <a:avLst>
              <a:gd name="adj" fmla="val 12000"/>
            </a:avLst>
          </a:prstGeom>
          <a:solidFill>
            <a:schemeClr val="accent1"/>
          </a:solidFill>
          <a:ln w="6350">
            <a:solidFill>
              <a:schemeClr val="accent1"/>
            </a:solidFill>
            <a:prstDash val="solid"/>
          </a:ln>
        </p:spPr>
      </p:sp>
      <p:sp>
        <p:nvSpPr>
          <p:cNvPr id="10" name="sketch tile"/>
          <p:cNvSpPr/>
          <p:nvPr/>
        </p:nvSpPr>
        <p:spPr>
          <a:xfrm>
            <a:off x="9692640" y="2697480"/>
            <a:ext cx="457200" cy="457200"/>
          </a:xfrm>
          <a:prstGeom prst="roundRect">
            <a:avLst>
              <a:gd name="adj" fmla="val 12000"/>
            </a:avLst>
          </a:prstGeom>
          <a:solidFill>
            <a:schemeClr val="accent1"/>
          </a:solidFill>
          <a:ln w="6350">
            <a:solidFill>
              <a:schemeClr val="accent1"/>
            </a:solidFill>
            <a:prstDash val="solid"/>
          </a:ln>
        </p:spPr>
      </p:sp>
      <p:sp>
        <p:nvSpPr>
          <p:cNvPr id="11" name="sketch tile"/>
          <p:cNvSpPr/>
          <p:nvPr/>
        </p:nvSpPr>
        <p:spPr>
          <a:xfrm>
            <a:off x="10287000" y="2788920"/>
            <a:ext cx="457200" cy="365760"/>
          </a:xfrm>
          <a:prstGeom prst="roundRect">
            <a:avLst>
              <a:gd name="adj" fmla="val 15000"/>
            </a:avLst>
          </a:prstGeom>
          <a:solidFill>
            <a:schemeClr val="accent1"/>
          </a:solidFill>
          <a:ln w="6350">
            <a:solidFill>
              <a:schemeClr val="accent1"/>
            </a:solidFill>
            <a:prstDash val="solid"/>
          </a:ln>
        </p:spPr>
      </p:sp>
      <p:sp>
        <p:nvSpPr>
          <p:cNvPr id="12" name="card"/>
          <p:cNvSpPr/>
          <p:nvPr/>
        </p:nvSpPr>
        <p:spPr>
          <a:xfrm>
            <a:off x="6949440" y="3474720"/>
            <a:ext cx="4663440" cy="1920240"/>
          </a:xfrm>
          <a:prstGeom prst="roundRect">
            <a:avLst>
              <a:gd name="adj" fmla="val 5714"/>
            </a:avLst>
          </a:prstGeom>
          <a:solidFill>
            <a:schemeClr val="bg2"/>
          </a:solidFill>
          <a:ln w="12700">
            <a:solidFill>
              <a:schemeClr val="bg2"/>
            </a:solidFill>
            <a:prstDash val="solid"/>
          </a:ln>
        </p:spPr>
      </p:sp>
      <p:sp>
        <p:nvSpPr>
          <p:cNvPr id="13" name="Text 10"/>
          <p:cNvSpPr txBox="1"/>
          <p:nvPr/>
        </p:nvSpPr>
        <p:spPr>
          <a:xfrm>
            <a:off x="7178040" y="3584448"/>
            <a:ext cx="4206240" cy="365760"/>
          </a:xfrm>
          <a:prstGeom prst="rect">
            <a:avLst/>
          </a:prstGeom>
          <a:noFill/>
          <a:ln/>
        </p:spPr>
        <p:txBody>
          <a:bodyPr wrap="square" lIns="0" tIns="0" rIns="0" bIns="0" rtlCol="0" anchor="t"/>
          <a:lstStyle/>
          <a:p>
            <a:pPr indent="0" marL="0">
              <a:buNone/>
            </a:pPr>
            <a:r>
              <a:rPr lang="en-US" sz="1600" b="1" dirty="0">
                <a:solidFill>
                  <a:schemeClr val="tx1"/>
                </a:solidFill>
                <a:latin typeface="Calibri" pitchFamily="34" charset="0"/>
                <a:ea typeface="Calibri" pitchFamily="34" charset="-122"/>
                <a:cs typeface="Calibri" pitchFamily="34" charset="-120"/>
              </a:rPr>
              <a:t>B: a few big payments faded</a:t>
            </a:r>
            <a:endParaRPr lang="en-US" sz="1600" dirty="0"/>
          </a:p>
        </p:txBody>
      </p:sp>
      <p:sp>
        <p:nvSpPr>
          <p:cNvPr id="14" name="sketch tile"/>
          <p:cNvSpPr/>
          <p:nvPr/>
        </p:nvSpPr>
        <p:spPr>
          <a:xfrm>
            <a:off x="7315200" y="4846320"/>
            <a:ext cx="457200" cy="411480"/>
          </a:xfrm>
          <a:prstGeom prst="roundRect">
            <a:avLst>
              <a:gd name="adj" fmla="val 13333"/>
            </a:avLst>
          </a:prstGeom>
          <a:solidFill>
            <a:schemeClr val="accent1"/>
          </a:solidFill>
          <a:ln w="6350">
            <a:solidFill>
              <a:schemeClr val="accent1"/>
            </a:solidFill>
            <a:prstDash val="solid"/>
          </a:ln>
        </p:spPr>
      </p:sp>
      <p:sp>
        <p:nvSpPr>
          <p:cNvPr id="15" name="sketch tile"/>
          <p:cNvSpPr/>
          <p:nvPr/>
        </p:nvSpPr>
        <p:spPr>
          <a:xfrm>
            <a:off x="7909560" y="4846320"/>
            <a:ext cx="457200" cy="411480"/>
          </a:xfrm>
          <a:prstGeom prst="roundRect">
            <a:avLst>
              <a:gd name="adj" fmla="val 13333"/>
            </a:avLst>
          </a:prstGeom>
          <a:solidFill>
            <a:schemeClr val="accent1"/>
          </a:solidFill>
          <a:ln w="6350">
            <a:solidFill>
              <a:schemeClr val="accent1"/>
            </a:solidFill>
            <a:prstDash val="solid"/>
          </a:ln>
        </p:spPr>
      </p:sp>
      <p:sp>
        <p:nvSpPr>
          <p:cNvPr id="16" name="sketch tile"/>
          <p:cNvSpPr/>
          <p:nvPr/>
        </p:nvSpPr>
        <p:spPr>
          <a:xfrm>
            <a:off x="8503920" y="4846320"/>
            <a:ext cx="457200" cy="411480"/>
          </a:xfrm>
          <a:prstGeom prst="roundRect">
            <a:avLst>
              <a:gd name="adj" fmla="val 13333"/>
            </a:avLst>
          </a:prstGeom>
          <a:solidFill>
            <a:schemeClr val="accent1"/>
          </a:solidFill>
          <a:ln w="6350">
            <a:solidFill>
              <a:schemeClr val="accent1"/>
            </a:solidFill>
            <a:prstDash val="solid"/>
          </a:ln>
        </p:spPr>
      </p:sp>
      <p:sp>
        <p:nvSpPr>
          <p:cNvPr id="17" name="sketch tile"/>
          <p:cNvSpPr/>
          <p:nvPr/>
        </p:nvSpPr>
        <p:spPr>
          <a:xfrm>
            <a:off x="9098280" y="4846320"/>
            <a:ext cx="457200" cy="411480"/>
          </a:xfrm>
          <a:prstGeom prst="roundRect">
            <a:avLst>
              <a:gd name="adj" fmla="val 13333"/>
            </a:avLst>
          </a:prstGeom>
          <a:solidFill>
            <a:schemeClr val="accent1"/>
          </a:solidFill>
          <a:ln w="6350">
            <a:solidFill>
              <a:schemeClr val="accent1"/>
            </a:solidFill>
            <a:prstDash val="solid"/>
          </a:ln>
        </p:spPr>
      </p:sp>
      <p:sp>
        <p:nvSpPr>
          <p:cNvPr id="18" name="sketch tile"/>
          <p:cNvSpPr/>
          <p:nvPr/>
        </p:nvSpPr>
        <p:spPr>
          <a:xfrm>
            <a:off x="9692640" y="4846320"/>
            <a:ext cx="457200" cy="411480"/>
          </a:xfrm>
          <a:prstGeom prst="roundRect">
            <a:avLst>
              <a:gd name="adj" fmla="val 13333"/>
            </a:avLst>
          </a:prstGeom>
          <a:solidFill>
            <a:schemeClr val="accent1"/>
          </a:solidFill>
          <a:ln w="6350">
            <a:solidFill>
              <a:schemeClr val="accent1"/>
            </a:solidFill>
            <a:prstDash val="solid"/>
          </a:ln>
        </p:spPr>
      </p:sp>
      <p:sp>
        <p:nvSpPr>
          <p:cNvPr id="19" name="sketch tile"/>
          <p:cNvSpPr/>
          <p:nvPr/>
        </p:nvSpPr>
        <p:spPr>
          <a:xfrm>
            <a:off x="10287000" y="4343400"/>
            <a:ext cx="457200" cy="914400"/>
          </a:xfrm>
          <a:prstGeom prst="roundRect">
            <a:avLst>
              <a:gd name="adj" fmla="val 12000"/>
            </a:avLst>
          </a:prstGeom>
          <a:solidFill>
            <a:schemeClr val="accent2">
              <a:alpha val="35000"/>
            </a:schemeClr>
          </a:solidFill>
          <a:ln w="19050">
            <a:solidFill>
              <a:schemeClr val="accent2"/>
            </a:solidFill>
            <a:prstDash val="dash"/>
          </a:ln>
        </p:spPr>
      </p:sp>
      <p:sp>
        <p:nvSpPr>
          <p:cNvPr id="20" name="Text 17"/>
          <p:cNvSpPr txBox="1"/>
          <p:nvPr/>
        </p:nvSpPr>
        <p:spPr>
          <a:xfrm>
            <a:off x="9784080" y="1508760"/>
            <a:ext cx="1645920" cy="274320"/>
          </a:xfrm>
          <a:prstGeom prst="rect">
            <a:avLst/>
          </a:prstGeom>
          <a:noFill/>
          <a:ln/>
        </p:spPr>
        <p:txBody>
          <a:bodyPr wrap="square" lIns="0" tIns="0" rIns="0" bIns="0" rtlCol="0" anchor="t"/>
          <a:lstStyle/>
          <a:p>
            <a:pPr algn="r" indent="0" marL="0">
              <a:buNone/>
            </a:pPr>
            <a:r>
              <a:rPr lang="en-US" sz="1000" dirty="0">
                <a:solidFill>
                  <a:schemeClr val="tx2"/>
                </a:solidFill>
                <a:latin typeface="Calibri" pitchFamily="34" charset="0"/>
                <a:ea typeface="Calibri" pitchFamily="34" charset="-122"/>
                <a:cs typeface="Calibri" pitchFamily="34" charset="-120"/>
              </a:rPr>
              <a:t>concept sketch, not data</a:t>
            </a:r>
            <a:endParaRPr lang="en-US" sz="1000" dirty="0"/>
          </a:p>
        </p:txBody>
      </p:sp>
      <p:sp>
        <p:nvSpPr>
          <p:cNvPr id="21" name="Text 18"/>
          <p:cNvSpPr txBox="1"/>
          <p:nvPr/>
        </p:nvSpPr>
        <p:spPr>
          <a:xfrm>
            <a:off x="9784080" y="3611880"/>
            <a:ext cx="1645920" cy="274320"/>
          </a:xfrm>
          <a:prstGeom prst="rect">
            <a:avLst/>
          </a:prstGeom>
          <a:noFill/>
          <a:ln/>
        </p:spPr>
        <p:txBody>
          <a:bodyPr wrap="square" lIns="0" tIns="0" rIns="0" bIns="0" rtlCol="0" anchor="t"/>
          <a:lstStyle/>
          <a:p>
            <a:pPr algn="r" indent="0" marL="0">
              <a:buNone/>
            </a:pPr>
            <a:r>
              <a:rPr lang="en-US" sz="1000" dirty="0">
                <a:solidFill>
                  <a:schemeClr val="tx2"/>
                </a:solidFill>
                <a:latin typeface="Calibri" pitchFamily="34" charset="0"/>
                <a:ea typeface="Calibri" pitchFamily="34" charset="-122"/>
                <a:cs typeface="Calibri" pitchFamily="34" charset="-120"/>
              </a:rPr>
              <a:t>concept sketch, not data</a:t>
            </a:r>
            <a:endParaRPr lang="en-US" sz="1000" dirty="0"/>
          </a:p>
        </p:txBody>
      </p:sp>
      <p:sp>
        <p:nvSpPr>
          <p:cNvPr id="22" name="takeaway"/>
          <p:cNvSpPr/>
          <p:nvPr/>
        </p:nvSpPr>
        <p:spPr>
          <a:xfrm>
            <a:off x="548640" y="5577840"/>
            <a:ext cx="11064240" cy="640080"/>
          </a:xfrm>
          <a:prstGeom prst="roundRect">
            <a:avLst>
              <a:gd name="adj" fmla="val 17143"/>
            </a:avLst>
          </a:prstGeom>
          <a:solidFill>
            <a:schemeClr val="bg2"/>
          </a:solidFill>
          <a:ln w="12700">
            <a:solidFill>
              <a:schemeClr val="bg2"/>
            </a:solidFill>
            <a:prstDash val="solid"/>
          </a:ln>
        </p:spPr>
      </p:sp>
      <p:sp>
        <p:nvSpPr>
          <p:cNvPr id="23" name="Text 20"/>
          <p:cNvSpPr txBox="1"/>
          <p:nvPr/>
        </p:nvSpPr>
        <p:spPr>
          <a:xfrm>
            <a:off x="777240" y="5715000"/>
            <a:ext cx="10607040" cy="365760"/>
          </a:xfrm>
          <a:prstGeom prst="rect">
            <a:avLst/>
          </a:prstGeom>
          <a:noFill/>
          <a:ln/>
        </p:spPr>
        <p:txBody>
          <a:bodyPr wrap="square" lIns="0" tIns="0" rIns="0" bIns="0" rtlCol="0" anchor="ctr"/>
          <a:lstStyle/>
          <a:p>
            <a:pPr indent="0" marL="0">
              <a:buNone/>
            </a:pPr>
            <a:r>
              <a:rPr lang="en-US" sz="1600" b="1" dirty="0">
                <a:solidFill>
                  <a:schemeClr val="accent3"/>
                </a:solidFill>
                <a:latin typeface="Calibri" pitchFamily="34" charset="0"/>
                <a:ea typeface="Calibri" pitchFamily="34" charset="-122"/>
                <a:cs typeface="Calibri" pitchFamily="34" charset="-120"/>
              </a:rPr>
              <a:t>The problem:  </a:t>
            </a:r>
            <a:pPr indent="0" marL="0">
              <a:buNone/>
            </a:pPr>
            <a:r>
              <a:rPr lang="en-US" sz="1600" dirty="0">
                <a:solidFill>
                  <a:schemeClr val="tx1"/>
                </a:solidFill>
                <a:latin typeface="Calibri" pitchFamily="34" charset="0"/>
                <a:ea typeface="Calibri" pitchFamily="34" charset="-122"/>
                <a:cs typeface="Calibri" pitchFamily="34" charset="-120"/>
              </a:rPr>
              <a:t>the reports cannot tell story A from story B.</a:t>
            </a:r>
            <a:endParaRPr lang="en-US" sz="1600" dirty="0"/>
          </a:p>
        </p:txBody>
      </p:sp>
      <p:sp>
        <p:nvSpPr>
          <p:cNvPr id="25"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lIns="0" tIns="0" rIns="0" bIns="0" rtlCol="0" anchor="ctr"/>
          <a:lstStyle/>
          <a:p>
            <a:pPr algn="l" indent="0" marL="0">
              <a:buNone/>
            </a:pPr>
            <a:r>
              <a:rPr lang="en-US" sz="2800" b="1" dirty="0">
                <a:solidFill>
                  <a:schemeClr val="tx1"/>
                </a:solidFill>
              </a:rPr>
              <a:t>Why the average alone can mislead</a:t>
            </a:r>
            <a:endParaRPr lang="en-US" sz="2800" dirty="0"/>
          </a:p>
        </p:txBody>
      </p:sp>
      <p:sp>
        <p:nvSpPr>
          <p:cNvPr id="3" name="data marker"/>
          <p:cNvSpPr/>
          <p:nvPr/>
        </p:nvSpPr>
        <p:spPr>
          <a:xfrm>
            <a:off x="548640" y="1280160"/>
            <a:ext cx="6583680" cy="347472"/>
          </a:xfrm>
          <a:prstGeom prst="roundRect">
            <a:avLst>
              <a:gd name="adj" fmla="val 21053"/>
            </a:avLst>
          </a:prstGeom>
          <a:solidFill>
            <a:schemeClr val="accent2"/>
          </a:solidFill>
          <a:ln w="12700">
            <a:solidFill>
              <a:schemeClr val="accent2"/>
            </a:solidFill>
            <a:prstDash val="solid"/>
          </a:ln>
        </p:spPr>
      </p:sp>
      <p:sp>
        <p:nvSpPr>
          <p:cNvPr id="4" name="Text 2"/>
          <p:cNvSpPr txBox="1"/>
          <p:nvPr/>
        </p:nvSpPr>
        <p:spPr>
          <a:xfrm>
            <a:off x="548640" y="1280160"/>
            <a:ext cx="6583680" cy="347472"/>
          </a:xfrm>
          <a:prstGeom prst="rect">
            <a:avLst/>
          </a:prstGeom>
          <a:noFill/>
          <a:ln/>
        </p:spPr>
        <p:txBody>
          <a:bodyPr wrap="square" lIns="0" tIns="0" rIns="0" bIns="0" rtlCol="0" anchor="ctr"/>
          <a:lstStyle/>
          <a:p>
            <a:pPr algn="ctr" indent="0" marL="0">
              <a:buNone/>
            </a:pPr>
            <a:r>
              <a:rPr lang="en-US" sz="1100" b="1" dirty="0">
                <a:solidFill>
                  <a:schemeClr val="tx1"/>
                </a:solidFill>
                <a:latin typeface="Calibri" pitchFamily="34" charset="0"/>
                <a:ea typeface="Calibri" pitchFamily="34" charset="-122"/>
                <a:cs typeface="Calibri" pitchFamily="34" charset="-120"/>
              </a:rPr>
              <a:t>ILLUSTRATIVE: 10 invented payments, not JoPACC data</a:t>
            </a:r>
            <a:endParaRPr lang="en-US" sz="1100" dirty="0"/>
          </a:p>
        </p:txBody>
      </p:sp>
      <p:sp>
        <p:nvSpPr>
          <p:cNvPr id="5" name="Text 3"/>
          <p:cNvSpPr txBox="1"/>
          <p:nvPr/>
        </p:nvSpPr>
        <p:spPr>
          <a:xfrm>
            <a:off x="548640" y="1691640"/>
            <a:ext cx="4846320" cy="365760"/>
          </a:xfrm>
          <a:prstGeom prst="rect">
            <a:avLst/>
          </a:prstGeom>
          <a:noFill/>
          <a:ln/>
        </p:spPr>
        <p:txBody>
          <a:bodyPr wrap="square" lIns="0" tIns="0" rIns="0" bIns="0" rtlCol="0" anchor="t"/>
          <a:lstStyle/>
          <a:p>
            <a:pPr indent="0" marL="0">
              <a:buNone/>
            </a:pPr>
            <a:r>
              <a:rPr lang="en-US" sz="1800" b="1" dirty="0">
                <a:solidFill>
                  <a:schemeClr val="tx1"/>
                </a:solidFill>
                <a:latin typeface="Calibri" pitchFamily="34" charset="0"/>
                <a:ea typeface="Calibri" pitchFamily="34" charset="-122"/>
                <a:cs typeface="Calibri" pitchFamily="34" charset="-120"/>
              </a:rPr>
              <a:t>Year 1</a:t>
            </a:r>
            <a:endParaRPr lang="en-US" sz="1800" dirty="0"/>
          </a:p>
        </p:txBody>
      </p:sp>
      <p:sp>
        <p:nvSpPr>
          <p:cNvPr id="6" name="small payment"/>
          <p:cNvSpPr/>
          <p:nvPr/>
        </p:nvSpPr>
        <p:spPr>
          <a:xfrm>
            <a:off x="548640" y="2889504"/>
            <a:ext cx="310896" cy="310896"/>
          </a:xfrm>
          <a:prstGeom prst="ellipse">
            <a:avLst/>
          </a:prstGeom>
          <a:solidFill>
            <a:schemeClr val="accent1"/>
          </a:solidFill>
          <a:ln w="12700">
            <a:solidFill>
              <a:schemeClr val="accent1"/>
            </a:solidFill>
            <a:prstDash val="solid"/>
          </a:ln>
        </p:spPr>
      </p:sp>
      <p:sp>
        <p:nvSpPr>
          <p:cNvPr id="7" name="small payment"/>
          <p:cNvSpPr/>
          <p:nvPr/>
        </p:nvSpPr>
        <p:spPr>
          <a:xfrm>
            <a:off x="923544" y="2889504"/>
            <a:ext cx="310896" cy="310896"/>
          </a:xfrm>
          <a:prstGeom prst="ellipse">
            <a:avLst/>
          </a:prstGeom>
          <a:solidFill>
            <a:schemeClr val="accent1"/>
          </a:solidFill>
          <a:ln w="12700">
            <a:solidFill>
              <a:schemeClr val="accent1"/>
            </a:solidFill>
            <a:prstDash val="solid"/>
          </a:ln>
        </p:spPr>
      </p:sp>
      <p:sp>
        <p:nvSpPr>
          <p:cNvPr id="8" name="small payment"/>
          <p:cNvSpPr/>
          <p:nvPr/>
        </p:nvSpPr>
        <p:spPr>
          <a:xfrm>
            <a:off x="1298448" y="2889504"/>
            <a:ext cx="310896" cy="310896"/>
          </a:xfrm>
          <a:prstGeom prst="ellipse">
            <a:avLst/>
          </a:prstGeom>
          <a:solidFill>
            <a:schemeClr val="accent1"/>
          </a:solidFill>
          <a:ln w="12700">
            <a:solidFill>
              <a:schemeClr val="accent1"/>
            </a:solidFill>
            <a:prstDash val="solid"/>
          </a:ln>
        </p:spPr>
      </p:sp>
      <p:sp>
        <p:nvSpPr>
          <p:cNvPr id="9" name="small payment"/>
          <p:cNvSpPr/>
          <p:nvPr/>
        </p:nvSpPr>
        <p:spPr>
          <a:xfrm>
            <a:off x="1673352" y="2889504"/>
            <a:ext cx="310896" cy="310896"/>
          </a:xfrm>
          <a:prstGeom prst="ellipse">
            <a:avLst/>
          </a:prstGeom>
          <a:solidFill>
            <a:schemeClr val="accent1"/>
          </a:solidFill>
          <a:ln w="12700">
            <a:solidFill>
              <a:schemeClr val="accent1"/>
            </a:solidFill>
            <a:prstDash val="solid"/>
          </a:ln>
        </p:spPr>
      </p:sp>
      <p:sp>
        <p:nvSpPr>
          <p:cNvPr id="10" name="small payment"/>
          <p:cNvSpPr/>
          <p:nvPr/>
        </p:nvSpPr>
        <p:spPr>
          <a:xfrm>
            <a:off x="2048256" y="2889504"/>
            <a:ext cx="310896" cy="310896"/>
          </a:xfrm>
          <a:prstGeom prst="ellipse">
            <a:avLst/>
          </a:prstGeom>
          <a:solidFill>
            <a:schemeClr val="accent1"/>
          </a:solidFill>
          <a:ln w="12700">
            <a:solidFill>
              <a:schemeClr val="accent1"/>
            </a:solidFill>
            <a:prstDash val="solid"/>
          </a:ln>
        </p:spPr>
      </p:sp>
      <p:sp>
        <p:nvSpPr>
          <p:cNvPr id="11" name="small payment"/>
          <p:cNvSpPr/>
          <p:nvPr/>
        </p:nvSpPr>
        <p:spPr>
          <a:xfrm>
            <a:off x="2423160" y="2889504"/>
            <a:ext cx="310896" cy="310896"/>
          </a:xfrm>
          <a:prstGeom prst="ellipse">
            <a:avLst/>
          </a:prstGeom>
          <a:solidFill>
            <a:schemeClr val="accent1"/>
          </a:solidFill>
          <a:ln w="12700">
            <a:solidFill>
              <a:schemeClr val="accent1"/>
            </a:solidFill>
            <a:prstDash val="solid"/>
          </a:ln>
        </p:spPr>
      </p:sp>
      <p:sp>
        <p:nvSpPr>
          <p:cNvPr id="12" name="small payment"/>
          <p:cNvSpPr/>
          <p:nvPr/>
        </p:nvSpPr>
        <p:spPr>
          <a:xfrm>
            <a:off x="2798064" y="2889504"/>
            <a:ext cx="310896" cy="310896"/>
          </a:xfrm>
          <a:prstGeom prst="ellipse">
            <a:avLst/>
          </a:prstGeom>
          <a:solidFill>
            <a:schemeClr val="accent1"/>
          </a:solidFill>
          <a:ln w="12700">
            <a:solidFill>
              <a:schemeClr val="accent1"/>
            </a:solidFill>
            <a:prstDash val="solid"/>
          </a:ln>
        </p:spPr>
      </p:sp>
      <p:sp>
        <p:nvSpPr>
          <p:cNvPr id="13" name="small payment"/>
          <p:cNvSpPr/>
          <p:nvPr/>
        </p:nvSpPr>
        <p:spPr>
          <a:xfrm>
            <a:off x="3172968" y="2889504"/>
            <a:ext cx="310896" cy="310896"/>
          </a:xfrm>
          <a:prstGeom prst="ellipse">
            <a:avLst/>
          </a:prstGeom>
          <a:solidFill>
            <a:schemeClr val="accent1"/>
          </a:solidFill>
          <a:ln w="12700">
            <a:solidFill>
              <a:schemeClr val="accent1"/>
            </a:solidFill>
            <a:prstDash val="solid"/>
          </a:ln>
        </p:spPr>
      </p:sp>
      <p:sp>
        <p:nvSpPr>
          <p:cNvPr id="14" name="small payment"/>
          <p:cNvSpPr/>
          <p:nvPr/>
        </p:nvSpPr>
        <p:spPr>
          <a:xfrm>
            <a:off x="3547872" y="2889504"/>
            <a:ext cx="310896" cy="310896"/>
          </a:xfrm>
          <a:prstGeom prst="ellipse">
            <a:avLst/>
          </a:prstGeom>
          <a:solidFill>
            <a:schemeClr val="accent1"/>
          </a:solidFill>
          <a:ln w="12700">
            <a:solidFill>
              <a:schemeClr val="accent1"/>
            </a:solidFill>
            <a:prstDash val="solid"/>
          </a:ln>
        </p:spPr>
      </p:sp>
      <p:sp>
        <p:nvSpPr>
          <p:cNvPr id="15" name="large payment"/>
          <p:cNvSpPr/>
          <p:nvPr/>
        </p:nvSpPr>
        <p:spPr>
          <a:xfrm>
            <a:off x="4206240" y="2011680"/>
            <a:ext cx="1188720" cy="1188720"/>
          </a:xfrm>
          <a:prstGeom prst="ellipse">
            <a:avLst/>
          </a:prstGeom>
          <a:solidFill>
            <a:schemeClr val="accent2"/>
          </a:solidFill>
          <a:ln w="12700">
            <a:solidFill>
              <a:schemeClr val="accent2"/>
            </a:solidFill>
            <a:prstDash val="solid"/>
          </a:ln>
        </p:spPr>
      </p:sp>
      <p:sp>
        <p:nvSpPr>
          <p:cNvPr id="16" name="Text 14"/>
          <p:cNvSpPr txBox="1"/>
          <p:nvPr/>
        </p:nvSpPr>
        <p:spPr>
          <a:xfrm>
            <a:off x="4206240" y="2011680"/>
            <a:ext cx="1188720" cy="1188720"/>
          </a:xfrm>
          <a:prstGeom prst="rect">
            <a:avLst/>
          </a:prstGeom>
          <a:noFill/>
          <a:ln/>
        </p:spPr>
        <p:txBody>
          <a:bodyPr wrap="square" lIns="0" tIns="0" rIns="0" bIns="0" rtlCol="0" anchor="ctr"/>
          <a:lstStyle/>
          <a:p>
            <a:pPr algn="ctr" indent="0" marL="0">
              <a:buNone/>
            </a:pPr>
            <a:r>
              <a:rPr lang="en-US" sz="1600" b="1" dirty="0">
                <a:solidFill>
                  <a:schemeClr val="tx1"/>
                </a:solidFill>
                <a:latin typeface="Calibri" pitchFamily="34" charset="0"/>
                <a:ea typeface="Calibri" pitchFamily="34" charset="-122"/>
                <a:cs typeface="Calibri" pitchFamily="34" charset="-120"/>
              </a:rPr>
              <a:t>2,000</a:t>
            </a:r>
            <a:endParaRPr lang="en-US" sz="1600" dirty="0"/>
          </a:p>
        </p:txBody>
      </p:sp>
      <p:sp>
        <p:nvSpPr>
          <p:cNvPr id="17" name="Text 15"/>
          <p:cNvSpPr txBox="1"/>
          <p:nvPr/>
        </p:nvSpPr>
        <p:spPr>
          <a:xfrm>
            <a:off x="548640" y="3246120"/>
            <a:ext cx="3291840" cy="274320"/>
          </a:xfrm>
          <a:prstGeom prst="rect">
            <a:avLst/>
          </a:prstGeom>
          <a:noFill/>
          <a:ln/>
        </p:spPr>
        <p:txBody>
          <a:bodyPr wrap="square" lIns="0" tIns="0" rIns="0" bIns="0" rtlCol="0" anchor="t"/>
          <a:lstStyle/>
          <a:p>
            <a:pPr indent="0" marL="0">
              <a:buNone/>
            </a:pPr>
            <a:r>
              <a:rPr lang="en-US" sz="1200" dirty="0">
                <a:solidFill>
                  <a:schemeClr val="tx2"/>
                </a:solidFill>
                <a:latin typeface="Calibri" pitchFamily="34" charset="0"/>
                <a:ea typeface="Calibri" pitchFamily="34" charset="-122"/>
                <a:cs typeface="Calibri" pitchFamily="34" charset="-120"/>
              </a:rPr>
              <a:t>9 payments: 20 to 95 JOD</a:t>
            </a:r>
            <a:endParaRPr lang="en-US" sz="1200" dirty="0"/>
          </a:p>
        </p:txBody>
      </p:sp>
      <p:sp>
        <p:nvSpPr>
          <p:cNvPr id="18" name="card"/>
          <p:cNvSpPr/>
          <p:nvPr/>
        </p:nvSpPr>
        <p:spPr>
          <a:xfrm>
            <a:off x="548640" y="3611880"/>
            <a:ext cx="4846320" cy="868680"/>
          </a:xfrm>
          <a:prstGeom prst="roundRect">
            <a:avLst>
              <a:gd name="adj" fmla="val 12632"/>
            </a:avLst>
          </a:prstGeom>
          <a:solidFill>
            <a:schemeClr val="bg2"/>
          </a:solidFill>
          <a:ln w="12700">
            <a:solidFill>
              <a:schemeClr val="bg2"/>
            </a:solidFill>
            <a:prstDash val="solid"/>
          </a:ln>
        </p:spPr>
      </p:sp>
      <p:sp>
        <p:nvSpPr>
          <p:cNvPr id="19" name="Text 17"/>
          <p:cNvSpPr txBox="1"/>
          <p:nvPr/>
        </p:nvSpPr>
        <p:spPr>
          <a:xfrm>
            <a:off x="777240" y="3657600"/>
            <a:ext cx="1828800" cy="274320"/>
          </a:xfrm>
          <a:prstGeom prst="rect">
            <a:avLst/>
          </a:prstGeom>
          <a:noFill/>
          <a:ln/>
        </p:spPr>
        <p:txBody>
          <a:bodyPr wrap="square" lIns="0" tIns="0" rIns="0" bIns="0" rtlCol="0" anchor="t"/>
          <a:lstStyle/>
          <a:p>
            <a:pPr indent="0" marL="0">
              <a:buNone/>
            </a:pPr>
            <a:r>
              <a:rPr lang="en-US" sz="1300" dirty="0">
                <a:solidFill>
                  <a:schemeClr val="tx2"/>
                </a:solidFill>
                <a:latin typeface="Calibri" pitchFamily="34" charset="0"/>
                <a:ea typeface="Calibri" pitchFamily="34" charset="-122"/>
                <a:cs typeface="Calibri" pitchFamily="34" charset="-120"/>
              </a:rPr>
              <a:t>Average</a:t>
            </a:r>
            <a:endParaRPr lang="en-US" sz="1300" dirty="0"/>
          </a:p>
        </p:txBody>
      </p:sp>
      <p:sp>
        <p:nvSpPr>
          <p:cNvPr id="20" name="Text 18"/>
          <p:cNvSpPr txBox="1"/>
          <p:nvPr/>
        </p:nvSpPr>
        <p:spPr>
          <a:xfrm>
            <a:off x="777240" y="3913632"/>
            <a:ext cx="4389120" cy="502920"/>
          </a:xfrm>
          <a:prstGeom prst="rect">
            <a:avLst/>
          </a:prstGeom>
          <a:noFill/>
          <a:ln/>
        </p:spPr>
        <p:txBody>
          <a:bodyPr wrap="square" lIns="0" tIns="0" rIns="0" bIns="0" rtlCol="0" anchor="ctr"/>
          <a:lstStyle/>
          <a:p>
            <a:pPr indent="0" marL="0">
              <a:buNone/>
            </a:pPr>
            <a:r>
              <a:rPr lang="en-US" sz="2800" b="1" dirty="0">
                <a:solidFill>
                  <a:schemeClr val="tx1"/>
                </a:solidFill>
                <a:latin typeface="Calibri" pitchFamily="34" charset="0"/>
                <a:ea typeface="Calibri" pitchFamily="34" charset="-122"/>
                <a:cs typeface="Calibri" pitchFamily="34" charset="-120"/>
              </a:rPr>
              <a:t>253.5 JOD</a:t>
            </a:r>
            <a:endParaRPr lang="en-US" sz="2800" dirty="0"/>
          </a:p>
        </p:txBody>
      </p:sp>
      <p:sp>
        <p:nvSpPr>
          <p:cNvPr id="21" name="card"/>
          <p:cNvSpPr/>
          <p:nvPr/>
        </p:nvSpPr>
        <p:spPr>
          <a:xfrm>
            <a:off x="548640" y="4572000"/>
            <a:ext cx="4846320" cy="868680"/>
          </a:xfrm>
          <a:prstGeom prst="roundRect">
            <a:avLst>
              <a:gd name="adj" fmla="val 12632"/>
            </a:avLst>
          </a:prstGeom>
          <a:solidFill>
            <a:schemeClr val="bg2"/>
          </a:solidFill>
          <a:ln w="12700">
            <a:solidFill>
              <a:schemeClr val="bg2"/>
            </a:solidFill>
            <a:prstDash val="solid"/>
          </a:ln>
        </p:spPr>
      </p:sp>
      <p:sp>
        <p:nvSpPr>
          <p:cNvPr id="22" name="Text 20"/>
          <p:cNvSpPr txBox="1"/>
          <p:nvPr/>
        </p:nvSpPr>
        <p:spPr>
          <a:xfrm>
            <a:off x="777240" y="4617720"/>
            <a:ext cx="2743200" cy="274320"/>
          </a:xfrm>
          <a:prstGeom prst="rect">
            <a:avLst/>
          </a:prstGeom>
          <a:noFill/>
          <a:ln/>
        </p:spPr>
        <p:txBody>
          <a:bodyPr wrap="square" lIns="0" tIns="0" rIns="0" bIns="0" rtlCol="0" anchor="t"/>
          <a:lstStyle/>
          <a:p>
            <a:pPr indent="0" marL="0">
              <a:buNone/>
            </a:pPr>
            <a:r>
              <a:rPr lang="en-US" sz="1300" dirty="0">
                <a:solidFill>
                  <a:schemeClr val="tx2"/>
                </a:solidFill>
                <a:latin typeface="Calibri" pitchFamily="34" charset="0"/>
                <a:ea typeface="Calibri" pitchFamily="34" charset="-122"/>
                <a:cs typeface="Calibri" pitchFamily="34" charset="-120"/>
              </a:rPr>
              <a:t>Most frequent range</a:t>
            </a:r>
            <a:endParaRPr lang="en-US" sz="1300" dirty="0"/>
          </a:p>
        </p:txBody>
      </p:sp>
      <p:sp>
        <p:nvSpPr>
          <p:cNvPr id="23" name="Text 21"/>
          <p:cNvSpPr txBox="1"/>
          <p:nvPr/>
        </p:nvSpPr>
        <p:spPr>
          <a:xfrm>
            <a:off x="777240" y="4873752"/>
            <a:ext cx="4389120" cy="502920"/>
          </a:xfrm>
          <a:prstGeom prst="rect">
            <a:avLst/>
          </a:prstGeom>
          <a:noFill/>
          <a:ln/>
        </p:spPr>
        <p:txBody>
          <a:bodyPr wrap="square" lIns="0" tIns="0" rIns="0" bIns="0" rtlCol="0" anchor="ctr"/>
          <a:lstStyle/>
          <a:p>
            <a:pPr indent="0" marL="0">
              <a:buNone/>
            </a:pPr>
            <a:r>
              <a:rPr lang="en-US" sz="2800" b="1" dirty="0">
                <a:solidFill>
                  <a:srgbClr val="2E8B63"/>
                </a:solidFill>
                <a:latin typeface="Calibri" pitchFamily="34" charset="0"/>
                <a:ea typeface="Calibri" pitchFamily="34" charset="-122"/>
                <a:cs typeface="Calibri" pitchFamily="34" charset="-120"/>
              </a:rPr>
              <a:t>1-100 JOD</a:t>
            </a:r>
            <a:pPr indent="0" marL="0">
              <a:buNone/>
            </a:pPr>
            <a:r>
              <a:rPr lang="en-US" sz="1400" dirty="0">
                <a:solidFill>
                  <a:schemeClr val="tx2"/>
                </a:solidFill>
                <a:latin typeface="Calibri" pitchFamily="34" charset="0"/>
                <a:ea typeface="Calibri" pitchFamily="34" charset="-122"/>
                <a:cs typeface="Calibri" pitchFamily="34" charset="-120"/>
              </a:rPr>
              <a:t>   9 of 10 payments</a:t>
            </a:r>
            <a:endParaRPr lang="en-US" sz="2800" dirty="0"/>
          </a:p>
        </p:txBody>
      </p:sp>
      <p:sp>
        <p:nvSpPr>
          <p:cNvPr id="24" name="Text 22"/>
          <p:cNvSpPr txBox="1"/>
          <p:nvPr/>
        </p:nvSpPr>
        <p:spPr>
          <a:xfrm>
            <a:off x="6766560" y="1691640"/>
            <a:ext cx="4846320" cy="365760"/>
          </a:xfrm>
          <a:prstGeom prst="rect">
            <a:avLst/>
          </a:prstGeom>
          <a:noFill/>
          <a:ln/>
        </p:spPr>
        <p:txBody>
          <a:bodyPr wrap="square" lIns="0" tIns="0" rIns="0" bIns="0" rtlCol="0" anchor="t"/>
          <a:lstStyle/>
          <a:p>
            <a:pPr indent="0" marL="0">
              <a:buNone/>
            </a:pPr>
            <a:r>
              <a:rPr lang="en-US" sz="1800" b="1" dirty="0">
                <a:solidFill>
                  <a:schemeClr val="tx1"/>
                </a:solidFill>
                <a:latin typeface="Calibri" pitchFamily="34" charset="0"/>
                <a:ea typeface="Calibri" pitchFamily="34" charset="-122"/>
                <a:cs typeface="Calibri" pitchFamily="34" charset="-120"/>
              </a:rPr>
              <a:t>Year 2: the large payment shrinks</a:t>
            </a:r>
            <a:endParaRPr lang="en-US" sz="1800" dirty="0"/>
          </a:p>
        </p:txBody>
      </p:sp>
      <p:sp>
        <p:nvSpPr>
          <p:cNvPr id="25" name="small payment"/>
          <p:cNvSpPr/>
          <p:nvPr/>
        </p:nvSpPr>
        <p:spPr>
          <a:xfrm>
            <a:off x="6766560" y="2889504"/>
            <a:ext cx="310896" cy="310896"/>
          </a:xfrm>
          <a:prstGeom prst="ellipse">
            <a:avLst/>
          </a:prstGeom>
          <a:solidFill>
            <a:schemeClr val="accent1"/>
          </a:solidFill>
          <a:ln w="12700">
            <a:solidFill>
              <a:schemeClr val="accent1"/>
            </a:solidFill>
            <a:prstDash val="solid"/>
          </a:ln>
        </p:spPr>
      </p:sp>
      <p:sp>
        <p:nvSpPr>
          <p:cNvPr id="26" name="small payment"/>
          <p:cNvSpPr/>
          <p:nvPr/>
        </p:nvSpPr>
        <p:spPr>
          <a:xfrm>
            <a:off x="7141464" y="2889504"/>
            <a:ext cx="310896" cy="310896"/>
          </a:xfrm>
          <a:prstGeom prst="ellipse">
            <a:avLst/>
          </a:prstGeom>
          <a:solidFill>
            <a:schemeClr val="accent1"/>
          </a:solidFill>
          <a:ln w="12700">
            <a:solidFill>
              <a:schemeClr val="accent1"/>
            </a:solidFill>
            <a:prstDash val="solid"/>
          </a:ln>
        </p:spPr>
      </p:sp>
      <p:sp>
        <p:nvSpPr>
          <p:cNvPr id="27" name="small payment"/>
          <p:cNvSpPr/>
          <p:nvPr/>
        </p:nvSpPr>
        <p:spPr>
          <a:xfrm>
            <a:off x="7516368" y="2889504"/>
            <a:ext cx="310896" cy="310896"/>
          </a:xfrm>
          <a:prstGeom prst="ellipse">
            <a:avLst/>
          </a:prstGeom>
          <a:solidFill>
            <a:schemeClr val="accent1"/>
          </a:solidFill>
          <a:ln w="12700">
            <a:solidFill>
              <a:schemeClr val="accent1"/>
            </a:solidFill>
            <a:prstDash val="solid"/>
          </a:ln>
        </p:spPr>
      </p:sp>
      <p:sp>
        <p:nvSpPr>
          <p:cNvPr id="28" name="small payment"/>
          <p:cNvSpPr/>
          <p:nvPr/>
        </p:nvSpPr>
        <p:spPr>
          <a:xfrm>
            <a:off x="7891272" y="2889504"/>
            <a:ext cx="310896" cy="310896"/>
          </a:xfrm>
          <a:prstGeom prst="ellipse">
            <a:avLst/>
          </a:prstGeom>
          <a:solidFill>
            <a:schemeClr val="accent1"/>
          </a:solidFill>
          <a:ln w="12700">
            <a:solidFill>
              <a:schemeClr val="accent1"/>
            </a:solidFill>
            <a:prstDash val="solid"/>
          </a:ln>
        </p:spPr>
      </p:sp>
      <p:sp>
        <p:nvSpPr>
          <p:cNvPr id="29" name="small payment"/>
          <p:cNvSpPr/>
          <p:nvPr/>
        </p:nvSpPr>
        <p:spPr>
          <a:xfrm>
            <a:off x="8266176" y="2889504"/>
            <a:ext cx="310896" cy="310896"/>
          </a:xfrm>
          <a:prstGeom prst="ellipse">
            <a:avLst/>
          </a:prstGeom>
          <a:solidFill>
            <a:schemeClr val="accent1"/>
          </a:solidFill>
          <a:ln w="12700">
            <a:solidFill>
              <a:schemeClr val="accent1"/>
            </a:solidFill>
            <a:prstDash val="solid"/>
          </a:ln>
        </p:spPr>
      </p:sp>
      <p:sp>
        <p:nvSpPr>
          <p:cNvPr id="30" name="small payment"/>
          <p:cNvSpPr/>
          <p:nvPr/>
        </p:nvSpPr>
        <p:spPr>
          <a:xfrm>
            <a:off x="8641080" y="2889504"/>
            <a:ext cx="310896" cy="310896"/>
          </a:xfrm>
          <a:prstGeom prst="ellipse">
            <a:avLst/>
          </a:prstGeom>
          <a:solidFill>
            <a:schemeClr val="accent1"/>
          </a:solidFill>
          <a:ln w="12700">
            <a:solidFill>
              <a:schemeClr val="accent1"/>
            </a:solidFill>
            <a:prstDash val="solid"/>
          </a:ln>
        </p:spPr>
      </p:sp>
      <p:sp>
        <p:nvSpPr>
          <p:cNvPr id="31" name="small payment"/>
          <p:cNvSpPr/>
          <p:nvPr/>
        </p:nvSpPr>
        <p:spPr>
          <a:xfrm>
            <a:off x="9015984" y="2889504"/>
            <a:ext cx="310896" cy="310896"/>
          </a:xfrm>
          <a:prstGeom prst="ellipse">
            <a:avLst/>
          </a:prstGeom>
          <a:solidFill>
            <a:schemeClr val="accent1"/>
          </a:solidFill>
          <a:ln w="12700">
            <a:solidFill>
              <a:schemeClr val="accent1"/>
            </a:solidFill>
            <a:prstDash val="solid"/>
          </a:ln>
        </p:spPr>
      </p:sp>
      <p:sp>
        <p:nvSpPr>
          <p:cNvPr id="32" name="small payment"/>
          <p:cNvSpPr/>
          <p:nvPr/>
        </p:nvSpPr>
        <p:spPr>
          <a:xfrm>
            <a:off x="9390888" y="2889504"/>
            <a:ext cx="310896" cy="310896"/>
          </a:xfrm>
          <a:prstGeom prst="ellipse">
            <a:avLst/>
          </a:prstGeom>
          <a:solidFill>
            <a:schemeClr val="accent1"/>
          </a:solidFill>
          <a:ln w="12700">
            <a:solidFill>
              <a:schemeClr val="accent1"/>
            </a:solidFill>
            <a:prstDash val="solid"/>
          </a:ln>
        </p:spPr>
      </p:sp>
      <p:sp>
        <p:nvSpPr>
          <p:cNvPr id="33" name="small payment"/>
          <p:cNvSpPr/>
          <p:nvPr/>
        </p:nvSpPr>
        <p:spPr>
          <a:xfrm>
            <a:off x="9765792" y="2889504"/>
            <a:ext cx="310896" cy="310896"/>
          </a:xfrm>
          <a:prstGeom prst="ellipse">
            <a:avLst/>
          </a:prstGeom>
          <a:solidFill>
            <a:schemeClr val="accent1"/>
          </a:solidFill>
          <a:ln w="12700">
            <a:solidFill>
              <a:schemeClr val="accent1"/>
            </a:solidFill>
            <a:prstDash val="solid"/>
          </a:ln>
        </p:spPr>
      </p:sp>
      <p:sp>
        <p:nvSpPr>
          <p:cNvPr id="34" name="large payment"/>
          <p:cNvSpPr/>
          <p:nvPr/>
        </p:nvSpPr>
        <p:spPr>
          <a:xfrm>
            <a:off x="11109960" y="2697480"/>
            <a:ext cx="502920" cy="502920"/>
          </a:xfrm>
          <a:prstGeom prst="ellipse">
            <a:avLst/>
          </a:prstGeom>
          <a:solidFill>
            <a:schemeClr val="accent2"/>
          </a:solidFill>
          <a:ln w="12700">
            <a:solidFill>
              <a:schemeClr val="accent2"/>
            </a:solidFill>
            <a:prstDash val="solid"/>
          </a:ln>
        </p:spPr>
      </p:sp>
      <p:sp>
        <p:nvSpPr>
          <p:cNvPr id="35" name="Text 33"/>
          <p:cNvSpPr txBox="1"/>
          <p:nvPr/>
        </p:nvSpPr>
        <p:spPr>
          <a:xfrm>
            <a:off x="11109960" y="2697480"/>
            <a:ext cx="502920" cy="502920"/>
          </a:xfrm>
          <a:prstGeom prst="rect">
            <a:avLst/>
          </a:prstGeom>
          <a:noFill/>
          <a:ln/>
        </p:spPr>
        <p:txBody>
          <a:bodyPr wrap="square" lIns="0" tIns="0" rIns="0" bIns="0" rtlCol="0" anchor="ctr"/>
          <a:lstStyle/>
          <a:p>
            <a:pPr algn="ctr" indent="0" marL="0">
              <a:buNone/>
            </a:pPr>
            <a:r>
              <a:rPr lang="en-US" sz="1200" b="1" dirty="0">
                <a:solidFill>
                  <a:schemeClr val="tx1"/>
                </a:solidFill>
                <a:latin typeface="Calibri" pitchFamily="34" charset="0"/>
                <a:ea typeface="Calibri" pitchFamily="34" charset="-122"/>
                <a:cs typeface="Calibri" pitchFamily="34" charset="-120"/>
              </a:rPr>
              <a:t>300</a:t>
            </a:r>
            <a:endParaRPr lang="en-US" sz="1200" dirty="0"/>
          </a:p>
        </p:txBody>
      </p:sp>
      <p:sp>
        <p:nvSpPr>
          <p:cNvPr id="36" name="Text 34"/>
          <p:cNvSpPr txBox="1"/>
          <p:nvPr/>
        </p:nvSpPr>
        <p:spPr>
          <a:xfrm>
            <a:off x="6766560" y="3246120"/>
            <a:ext cx="3291840" cy="274320"/>
          </a:xfrm>
          <a:prstGeom prst="rect">
            <a:avLst/>
          </a:prstGeom>
          <a:noFill/>
          <a:ln/>
        </p:spPr>
        <p:txBody>
          <a:bodyPr wrap="square" lIns="0" tIns="0" rIns="0" bIns="0" rtlCol="0" anchor="t"/>
          <a:lstStyle/>
          <a:p>
            <a:pPr indent="0" marL="0">
              <a:buNone/>
            </a:pPr>
            <a:r>
              <a:rPr lang="en-US" sz="1200" dirty="0">
                <a:solidFill>
                  <a:schemeClr val="tx2"/>
                </a:solidFill>
                <a:latin typeface="Calibri" pitchFamily="34" charset="0"/>
                <a:ea typeface="Calibri" pitchFamily="34" charset="-122"/>
                <a:cs typeface="Calibri" pitchFamily="34" charset="-120"/>
              </a:rPr>
              <a:t>9 payments: 20 to 95 JOD</a:t>
            </a:r>
            <a:endParaRPr lang="en-US" sz="1200" dirty="0"/>
          </a:p>
        </p:txBody>
      </p:sp>
      <p:sp>
        <p:nvSpPr>
          <p:cNvPr id="37" name="card"/>
          <p:cNvSpPr/>
          <p:nvPr/>
        </p:nvSpPr>
        <p:spPr>
          <a:xfrm>
            <a:off x="6766560" y="3611880"/>
            <a:ext cx="4846320" cy="868680"/>
          </a:xfrm>
          <a:prstGeom prst="roundRect">
            <a:avLst>
              <a:gd name="adj" fmla="val 12632"/>
            </a:avLst>
          </a:prstGeom>
          <a:solidFill>
            <a:schemeClr val="bg2"/>
          </a:solidFill>
          <a:ln w="12700">
            <a:solidFill>
              <a:schemeClr val="bg2"/>
            </a:solidFill>
            <a:prstDash val="solid"/>
          </a:ln>
        </p:spPr>
      </p:sp>
      <p:sp>
        <p:nvSpPr>
          <p:cNvPr id="38" name="Text 36"/>
          <p:cNvSpPr txBox="1"/>
          <p:nvPr/>
        </p:nvSpPr>
        <p:spPr>
          <a:xfrm>
            <a:off x="6995160" y="3657600"/>
            <a:ext cx="1828800" cy="274320"/>
          </a:xfrm>
          <a:prstGeom prst="rect">
            <a:avLst/>
          </a:prstGeom>
          <a:noFill/>
          <a:ln/>
        </p:spPr>
        <p:txBody>
          <a:bodyPr wrap="square" lIns="0" tIns="0" rIns="0" bIns="0" rtlCol="0" anchor="t"/>
          <a:lstStyle/>
          <a:p>
            <a:pPr indent="0" marL="0">
              <a:buNone/>
            </a:pPr>
            <a:r>
              <a:rPr lang="en-US" sz="1300" dirty="0">
                <a:solidFill>
                  <a:schemeClr val="tx2"/>
                </a:solidFill>
                <a:latin typeface="Calibri" pitchFamily="34" charset="0"/>
                <a:ea typeface="Calibri" pitchFamily="34" charset="-122"/>
                <a:cs typeface="Calibri" pitchFamily="34" charset="-120"/>
              </a:rPr>
              <a:t>Average</a:t>
            </a:r>
            <a:endParaRPr lang="en-US" sz="1300" dirty="0"/>
          </a:p>
        </p:txBody>
      </p:sp>
      <p:sp>
        <p:nvSpPr>
          <p:cNvPr id="39" name="Text 37"/>
          <p:cNvSpPr txBox="1"/>
          <p:nvPr/>
        </p:nvSpPr>
        <p:spPr>
          <a:xfrm>
            <a:off x="6995160" y="3913632"/>
            <a:ext cx="4389120" cy="502920"/>
          </a:xfrm>
          <a:prstGeom prst="rect">
            <a:avLst/>
          </a:prstGeom>
          <a:noFill/>
          <a:ln/>
        </p:spPr>
        <p:txBody>
          <a:bodyPr wrap="square" lIns="0" tIns="0" rIns="0" bIns="0" rtlCol="0" anchor="ctr"/>
          <a:lstStyle/>
          <a:p>
            <a:pPr indent="0" marL="0">
              <a:buNone/>
            </a:pPr>
            <a:r>
              <a:rPr lang="en-US" sz="2800" b="1" dirty="0">
                <a:solidFill>
                  <a:srgbClr val="C0463C"/>
                </a:solidFill>
                <a:latin typeface="Calibri" pitchFamily="34" charset="0"/>
                <a:ea typeface="Calibri" pitchFamily="34" charset="-122"/>
                <a:cs typeface="Calibri" pitchFamily="34" charset="-120"/>
              </a:rPr>
              <a:t>83.5 JOD</a:t>
            </a:r>
            <a:endParaRPr lang="en-US" sz="2800" dirty="0"/>
          </a:p>
        </p:txBody>
      </p:sp>
      <p:sp>
        <p:nvSpPr>
          <p:cNvPr id="40" name="card"/>
          <p:cNvSpPr/>
          <p:nvPr/>
        </p:nvSpPr>
        <p:spPr>
          <a:xfrm>
            <a:off x="6766560" y="4572000"/>
            <a:ext cx="4846320" cy="868680"/>
          </a:xfrm>
          <a:prstGeom prst="roundRect">
            <a:avLst>
              <a:gd name="adj" fmla="val 12632"/>
            </a:avLst>
          </a:prstGeom>
          <a:solidFill>
            <a:schemeClr val="bg2"/>
          </a:solidFill>
          <a:ln w="12700">
            <a:solidFill>
              <a:schemeClr val="bg2"/>
            </a:solidFill>
            <a:prstDash val="solid"/>
          </a:ln>
        </p:spPr>
      </p:sp>
      <p:sp>
        <p:nvSpPr>
          <p:cNvPr id="41" name="Text 39"/>
          <p:cNvSpPr txBox="1"/>
          <p:nvPr/>
        </p:nvSpPr>
        <p:spPr>
          <a:xfrm>
            <a:off x="6995160" y="4617720"/>
            <a:ext cx="2743200" cy="274320"/>
          </a:xfrm>
          <a:prstGeom prst="rect">
            <a:avLst/>
          </a:prstGeom>
          <a:noFill/>
          <a:ln/>
        </p:spPr>
        <p:txBody>
          <a:bodyPr wrap="square" lIns="0" tIns="0" rIns="0" bIns="0" rtlCol="0" anchor="t"/>
          <a:lstStyle/>
          <a:p>
            <a:pPr indent="0" marL="0">
              <a:buNone/>
            </a:pPr>
            <a:r>
              <a:rPr lang="en-US" sz="1300" dirty="0">
                <a:solidFill>
                  <a:schemeClr val="tx2"/>
                </a:solidFill>
                <a:latin typeface="Calibri" pitchFamily="34" charset="0"/>
                <a:ea typeface="Calibri" pitchFamily="34" charset="-122"/>
                <a:cs typeface="Calibri" pitchFamily="34" charset="-120"/>
              </a:rPr>
              <a:t>Most frequent range</a:t>
            </a:r>
            <a:endParaRPr lang="en-US" sz="1300" dirty="0"/>
          </a:p>
        </p:txBody>
      </p:sp>
      <p:sp>
        <p:nvSpPr>
          <p:cNvPr id="42" name="Text 40"/>
          <p:cNvSpPr txBox="1"/>
          <p:nvPr/>
        </p:nvSpPr>
        <p:spPr>
          <a:xfrm>
            <a:off x="6995160" y="4873752"/>
            <a:ext cx="4389120" cy="502920"/>
          </a:xfrm>
          <a:prstGeom prst="rect">
            <a:avLst/>
          </a:prstGeom>
          <a:noFill/>
          <a:ln/>
        </p:spPr>
        <p:txBody>
          <a:bodyPr wrap="square" lIns="0" tIns="0" rIns="0" bIns="0" rtlCol="0" anchor="ctr"/>
          <a:lstStyle/>
          <a:p>
            <a:pPr indent="0" marL="0">
              <a:buNone/>
            </a:pPr>
            <a:r>
              <a:rPr lang="en-US" sz="2800" b="1" dirty="0">
                <a:solidFill>
                  <a:srgbClr val="2E8B63"/>
                </a:solidFill>
                <a:latin typeface="Calibri" pitchFamily="34" charset="0"/>
                <a:ea typeface="Calibri" pitchFamily="34" charset="-122"/>
                <a:cs typeface="Calibri" pitchFamily="34" charset="-120"/>
              </a:rPr>
              <a:t>1-100 JOD</a:t>
            </a:r>
            <a:pPr indent="0" marL="0">
              <a:buNone/>
            </a:pPr>
            <a:r>
              <a:rPr lang="en-US" sz="1400" dirty="0">
                <a:solidFill>
                  <a:schemeClr val="tx2"/>
                </a:solidFill>
                <a:latin typeface="Calibri" pitchFamily="34" charset="0"/>
                <a:ea typeface="Calibri" pitchFamily="34" charset="-122"/>
                <a:cs typeface="Calibri" pitchFamily="34" charset="-120"/>
              </a:rPr>
              <a:t>   9 of 10 payments</a:t>
            </a:r>
            <a:endParaRPr lang="en-US" sz="2800" dirty="0"/>
          </a:p>
        </p:txBody>
      </p:sp>
      <p:sp>
        <p:nvSpPr>
          <p:cNvPr id="43" name="arrow"/>
          <p:cNvSpPr/>
          <p:nvPr/>
        </p:nvSpPr>
        <p:spPr>
          <a:xfrm>
            <a:off x="5669280" y="2468880"/>
            <a:ext cx="822960" cy="457200"/>
          </a:xfrm>
          <a:prstGeom prst="rightArrow">
            <a:avLst/>
          </a:prstGeom>
          <a:solidFill>
            <a:schemeClr val="accent4"/>
          </a:solidFill>
          <a:ln w="12700">
            <a:solidFill>
              <a:schemeClr val="accent4"/>
            </a:solidFill>
            <a:prstDash val="solid"/>
          </a:ln>
        </p:spPr>
      </p:sp>
      <p:sp>
        <p:nvSpPr>
          <p:cNvPr id="44" name="Text 42"/>
          <p:cNvSpPr txBox="1"/>
          <p:nvPr/>
        </p:nvSpPr>
        <p:spPr>
          <a:xfrm>
            <a:off x="5394960" y="3657600"/>
            <a:ext cx="1371600" cy="777240"/>
          </a:xfrm>
          <a:prstGeom prst="rect">
            <a:avLst/>
          </a:prstGeom>
          <a:noFill/>
          <a:ln/>
        </p:spPr>
        <p:txBody>
          <a:bodyPr wrap="square" lIns="0" tIns="0" rIns="0" bIns="0" rtlCol="0" anchor="ctr"/>
          <a:lstStyle/>
          <a:p>
            <a:pPr algn="ctr" indent="0" marL="0">
              <a:buNone/>
            </a:pPr>
            <a:r>
              <a:rPr lang="en-US" sz="2800" b="1" dirty="0">
                <a:solidFill>
                  <a:srgbClr val="C0463C"/>
                </a:solidFill>
                <a:latin typeface="Calibri" pitchFamily="34" charset="0"/>
                <a:ea typeface="Calibri" pitchFamily="34" charset="-122"/>
                <a:cs typeface="Calibri" pitchFamily="34" charset="-120"/>
              </a:rPr>
              <a:t>-67%</a:t>
            </a:r>
            <a:endParaRPr lang="en-US" sz="2800" dirty="0"/>
          </a:p>
        </p:txBody>
      </p:sp>
      <p:sp>
        <p:nvSpPr>
          <p:cNvPr id="45" name="Text 43"/>
          <p:cNvSpPr txBox="1"/>
          <p:nvPr/>
        </p:nvSpPr>
        <p:spPr>
          <a:xfrm>
            <a:off x="5394960" y="4617720"/>
            <a:ext cx="1371600" cy="777240"/>
          </a:xfrm>
          <a:prstGeom prst="rect">
            <a:avLst/>
          </a:prstGeom>
          <a:noFill/>
          <a:ln/>
        </p:spPr>
        <p:txBody>
          <a:bodyPr wrap="square" lIns="0" tIns="0" rIns="0" bIns="0" rtlCol="0" anchor="ctr"/>
          <a:lstStyle/>
          <a:p>
            <a:pPr algn="ctr" indent="0" marL="0">
              <a:buNone/>
            </a:pPr>
            <a:r>
              <a:rPr lang="en-US" sz="1800" b="1" dirty="0">
                <a:solidFill>
                  <a:srgbClr val="2E8B63"/>
                </a:solidFill>
                <a:latin typeface="Calibri" pitchFamily="34" charset="0"/>
                <a:ea typeface="Calibri" pitchFamily="34" charset="-122"/>
                <a:cs typeface="Calibri" pitchFamily="34" charset="-120"/>
              </a:rPr>
              <a:t>no change</a:t>
            </a:r>
            <a:endParaRPr lang="en-US" sz="1800" dirty="0"/>
          </a:p>
        </p:txBody>
      </p:sp>
      <p:sp>
        <p:nvSpPr>
          <p:cNvPr id="46" name="takeaway"/>
          <p:cNvSpPr/>
          <p:nvPr/>
        </p:nvSpPr>
        <p:spPr>
          <a:xfrm>
            <a:off x="548640" y="5623560"/>
            <a:ext cx="11064240" cy="640080"/>
          </a:xfrm>
          <a:prstGeom prst="roundRect">
            <a:avLst>
              <a:gd name="adj" fmla="val 17143"/>
            </a:avLst>
          </a:prstGeom>
          <a:solidFill>
            <a:schemeClr val="bg2"/>
          </a:solidFill>
          <a:ln w="12700">
            <a:solidFill>
              <a:schemeClr val="bg2"/>
            </a:solidFill>
            <a:prstDash val="solid"/>
          </a:ln>
        </p:spPr>
      </p:sp>
      <p:sp>
        <p:nvSpPr>
          <p:cNvPr id="47" name="Text 45"/>
          <p:cNvSpPr txBox="1"/>
          <p:nvPr/>
        </p:nvSpPr>
        <p:spPr>
          <a:xfrm>
            <a:off x="777240" y="5760720"/>
            <a:ext cx="10607040" cy="365760"/>
          </a:xfrm>
          <a:prstGeom prst="rect">
            <a:avLst/>
          </a:prstGeom>
          <a:noFill/>
          <a:ln/>
        </p:spPr>
        <p:txBody>
          <a:bodyPr wrap="square" lIns="0" tIns="0" rIns="0" bIns="0" rtlCol="0" anchor="ctr"/>
          <a:lstStyle/>
          <a:p>
            <a:pPr indent="0" marL="0">
              <a:buNone/>
            </a:pPr>
            <a:r>
              <a:rPr lang="en-US" sz="1600" b="1" dirty="0">
                <a:solidFill>
                  <a:schemeClr val="accent3"/>
                </a:solidFill>
                <a:latin typeface="Calibri" pitchFamily="34" charset="0"/>
                <a:ea typeface="Calibri" pitchFamily="34" charset="-122"/>
                <a:cs typeface="Calibri" pitchFamily="34" charset="-120"/>
              </a:rPr>
              <a:t>Illustrative:  </a:t>
            </a:r>
            <a:pPr indent="0" marL="0">
              <a:buNone/>
            </a:pPr>
            <a:r>
              <a:rPr lang="en-US" sz="1600" dirty="0">
                <a:solidFill>
                  <a:schemeClr val="tx1"/>
                </a:solidFill>
                <a:latin typeface="Calibri" pitchFamily="34" charset="0"/>
                <a:ea typeface="Calibri" pitchFamily="34" charset="-122"/>
                <a:cs typeface="Calibri" pitchFamily="34" charset="-120"/>
              </a:rPr>
              <a:t>the average says everything changed. The most frequent range shows only one payment did.</a:t>
            </a:r>
            <a:endParaRPr lang="en-US" sz="1600" dirty="0"/>
          </a:p>
        </p:txBody>
      </p:sp>
      <p:sp>
        <p:nvSpPr>
          <p:cNvPr id="25"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lIns="0" tIns="0" rIns="0" bIns="0" rtlCol="0" anchor="ctr"/>
          <a:lstStyle/>
          <a:p>
            <a:pPr algn="l" indent="0" marL="0">
              <a:buNone/>
            </a:pPr>
            <a:r>
              <a:rPr lang="en-US" sz="2800" b="1" dirty="0">
                <a:solidFill>
                  <a:schemeClr val="tx1"/>
                </a:solidFill>
              </a:rPr>
              <a:t>The fix: show the most frequent value range too</a:t>
            </a:r>
            <a:endParaRPr lang="en-US" sz="2800" dirty="0"/>
          </a:p>
        </p:txBody>
      </p:sp>
      <p:sp>
        <p:nvSpPr>
          <p:cNvPr id="3" name="card"/>
          <p:cNvSpPr/>
          <p:nvPr/>
        </p:nvSpPr>
        <p:spPr>
          <a:xfrm>
            <a:off x="548640" y="1371600"/>
            <a:ext cx="3566160" cy="960120"/>
          </a:xfrm>
          <a:prstGeom prst="roundRect">
            <a:avLst>
              <a:gd name="adj" fmla="val 11429"/>
            </a:avLst>
          </a:prstGeom>
          <a:solidFill>
            <a:schemeClr val="bg2"/>
          </a:solidFill>
          <a:ln w="12700">
            <a:solidFill>
              <a:schemeClr val="bg2"/>
            </a:solidFill>
            <a:prstDash val="solid"/>
          </a:ln>
        </p:spPr>
      </p:sp>
      <p:sp>
        <p:nvSpPr>
          <p:cNvPr id="4" name="step circle"/>
          <p:cNvSpPr/>
          <p:nvPr/>
        </p:nvSpPr>
        <p:spPr>
          <a:xfrm>
            <a:off x="777240" y="1618488"/>
            <a:ext cx="457200" cy="457200"/>
          </a:xfrm>
          <a:prstGeom prst="ellipse">
            <a:avLst/>
          </a:prstGeom>
          <a:solidFill>
            <a:schemeClr val="accent2"/>
          </a:solidFill>
          <a:ln w="12700">
            <a:solidFill>
              <a:schemeClr val="accent2"/>
            </a:solidFill>
            <a:prstDash val="solid"/>
          </a:ln>
        </p:spPr>
      </p:sp>
      <p:sp>
        <p:nvSpPr>
          <p:cNvPr id="5" name="Text 3"/>
          <p:cNvSpPr txBox="1"/>
          <p:nvPr/>
        </p:nvSpPr>
        <p:spPr>
          <a:xfrm>
            <a:off x="777240" y="1618488"/>
            <a:ext cx="457200" cy="457200"/>
          </a:xfrm>
          <a:prstGeom prst="rect">
            <a:avLst/>
          </a:prstGeom>
          <a:noFill/>
          <a:ln/>
        </p:spPr>
        <p:txBody>
          <a:bodyPr wrap="square" lIns="0" tIns="0" rIns="0" bIns="0" rtlCol="0" anchor="ctr"/>
          <a:lstStyle/>
          <a:p>
            <a:pPr algn="ctr" indent="0" marL="0">
              <a:buNone/>
            </a:pPr>
            <a:r>
              <a:rPr lang="en-US" sz="1600" b="1" dirty="0">
                <a:solidFill>
                  <a:schemeClr val="tx1"/>
                </a:solidFill>
                <a:latin typeface="Calibri" pitchFamily="34" charset="0"/>
                <a:ea typeface="Calibri" pitchFamily="34" charset="-122"/>
                <a:cs typeface="Calibri" pitchFamily="34" charset="-120"/>
              </a:rPr>
              <a:t>1</a:t>
            </a:r>
            <a:endParaRPr lang="en-US" sz="1600" dirty="0"/>
          </a:p>
        </p:txBody>
      </p:sp>
      <p:sp>
        <p:nvSpPr>
          <p:cNvPr id="6" name="Text 4"/>
          <p:cNvSpPr txBox="1"/>
          <p:nvPr/>
        </p:nvSpPr>
        <p:spPr>
          <a:xfrm>
            <a:off x="1417320" y="1371600"/>
            <a:ext cx="2560320" cy="960120"/>
          </a:xfrm>
          <a:prstGeom prst="rect">
            <a:avLst/>
          </a:prstGeom>
          <a:noFill/>
          <a:ln/>
        </p:spPr>
        <p:txBody>
          <a:bodyPr wrap="square" lIns="0" tIns="0" rIns="0" bIns="0" rtlCol="0" anchor="ctr"/>
          <a:lstStyle/>
          <a:p>
            <a:pPr indent="0" marL="0">
              <a:buNone/>
            </a:pPr>
            <a:r>
              <a:rPr lang="en-US" sz="1600" b="1" dirty="0">
                <a:solidFill>
                  <a:schemeClr val="tx1"/>
                </a:solidFill>
                <a:latin typeface="Calibri" pitchFamily="34" charset="0"/>
                <a:ea typeface="Calibri" pitchFamily="34" charset="-122"/>
                <a:cs typeface="Calibri" pitchFamily="34" charset="-120"/>
              </a:rPr>
              <a:t>Group payments into bands</a:t>
            </a:r>
            <a:endParaRPr lang="en-US" sz="1600" dirty="0"/>
          </a:p>
        </p:txBody>
      </p:sp>
      <p:sp>
        <p:nvSpPr>
          <p:cNvPr id="7" name="card"/>
          <p:cNvSpPr/>
          <p:nvPr/>
        </p:nvSpPr>
        <p:spPr>
          <a:xfrm>
            <a:off x="4297680" y="1371600"/>
            <a:ext cx="3566160" cy="960120"/>
          </a:xfrm>
          <a:prstGeom prst="roundRect">
            <a:avLst>
              <a:gd name="adj" fmla="val 11429"/>
            </a:avLst>
          </a:prstGeom>
          <a:solidFill>
            <a:schemeClr val="bg2"/>
          </a:solidFill>
          <a:ln w="12700">
            <a:solidFill>
              <a:schemeClr val="bg2"/>
            </a:solidFill>
            <a:prstDash val="solid"/>
          </a:ln>
        </p:spPr>
      </p:sp>
      <p:sp>
        <p:nvSpPr>
          <p:cNvPr id="8" name="step circle"/>
          <p:cNvSpPr/>
          <p:nvPr/>
        </p:nvSpPr>
        <p:spPr>
          <a:xfrm>
            <a:off x="4526280" y="1618488"/>
            <a:ext cx="457200" cy="457200"/>
          </a:xfrm>
          <a:prstGeom prst="ellipse">
            <a:avLst/>
          </a:prstGeom>
          <a:solidFill>
            <a:schemeClr val="accent2"/>
          </a:solidFill>
          <a:ln w="12700">
            <a:solidFill>
              <a:schemeClr val="accent2"/>
            </a:solidFill>
            <a:prstDash val="solid"/>
          </a:ln>
        </p:spPr>
      </p:sp>
      <p:sp>
        <p:nvSpPr>
          <p:cNvPr id="9" name="Text 7"/>
          <p:cNvSpPr txBox="1"/>
          <p:nvPr/>
        </p:nvSpPr>
        <p:spPr>
          <a:xfrm>
            <a:off x="4526280" y="1618488"/>
            <a:ext cx="457200" cy="457200"/>
          </a:xfrm>
          <a:prstGeom prst="rect">
            <a:avLst/>
          </a:prstGeom>
          <a:noFill/>
          <a:ln/>
        </p:spPr>
        <p:txBody>
          <a:bodyPr wrap="square" lIns="0" tIns="0" rIns="0" bIns="0" rtlCol="0" anchor="ctr"/>
          <a:lstStyle/>
          <a:p>
            <a:pPr algn="ctr" indent="0" marL="0">
              <a:buNone/>
            </a:pPr>
            <a:r>
              <a:rPr lang="en-US" sz="1600" b="1" dirty="0">
                <a:solidFill>
                  <a:schemeClr val="tx1"/>
                </a:solidFill>
                <a:latin typeface="Calibri" pitchFamily="34" charset="0"/>
                <a:ea typeface="Calibri" pitchFamily="34" charset="-122"/>
                <a:cs typeface="Calibri" pitchFamily="34" charset="-120"/>
              </a:rPr>
              <a:t>2</a:t>
            </a:r>
            <a:endParaRPr lang="en-US" sz="1600" dirty="0"/>
          </a:p>
        </p:txBody>
      </p:sp>
      <p:sp>
        <p:nvSpPr>
          <p:cNvPr id="10" name="Text 8"/>
          <p:cNvSpPr txBox="1"/>
          <p:nvPr/>
        </p:nvSpPr>
        <p:spPr>
          <a:xfrm>
            <a:off x="5166360" y="1371600"/>
            <a:ext cx="2560320" cy="960120"/>
          </a:xfrm>
          <a:prstGeom prst="rect">
            <a:avLst/>
          </a:prstGeom>
          <a:noFill/>
          <a:ln/>
        </p:spPr>
        <p:txBody>
          <a:bodyPr wrap="square" lIns="0" tIns="0" rIns="0" bIns="0" rtlCol="0" anchor="ctr"/>
          <a:lstStyle/>
          <a:p>
            <a:pPr indent="0" marL="0">
              <a:buNone/>
            </a:pPr>
            <a:r>
              <a:rPr lang="en-US" sz="1600" b="1" dirty="0">
                <a:solidFill>
                  <a:schemeClr val="tx1"/>
                </a:solidFill>
                <a:latin typeface="Calibri" pitchFamily="34" charset="0"/>
                <a:ea typeface="Calibri" pitchFamily="34" charset="-122"/>
                <a:cs typeface="Calibri" pitchFamily="34" charset="-120"/>
              </a:rPr>
              <a:t>Count each band</a:t>
            </a:r>
            <a:endParaRPr lang="en-US" sz="1600" dirty="0"/>
          </a:p>
        </p:txBody>
      </p:sp>
      <p:sp>
        <p:nvSpPr>
          <p:cNvPr id="11" name="card"/>
          <p:cNvSpPr/>
          <p:nvPr/>
        </p:nvSpPr>
        <p:spPr>
          <a:xfrm>
            <a:off x="8046720" y="1371600"/>
            <a:ext cx="3566160" cy="960120"/>
          </a:xfrm>
          <a:prstGeom prst="roundRect">
            <a:avLst>
              <a:gd name="adj" fmla="val 11429"/>
            </a:avLst>
          </a:prstGeom>
          <a:solidFill>
            <a:schemeClr val="bg2"/>
          </a:solidFill>
          <a:ln w="12700">
            <a:solidFill>
              <a:schemeClr val="bg2"/>
            </a:solidFill>
            <a:prstDash val="solid"/>
          </a:ln>
        </p:spPr>
      </p:sp>
      <p:sp>
        <p:nvSpPr>
          <p:cNvPr id="12" name="step circle"/>
          <p:cNvSpPr/>
          <p:nvPr/>
        </p:nvSpPr>
        <p:spPr>
          <a:xfrm>
            <a:off x="8275320" y="1618488"/>
            <a:ext cx="457200" cy="457200"/>
          </a:xfrm>
          <a:prstGeom prst="ellipse">
            <a:avLst/>
          </a:prstGeom>
          <a:solidFill>
            <a:schemeClr val="accent2"/>
          </a:solidFill>
          <a:ln w="12700">
            <a:solidFill>
              <a:schemeClr val="accent2"/>
            </a:solidFill>
            <a:prstDash val="solid"/>
          </a:ln>
        </p:spPr>
      </p:sp>
      <p:sp>
        <p:nvSpPr>
          <p:cNvPr id="13" name="Text 11"/>
          <p:cNvSpPr txBox="1"/>
          <p:nvPr/>
        </p:nvSpPr>
        <p:spPr>
          <a:xfrm>
            <a:off x="8275320" y="1618488"/>
            <a:ext cx="457200" cy="457200"/>
          </a:xfrm>
          <a:prstGeom prst="rect">
            <a:avLst/>
          </a:prstGeom>
          <a:noFill/>
          <a:ln/>
        </p:spPr>
        <p:txBody>
          <a:bodyPr wrap="square" lIns="0" tIns="0" rIns="0" bIns="0" rtlCol="0" anchor="ctr"/>
          <a:lstStyle/>
          <a:p>
            <a:pPr algn="ctr" indent="0" marL="0">
              <a:buNone/>
            </a:pPr>
            <a:r>
              <a:rPr lang="en-US" sz="1600" b="1" dirty="0">
                <a:solidFill>
                  <a:schemeClr val="tx1"/>
                </a:solidFill>
                <a:latin typeface="Calibri" pitchFamily="34" charset="0"/>
                <a:ea typeface="Calibri" pitchFamily="34" charset="-122"/>
                <a:cs typeface="Calibri" pitchFamily="34" charset="-120"/>
              </a:rPr>
              <a:t>3</a:t>
            </a:r>
            <a:endParaRPr lang="en-US" sz="1600" dirty="0"/>
          </a:p>
        </p:txBody>
      </p:sp>
      <p:sp>
        <p:nvSpPr>
          <p:cNvPr id="14" name="Text 12"/>
          <p:cNvSpPr txBox="1"/>
          <p:nvPr/>
        </p:nvSpPr>
        <p:spPr>
          <a:xfrm>
            <a:off x="8915400" y="1371600"/>
            <a:ext cx="2560320" cy="960120"/>
          </a:xfrm>
          <a:prstGeom prst="rect">
            <a:avLst/>
          </a:prstGeom>
          <a:noFill/>
          <a:ln/>
        </p:spPr>
        <p:txBody>
          <a:bodyPr wrap="square" lIns="0" tIns="0" rIns="0" bIns="0" rtlCol="0" anchor="ctr"/>
          <a:lstStyle/>
          <a:p>
            <a:pPr indent="0" marL="0">
              <a:buNone/>
            </a:pPr>
            <a:r>
              <a:rPr lang="en-US" sz="1600" b="1" dirty="0">
                <a:solidFill>
                  <a:schemeClr val="tx1"/>
                </a:solidFill>
                <a:latin typeface="Calibri" pitchFamily="34" charset="0"/>
                <a:ea typeface="Calibri" pitchFamily="34" charset="-122"/>
                <a:cs typeface="Calibri" pitchFamily="34" charset="-120"/>
              </a:rPr>
              <a:t>Report the busiest band</a:t>
            </a:r>
            <a:endParaRPr lang="en-US" sz="1600" dirty="0"/>
          </a:p>
        </p:txBody>
      </p:sp>
      <p:sp>
        <p:nvSpPr>
          <p:cNvPr id="15" name="data marker"/>
          <p:cNvSpPr/>
          <p:nvPr/>
        </p:nvSpPr>
        <p:spPr>
          <a:xfrm>
            <a:off x="548640" y="2560320"/>
            <a:ext cx="6583680" cy="347472"/>
          </a:xfrm>
          <a:prstGeom prst="roundRect">
            <a:avLst>
              <a:gd name="adj" fmla="val 21053"/>
            </a:avLst>
          </a:prstGeom>
          <a:solidFill>
            <a:schemeClr val="accent2"/>
          </a:solidFill>
          <a:ln w="12700">
            <a:solidFill>
              <a:schemeClr val="accent2"/>
            </a:solidFill>
            <a:prstDash val="solid"/>
          </a:ln>
        </p:spPr>
      </p:sp>
      <p:sp>
        <p:nvSpPr>
          <p:cNvPr id="16" name="Text 14"/>
          <p:cNvSpPr txBox="1"/>
          <p:nvPr/>
        </p:nvSpPr>
        <p:spPr>
          <a:xfrm>
            <a:off x="548640" y="2560320"/>
            <a:ext cx="6583680" cy="347472"/>
          </a:xfrm>
          <a:prstGeom prst="rect">
            <a:avLst/>
          </a:prstGeom>
          <a:noFill/>
          <a:ln/>
        </p:spPr>
        <p:txBody>
          <a:bodyPr wrap="square" lIns="0" tIns="0" rIns="0" bIns="0" rtlCol="0" anchor="ctr"/>
          <a:lstStyle/>
          <a:p>
            <a:pPr algn="ctr" indent="0" marL="0">
              <a:buNone/>
            </a:pPr>
            <a:r>
              <a:rPr lang="en-US" sz="1100" b="1" dirty="0">
                <a:solidFill>
                  <a:schemeClr val="tx1"/>
                </a:solidFill>
                <a:latin typeface="Calibri" pitchFamily="34" charset="0"/>
                <a:ea typeface="Calibri" pitchFamily="34" charset="-122"/>
                <a:cs typeface="Calibri" pitchFamily="34" charset="-120"/>
              </a:rPr>
              <a:t>ILLUSTRATIVE BANDS AND COUNTS</a:t>
            </a:r>
            <a:endParaRPr lang="en-US" sz="1100" dirty="0"/>
          </a:p>
        </p:txBody>
      </p:sp>
      <p:graphicFrame>
        <p:nvGraphicFramePr>
          <p:cNvPr id="17" name="Chart 0" descr=""/>
          <p:cNvGraphicFramePr/>
          <p:nvPr/>
        </p:nvGraphicFramePr>
        <p:xfrm>
          <a:off x="548640" y="2971800"/>
          <a:ext cx="6583680" cy="3291840"/>
        </p:xfrm>
        <a:graphic xmlns:a="http://schemas.openxmlformats.org/drawingml/2006/main">
          <a:graphicData uri="http://schemas.openxmlformats.org/drawingml/2006/chart">
            <c:chart xmlns:c="http://schemas.openxmlformats.org/drawingml/2006/chart" r:id="rId1"/>
          </a:graphicData>
        </a:graphic>
      </p:graphicFrame>
      <p:sp>
        <p:nvSpPr>
          <p:cNvPr id="18" name="Text 15"/>
          <p:cNvSpPr txBox="1"/>
          <p:nvPr/>
        </p:nvSpPr>
        <p:spPr>
          <a:xfrm>
            <a:off x="7406640" y="2560320"/>
            <a:ext cx="4206240" cy="365760"/>
          </a:xfrm>
          <a:prstGeom prst="rect">
            <a:avLst/>
          </a:prstGeom>
          <a:noFill/>
          <a:ln/>
        </p:spPr>
        <p:txBody>
          <a:bodyPr wrap="square" lIns="0" tIns="0" rIns="0" bIns="0" rtlCol="0" anchor="ctr"/>
          <a:lstStyle/>
          <a:p>
            <a:pPr indent="0" marL="0">
              <a:buNone/>
            </a:pPr>
            <a:r>
              <a:rPr lang="en-US" sz="1600" b="1" dirty="0">
                <a:solidFill>
                  <a:schemeClr val="tx1"/>
                </a:solidFill>
                <a:latin typeface="Calibri" pitchFamily="34" charset="0"/>
                <a:ea typeface="Calibri" pitchFamily="34" charset="-122"/>
                <a:cs typeface="Calibri" pitchFamily="34" charset="-120"/>
              </a:rPr>
              <a:t>Report all three together</a:t>
            </a:r>
            <a:endParaRPr lang="en-US" sz="1600" dirty="0"/>
          </a:p>
        </p:txBody>
      </p:sp>
      <p:sp>
        <p:nvSpPr>
          <p:cNvPr id="19" name="report chip"/>
          <p:cNvSpPr/>
          <p:nvPr/>
        </p:nvSpPr>
        <p:spPr>
          <a:xfrm>
            <a:off x="7406640" y="3063240"/>
            <a:ext cx="4206240" cy="914400"/>
          </a:xfrm>
          <a:prstGeom prst="roundRect">
            <a:avLst>
              <a:gd name="adj" fmla="val 12000"/>
            </a:avLst>
          </a:prstGeom>
          <a:solidFill>
            <a:schemeClr val="bg2"/>
          </a:solidFill>
          <a:ln w="12700">
            <a:solidFill>
              <a:schemeClr val="bg2"/>
            </a:solidFill>
            <a:prstDash val="solid"/>
          </a:ln>
        </p:spPr>
      </p:sp>
      <p:sp>
        <p:nvSpPr>
          <p:cNvPr id="20" name="Text 17"/>
          <p:cNvSpPr txBox="1"/>
          <p:nvPr/>
        </p:nvSpPr>
        <p:spPr>
          <a:xfrm>
            <a:off x="7635240" y="3063240"/>
            <a:ext cx="3749040" cy="914400"/>
          </a:xfrm>
          <a:prstGeom prst="rect">
            <a:avLst/>
          </a:prstGeom>
          <a:noFill/>
          <a:ln/>
        </p:spPr>
        <p:txBody>
          <a:bodyPr wrap="square" lIns="0" tIns="0" rIns="0" bIns="0" rtlCol="0" anchor="ctr"/>
          <a:lstStyle/>
          <a:p>
            <a:pPr indent="0" marL="0">
              <a:buNone/>
            </a:pPr>
            <a:r>
              <a:rPr lang="en-US" sz="1700" b="1" dirty="0">
                <a:solidFill>
                  <a:schemeClr val="tx1"/>
                </a:solidFill>
                <a:latin typeface="Calibri" pitchFamily="34" charset="0"/>
                <a:ea typeface="Calibri" pitchFamily="34" charset="-122"/>
                <a:cs typeface="Calibri" pitchFamily="34" charset="-120"/>
              </a:rPr>
              <a:t>Average value</a:t>
            </a:r>
            <a:endParaRPr lang="en-US" sz="1700" dirty="0"/>
          </a:p>
          <a:p>
            <a:pPr indent="0" marL="0">
              <a:buNone/>
            </a:pPr>
            <a:r>
              <a:rPr lang="en-US" sz="1300" dirty="0">
                <a:solidFill>
                  <a:schemeClr val="tx2"/>
                </a:solidFill>
                <a:latin typeface="Calibri" pitchFamily="34" charset="0"/>
                <a:ea typeface="Calibri" pitchFamily="34" charset="-122"/>
                <a:cs typeface="Calibri" pitchFamily="34" charset="-120"/>
              </a:rPr>
              <a:t>keep for continuity</a:t>
            </a:r>
            <a:endParaRPr lang="en-US" sz="1700" dirty="0"/>
          </a:p>
        </p:txBody>
      </p:sp>
      <p:sp>
        <p:nvSpPr>
          <p:cNvPr id="21" name="report chip"/>
          <p:cNvSpPr/>
          <p:nvPr/>
        </p:nvSpPr>
        <p:spPr>
          <a:xfrm>
            <a:off x="7406640" y="4114800"/>
            <a:ext cx="4206240" cy="914400"/>
          </a:xfrm>
          <a:prstGeom prst="roundRect">
            <a:avLst>
              <a:gd name="adj" fmla="val 12000"/>
            </a:avLst>
          </a:prstGeom>
          <a:solidFill>
            <a:schemeClr val="accent2"/>
          </a:solidFill>
          <a:ln w="12700">
            <a:solidFill>
              <a:schemeClr val="accent2"/>
            </a:solidFill>
            <a:prstDash val="solid"/>
          </a:ln>
        </p:spPr>
      </p:sp>
      <p:sp>
        <p:nvSpPr>
          <p:cNvPr id="22" name="Text 19"/>
          <p:cNvSpPr txBox="1"/>
          <p:nvPr/>
        </p:nvSpPr>
        <p:spPr>
          <a:xfrm>
            <a:off x="7635240" y="4114800"/>
            <a:ext cx="3749040" cy="914400"/>
          </a:xfrm>
          <a:prstGeom prst="rect">
            <a:avLst/>
          </a:prstGeom>
          <a:noFill/>
          <a:ln/>
        </p:spPr>
        <p:txBody>
          <a:bodyPr wrap="square" lIns="0" tIns="0" rIns="0" bIns="0" rtlCol="0" anchor="ctr"/>
          <a:lstStyle/>
          <a:p>
            <a:pPr indent="0" marL="0">
              <a:buNone/>
            </a:pPr>
            <a:r>
              <a:rPr lang="en-US" sz="1700" b="1" dirty="0">
                <a:solidFill>
                  <a:schemeClr val="tx1"/>
                </a:solidFill>
                <a:latin typeface="Calibri" pitchFamily="34" charset="0"/>
                <a:ea typeface="Calibri" pitchFamily="34" charset="-122"/>
                <a:cs typeface="Calibri" pitchFamily="34" charset="-120"/>
              </a:rPr>
              <a:t>Most frequent range + share</a:t>
            </a:r>
            <a:endParaRPr lang="en-US" sz="1700" dirty="0"/>
          </a:p>
          <a:p>
            <a:pPr indent="0" marL="0">
              <a:buNone/>
            </a:pPr>
            <a:r>
              <a:rPr lang="en-US" sz="1300" dirty="0">
                <a:solidFill>
                  <a:schemeClr val="tx1"/>
                </a:solidFill>
                <a:latin typeface="Calibri" pitchFamily="34" charset="0"/>
                <a:ea typeface="Calibri" pitchFamily="34" charset="-122"/>
                <a:cs typeface="Calibri" pitchFamily="34" charset="-120"/>
              </a:rPr>
              <a:t>the new addition</a:t>
            </a:r>
            <a:endParaRPr lang="en-US" sz="1700" dirty="0"/>
          </a:p>
        </p:txBody>
      </p:sp>
      <p:sp>
        <p:nvSpPr>
          <p:cNvPr id="23" name="report chip"/>
          <p:cNvSpPr/>
          <p:nvPr/>
        </p:nvSpPr>
        <p:spPr>
          <a:xfrm>
            <a:off x="7406640" y="5166360"/>
            <a:ext cx="4206240" cy="914400"/>
          </a:xfrm>
          <a:prstGeom prst="roundRect">
            <a:avLst>
              <a:gd name="adj" fmla="val 12000"/>
            </a:avLst>
          </a:prstGeom>
          <a:solidFill>
            <a:schemeClr val="bg2"/>
          </a:solidFill>
          <a:ln w="12700">
            <a:solidFill>
              <a:schemeClr val="bg2"/>
            </a:solidFill>
            <a:prstDash val="solid"/>
          </a:ln>
        </p:spPr>
      </p:sp>
      <p:sp>
        <p:nvSpPr>
          <p:cNvPr id="24" name="Text 21"/>
          <p:cNvSpPr txBox="1"/>
          <p:nvPr/>
        </p:nvSpPr>
        <p:spPr>
          <a:xfrm>
            <a:off x="7635240" y="5166360"/>
            <a:ext cx="3749040" cy="914400"/>
          </a:xfrm>
          <a:prstGeom prst="rect">
            <a:avLst/>
          </a:prstGeom>
          <a:noFill/>
          <a:ln/>
        </p:spPr>
        <p:txBody>
          <a:bodyPr wrap="square" lIns="0" tIns="0" rIns="0" bIns="0" rtlCol="0" anchor="ctr"/>
          <a:lstStyle/>
          <a:p>
            <a:pPr indent="0" marL="0">
              <a:buNone/>
            </a:pPr>
            <a:r>
              <a:rPr lang="en-US" sz="1700" b="1" dirty="0">
                <a:solidFill>
                  <a:schemeClr val="tx1"/>
                </a:solidFill>
                <a:latin typeface="Calibri" pitchFamily="34" charset="0"/>
                <a:ea typeface="Calibri" pitchFamily="34" charset="-122"/>
                <a:cs typeface="Calibri" pitchFamily="34" charset="-120"/>
              </a:rPr>
              <a:t>Median</a:t>
            </a:r>
            <a:endParaRPr lang="en-US" sz="1700" dirty="0"/>
          </a:p>
          <a:p>
            <a:pPr indent="0" marL="0">
              <a:buNone/>
            </a:pPr>
            <a:r>
              <a:rPr lang="en-US" sz="1300" dirty="0">
                <a:solidFill>
                  <a:schemeClr val="tx2"/>
                </a:solidFill>
                <a:latin typeface="Calibri" pitchFamily="34" charset="0"/>
                <a:ea typeface="Calibri" pitchFamily="34" charset="-122"/>
                <a:cs typeface="Calibri" pitchFamily="34" charset="-120"/>
              </a:rPr>
              <a:t>where available</a:t>
            </a:r>
            <a:endParaRPr lang="en-US" sz="1700" dirty="0"/>
          </a:p>
        </p:txBody>
      </p:sp>
      <p:sp>
        <p:nvSpPr>
          <p:cNvPr id="25"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lIns="0" tIns="0" rIns="0" bIns="0" rtlCol="0" anchor="ctr"/>
          <a:lstStyle/>
          <a:p>
            <a:pPr algn="l" indent="0" marL="0">
              <a:buNone/>
            </a:pPr>
            <a:r>
              <a:rPr lang="en-US" sz="2800" b="1" dirty="0">
                <a:solidFill>
                  <a:schemeClr val="tx1"/>
                </a:solidFill>
              </a:rPr>
              <a:t>Where the most frequent value range would help</a:t>
            </a:r>
            <a:endParaRPr lang="en-US" sz="2800" dirty="0"/>
          </a:p>
        </p:txBody>
      </p:sp>
      <p:sp>
        <p:nvSpPr>
          <p:cNvPr id="3" name="data marker"/>
          <p:cNvSpPr/>
          <p:nvPr/>
        </p:nvSpPr>
        <p:spPr>
          <a:xfrm>
            <a:off x="548640" y="1280160"/>
            <a:ext cx="4389120" cy="347472"/>
          </a:xfrm>
          <a:prstGeom prst="roundRect">
            <a:avLst>
              <a:gd name="adj" fmla="val 21053"/>
            </a:avLst>
          </a:prstGeom>
          <a:solidFill>
            <a:schemeClr val="accent2"/>
          </a:solidFill>
          <a:ln w="12700">
            <a:solidFill>
              <a:schemeClr val="accent2"/>
            </a:solidFill>
            <a:prstDash val="solid"/>
          </a:ln>
        </p:spPr>
      </p:sp>
      <p:sp>
        <p:nvSpPr>
          <p:cNvPr id="4" name="Text 2"/>
          <p:cNvSpPr txBox="1"/>
          <p:nvPr/>
        </p:nvSpPr>
        <p:spPr>
          <a:xfrm>
            <a:off x="548640" y="1280160"/>
            <a:ext cx="4389120" cy="347472"/>
          </a:xfrm>
          <a:prstGeom prst="rect">
            <a:avLst/>
          </a:prstGeom>
          <a:noFill/>
          <a:ln/>
        </p:spPr>
        <p:txBody>
          <a:bodyPr wrap="square" lIns="0" tIns="0" rIns="0" bIns="0" rtlCol="0" anchor="ctr"/>
          <a:lstStyle/>
          <a:p>
            <a:pPr algn="ctr" indent="0" marL="0">
              <a:buNone/>
            </a:pPr>
            <a:r>
              <a:rPr lang="en-US" sz="1100" b="1" dirty="0">
                <a:solidFill>
                  <a:schemeClr val="tx1"/>
                </a:solidFill>
                <a:latin typeface="Calibri" pitchFamily="34" charset="0"/>
                <a:ea typeface="Calibri" pitchFamily="34" charset="-122"/>
                <a:cs typeface="Calibri" pitchFamily="34" charset="-120"/>
              </a:rPr>
              <a:t>QUESTIONS TO TEST, NOT FINDINGS</a:t>
            </a:r>
            <a:endParaRPr lang="en-US" sz="1100" dirty="0"/>
          </a:p>
        </p:txBody>
      </p:sp>
      <p:sp>
        <p:nvSpPr>
          <p:cNvPr id="5" name="card"/>
          <p:cNvSpPr/>
          <p:nvPr/>
        </p:nvSpPr>
        <p:spPr>
          <a:xfrm>
            <a:off x="548640" y="1783080"/>
            <a:ext cx="3566160" cy="1737360"/>
          </a:xfrm>
          <a:prstGeom prst="roundRect">
            <a:avLst>
              <a:gd name="adj" fmla="val 6316"/>
            </a:avLst>
          </a:prstGeom>
          <a:solidFill>
            <a:schemeClr val="bg2"/>
          </a:solidFill>
          <a:ln w="12700">
            <a:solidFill>
              <a:schemeClr val="bg2"/>
            </a:solidFill>
            <a:prstDash val="solid"/>
          </a:ln>
        </p:spPr>
      </p:sp>
      <p:sp>
        <p:nvSpPr>
          <p:cNvPr id="6" name="number circle"/>
          <p:cNvSpPr/>
          <p:nvPr/>
        </p:nvSpPr>
        <p:spPr>
          <a:xfrm>
            <a:off x="777240" y="2011680"/>
            <a:ext cx="457200" cy="457200"/>
          </a:xfrm>
          <a:prstGeom prst="ellipse">
            <a:avLst/>
          </a:prstGeom>
          <a:solidFill>
            <a:schemeClr val="accent2"/>
          </a:solidFill>
          <a:ln w="12700">
            <a:solidFill>
              <a:schemeClr val="accent2"/>
            </a:solidFill>
            <a:prstDash val="solid"/>
          </a:ln>
        </p:spPr>
      </p:sp>
      <p:sp>
        <p:nvSpPr>
          <p:cNvPr id="7" name="Text 5"/>
          <p:cNvSpPr txBox="1"/>
          <p:nvPr/>
        </p:nvSpPr>
        <p:spPr>
          <a:xfrm>
            <a:off x="777240" y="2011680"/>
            <a:ext cx="457200" cy="457200"/>
          </a:xfrm>
          <a:prstGeom prst="rect">
            <a:avLst/>
          </a:prstGeom>
          <a:noFill/>
          <a:ln/>
        </p:spPr>
        <p:txBody>
          <a:bodyPr wrap="square" lIns="0" tIns="0" rIns="0" bIns="0" rtlCol="0" anchor="ctr"/>
          <a:lstStyle/>
          <a:p>
            <a:pPr algn="ctr" indent="0" marL="0">
              <a:buNone/>
            </a:pPr>
            <a:r>
              <a:rPr lang="en-US" sz="1600" b="1" dirty="0">
                <a:solidFill>
                  <a:schemeClr val="tx1"/>
                </a:solidFill>
                <a:latin typeface="Calibri" pitchFamily="34" charset="0"/>
                <a:ea typeface="Calibri" pitchFamily="34" charset="-122"/>
                <a:cs typeface="Calibri" pitchFamily="34" charset="-120"/>
              </a:rPr>
              <a:t>1</a:t>
            </a:r>
            <a:endParaRPr lang="en-US" sz="1600" dirty="0"/>
          </a:p>
        </p:txBody>
      </p:sp>
      <p:sp>
        <p:nvSpPr>
          <p:cNvPr id="8" name="Text 6"/>
          <p:cNvSpPr txBox="1"/>
          <p:nvPr/>
        </p:nvSpPr>
        <p:spPr>
          <a:xfrm>
            <a:off x="1417320" y="2011680"/>
            <a:ext cx="2514600" cy="457200"/>
          </a:xfrm>
          <a:prstGeom prst="rect">
            <a:avLst/>
          </a:prstGeom>
          <a:noFill/>
          <a:ln/>
        </p:spPr>
        <p:txBody>
          <a:bodyPr wrap="square" lIns="0" tIns="0" rIns="0" bIns="0" rtlCol="0" anchor="ctr"/>
          <a:lstStyle/>
          <a:p>
            <a:pPr indent="0" marL="0">
              <a:buNone/>
            </a:pPr>
            <a:r>
              <a:rPr lang="en-US" sz="1600" b="1" dirty="0">
                <a:solidFill>
                  <a:schemeClr val="tx1"/>
                </a:solidFill>
                <a:latin typeface="Calibri" pitchFamily="34" charset="0"/>
                <a:ea typeface="Calibri" pitchFamily="34" charset="-122"/>
                <a:cs typeface="Calibri" pitchFamily="34" charset="-120"/>
              </a:rPr>
              <a:t>Overall average</a:t>
            </a:r>
            <a:endParaRPr lang="en-US" sz="1600" dirty="0"/>
          </a:p>
        </p:txBody>
      </p:sp>
      <p:sp>
        <p:nvSpPr>
          <p:cNvPr id="9" name="Text 7"/>
          <p:cNvSpPr txBox="1"/>
          <p:nvPr/>
        </p:nvSpPr>
        <p:spPr>
          <a:xfrm>
            <a:off x="777240" y="2697480"/>
            <a:ext cx="3108960" cy="731520"/>
          </a:xfrm>
          <a:prstGeom prst="rect">
            <a:avLst/>
          </a:prstGeom>
          <a:noFill/>
          <a:ln/>
        </p:spPr>
        <p:txBody>
          <a:bodyPr wrap="square" lIns="0" tIns="0" rIns="0" bIns="0" rtlCol="0" anchor="t"/>
          <a:lstStyle/>
          <a:p>
            <a:pPr indent="0" marL="0">
              <a:buNone/>
            </a:pPr>
            <a:r>
              <a:rPr lang="en-US" sz="1600" dirty="0">
                <a:solidFill>
                  <a:schemeClr val="tx1"/>
                </a:solidFill>
                <a:latin typeface="Calibri" pitchFamily="34" charset="0"/>
                <a:ea typeface="Calibri" pitchFamily="34" charset="-122"/>
                <a:cs typeface="Calibri" pitchFamily="34" charset="-120"/>
              </a:rPr>
              <a:t>Few big payments, or many small?</a:t>
            </a:r>
            <a:endParaRPr lang="en-US" sz="1600" dirty="0"/>
          </a:p>
        </p:txBody>
      </p:sp>
      <p:sp>
        <p:nvSpPr>
          <p:cNvPr id="10" name="card"/>
          <p:cNvSpPr/>
          <p:nvPr/>
        </p:nvSpPr>
        <p:spPr>
          <a:xfrm>
            <a:off x="4297680" y="1783080"/>
            <a:ext cx="3566160" cy="1737360"/>
          </a:xfrm>
          <a:prstGeom prst="roundRect">
            <a:avLst>
              <a:gd name="adj" fmla="val 6316"/>
            </a:avLst>
          </a:prstGeom>
          <a:solidFill>
            <a:schemeClr val="bg2"/>
          </a:solidFill>
          <a:ln w="12700">
            <a:solidFill>
              <a:schemeClr val="bg2"/>
            </a:solidFill>
            <a:prstDash val="solid"/>
          </a:ln>
        </p:spPr>
      </p:sp>
      <p:sp>
        <p:nvSpPr>
          <p:cNvPr id="11" name="number circle"/>
          <p:cNvSpPr/>
          <p:nvPr/>
        </p:nvSpPr>
        <p:spPr>
          <a:xfrm>
            <a:off x="4526280" y="2011680"/>
            <a:ext cx="457200" cy="457200"/>
          </a:xfrm>
          <a:prstGeom prst="ellipse">
            <a:avLst/>
          </a:prstGeom>
          <a:solidFill>
            <a:schemeClr val="accent2"/>
          </a:solidFill>
          <a:ln w="12700">
            <a:solidFill>
              <a:schemeClr val="accent2"/>
            </a:solidFill>
            <a:prstDash val="solid"/>
          </a:ln>
        </p:spPr>
      </p:sp>
      <p:sp>
        <p:nvSpPr>
          <p:cNvPr id="12" name="Text 10"/>
          <p:cNvSpPr txBox="1"/>
          <p:nvPr/>
        </p:nvSpPr>
        <p:spPr>
          <a:xfrm>
            <a:off x="4526280" y="2011680"/>
            <a:ext cx="457200" cy="457200"/>
          </a:xfrm>
          <a:prstGeom prst="rect">
            <a:avLst/>
          </a:prstGeom>
          <a:noFill/>
          <a:ln/>
        </p:spPr>
        <p:txBody>
          <a:bodyPr wrap="square" lIns="0" tIns="0" rIns="0" bIns="0" rtlCol="0" anchor="ctr"/>
          <a:lstStyle/>
          <a:p>
            <a:pPr algn="ctr" indent="0" marL="0">
              <a:buNone/>
            </a:pPr>
            <a:r>
              <a:rPr lang="en-US" sz="1600" b="1" dirty="0">
                <a:solidFill>
                  <a:schemeClr val="tx1"/>
                </a:solidFill>
                <a:latin typeface="Calibri" pitchFamily="34" charset="0"/>
                <a:ea typeface="Calibri" pitchFamily="34" charset="-122"/>
                <a:cs typeface="Calibri" pitchFamily="34" charset="-120"/>
              </a:rPr>
              <a:t>2</a:t>
            </a:r>
            <a:endParaRPr lang="en-US" sz="1600" dirty="0"/>
          </a:p>
        </p:txBody>
      </p:sp>
      <p:sp>
        <p:nvSpPr>
          <p:cNvPr id="13" name="Text 11"/>
          <p:cNvSpPr txBox="1"/>
          <p:nvPr/>
        </p:nvSpPr>
        <p:spPr>
          <a:xfrm>
            <a:off x="5166360" y="2011680"/>
            <a:ext cx="2514600" cy="457200"/>
          </a:xfrm>
          <a:prstGeom prst="rect">
            <a:avLst/>
          </a:prstGeom>
          <a:noFill/>
          <a:ln/>
        </p:spPr>
        <p:txBody>
          <a:bodyPr wrap="square" lIns="0" tIns="0" rIns="0" bIns="0" rtlCol="0" anchor="ctr"/>
          <a:lstStyle/>
          <a:p>
            <a:pPr indent="0" marL="0">
              <a:buNone/>
            </a:pPr>
            <a:r>
              <a:rPr lang="en-US" sz="1600" b="1" dirty="0">
                <a:solidFill>
                  <a:schemeClr val="tx1"/>
                </a:solidFill>
                <a:latin typeface="Calibri" pitchFamily="34" charset="0"/>
                <a:ea typeface="Calibri" pitchFamily="34" charset="-122"/>
                <a:cs typeface="Calibri" pitchFamily="34" charset="-120"/>
              </a:rPr>
              <a:t>CliQ</a:t>
            </a:r>
            <a:endParaRPr lang="en-US" sz="1600" dirty="0"/>
          </a:p>
        </p:txBody>
      </p:sp>
      <p:sp>
        <p:nvSpPr>
          <p:cNvPr id="14" name="Text 12"/>
          <p:cNvSpPr txBox="1"/>
          <p:nvPr/>
        </p:nvSpPr>
        <p:spPr>
          <a:xfrm>
            <a:off x="4526280" y="2697480"/>
            <a:ext cx="3108960" cy="731520"/>
          </a:xfrm>
          <a:prstGeom prst="rect">
            <a:avLst/>
          </a:prstGeom>
          <a:noFill/>
          <a:ln/>
        </p:spPr>
        <p:txBody>
          <a:bodyPr wrap="square" lIns="0" tIns="0" rIns="0" bIns="0" rtlCol="0" anchor="t"/>
          <a:lstStyle/>
          <a:p>
            <a:pPr indent="0" marL="0">
              <a:buNone/>
            </a:pPr>
            <a:r>
              <a:rPr lang="en-US" sz="1600" dirty="0">
                <a:solidFill>
                  <a:schemeClr val="tx1"/>
                </a:solidFill>
                <a:latin typeface="Calibri" pitchFamily="34" charset="0"/>
                <a:ea typeface="Calibri" pitchFamily="34" charset="-122"/>
                <a:cs typeface="Calibri" pitchFamily="34" charset="-120"/>
              </a:rPr>
              <a:t>Are small purchases driving growth?</a:t>
            </a:r>
            <a:endParaRPr lang="en-US" sz="1600" dirty="0"/>
          </a:p>
        </p:txBody>
      </p:sp>
      <p:sp>
        <p:nvSpPr>
          <p:cNvPr id="15" name="card"/>
          <p:cNvSpPr/>
          <p:nvPr/>
        </p:nvSpPr>
        <p:spPr>
          <a:xfrm>
            <a:off x="8046720" y="1783080"/>
            <a:ext cx="3566160" cy="1737360"/>
          </a:xfrm>
          <a:prstGeom prst="roundRect">
            <a:avLst>
              <a:gd name="adj" fmla="val 6316"/>
            </a:avLst>
          </a:prstGeom>
          <a:solidFill>
            <a:schemeClr val="bg2"/>
          </a:solidFill>
          <a:ln w="12700">
            <a:solidFill>
              <a:schemeClr val="bg2"/>
            </a:solidFill>
            <a:prstDash val="solid"/>
          </a:ln>
        </p:spPr>
      </p:sp>
      <p:sp>
        <p:nvSpPr>
          <p:cNvPr id="16" name="number circle"/>
          <p:cNvSpPr/>
          <p:nvPr/>
        </p:nvSpPr>
        <p:spPr>
          <a:xfrm>
            <a:off x="8275320" y="2011680"/>
            <a:ext cx="457200" cy="457200"/>
          </a:xfrm>
          <a:prstGeom prst="ellipse">
            <a:avLst/>
          </a:prstGeom>
          <a:solidFill>
            <a:schemeClr val="accent2"/>
          </a:solidFill>
          <a:ln w="12700">
            <a:solidFill>
              <a:schemeClr val="accent2"/>
            </a:solidFill>
            <a:prstDash val="solid"/>
          </a:ln>
        </p:spPr>
      </p:sp>
      <p:sp>
        <p:nvSpPr>
          <p:cNvPr id="17" name="Text 15"/>
          <p:cNvSpPr txBox="1"/>
          <p:nvPr/>
        </p:nvSpPr>
        <p:spPr>
          <a:xfrm>
            <a:off x="8275320" y="2011680"/>
            <a:ext cx="457200" cy="457200"/>
          </a:xfrm>
          <a:prstGeom prst="rect">
            <a:avLst/>
          </a:prstGeom>
          <a:noFill/>
          <a:ln/>
        </p:spPr>
        <p:txBody>
          <a:bodyPr wrap="square" lIns="0" tIns="0" rIns="0" bIns="0" rtlCol="0" anchor="ctr"/>
          <a:lstStyle/>
          <a:p>
            <a:pPr algn="ctr" indent="0" marL="0">
              <a:buNone/>
            </a:pPr>
            <a:r>
              <a:rPr lang="en-US" sz="1600" b="1" dirty="0">
                <a:solidFill>
                  <a:schemeClr val="tx1"/>
                </a:solidFill>
                <a:latin typeface="Calibri" pitchFamily="34" charset="0"/>
                <a:ea typeface="Calibri" pitchFamily="34" charset="-122"/>
                <a:cs typeface="Calibri" pitchFamily="34" charset="-120"/>
              </a:rPr>
              <a:t>3</a:t>
            </a:r>
            <a:endParaRPr lang="en-US" sz="1600" dirty="0"/>
          </a:p>
        </p:txBody>
      </p:sp>
      <p:sp>
        <p:nvSpPr>
          <p:cNvPr id="18" name="Text 16"/>
          <p:cNvSpPr txBox="1"/>
          <p:nvPr/>
        </p:nvSpPr>
        <p:spPr>
          <a:xfrm>
            <a:off x="8915400" y="2011680"/>
            <a:ext cx="2514600" cy="457200"/>
          </a:xfrm>
          <a:prstGeom prst="rect">
            <a:avLst/>
          </a:prstGeom>
          <a:noFill/>
          <a:ln/>
        </p:spPr>
        <p:txBody>
          <a:bodyPr wrap="square" lIns="0" tIns="0" rIns="0" bIns="0" rtlCol="0" anchor="ctr"/>
          <a:lstStyle/>
          <a:p>
            <a:pPr indent="0" marL="0">
              <a:buNone/>
            </a:pPr>
            <a:r>
              <a:rPr lang="en-US" sz="1600" b="1" dirty="0">
                <a:solidFill>
                  <a:schemeClr val="tx1"/>
                </a:solidFill>
                <a:latin typeface="Calibri" pitchFamily="34" charset="0"/>
                <a:ea typeface="Calibri" pitchFamily="34" charset="-122"/>
                <a:cs typeface="Calibri" pitchFamily="34" charset="-120"/>
              </a:rPr>
              <a:t>JoMoPay</a:t>
            </a:r>
            <a:endParaRPr lang="en-US" sz="1600" dirty="0"/>
          </a:p>
        </p:txBody>
      </p:sp>
      <p:sp>
        <p:nvSpPr>
          <p:cNvPr id="19" name="Text 17"/>
          <p:cNvSpPr txBox="1"/>
          <p:nvPr/>
        </p:nvSpPr>
        <p:spPr>
          <a:xfrm>
            <a:off x="8275320" y="2697480"/>
            <a:ext cx="3108960" cy="731520"/>
          </a:xfrm>
          <a:prstGeom prst="rect">
            <a:avLst/>
          </a:prstGeom>
          <a:noFill/>
          <a:ln/>
        </p:spPr>
        <p:txBody>
          <a:bodyPr wrap="square" lIns="0" tIns="0" rIns="0" bIns="0" rtlCol="0" anchor="t"/>
          <a:lstStyle/>
          <a:p>
            <a:pPr indent="0" marL="0">
              <a:buNone/>
            </a:pPr>
            <a:r>
              <a:rPr lang="en-US" sz="1600" dirty="0">
                <a:solidFill>
                  <a:schemeClr val="tx1"/>
                </a:solidFill>
                <a:latin typeface="Calibri" pitchFamily="34" charset="0"/>
                <a:ea typeface="Calibri" pitchFamily="34" charset="-122"/>
                <a:cs typeface="Calibri" pitchFamily="34" charset="-120"/>
              </a:rPr>
              <a:t>Is wallet spending small-value?</a:t>
            </a:r>
            <a:endParaRPr lang="en-US" sz="1600" dirty="0"/>
          </a:p>
        </p:txBody>
      </p:sp>
      <p:sp>
        <p:nvSpPr>
          <p:cNvPr id="20" name="card"/>
          <p:cNvSpPr/>
          <p:nvPr/>
        </p:nvSpPr>
        <p:spPr>
          <a:xfrm>
            <a:off x="548640" y="3703320"/>
            <a:ext cx="3566160" cy="1737360"/>
          </a:xfrm>
          <a:prstGeom prst="roundRect">
            <a:avLst>
              <a:gd name="adj" fmla="val 6316"/>
            </a:avLst>
          </a:prstGeom>
          <a:solidFill>
            <a:schemeClr val="bg2"/>
          </a:solidFill>
          <a:ln w="12700">
            <a:solidFill>
              <a:schemeClr val="bg2"/>
            </a:solidFill>
            <a:prstDash val="solid"/>
          </a:ln>
        </p:spPr>
      </p:sp>
      <p:sp>
        <p:nvSpPr>
          <p:cNvPr id="21" name="number circle"/>
          <p:cNvSpPr/>
          <p:nvPr/>
        </p:nvSpPr>
        <p:spPr>
          <a:xfrm>
            <a:off x="777240" y="3931920"/>
            <a:ext cx="457200" cy="457200"/>
          </a:xfrm>
          <a:prstGeom prst="ellipse">
            <a:avLst/>
          </a:prstGeom>
          <a:solidFill>
            <a:schemeClr val="accent2"/>
          </a:solidFill>
          <a:ln w="12700">
            <a:solidFill>
              <a:schemeClr val="accent2"/>
            </a:solidFill>
            <a:prstDash val="solid"/>
          </a:ln>
        </p:spPr>
      </p:sp>
      <p:sp>
        <p:nvSpPr>
          <p:cNvPr id="22" name="Text 20"/>
          <p:cNvSpPr txBox="1"/>
          <p:nvPr/>
        </p:nvSpPr>
        <p:spPr>
          <a:xfrm>
            <a:off x="777240" y="3931920"/>
            <a:ext cx="457200" cy="457200"/>
          </a:xfrm>
          <a:prstGeom prst="rect">
            <a:avLst/>
          </a:prstGeom>
          <a:noFill/>
          <a:ln/>
        </p:spPr>
        <p:txBody>
          <a:bodyPr wrap="square" lIns="0" tIns="0" rIns="0" bIns="0" rtlCol="0" anchor="ctr"/>
          <a:lstStyle/>
          <a:p>
            <a:pPr algn="ctr" indent="0" marL="0">
              <a:buNone/>
            </a:pPr>
            <a:r>
              <a:rPr lang="en-US" sz="1600" b="1" dirty="0">
                <a:solidFill>
                  <a:schemeClr val="tx1"/>
                </a:solidFill>
                <a:latin typeface="Calibri" pitchFamily="34" charset="0"/>
                <a:ea typeface="Calibri" pitchFamily="34" charset="-122"/>
                <a:cs typeface="Calibri" pitchFamily="34" charset="-120"/>
              </a:rPr>
              <a:t>4</a:t>
            </a:r>
            <a:endParaRPr lang="en-US" sz="1600" dirty="0"/>
          </a:p>
        </p:txBody>
      </p:sp>
      <p:sp>
        <p:nvSpPr>
          <p:cNvPr id="23" name="Text 21"/>
          <p:cNvSpPr txBox="1"/>
          <p:nvPr/>
        </p:nvSpPr>
        <p:spPr>
          <a:xfrm>
            <a:off x="1417320" y="3931920"/>
            <a:ext cx="2514600" cy="457200"/>
          </a:xfrm>
          <a:prstGeom prst="rect">
            <a:avLst/>
          </a:prstGeom>
          <a:noFill/>
          <a:ln/>
        </p:spPr>
        <p:txBody>
          <a:bodyPr wrap="square" lIns="0" tIns="0" rIns="0" bIns="0" rtlCol="0" anchor="ctr"/>
          <a:lstStyle/>
          <a:p>
            <a:pPr indent="0" marL="0">
              <a:buNone/>
            </a:pPr>
            <a:r>
              <a:rPr lang="en-US" sz="1600" b="1" dirty="0">
                <a:solidFill>
                  <a:schemeClr val="tx1"/>
                </a:solidFill>
                <a:latin typeface="Calibri" pitchFamily="34" charset="0"/>
                <a:ea typeface="Calibri" pitchFamily="34" charset="-122"/>
                <a:cs typeface="Calibri" pitchFamily="34" charset="-120"/>
              </a:rPr>
              <a:t>ECCU cheques</a:t>
            </a:r>
            <a:endParaRPr lang="en-US" sz="1600" dirty="0"/>
          </a:p>
        </p:txBody>
      </p:sp>
      <p:sp>
        <p:nvSpPr>
          <p:cNvPr id="24" name="Text 22"/>
          <p:cNvSpPr txBox="1"/>
          <p:nvPr/>
        </p:nvSpPr>
        <p:spPr>
          <a:xfrm>
            <a:off x="777240" y="4617720"/>
            <a:ext cx="3108960" cy="731520"/>
          </a:xfrm>
          <a:prstGeom prst="rect">
            <a:avLst/>
          </a:prstGeom>
          <a:noFill/>
          <a:ln/>
        </p:spPr>
        <p:txBody>
          <a:bodyPr wrap="square" lIns="0" tIns="0" rIns="0" bIns="0" rtlCol="0" anchor="t"/>
          <a:lstStyle/>
          <a:p>
            <a:pPr indent="0" marL="0">
              <a:buNone/>
            </a:pPr>
            <a:r>
              <a:rPr lang="en-US" sz="1600" dirty="0">
                <a:solidFill>
                  <a:schemeClr val="tx1"/>
                </a:solidFill>
                <a:latin typeface="Calibri" pitchFamily="34" charset="0"/>
                <a:ea typeface="Calibri" pitchFamily="34" charset="-122"/>
                <a:cs typeface="Calibri" pitchFamily="34" charset="-120"/>
              </a:rPr>
              <a:t>Are low-value cheques leaving?</a:t>
            </a:r>
            <a:endParaRPr lang="en-US" sz="1600" dirty="0"/>
          </a:p>
        </p:txBody>
      </p:sp>
      <p:sp>
        <p:nvSpPr>
          <p:cNvPr id="25" name="card"/>
          <p:cNvSpPr/>
          <p:nvPr/>
        </p:nvSpPr>
        <p:spPr>
          <a:xfrm>
            <a:off x="4297680" y="3703320"/>
            <a:ext cx="3566160" cy="1737360"/>
          </a:xfrm>
          <a:prstGeom prst="roundRect">
            <a:avLst>
              <a:gd name="adj" fmla="val 6316"/>
            </a:avLst>
          </a:prstGeom>
          <a:solidFill>
            <a:schemeClr val="bg2"/>
          </a:solidFill>
          <a:ln w="12700">
            <a:solidFill>
              <a:schemeClr val="bg2"/>
            </a:solidFill>
            <a:prstDash val="solid"/>
          </a:ln>
        </p:spPr>
      </p:sp>
      <p:sp>
        <p:nvSpPr>
          <p:cNvPr id="26" name="number circle"/>
          <p:cNvSpPr/>
          <p:nvPr/>
        </p:nvSpPr>
        <p:spPr>
          <a:xfrm>
            <a:off x="4526280" y="3931920"/>
            <a:ext cx="457200" cy="457200"/>
          </a:xfrm>
          <a:prstGeom prst="ellipse">
            <a:avLst/>
          </a:prstGeom>
          <a:solidFill>
            <a:schemeClr val="accent2"/>
          </a:solidFill>
          <a:ln w="12700">
            <a:solidFill>
              <a:schemeClr val="accent2"/>
            </a:solidFill>
            <a:prstDash val="solid"/>
          </a:ln>
        </p:spPr>
      </p:sp>
      <p:sp>
        <p:nvSpPr>
          <p:cNvPr id="27" name="Text 25"/>
          <p:cNvSpPr txBox="1"/>
          <p:nvPr/>
        </p:nvSpPr>
        <p:spPr>
          <a:xfrm>
            <a:off x="4526280" y="3931920"/>
            <a:ext cx="457200" cy="457200"/>
          </a:xfrm>
          <a:prstGeom prst="rect">
            <a:avLst/>
          </a:prstGeom>
          <a:noFill/>
          <a:ln/>
        </p:spPr>
        <p:txBody>
          <a:bodyPr wrap="square" lIns="0" tIns="0" rIns="0" bIns="0" rtlCol="0" anchor="ctr"/>
          <a:lstStyle/>
          <a:p>
            <a:pPr algn="ctr" indent="0" marL="0">
              <a:buNone/>
            </a:pPr>
            <a:r>
              <a:rPr lang="en-US" sz="1600" b="1" dirty="0">
                <a:solidFill>
                  <a:schemeClr val="tx1"/>
                </a:solidFill>
                <a:latin typeface="Calibri" pitchFamily="34" charset="0"/>
                <a:ea typeface="Calibri" pitchFamily="34" charset="-122"/>
                <a:cs typeface="Calibri" pitchFamily="34" charset="-120"/>
              </a:rPr>
              <a:t>5</a:t>
            </a:r>
            <a:endParaRPr lang="en-US" sz="1600" dirty="0"/>
          </a:p>
        </p:txBody>
      </p:sp>
      <p:sp>
        <p:nvSpPr>
          <p:cNvPr id="28" name="Text 26"/>
          <p:cNvSpPr txBox="1"/>
          <p:nvPr/>
        </p:nvSpPr>
        <p:spPr>
          <a:xfrm>
            <a:off x="5166360" y="3931920"/>
            <a:ext cx="2514600" cy="457200"/>
          </a:xfrm>
          <a:prstGeom prst="rect">
            <a:avLst/>
          </a:prstGeom>
          <a:noFill/>
          <a:ln/>
        </p:spPr>
        <p:txBody>
          <a:bodyPr wrap="square" lIns="0" tIns="0" rIns="0" bIns="0" rtlCol="0" anchor="ctr"/>
          <a:lstStyle/>
          <a:p>
            <a:pPr indent="0" marL="0">
              <a:buNone/>
            </a:pPr>
            <a:r>
              <a:rPr lang="en-US" sz="1600" b="1" dirty="0">
                <a:solidFill>
                  <a:schemeClr val="tx1"/>
                </a:solidFill>
                <a:latin typeface="Calibri" pitchFamily="34" charset="0"/>
                <a:ea typeface="Calibri" pitchFamily="34" charset="-122"/>
                <a:cs typeface="Calibri" pitchFamily="34" charset="-120"/>
              </a:rPr>
              <a:t>eFAWATEER Education</a:t>
            </a:r>
            <a:endParaRPr lang="en-US" sz="1600" dirty="0"/>
          </a:p>
        </p:txBody>
      </p:sp>
      <p:sp>
        <p:nvSpPr>
          <p:cNvPr id="29" name="Text 27"/>
          <p:cNvSpPr txBox="1"/>
          <p:nvPr/>
        </p:nvSpPr>
        <p:spPr>
          <a:xfrm>
            <a:off x="4526280" y="4617720"/>
            <a:ext cx="3108960" cy="731520"/>
          </a:xfrm>
          <a:prstGeom prst="rect">
            <a:avLst/>
          </a:prstGeom>
          <a:noFill/>
          <a:ln/>
        </p:spPr>
        <p:txBody>
          <a:bodyPr wrap="square" lIns="0" tIns="0" rIns="0" bIns="0" rtlCol="0" anchor="t"/>
          <a:lstStyle/>
          <a:p>
            <a:pPr indent="0" marL="0">
              <a:buNone/>
            </a:pPr>
            <a:r>
              <a:rPr lang="en-US" sz="1600" dirty="0">
                <a:solidFill>
                  <a:schemeClr val="tx1"/>
                </a:solidFill>
                <a:latin typeface="Calibri" pitchFamily="34" charset="0"/>
                <a:ea typeface="Calibri" pitchFamily="34" charset="-122"/>
                <a:cs typeface="Calibri" pitchFamily="34" charset="-120"/>
              </a:rPr>
              <a:t>Did payments shift to instalments?</a:t>
            </a:r>
            <a:endParaRPr lang="en-US" sz="1600" dirty="0"/>
          </a:p>
        </p:txBody>
      </p:sp>
      <p:sp>
        <p:nvSpPr>
          <p:cNvPr id="30" name="card"/>
          <p:cNvSpPr/>
          <p:nvPr/>
        </p:nvSpPr>
        <p:spPr>
          <a:xfrm>
            <a:off x="8046720" y="3703320"/>
            <a:ext cx="3566160" cy="1737360"/>
          </a:xfrm>
          <a:prstGeom prst="roundRect">
            <a:avLst>
              <a:gd name="adj" fmla="val 6316"/>
            </a:avLst>
          </a:prstGeom>
          <a:solidFill>
            <a:schemeClr val="bg2"/>
          </a:solidFill>
          <a:ln w="12700">
            <a:solidFill>
              <a:schemeClr val="bg2"/>
            </a:solidFill>
            <a:prstDash val="solid"/>
          </a:ln>
        </p:spPr>
      </p:sp>
      <p:sp>
        <p:nvSpPr>
          <p:cNvPr id="31" name="number circle"/>
          <p:cNvSpPr/>
          <p:nvPr/>
        </p:nvSpPr>
        <p:spPr>
          <a:xfrm>
            <a:off x="8275320" y="3931920"/>
            <a:ext cx="457200" cy="457200"/>
          </a:xfrm>
          <a:prstGeom prst="ellipse">
            <a:avLst/>
          </a:prstGeom>
          <a:solidFill>
            <a:schemeClr val="accent2"/>
          </a:solidFill>
          <a:ln w="12700">
            <a:solidFill>
              <a:schemeClr val="accent2"/>
            </a:solidFill>
            <a:prstDash val="solid"/>
          </a:ln>
        </p:spPr>
      </p:sp>
      <p:sp>
        <p:nvSpPr>
          <p:cNvPr id="32" name="Text 30"/>
          <p:cNvSpPr txBox="1"/>
          <p:nvPr/>
        </p:nvSpPr>
        <p:spPr>
          <a:xfrm>
            <a:off x="8275320" y="3931920"/>
            <a:ext cx="457200" cy="457200"/>
          </a:xfrm>
          <a:prstGeom prst="rect">
            <a:avLst/>
          </a:prstGeom>
          <a:noFill/>
          <a:ln/>
        </p:spPr>
        <p:txBody>
          <a:bodyPr wrap="square" lIns="0" tIns="0" rIns="0" bIns="0" rtlCol="0" anchor="ctr"/>
          <a:lstStyle/>
          <a:p>
            <a:pPr algn="ctr" indent="0" marL="0">
              <a:buNone/>
            </a:pPr>
            <a:r>
              <a:rPr lang="en-US" sz="1600" b="1" dirty="0">
                <a:solidFill>
                  <a:schemeClr val="tx1"/>
                </a:solidFill>
                <a:latin typeface="Calibri" pitchFamily="34" charset="0"/>
                <a:ea typeface="Calibri" pitchFamily="34" charset="-122"/>
                <a:cs typeface="Calibri" pitchFamily="34" charset="-120"/>
              </a:rPr>
              <a:t>6</a:t>
            </a:r>
            <a:endParaRPr lang="en-US" sz="1600" dirty="0"/>
          </a:p>
        </p:txBody>
      </p:sp>
      <p:sp>
        <p:nvSpPr>
          <p:cNvPr id="33" name="Text 31"/>
          <p:cNvSpPr txBox="1"/>
          <p:nvPr/>
        </p:nvSpPr>
        <p:spPr>
          <a:xfrm>
            <a:off x="8915400" y="3931920"/>
            <a:ext cx="2514600" cy="457200"/>
          </a:xfrm>
          <a:prstGeom prst="rect">
            <a:avLst/>
          </a:prstGeom>
          <a:noFill/>
          <a:ln/>
        </p:spPr>
        <p:txBody>
          <a:bodyPr wrap="square" lIns="0" tIns="0" rIns="0" bIns="0" rtlCol="0" anchor="ctr"/>
          <a:lstStyle/>
          <a:p>
            <a:pPr indent="0" marL="0">
              <a:buNone/>
            </a:pPr>
            <a:r>
              <a:rPr lang="en-US" sz="1600" b="1" dirty="0">
                <a:solidFill>
                  <a:schemeClr val="tx1"/>
                </a:solidFill>
                <a:latin typeface="Calibri" pitchFamily="34" charset="0"/>
                <a:ea typeface="Calibri" pitchFamily="34" charset="-122"/>
                <a:cs typeface="Calibri" pitchFamily="34" charset="-120"/>
              </a:rPr>
              <a:t>ACH</a:t>
            </a:r>
            <a:endParaRPr lang="en-US" sz="1600" dirty="0"/>
          </a:p>
        </p:txBody>
      </p:sp>
      <p:sp>
        <p:nvSpPr>
          <p:cNvPr id="34" name="Text 32"/>
          <p:cNvSpPr txBox="1"/>
          <p:nvPr/>
        </p:nvSpPr>
        <p:spPr>
          <a:xfrm>
            <a:off x="8275320" y="4617720"/>
            <a:ext cx="3108960" cy="731520"/>
          </a:xfrm>
          <a:prstGeom prst="rect">
            <a:avLst/>
          </a:prstGeom>
          <a:noFill/>
          <a:ln/>
        </p:spPr>
        <p:txBody>
          <a:bodyPr wrap="square" lIns="0" tIns="0" rIns="0" bIns="0" rtlCol="0" anchor="t"/>
          <a:lstStyle/>
          <a:p>
            <a:pPr indent="0" marL="0">
              <a:buNone/>
            </a:pPr>
            <a:r>
              <a:rPr lang="en-US" sz="1600" dirty="0">
                <a:solidFill>
                  <a:schemeClr val="tx1"/>
                </a:solidFill>
                <a:latin typeface="Calibri" pitchFamily="34" charset="0"/>
                <a:ea typeface="Calibri" pitchFamily="34" charset="-122"/>
                <a:cs typeface="Calibri" pitchFamily="34" charset="-120"/>
              </a:rPr>
              <a:t>Where do salaries sit? GBP spike?</a:t>
            </a:r>
            <a:endParaRPr lang="en-US" sz="1600" dirty="0"/>
          </a:p>
        </p:txBody>
      </p:sp>
      <p:sp>
        <p:nvSpPr>
          <p:cNvPr id="35" name="data needed"/>
          <p:cNvSpPr/>
          <p:nvPr/>
        </p:nvSpPr>
        <p:spPr>
          <a:xfrm>
            <a:off x="548640" y="5669280"/>
            <a:ext cx="11064240" cy="594360"/>
          </a:xfrm>
          <a:prstGeom prst="roundRect">
            <a:avLst>
              <a:gd name="adj" fmla="val 18462"/>
            </a:avLst>
          </a:prstGeom>
          <a:solidFill>
            <a:schemeClr val="accent1"/>
          </a:solidFill>
          <a:ln w="12700">
            <a:solidFill>
              <a:schemeClr val="accent1"/>
            </a:solidFill>
            <a:prstDash val="solid"/>
          </a:ln>
        </p:spPr>
      </p:sp>
      <p:sp>
        <p:nvSpPr>
          <p:cNvPr id="36" name="Text 34"/>
          <p:cNvSpPr txBox="1"/>
          <p:nvPr/>
        </p:nvSpPr>
        <p:spPr>
          <a:xfrm>
            <a:off x="777240" y="5669280"/>
            <a:ext cx="10607040" cy="594360"/>
          </a:xfrm>
          <a:prstGeom prst="rect">
            <a:avLst/>
          </a:prstGeom>
          <a:noFill/>
          <a:ln/>
        </p:spPr>
        <p:txBody>
          <a:bodyPr wrap="square" lIns="0" tIns="0" rIns="0" bIns="0" rtlCol="0" anchor="ctr"/>
          <a:lstStyle/>
          <a:p>
            <a:pPr indent="0" marL="0">
              <a:buNone/>
            </a:pPr>
            <a:r>
              <a:rPr lang="en-US" sz="1600" b="1" dirty="0">
                <a:solidFill>
                  <a:schemeClr val="accent2"/>
                </a:solidFill>
                <a:latin typeface="Calibri" pitchFamily="34" charset="0"/>
                <a:ea typeface="Calibri" pitchFamily="34" charset="-122"/>
                <a:cs typeface="Calibri" pitchFamily="34" charset="-120"/>
              </a:rPr>
              <a:t>Needs: </a:t>
            </a:r>
            <a:pPr indent="0" marL="0">
              <a:buNone/>
            </a:pPr>
            <a:r>
              <a:rPr lang="en-US" sz="1600" dirty="0">
                <a:solidFill>
                  <a:schemeClr val="bg1"/>
                </a:solidFill>
                <a:latin typeface="Calibri" pitchFamily="34" charset="0"/>
                <a:ea typeface="Calibri" pitchFamily="34" charset="-122"/>
                <a:cs typeface="Calibri" pitchFamily="34" charset="-120"/>
              </a:rPr>
              <a:t>transaction-level values or counts per value band</a:t>
            </a:r>
            <a:endParaRPr lang="en-US" sz="1600" dirty="0"/>
          </a:p>
        </p:txBody>
      </p:sp>
      <p:sp>
        <p:nvSpPr>
          <p:cNvPr id="25"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lIns="0" tIns="0" rIns="0" bIns="0" rtlCol="0" anchor="ctr"/>
          <a:lstStyle/>
          <a:p>
            <a:pPr algn="l" indent="0" marL="0">
              <a:buNone/>
            </a:pPr>
            <a:r>
              <a:rPr lang="en-US" sz="2800" b="1" dirty="0">
                <a:solidFill>
                  <a:schemeClr val="tx1"/>
                </a:solidFill>
              </a:rPr>
              <a:t>Nine gaps to close in future reports</a:t>
            </a:r>
            <a:endParaRPr lang="en-US" sz="2800" dirty="0"/>
          </a:p>
        </p:txBody>
      </p:sp>
      <p:sp>
        <p:nvSpPr>
          <p:cNvPr id="3" name="card"/>
          <p:cNvSpPr/>
          <p:nvPr/>
        </p:nvSpPr>
        <p:spPr>
          <a:xfrm>
            <a:off x="548640" y="1371600"/>
            <a:ext cx="3566160" cy="1463040"/>
          </a:xfrm>
          <a:prstGeom prst="roundRect">
            <a:avLst>
              <a:gd name="adj" fmla="val 7500"/>
            </a:avLst>
          </a:prstGeom>
          <a:solidFill>
            <a:schemeClr val="bg2"/>
          </a:solidFill>
          <a:ln w="12700">
            <a:solidFill>
              <a:schemeClr val="bg2"/>
            </a:solidFill>
            <a:prstDash val="solid"/>
          </a:ln>
        </p:spPr>
      </p:sp>
      <p:sp>
        <p:nvSpPr>
          <p:cNvPr id="4" name="number circle"/>
          <p:cNvSpPr/>
          <p:nvPr/>
        </p:nvSpPr>
        <p:spPr>
          <a:xfrm>
            <a:off x="777240" y="1600200"/>
            <a:ext cx="457200" cy="457200"/>
          </a:xfrm>
          <a:prstGeom prst="ellipse">
            <a:avLst/>
          </a:prstGeom>
          <a:solidFill>
            <a:schemeClr val="accent2"/>
          </a:solidFill>
          <a:ln w="12700">
            <a:solidFill>
              <a:schemeClr val="accent2"/>
            </a:solidFill>
            <a:prstDash val="solid"/>
          </a:ln>
        </p:spPr>
      </p:sp>
      <p:sp>
        <p:nvSpPr>
          <p:cNvPr id="5" name="Text 3"/>
          <p:cNvSpPr txBox="1"/>
          <p:nvPr/>
        </p:nvSpPr>
        <p:spPr>
          <a:xfrm>
            <a:off x="777240" y="1600200"/>
            <a:ext cx="457200" cy="457200"/>
          </a:xfrm>
          <a:prstGeom prst="rect">
            <a:avLst/>
          </a:prstGeom>
          <a:noFill/>
          <a:ln/>
        </p:spPr>
        <p:txBody>
          <a:bodyPr wrap="square" lIns="0" tIns="0" rIns="0" bIns="0" rtlCol="0" anchor="ctr"/>
          <a:lstStyle/>
          <a:p>
            <a:pPr algn="ctr" indent="0" marL="0">
              <a:buNone/>
            </a:pPr>
            <a:r>
              <a:rPr lang="en-US" sz="1600" b="1" dirty="0">
                <a:solidFill>
                  <a:schemeClr val="tx1"/>
                </a:solidFill>
                <a:latin typeface="Calibri" pitchFamily="34" charset="0"/>
                <a:ea typeface="Calibri" pitchFamily="34" charset="-122"/>
                <a:cs typeface="Calibri" pitchFamily="34" charset="-120"/>
              </a:rPr>
              <a:t>1</a:t>
            </a:r>
            <a:endParaRPr lang="en-US" sz="1600" dirty="0"/>
          </a:p>
        </p:txBody>
      </p:sp>
      <p:sp>
        <p:nvSpPr>
          <p:cNvPr id="6" name="Text 4"/>
          <p:cNvSpPr txBox="1"/>
          <p:nvPr/>
        </p:nvSpPr>
        <p:spPr>
          <a:xfrm>
            <a:off x="1417320" y="1600200"/>
            <a:ext cx="2514600" cy="457200"/>
          </a:xfrm>
          <a:prstGeom prst="rect">
            <a:avLst/>
          </a:prstGeom>
          <a:noFill/>
          <a:ln/>
        </p:spPr>
        <p:txBody>
          <a:bodyPr wrap="square" lIns="0" tIns="0" rIns="0" bIns="0" rtlCol="0" anchor="ctr"/>
          <a:lstStyle/>
          <a:p>
            <a:pPr indent="0" marL="0">
              <a:buNone/>
            </a:pPr>
            <a:r>
              <a:rPr lang="en-US" sz="1700" b="1" dirty="0">
                <a:solidFill>
                  <a:schemeClr val="tx1"/>
                </a:solidFill>
                <a:latin typeface="Calibri" pitchFamily="34" charset="0"/>
                <a:ea typeface="Calibri" pitchFamily="34" charset="-122"/>
                <a:cs typeface="Calibri" pitchFamily="34" charset="-120"/>
              </a:rPr>
              <a:t>Causality</a:t>
            </a:r>
            <a:endParaRPr lang="en-US" sz="1700" dirty="0"/>
          </a:p>
        </p:txBody>
      </p:sp>
      <p:sp>
        <p:nvSpPr>
          <p:cNvPr id="7" name="Text 5"/>
          <p:cNvSpPr txBox="1"/>
          <p:nvPr/>
        </p:nvSpPr>
        <p:spPr>
          <a:xfrm>
            <a:off x="777240" y="2240280"/>
            <a:ext cx="3154680" cy="502920"/>
          </a:xfrm>
          <a:prstGeom prst="rect">
            <a:avLst/>
          </a:prstGeom>
          <a:noFill/>
          <a:ln/>
        </p:spPr>
        <p:txBody>
          <a:bodyPr wrap="square" lIns="0" tIns="0" rIns="0" bIns="0" rtlCol="0" anchor="ctr"/>
          <a:lstStyle/>
          <a:p>
            <a:pPr indent="0" marL="0">
              <a:buNone/>
            </a:pPr>
            <a:r>
              <a:rPr lang="en-US" sz="1500" dirty="0">
                <a:solidFill>
                  <a:schemeClr val="tx2"/>
                </a:solidFill>
                <a:latin typeface="Calibri" pitchFamily="34" charset="0"/>
                <a:ea typeface="Calibri" pitchFamily="34" charset="-122"/>
                <a:cs typeface="Calibri" pitchFamily="34" charset="-120"/>
              </a:rPr>
              <a:t>What changed</a:t>
            </a:r>
            <a:pPr indent="0" marL="0">
              <a:buNone/>
            </a:pPr>
            <a:r>
              <a:rPr lang="en-US" sz="1500" b="1" dirty="0">
                <a:solidFill>
                  <a:schemeClr val="accent3"/>
                </a:solidFill>
                <a:latin typeface="Calibri" pitchFamily="34" charset="0"/>
                <a:ea typeface="Calibri" pitchFamily="34" charset="-122"/>
                <a:cs typeface="Calibri" pitchFamily="34" charset="-120"/>
              </a:rPr>
              <a:t>  &gt;  </a:t>
            </a:r>
            <a:pPr indent="0" marL="0">
              <a:buNone/>
            </a:pPr>
            <a:r>
              <a:rPr lang="en-US" sz="1500" b="1" dirty="0">
                <a:solidFill>
                  <a:schemeClr val="tx1"/>
                </a:solidFill>
                <a:latin typeface="Calibri" pitchFamily="34" charset="0"/>
                <a:ea typeface="Calibri" pitchFamily="34" charset="-122"/>
                <a:cs typeface="Calibri" pitchFamily="34" charset="-120"/>
              </a:rPr>
              <a:t>Why it changed</a:t>
            </a:r>
            <a:endParaRPr lang="en-US" sz="1500" dirty="0"/>
          </a:p>
        </p:txBody>
      </p:sp>
      <p:sp>
        <p:nvSpPr>
          <p:cNvPr id="8" name="card"/>
          <p:cNvSpPr/>
          <p:nvPr/>
        </p:nvSpPr>
        <p:spPr>
          <a:xfrm>
            <a:off x="4297680" y="1371600"/>
            <a:ext cx="3566160" cy="1463040"/>
          </a:xfrm>
          <a:prstGeom prst="roundRect">
            <a:avLst>
              <a:gd name="adj" fmla="val 7500"/>
            </a:avLst>
          </a:prstGeom>
          <a:solidFill>
            <a:schemeClr val="bg2"/>
          </a:solidFill>
          <a:ln w="12700">
            <a:solidFill>
              <a:schemeClr val="bg2"/>
            </a:solidFill>
            <a:prstDash val="solid"/>
          </a:ln>
        </p:spPr>
      </p:sp>
      <p:sp>
        <p:nvSpPr>
          <p:cNvPr id="9" name="number circle"/>
          <p:cNvSpPr/>
          <p:nvPr/>
        </p:nvSpPr>
        <p:spPr>
          <a:xfrm>
            <a:off x="4526280" y="1600200"/>
            <a:ext cx="457200" cy="457200"/>
          </a:xfrm>
          <a:prstGeom prst="ellipse">
            <a:avLst/>
          </a:prstGeom>
          <a:solidFill>
            <a:schemeClr val="accent2"/>
          </a:solidFill>
          <a:ln w="12700">
            <a:solidFill>
              <a:schemeClr val="accent2"/>
            </a:solidFill>
            <a:prstDash val="solid"/>
          </a:ln>
        </p:spPr>
      </p:sp>
      <p:sp>
        <p:nvSpPr>
          <p:cNvPr id="10" name="Text 8"/>
          <p:cNvSpPr txBox="1"/>
          <p:nvPr/>
        </p:nvSpPr>
        <p:spPr>
          <a:xfrm>
            <a:off x="4526280" y="1600200"/>
            <a:ext cx="457200" cy="457200"/>
          </a:xfrm>
          <a:prstGeom prst="rect">
            <a:avLst/>
          </a:prstGeom>
          <a:noFill/>
          <a:ln/>
        </p:spPr>
        <p:txBody>
          <a:bodyPr wrap="square" lIns="0" tIns="0" rIns="0" bIns="0" rtlCol="0" anchor="ctr"/>
          <a:lstStyle/>
          <a:p>
            <a:pPr algn="ctr" indent="0" marL="0">
              <a:buNone/>
            </a:pPr>
            <a:r>
              <a:rPr lang="en-US" sz="1600" b="1" dirty="0">
                <a:solidFill>
                  <a:schemeClr val="tx1"/>
                </a:solidFill>
                <a:latin typeface="Calibri" pitchFamily="34" charset="0"/>
                <a:ea typeface="Calibri" pitchFamily="34" charset="-122"/>
                <a:cs typeface="Calibri" pitchFamily="34" charset="-120"/>
              </a:rPr>
              <a:t>2</a:t>
            </a:r>
            <a:endParaRPr lang="en-US" sz="1600" dirty="0"/>
          </a:p>
        </p:txBody>
      </p:sp>
      <p:sp>
        <p:nvSpPr>
          <p:cNvPr id="11" name="Text 9"/>
          <p:cNvSpPr txBox="1"/>
          <p:nvPr/>
        </p:nvSpPr>
        <p:spPr>
          <a:xfrm>
            <a:off x="5166360" y="1600200"/>
            <a:ext cx="2514600" cy="457200"/>
          </a:xfrm>
          <a:prstGeom prst="rect">
            <a:avLst/>
          </a:prstGeom>
          <a:noFill/>
          <a:ln/>
        </p:spPr>
        <p:txBody>
          <a:bodyPr wrap="square" lIns="0" tIns="0" rIns="0" bIns="0" rtlCol="0" anchor="ctr"/>
          <a:lstStyle/>
          <a:p>
            <a:pPr indent="0" marL="0">
              <a:buNone/>
            </a:pPr>
            <a:r>
              <a:rPr lang="en-US" sz="1700" b="1" dirty="0">
                <a:solidFill>
                  <a:schemeClr val="tx1"/>
                </a:solidFill>
                <a:latin typeface="Calibri" pitchFamily="34" charset="0"/>
                <a:ea typeface="Calibri" pitchFamily="34" charset="-122"/>
                <a:cs typeface="Calibri" pitchFamily="34" charset="-120"/>
              </a:rPr>
              <a:t>Demographics</a:t>
            </a:r>
            <a:endParaRPr lang="en-US" sz="1700" dirty="0"/>
          </a:p>
        </p:txBody>
      </p:sp>
      <p:sp>
        <p:nvSpPr>
          <p:cNvPr id="12" name="Text 10"/>
          <p:cNvSpPr txBox="1"/>
          <p:nvPr/>
        </p:nvSpPr>
        <p:spPr>
          <a:xfrm>
            <a:off x="4526280" y="2240280"/>
            <a:ext cx="3154680" cy="502920"/>
          </a:xfrm>
          <a:prstGeom prst="rect">
            <a:avLst/>
          </a:prstGeom>
          <a:noFill/>
          <a:ln/>
        </p:spPr>
        <p:txBody>
          <a:bodyPr wrap="square" lIns="0" tIns="0" rIns="0" bIns="0" rtlCol="0" anchor="ctr"/>
          <a:lstStyle/>
          <a:p>
            <a:pPr indent="0" marL="0">
              <a:buNone/>
            </a:pPr>
            <a:r>
              <a:rPr lang="en-US" sz="1500" dirty="0">
                <a:solidFill>
                  <a:schemeClr val="tx2"/>
                </a:solidFill>
                <a:latin typeface="Calibri" pitchFamily="34" charset="0"/>
                <a:ea typeface="Calibri" pitchFamily="34" charset="-122"/>
                <a:cs typeface="Calibri" pitchFamily="34" charset="-120"/>
              </a:rPr>
              <a:t>Static</a:t>
            </a:r>
            <a:pPr indent="0" marL="0">
              <a:buNone/>
            </a:pPr>
            <a:r>
              <a:rPr lang="en-US" sz="1500" b="1" dirty="0">
                <a:solidFill>
                  <a:schemeClr val="accent3"/>
                </a:solidFill>
                <a:latin typeface="Calibri" pitchFamily="34" charset="0"/>
                <a:ea typeface="Calibri" pitchFamily="34" charset="-122"/>
                <a:cs typeface="Calibri" pitchFamily="34" charset="-120"/>
              </a:rPr>
              <a:t>  &gt;  </a:t>
            </a:r>
            <a:pPr indent="0" marL="0">
              <a:buNone/>
            </a:pPr>
            <a:r>
              <a:rPr lang="en-US" sz="1500" b="1" dirty="0">
                <a:solidFill>
                  <a:schemeClr val="tx1"/>
                </a:solidFill>
                <a:latin typeface="Calibri" pitchFamily="34" charset="0"/>
                <a:ea typeface="Calibri" pitchFamily="34" charset="-122"/>
                <a:cs typeface="Calibri" pitchFamily="34" charset="-120"/>
              </a:rPr>
              <a:t>Year over year</a:t>
            </a:r>
            <a:endParaRPr lang="en-US" sz="1500" dirty="0"/>
          </a:p>
        </p:txBody>
      </p:sp>
      <p:sp>
        <p:nvSpPr>
          <p:cNvPr id="13" name="card"/>
          <p:cNvSpPr/>
          <p:nvPr/>
        </p:nvSpPr>
        <p:spPr>
          <a:xfrm>
            <a:off x="8046720" y="1371600"/>
            <a:ext cx="3566160" cy="1463040"/>
          </a:xfrm>
          <a:prstGeom prst="roundRect">
            <a:avLst>
              <a:gd name="adj" fmla="val 7500"/>
            </a:avLst>
          </a:prstGeom>
          <a:solidFill>
            <a:schemeClr val="bg2"/>
          </a:solidFill>
          <a:ln w="12700">
            <a:solidFill>
              <a:schemeClr val="bg2"/>
            </a:solidFill>
            <a:prstDash val="solid"/>
          </a:ln>
        </p:spPr>
      </p:sp>
      <p:sp>
        <p:nvSpPr>
          <p:cNvPr id="14" name="number circle"/>
          <p:cNvSpPr/>
          <p:nvPr/>
        </p:nvSpPr>
        <p:spPr>
          <a:xfrm>
            <a:off x="8275320" y="1600200"/>
            <a:ext cx="457200" cy="457200"/>
          </a:xfrm>
          <a:prstGeom prst="ellipse">
            <a:avLst/>
          </a:prstGeom>
          <a:solidFill>
            <a:schemeClr val="accent2"/>
          </a:solidFill>
          <a:ln w="12700">
            <a:solidFill>
              <a:schemeClr val="accent2"/>
            </a:solidFill>
            <a:prstDash val="solid"/>
          </a:ln>
        </p:spPr>
      </p:sp>
      <p:sp>
        <p:nvSpPr>
          <p:cNvPr id="15" name="Text 13"/>
          <p:cNvSpPr txBox="1"/>
          <p:nvPr/>
        </p:nvSpPr>
        <p:spPr>
          <a:xfrm>
            <a:off x="8275320" y="1600200"/>
            <a:ext cx="457200" cy="457200"/>
          </a:xfrm>
          <a:prstGeom prst="rect">
            <a:avLst/>
          </a:prstGeom>
          <a:noFill/>
          <a:ln/>
        </p:spPr>
        <p:txBody>
          <a:bodyPr wrap="square" lIns="0" tIns="0" rIns="0" bIns="0" rtlCol="0" anchor="ctr"/>
          <a:lstStyle/>
          <a:p>
            <a:pPr algn="ctr" indent="0" marL="0">
              <a:buNone/>
            </a:pPr>
            <a:r>
              <a:rPr lang="en-US" sz="1600" b="1" dirty="0">
                <a:solidFill>
                  <a:schemeClr val="tx1"/>
                </a:solidFill>
                <a:latin typeface="Calibri" pitchFamily="34" charset="0"/>
                <a:ea typeface="Calibri" pitchFamily="34" charset="-122"/>
                <a:cs typeface="Calibri" pitchFamily="34" charset="-120"/>
              </a:rPr>
              <a:t>3</a:t>
            </a:r>
            <a:endParaRPr lang="en-US" sz="1600" dirty="0"/>
          </a:p>
        </p:txBody>
      </p:sp>
      <p:sp>
        <p:nvSpPr>
          <p:cNvPr id="16" name="Text 14"/>
          <p:cNvSpPr txBox="1"/>
          <p:nvPr/>
        </p:nvSpPr>
        <p:spPr>
          <a:xfrm>
            <a:off x="8915400" y="1600200"/>
            <a:ext cx="2514600" cy="457200"/>
          </a:xfrm>
          <a:prstGeom prst="rect">
            <a:avLst/>
          </a:prstGeom>
          <a:noFill/>
          <a:ln/>
        </p:spPr>
        <p:txBody>
          <a:bodyPr wrap="square" lIns="0" tIns="0" rIns="0" bIns="0" rtlCol="0" anchor="ctr"/>
          <a:lstStyle/>
          <a:p>
            <a:pPr indent="0" marL="0">
              <a:buNone/>
            </a:pPr>
            <a:r>
              <a:rPr lang="en-US" sz="1700" b="1" dirty="0">
                <a:solidFill>
                  <a:schemeClr val="tx1"/>
                </a:solidFill>
                <a:latin typeface="Calibri" pitchFamily="34" charset="0"/>
                <a:ea typeface="Calibri" pitchFamily="34" charset="-122"/>
                <a:cs typeface="Calibri" pitchFamily="34" charset="-120"/>
              </a:rPr>
              <a:t>Cross-system</a:t>
            </a:r>
            <a:endParaRPr lang="en-US" sz="1700" dirty="0"/>
          </a:p>
        </p:txBody>
      </p:sp>
      <p:sp>
        <p:nvSpPr>
          <p:cNvPr id="17" name="Text 15"/>
          <p:cNvSpPr txBox="1"/>
          <p:nvPr/>
        </p:nvSpPr>
        <p:spPr>
          <a:xfrm>
            <a:off x="8275320" y="2240280"/>
            <a:ext cx="3154680" cy="502920"/>
          </a:xfrm>
          <a:prstGeom prst="rect">
            <a:avLst/>
          </a:prstGeom>
          <a:noFill/>
          <a:ln/>
        </p:spPr>
        <p:txBody>
          <a:bodyPr wrap="square" lIns="0" tIns="0" rIns="0" bIns="0" rtlCol="0" anchor="ctr"/>
          <a:lstStyle/>
          <a:p>
            <a:pPr indent="0" marL="0">
              <a:buNone/>
            </a:pPr>
            <a:r>
              <a:rPr lang="en-US" sz="1500" dirty="0">
                <a:solidFill>
                  <a:schemeClr val="tx2"/>
                </a:solidFill>
                <a:latin typeface="Calibri" pitchFamily="34" charset="0"/>
                <a:ea typeface="Calibri" pitchFamily="34" charset="-122"/>
                <a:cs typeface="Calibri" pitchFamily="34" charset="-120"/>
              </a:rPr>
              <a:t>Isolated</a:t>
            </a:r>
            <a:pPr indent="0" marL="0">
              <a:buNone/>
            </a:pPr>
            <a:r>
              <a:rPr lang="en-US" sz="1500" b="1" dirty="0">
                <a:solidFill>
                  <a:schemeClr val="accent3"/>
                </a:solidFill>
                <a:latin typeface="Calibri" pitchFamily="34" charset="0"/>
                <a:ea typeface="Calibri" pitchFamily="34" charset="-122"/>
                <a:cs typeface="Calibri" pitchFamily="34" charset="-120"/>
              </a:rPr>
              <a:t>  &gt;  </a:t>
            </a:r>
            <a:pPr indent="0" marL="0">
              <a:buNone/>
            </a:pPr>
            <a:r>
              <a:rPr lang="en-US" sz="1500" b="1" dirty="0">
                <a:solidFill>
                  <a:schemeClr val="tx1"/>
                </a:solidFill>
                <a:latin typeface="Calibri" pitchFamily="34" charset="0"/>
                <a:ea typeface="Calibri" pitchFamily="34" charset="-122"/>
                <a:cs typeface="Calibri" pitchFamily="34" charset="-120"/>
              </a:rPr>
              <a:t>Linked</a:t>
            </a:r>
            <a:endParaRPr lang="en-US" sz="1500" dirty="0"/>
          </a:p>
        </p:txBody>
      </p:sp>
      <p:sp>
        <p:nvSpPr>
          <p:cNvPr id="18" name="card"/>
          <p:cNvSpPr/>
          <p:nvPr/>
        </p:nvSpPr>
        <p:spPr>
          <a:xfrm>
            <a:off x="548640" y="3017520"/>
            <a:ext cx="3566160" cy="1463040"/>
          </a:xfrm>
          <a:prstGeom prst="roundRect">
            <a:avLst>
              <a:gd name="adj" fmla="val 7500"/>
            </a:avLst>
          </a:prstGeom>
          <a:solidFill>
            <a:schemeClr val="bg2"/>
          </a:solidFill>
          <a:ln w="12700">
            <a:solidFill>
              <a:schemeClr val="bg2"/>
            </a:solidFill>
            <a:prstDash val="solid"/>
          </a:ln>
        </p:spPr>
      </p:sp>
      <p:sp>
        <p:nvSpPr>
          <p:cNvPr id="19" name="number circle"/>
          <p:cNvSpPr/>
          <p:nvPr/>
        </p:nvSpPr>
        <p:spPr>
          <a:xfrm>
            <a:off x="777240" y="3246120"/>
            <a:ext cx="457200" cy="457200"/>
          </a:xfrm>
          <a:prstGeom prst="ellipse">
            <a:avLst/>
          </a:prstGeom>
          <a:solidFill>
            <a:schemeClr val="accent2"/>
          </a:solidFill>
          <a:ln w="12700">
            <a:solidFill>
              <a:schemeClr val="accent2"/>
            </a:solidFill>
            <a:prstDash val="solid"/>
          </a:ln>
        </p:spPr>
      </p:sp>
      <p:sp>
        <p:nvSpPr>
          <p:cNvPr id="20" name="Text 18"/>
          <p:cNvSpPr txBox="1"/>
          <p:nvPr/>
        </p:nvSpPr>
        <p:spPr>
          <a:xfrm>
            <a:off x="777240" y="3246120"/>
            <a:ext cx="457200" cy="457200"/>
          </a:xfrm>
          <a:prstGeom prst="rect">
            <a:avLst/>
          </a:prstGeom>
          <a:noFill/>
          <a:ln/>
        </p:spPr>
        <p:txBody>
          <a:bodyPr wrap="square" lIns="0" tIns="0" rIns="0" bIns="0" rtlCol="0" anchor="ctr"/>
          <a:lstStyle/>
          <a:p>
            <a:pPr algn="ctr" indent="0" marL="0">
              <a:buNone/>
            </a:pPr>
            <a:r>
              <a:rPr lang="en-US" sz="1600" b="1" dirty="0">
                <a:solidFill>
                  <a:schemeClr val="tx1"/>
                </a:solidFill>
                <a:latin typeface="Calibri" pitchFamily="34" charset="0"/>
                <a:ea typeface="Calibri" pitchFamily="34" charset="-122"/>
                <a:cs typeface="Calibri" pitchFamily="34" charset="-120"/>
              </a:rPr>
              <a:t>4</a:t>
            </a:r>
            <a:endParaRPr lang="en-US" sz="1600" dirty="0"/>
          </a:p>
        </p:txBody>
      </p:sp>
      <p:sp>
        <p:nvSpPr>
          <p:cNvPr id="21" name="Text 19"/>
          <p:cNvSpPr txBox="1"/>
          <p:nvPr/>
        </p:nvSpPr>
        <p:spPr>
          <a:xfrm>
            <a:off x="1417320" y="3246120"/>
            <a:ext cx="2514600" cy="457200"/>
          </a:xfrm>
          <a:prstGeom prst="rect">
            <a:avLst/>
          </a:prstGeom>
          <a:noFill/>
          <a:ln/>
        </p:spPr>
        <p:txBody>
          <a:bodyPr wrap="square" lIns="0" tIns="0" rIns="0" bIns="0" rtlCol="0" anchor="ctr"/>
          <a:lstStyle/>
          <a:p>
            <a:pPr indent="0" marL="0">
              <a:buNone/>
            </a:pPr>
            <a:r>
              <a:rPr lang="en-US" sz="1700" b="1" dirty="0">
                <a:solidFill>
                  <a:schemeClr val="tx1"/>
                </a:solidFill>
                <a:latin typeface="Calibri" pitchFamily="34" charset="0"/>
                <a:ea typeface="Calibri" pitchFamily="34" charset="-122"/>
                <a:cs typeface="Calibri" pitchFamily="34" charset="-120"/>
              </a:rPr>
              <a:t>Engagement</a:t>
            </a:r>
            <a:endParaRPr lang="en-US" sz="1700" dirty="0"/>
          </a:p>
        </p:txBody>
      </p:sp>
      <p:sp>
        <p:nvSpPr>
          <p:cNvPr id="22" name="Text 20"/>
          <p:cNvSpPr txBox="1"/>
          <p:nvPr/>
        </p:nvSpPr>
        <p:spPr>
          <a:xfrm>
            <a:off x="777240" y="3886200"/>
            <a:ext cx="3154680" cy="502920"/>
          </a:xfrm>
          <a:prstGeom prst="rect">
            <a:avLst/>
          </a:prstGeom>
          <a:noFill/>
          <a:ln/>
        </p:spPr>
        <p:txBody>
          <a:bodyPr wrap="square" lIns="0" tIns="0" rIns="0" bIns="0" rtlCol="0" anchor="ctr"/>
          <a:lstStyle/>
          <a:p>
            <a:pPr indent="0" marL="0">
              <a:buNone/>
            </a:pPr>
            <a:r>
              <a:rPr lang="en-US" sz="1500" dirty="0">
                <a:solidFill>
                  <a:schemeClr val="tx2"/>
                </a:solidFill>
                <a:latin typeface="Calibri" pitchFamily="34" charset="0"/>
                <a:ea typeface="Calibri" pitchFamily="34" charset="-122"/>
                <a:cs typeface="Calibri" pitchFamily="34" charset="-120"/>
              </a:rPr>
              <a:t>User counts</a:t>
            </a:r>
            <a:pPr indent="0" marL="0">
              <a:buNone/>
            </a:pPr>
            <a:r>
              <a:rPr lang="en-US" sz="1500" b="1" dirty="0">
                <a:solidFill>
                  <a:schemeClr val="accent3"/>
                </a:solidFill>
                <a:latin typeface="Calibri" pitchFamily="34" charset="0"/>
                <a:ea typeface="Calibri" pitchFamily="34" charset="-122"/>
                <a:cs typeface="Calibri" pitchFamily="34" charset="-120"/>
              </a:rPr>
              <a:t>  &gt;  </a:t>
            </a:r>
            <a:pPr indent="0" marL="0">
              <a:buNone/>
            </a:pPr>
            <a:r>
              <a:rPr lang="en-US" sz="1500" b="1" dirty="0">
                <a:solidFill>
                  <a:schemeClr val="tx1"/>
                </a:solidFill>
                <a:latin typeface="Calibri" pitchFamily="34" charset="0"/>
                <a:ea typeface="Calibri" pitchFamily="34" charset="-122"/>
                <a:cs typeface="Calibri" pitchFamily="34" charset="-120"/>
              </a:rPr>
              <a:t>Transactions per user</a:t>
            </a:r>
            <a:endParaRPr lang="en-US" sz="1500" dirty="0"/>
          </a:p>
        </p:txBody>
      </p:sp>
      <p:sp>
        <p:nvSpPr>
          <p:cNvPr id="23" name="card"/>
          <p:cNvSpPr/>
          <p:nvPr/>
        </p:nvSpPr>
        <p:spPr>
          <a:xfrm>
            <a:off x="4297680" y="3017520"/>
            <a:ext cx="3566160" cy="1463040"/>
          </a:xfrm>
          <a:prstGeom prst="roundRect">
            <a:avLst>
              <a:gd name="adj" fmla="val 7500"/>
            </a:avLst>
          </a:prstGeom>
          <a:solidFill>
            <a:schemeClr val="bg2"/>
          </a:solidFill>
          <a:ln w="12700">
            <a:solidFill>
              <a:schemeClr val="bg2"/>
            </a:solidFill>
            <a:prstDash val="solid"/>
          </a:ln>
        </p:spPr>
      </p:sp>
      <p:sp>
        <p:nvSpPr>
          <p:cNvPr id="24" name="number circle"/>
          <p:cNvSpPr/>
          <p:nvPr/>
        </p:nvSpPr>
        <p:spPr>
          <a:xfrm>
            <a:off x="4526280" y="3246120"/>
            <a:ext cx="457200" cy="457200"/>
          </a:xfrm>
          <a:prstGeom prst="ellipse">
            <a:avLst/>
          </a:prstGeom>
          <a:solidFill>
            <a:schemeClr val="accent2"/>
          </a:solidFill>
          <a:ln w="12700">
            <a:solidFill>
              <a:schemeClr val="accent2"/>
            </a:solidFill>
            <a:prstDash val="solid"/>
          </a:ln>
        </p:spPr>
      </p:sp>
      <p:sp>
        <p:nvSpPr>
          <p:cNvPr id="25" name="Text 23"/>
          <p:cNvSpPr txBox="1"/>
          <p:nvPr/>
        </p:nvSpPr>
        <p:spPr>
          <a:xfrm>
            <a:off x="4526280" y="3246120"/>
            <a:ext cx="457200" cy="457200"/>
          </a:xfrm>
          <a:prstGeom prst="rect">
            <a:avLst/>
          </a:prstGeom>
          <a:noFill/>
          <a:ln/>
        </p:spPr>
        <p:txBody>
          <a:bodyPr wrap="square" lIns="0" tIns="0" rIns="0" bIns="0" rtlCol="0" anchor="ctr"/>
          <a:lstStyle/>
          <a:p>
            <a:pPr algn="ctr" indent="0" marL="0">
              <a:buNone/>
            </a:pPr>
            <a:r>
              <a:rPr lang="en-US" sz="1600" b="1" dirty="0">
                <a:solidFill>
                  <a:schemeClr val="tx1"/>
                </a:solidFill>
                <a:latin typeface="Calibri" pitchFamily="34" charset="0"/>
                <a:ea typeface="Calibri" pitchFamily="34" charset="-122"/>
                <a:cs typeface="Calibri" pitchFamily="34" charset="-120"/>
              </a:rPr>
              <a:t>5</a:t>
            </a:r>
            <a:endParaRPr lang="en-US" sz="1600" dirty="0"/>
          </a:p>
        </p:txBody>
      </p:sp>
      <p:sp>
        <p:nvSpPr>
          <p:cNvPr id="26" name="Text 24"/>
          <p:cNvSpPr txBox="1"/>
          <p:nvPr/>
        </p:nvSpPr>
        <p:spPr>
          <a:xfrm>
            <a:off x="5166360" y="3246120"/>
            <a:ext cx="2514600" cy="457200"/>
          </a:xfrm>
          <a:prstGeom prst="rect">
            <a:avLst/>
          </a:prstGeom>
          <a:noFill/>
          <a:ln/>
        </p:spPr>
        <p:txBody>
          <a:bodyPr wrap="square" lIns="0" tIns="0" rIns="0" bIns="0" rtlCol="0" anchor="ctr"/>
          <a:lstStyle/>
          <a:p>
            <a:pPr indent="0" marL="0">
              <a:buNone/>
            </a:pPr>
            <a:r>
              <a:rPr lang="en-US" sz="1700" b="1" dirty="0">
                <a:solidFill>
                  <a:schemeClr val="tx1"/>
                </a:solidFill>
                <a:latin typeface="Calibri" pitchFamily="34" charset="0"/>
                <a:ea typeface="Calibri" pitchFamily="34" charset="-122"/>
                <a:cs typeface="Calibri" pitchFamily="34" charset="-120"/>
              </a:rPr>
              <a:t>Trajectory</a:t>
            </a:r>
            <a:endParaRPr lang="en-US" sz="1700" dirty="0"/>
          </a:p>
        </p:txBody>
      </p:sp>
      <p:sp>
        <p:nvSpPr>
          <p:cNvPr id="27" name="Text 25"/>
          <p:cNvSpPr txBox="1"/>
          <p:nvPr/>
        </p:nvSpPr>
        <p:spPr>
          <a:xfrm>
            <a:off x="4526280" y="3886200"/>
            <a:ext cx="3154680" cy="502920"/>
          </a:xfrm>
          <a:prstGeom prst="rect">
            <a:avLst/>
          </a:prstGeom>
          <a:noFill/>
          <a:ln/>
        </p:spPr>
        <p:txBody>
          <a:bodyPr wrap="square" lIns="0" tIns="0" rIns="0" bIns="0" rtlCol="0" anchor="ctr"/>
          <a:lstStyle/>
          <a:p>
            <a:pPr indent="0" marL="0">
              <a:buNone/>
            </a:pPr>
            <a:r>
              <a:rPr lang="en-US" sz="1500" dirty="0">
                <a:solidFill>
                  <a:schemeClr val="tx2"/>
                </a:solidFill>
                <a:latin typeface="Calibri" pitchFamily="34" charset="0"/>
                <a:ea typeface="Calibri" pitchFamily="34" charset="-122"/>
                <a:cs typeface="Calibri" pitchFamily="34" charset="-120"/>
              </a:rPr>
              <a:t>1 year</a:t>
            </a:r>
            <a:pPr indent="0" marL="0">
              <a:buNone/>
            </a:pPr>
            <a:r>
              <a:rPr lang="en-US" sz="1500" b="1" dirty="0">
                <a:solidFill>
                  <a:schemeClr val="accent3"/>
                </a:solidFill>
                <a:latin typeface="Calibri" pitchFamily="34" charset="0"/>
                <a:ea typeface="Calibri" pitchFamily="34" charset="-122"/>
                <a:cs typeface="Calibri" pitchFamily="34" charset="-120"/>
              </a:rPr>
              <a:t>  &gt;  </a:t>
            </a:r>
            <a:pPr indent="0" marL="0">
              <a:buNone/>
            </a:pPr>
            <a:r>
              <a:rPr lang="en-US" sz="1500" b="1" dirty="0">
                <a:solidFill>
                  <a:schemeClr val="tx1"/>
                </a:solidFill>
                <a:latin typeface="Calibri" pitchFamily="34" charset="0"/>
                <a:ea typeface="Calibri" pitchFamily="34" charset="-122"/>
                <a:cs typeface="Calibri" pitchFamily="34" charset="-120"/>
              </a:rPr>
              <a:t>3-year trend</a:t>
            </a:r>
            <a:endParaRPr lang="en-US" sz="1500" dirty="0"/>
          </a:p>
        </p:txBody>
      </p:sp>
      <p:sp>
        <p:nvSpPr>
          <p:cNvPr id="28" name="card"/>
          <p:cNvSpPr/>
          <p:nvPr/>
        </p:nvSpPr>
        <p:spPr>
          <a:xfrm>
            <a:off x="8046720" y="3017520"/>
            <a:ext cx="3566160" cy="1463040"/>
          </a:xfrm>
          <a:prstGeom prst="roundRect">
            <a:avLst>
              <a:gd name="adj" fmla="val 7500"/>
            </a:avLst>
          </a:prstGeom>
          <a:solidFill>
            <a:schemeClr val="bg2"/>
          </a:solidFill>
          <a:ln w="12700">
            <a:solidFill>
              <a:schemeClr val="bg2"/>
            </a:solidFill>
            <a:prstDash val="solid"/>
          </a:ln>
        </p:spPr>
      </p:sp>
      <p:sp>
        <p:nvSpPr>
          <p:cNvPr id="29" name="number circle"/>
          <p:cNvSpPr/>
          <p:nvPr/>
        </p:nvSpPr>
        <p:spPr>
          <a:xfrm>
            <a:off x="8275320" y="3246120"/>
            <a:ext cx="457200" cy="457200"/>
          </a:xfrm>
          <a:prstGeom prst="ellipse">
            <a:avLst/>
          </a:prstGeom>
          <a:solidFill>
            <a:schemeClr val="accent2"/>
          </a:solidFill>
          <a:ln w="12700">
            <a:solidFill>
              <a:schemeClr val="accent2"/>
            </a:solidFill>
            <a:prstDash val="solid"/>
          </a:ln>
        </p:spPr>
      </p:sp>
      <p:sp>
        <p:nvSpPr>
          <p:cNvPr id="30" name="Text 28"/>
          <p:cNvSpPr txBox="1"/>
          <p:nvPr/>
        </p:nvSpPr>
        <p:spPr>
          <a:xfrm>
            <a:off x="8275320" y="3246120"/>
            <a:ext cx="457200" cy="457200"/>
          </a:xfrm>
          <a:prstGeom prst="rect">
            <a:avLst/>
          </a:prstGeom>
          <a:noFill/>
          <a:ln/>
        </p:spPr>
        <p:txBody>
          <a:bodyPr wrap="square" lIns="0" tIns="0" rIns="0" bIns="0" rtlCol="0" anchor="ctr"/>
          <a:lstStyle/>
          <a:p>
            <a:pPr algn="ctr" indent="0" marL="0">
              <a:buNone/>
            </a:pPr>
            <a:r>
              <a:rPr lang="en-US" sz="1600" b="1" dirty="0">
                <a:solidFill>
                  <a:schemeClr val="tx1"/>
                </a:solidFill>
                <a:latin typeface="Calibri" pitchFamily="34" charset="0"/>
                <a:ea typeface="Calibri" pitchFamily="34" charset="-122"/>
                <a:cs typeface="Calibri" pitchFamily="34" charset="-120"/>
              </a:rPr>
              <a:t>6</a:t>
            </a:r>
            <a:endParaRPr lang="en-US" sz="1600" dirty="0"/>
          </a:p>
        </p:txBody>
      </p:sp>
      <p:sp>
        <p:nvSpPr>
          <p:cNvPr id="31" name="Text 29"/>
          <p:cNvSpPr txBox="1"/>
          <p:nvPr/>
        </p:nvSpPr>
        <p:spPr>
          <a:xfrm>
            <a:off x="8915400" y="3246120"/>
            <a:ext cx="2514600" cy="457200"/>
          </a:xfrm>
          <a:prstGeom prst="rect">
            <a:avLst/>
          </a:prstGeom>
          <a:noFill/>
          <a:ln/>
        </p:spPr>
        <p:txBody>
          <a:bodyPr wrap="square" lIns="0" tIns="0" rIns="0" bIns="0" rtlCol="0" anchor="ctr"/>
          <a:lstStyle/>
          <a:p>
            <a:pPr indent="0" marL="0">
              <a:buNone/>
            </a:pPr>
            <a:r>
              <a:rPr lang="en-US" sz="1700" b="1" dirty="0">
                <a:solidFill>
                  <a:schemeClr val="tx1"/>
                </a:solidFill>
                <a:latin typeface="Calibri" pitchFamily="34" charset="0"/>
                <a:ea typeface="Calibri" pitchFamily="34" charset="-122"/>
                <a:cs typeface="Calibri" pitchFamily="34" charset="-120"/>
              </a:rPr>
              <a:t>Averages</a:t>
            </a:r>
            <a:endParaRPr lang="en-US" sz="1700" dirty="0"/>
          </a:p>
        </p:txBody>
      </p:sp>
      <p:sp>
        <p:nvSpPr>
          <p:cNvPr id="32" name="Text 30"/>
          <p:cNvSpPr txBox="1"/>
          <p:nvPr/>
        </p:nvSpPr>
        <p:spPr>
          <a:xfrm>
            <a:off x="8275320" y="3886200"/>
            <a:ext cx="3154680" cy="502920"/>
          </a:xfrm>
          <a:prstGeom prst="rect">
            <a:avLst/>
          </a:prstGeom>
          <a:noFill/>
          <a:ln/>
        </p:spPr>
        <p:txBody>
          <a:bodyPr wrap="square" lIns="0" tIns="0" rIns="0" bIns="0" rtlCol="0" anchor="ctr"/>
          <a:lstStyle/>
          <a:p>
            <a:pPr indent="0" marL="0">
              <a:buNone/>
            </a:pPr>
            <a:r>
              <a:rPr lang="en-US" sz="1500" dirty="0">
                <a:solidFill>
                  <a:schemeClr val="tx2"/>
                </a:solidFill>
                <a:latin typeface="Calibri" pitchFamily="34" charset="0"/>
                <a:ea typeface="Calibri" pitchFamily="34" charset="-122"/>
                <a:cs typeface="Calibri" pitchFamily="34" charset="-120"/>
              </a:rPr>
              <a:t>Average only</a:t>
            </a:r>
            <a:pPr indent="0" marL="0">
              <a:buNone/>
            </a:pPr>
            <a:r>
              <a:rPr lang="en-US" sz="1500" b="1" dirty="0">
                <a:solidFill>
                  <a:schemeClr val="accent3"/>
                </a:solidFill>
                <a:latin typeface="Calibri" pitchFamily="34" charset="0"/>
                <a:ea typeface="Calibri" pitchFamily="34" charset="-122"/>
                <a:cs typeface="Calibri" pitchFamily="34" charset="-120"/>
              </a:rPr>
              <a:t>  &gt;  </a:t>
            </a:r>
            <a:pPr indent="0" marL="0">
              <a:buNone/>
            </a:pPr>
            <a:r>
              <a:rPr lang="en-US" sz="1500" b="1" dirty="0">
                <a:solidFill>
                  <a:schemeClr val="tx1"/>
                </a:solidFill>
                <a:latin typeface="Calibri" pitchFamily="34" charset="0"/>
                <a:ea typeface="Calibri" pitchFamily="34" charset="-122"/>
                <a:cs typeface="Calibri" pitchFamily="34" charset="-120"/>
              </a:rPr>
              <a:t>Plus most frequent range</a:t>
            </a:r>
            <a:endParaRPr lang="en-US" sz="1500" dirty="0"/>
          </a:p>
        </p:txBody>
      </p:sp>
      <p:sp>
        <p:nvSpPr>
          <p:cNvPr id="33" name="card"/>
          <p:cNvSpPr/>
          <p:nvPr/>
        </p:nvSpPr>
        <p:spPr>
          <a:xfrm>
            <a:off x="548640" y="4663440"/>
            <a:ext cx="3566160" cy="1463040"/>
          </a:xfrm>
          <a:prstGeom prst="roundRect">
            <a:avLst>
              <a:gd name="adj" fmla="val 7500"/>
            </a:avLst>
          </a:prstGeom>
          <a:solidFill>
            <a:schemeClr val="bg2"/>
          </a:solidFill>
          <a:ln w="12700">
            <a:solidFill>
              <a:schemeClr val="bg2"/>
            </a:solidFill>
            <a:prstDash val="solid"/>
          </a:ln>
        </p:spPr>
      </p:sp>
      <p:sp>
        <p:nvSpPr>
          <p:cNvPr id="34" name="number circle"/>
          <p:cNvSpPr/>
          <p:nvPr/>
        </p:nvSpPr>
        <p:spPr>
          <a:xfrm>
            <a:off x="777240" y="4892040"/>
            <a:ext cx="457200" cy="457200"/>
          </a:xfrm>
          <a:prstGeom prst="ellipse">
            <a:avLst/>
          </a:prstGeom>
          <a:solidFill>
            <a:schemeClr val="accent2"/>
          </a:solidFill>
          <a:ln w="12700">
            <a:solidFill>
              <a:schemeClr val="accent2"/>
            </a:solidFill>
            <a:prstDash val="solid"/>
          </a:ln>
        </p:spPr>
      </p:sp>
      <p:sp>
        <p:nvSpPr>
          <p:cNvPr id="35" name="Text 33"/>
          <p:cNvSpPr txBox="1"/>
          <p:nvPr/>
        </p:nvSpPr>
        <p:spPr>
          <a:xfrm>
            <a:off x="777240" y="4892040"/>
            <a:ext cx="457200" cy="457200"/>
          </a:xfrm>
          <a:prstGeom prst="rect">
            <a:avLst/>
          </a:prstGeom>
          <a:noFill/>
          <a:ln/>
        </p:spPr>
        <p:txBody>
          <a:bodyPr wrap="square" lIns="0" tIns="0" rIns="0" bIns="0" rtlCol="0" anchor="ctr"/>
          <a:lstStyle/>
          <a:p>
            <a:pPr algn="ctr" indent="0" marL="0">
              <a:buNone/>
            </a:pPr>
            <a:r>
              <a:rPr lang="en-US" sz="1600" b="1" dirty="0">
                <a:solidFill>
                  <a:schemeClr val="tx1"/>
                </a:solidFill>
                <a:latin typeface="Calibri" pitchFamily="34" charset="0"/>
                <a:ea typeface="Calibri" pitchFamily="34" charset="-122"/>
                <a:cs typeface="Calibri" pitchFamily="34" charset="-120"/>
              </a:rPr>
              <a:t>7</a:t>
            </a:r>
            <a:endParaRPr lang="en-US" sz="1600" dirty="0"/>
          </a:p>
        </p:txBody>
      </p:sp>
      <p:sp>
        <p:nvSpPr>
          <p:cNvPr id="36" name="Text 34"/>
          <p:cNvSpPr txBox="1"/>
          <p:nvPr/>
        </p:nvSpPr>
        <p:spPr>
          <a:xfrm>
            <a:off x="1417320" y="4892040"/>
            <a:ext cx="2514600" cy="457200"/>
          </a:xfrm>
          <a:prstGeom prst="rect">
            <a:avLst/>
          </a:prstGeom>
          <a:noFill/>
          <a:ln/>
        </p:spPr>
        <p:txBody>
          <a:bodyPr wrap="square" lIns="0" tIns="0" rIns="0" bIns="0" rtlCol="0" anchor="ctr"/>
          <a:lstStyle/>
          <a:p>
            <a:pPr indent="0" marL="0">
              <a:buNone/>
            </a:pPr>
            <a:r>
              <a:rPr lang="en-US" sz="1700" b="1" dirty="0">
                <a:solidFill>
                  <a:schemeClr val="tx1"/>
                </a:solidFill>
                <a:latin typeface="Calibri" pitchFamily="34" charset="0"/>
                <a:ea typeface="Calibri" pitchFamily="34" charset="-122"/>
                <a:cs typeface="Calibri" pitchFamily="34" charset="-120"/>
              </a:rPr>
              <a:t>Open questions</a:t>
            </a:r>
            <a:endParaRPr lang="en-US" sz="1700" dirty="0"/>
          </a:p>
        </p:txBody>
      </p:sp>
      <p:sp>
        <p:nvSpPr>
          <p:cNvPr id="37" name="Text 35"/>
          <p:cNvSpPr txBox="1"/>
          <p:nvPr/>
        </p:nvSpPr>
        <p:spPr>
          <a:xfrm>
            <a:off x="777240" y="5532120"/>
            <a:ext cx="3154680" cy="502920"/>
          </a:xfrm>
          <a:prstGeom prst="rect">
            <a:avLst/>
          </a:prstGeom>
          <a:noFill/>
          <a:ln/>
        </p:spPr>
        <p:txBody>
          <a:bodyPr wrap="square" lIns="0" tIns="0" rIns="0" bIns="0" rtlCol="0" anchor="ctr"/>
          <a:lstStyle/>
          <a:p>
            <a:pPr indent="0" marL="0">
              <a:buNone/>
            </a:pPr>
            <a:r>
              <a:rPr lang="en-US" sz="1500" dirty="0">
                <a:solidFill>
                  <a:schemeClr val="tx2"/>
                </a:solidFill>
                <a:latin typeface="Calibri" pitchFamily="34" charset="0"/>
                <a:ea typeface="Calibri" pitchFamily="34" charset="-122"/>
                <a:cs typeface="Calibri" pitchFamily="34" charset="-120"/>
              </a:rPr>
              <a:t>Facts only</a:t>
            </a:r>
            <a:pPr indent="0" marL="0">
              <a:buNone/>
            </a:pPr>
            <a:r>
              <a:rPr lang="en-US" sz="1500" b="1" dirty="0">
                <a:solidFill>
                  <a:schemeClr val="accent3"/>
                </a:solidFill>
                <a:latin typeface="Calibri" pitchFamily="34" charset="0"/>
                <a:ea typeface="Calibri" pitchFamily="34" charset="-122"/>
                <a:cs typeface="Calibri" pitchFamily="34" charset="-120"/>
              </a:rPr>
              <a:t>  &gt;  </a:t>
            </a:r>
            <a:pPr indent="0" marL="0">
              <a:buNone/>
            </a:pPr>
            <a:r>
              <a:rPr lang="en-US" sz="1500" b="1" dirty="0">
                <a:solidFill>
                  <a:schemeClr val="tx1"/>
                </a:solidFill>
                <a:latin typeface="Calibri" pitchFamily="34" charset="0"/>
                <a:ea typeface="Calibri" pitchFamily="34" charset="-122"/>
                <a:cs typeface="Calibri" pitchFamily="34" charset="-120"/>
              </a:rPr>
              <a:t>What data cannot tell</a:t>
            </a:r>
            <a:endParaRPr lang="en-US" sz="1500" dirty="0"/>
          </a:p>
        </p:txBody>
      </p:sp>
      <p:sp>
        <p:nvSpPr>
          <p:cNvPr id="38" name="card"/>
          <p:cNvSpPr/>
          <p:nvPr/>
        </p:nvSpPr>
        <p:spPr>
          <a:xfrm>
            <a:off x="4297680" y="4663440"/>
            <a:ext cx="3566160" cy="1463040"/>
          </a:xfrm>
          <a:prstGeom prst="roundRect">
            <a:avLst>
              <a:gd name="adj" fmla="val 7500"/>
            </a:avLst>
          </a:prstGeom>
          <a:solidFill>
            <a:schemeClr val="bg2"/>
          </a:solidFill>
          <a:ln w="12700">
            <a:solidFill>
              <a:schemeClr val="bg2"/>
            </a:solidFill>
            <a:prstDash val="solid"/>
          </a:ln>
        </p:spPr>
      </p:sp>
      <p:sp>
        <p:nvSpPr>
          <p:cNvPr id="39" name="number circle"/>
          <p:cNvSpPr/>
          <p:nvPr/>
        </p:nvSpPr>
        <p:spPr>
          <a:xfrm>
            <a:off x="4526280" y="4892040"/>
            <a:ext cx="457200" cy="457200"/>
          </a:xfrm>
          <a:prstGeom prst="ellipse">
            <a:avLst/>
          </a:prstGeom>
          <a:solidFill>
            <a:schemeClr val="accent2"/>
          </a:solidFill>
          <a:ln w="12700">
            <a:solidFill>
              <a:schemeClr val="accent2"/>
            </a:solidFill>
            <a:prstDash val="solid"/>
          </a:ln>
        </p:spPr>
      </p:sp>
      <p:sp>
        <p:nvSpPr>
          <p:cNvPr id="40" name="Text 38"/>
          <p:cNvSpPr txBox="1"/>
          <p:nvPr/>
        </p:nvSpPr>
        <p:spPr>
          <a:xfrm>
            <a:off x="4526280" y="4892040"/>
            <a:ext cx="457200" cy="457200"/>
          </a:xfrm>
          <a:prstGeom prst="rect">
            <a:avLst/>
          </a:prstGeom>
          <a:noFill/>
          <a:ln/>
        </p:spPr>
        <p:txBody>
          <a:bodyPr wrap="square" lIns="0" tIns="0" rIns="0" bIns="0" rtlCol="0" anchor="ctr"/>
          <a:lstStyle/>
          <a:p>
            <a:pPr algn="ctr" indent="0" marL="0">
              <a:buNone/>
            </a:pPr>
            <a:r>
              <a:rPr lang="en-US" sz="1600" b="1" dirty="0">
                <a:solidFill>
                  <a:schemeClr val="tx1"/>
                </a:solidFill>
                <a:latin typeface="Calibri" pitchFamily="34" charset="0"/>
                <a:ea typeface="Calibri" pitchFamily="34" charset="-122"/>
                <a:cs typeface="Calibri" pitchFamily="34" charset="-120"/>
              </a:rPr>
              <a:t>8</a:t>
            </a:r>
            <a:endParaRPr lang="en-US" sz="1600" dirty="0"/>
          </a:p>
        </p:txBody>
      </p:sp>
      <p:sp>
        <p:nvSpPr>
          <p:cNvPr id="41" name="Text 39"/>
          <p:cNvSpPr txBox="1"/>
          <p:nvPr/>
        </p:nvSpPr>
        <p:spPr>
          <a:xfrm>
            <a:off x="5166360" y="4892040"/>
            <a:ext cx="2514600" cy="457200"/>
          </a:xfrm>
          <a:prstGeom prst="rect">
            <a:avLst/>
          </a:prstGeom>
          <a:noFill/>
          <a:ln/>
        </p:spPr>
        <p:txBody>
          <a:bodyPr wrap="square" lIns="0" tIns="0" rIns="0" bIns="0" rtlCol="0" anchor="ctr"/>
          <a:lstStyle/>
          <a:p>
            <a:pPr indent="0" marL="0">
              <a:buNone/>
            </a:pPr>
            <a:r>
              <a:rPr lang="en-US" sz="1700" b="1" dirty="0">
                <a:solidFill>
                  <a:schemeClr val="tx1"/>
                </a:solidFill>
                <a:latin typeface="Calibri" pitchFamily="34" charset="0"/>
                <a:ea typeface="Calibri" pitchFamily="34" charset="-122"/>
                <a:cs typeface="Calibri" pitchFamily="34" charset="-120"/>
              </a:rPr>
              <a:t>Legal events</a:t>
            </a:r>
            <a:endParaRPr lang="en-US" sz="1700" dirty="0"/>
          </a:p>
        </p:txBody>
      </p:sp>
      <p:sp>
        <p:nvSpPr>
          <p:cNvPr id="42" name="Text 40"/>
          <p:cNvSpPr txBox="1"/>
          <p:nvPr/>
        </p:nvSpPr>
        <p:spPr>
          <a:xfrm>
            <a:off x="4526280" y="5532120"/>
            <a:ext cx="3154680" cy="502920"/>
          </a:xfrm>
          <a:prstGeom prst="rect">
            <a:avLst/>
          </a:prstGeom>
          <a:noFill/>
          <a:ln/>
        </p:spPr>
        <p:txBody>
          <a:bodyPr wrap="square" lIns="0" tIns="0" rIns="0" bIns="0" rtlCol="0" anchor="ctr"/>
          <a:lstStyle/>
          <a:p>
            <a:pPr indent="0" marL="0">
              <a:buNone/>
            </a:pPr>
            <a:r>
              <a:rPr lang="en-US" sz="1500" dirty="0">
                <a:solidFill>
                  <a:schemeClr val="tx2"/>
                </a:solidFill>
                <a:latin typeface="Calibri" pitchFamily="34" charset="0"/>
                <a:ea typeface="Calibri" pitchFamily="34" charset="-122"/>
                <a:cs typeface="Calibri" pitchFamily="34" charset="-120"/>
              </a:rPr>
              <a:t>Footnote</a:t>
            </a:r>
            <a:pPr indent="0" marL="0">
              <a:buNone/>
            </a:pPr>
            <a:r>
              <a:rPr lang="en-US" sz="1500" b="1" dirty="0">
                <a:solidFill>
                  <a:schemeClr val="accent3"/>
                </a:solidFill>
                <a:latin typeface="Calibri" pitchFamily="34" charset="0"/>
                <a:ea typeface="Calibri" pitchFamily="34" charset="-122"/>
                <a:cs typeface="Calibri" pitchFamily="34" charset="-120"/>
              </a:rPr>
              <a:t>  &gt;  </a:t>
            </a:r>
            <a:pPr indent="0" marL="0">
              <a:buNone/>
            </a:pPr>
            <a:r>
              <a:rPr lang="en-US" sz="1500" b="1" dirty="0">
                <a:solidFill>
                  <a:schemeClr val="tx1"/>
                </a:solidFill>
                <a:latin typeface="Calibri" pitchFamily="34" charset="0"/>
                <a:ea typeface="Calibri" pitchFamily="34" charset="-122"/>
                <a:cs typeface="Calibri" pitchFamily="34" charset="-120"/>
              </a:rPr>
              <a:t>Headline</a:t>
            </a:r>
            <a:endParaRPr lang="en-US" sz="1500" dirty="0"/>
          </a:p>
        </p:txBody>
      </p:sp>
      <p:sp>
        <p:nvSpPr>
          <p:cNvPr id="43" name="card"/>
          <p:cNvSpPr/>
          <p:nvPr/>
        </p:nvSpPr>
        <p:spPr>
          <a:xfrm>
            <a:off x="8046720" y="4663440"/>
            <a:ext cx="3566160" cy="1463040"/>
          </a:xfrm>
          <a:prstGeom prst="roundRect">
            <a:avLst>
              <a:gd name="adj" fmla="val 7500"/>
            </a:avLst>
          </a:prstGeom>
          <a:solidFill>
            <a:schemeClr val="bg2"/>
          </a:solidFill>
          <a:ln w="12700">
            <a:solidFill>
              <a:schemeClr val="bg2"/>
            </a:solidFill>
            <a:prstDash val="solid"/>
          </a:ln>
        </p:spPr>
      </p:sp>
      <p:sp>
        <p:nvSpPr>
          <p:cNvPr id="44" name="number circle"/>
          <p:cNvSpPr/>
          <p:nvPr/>
        </p:nvSpPr>
        <p:spPr>
          <a:xfrm>
            <a:off x="8275320" y="4892040"/>
            <a:ext cx="457200" cy="457200"/>
          </a:xfrm>
          <a:prstGeom prst="ellipse">
            <a:avLst/>
          </a:prstGeom>
          <a:solidFill>
            <a:schemeClr val="accent2"/>
          </a:solidFill>
          <a:ln w="12700">
            <a:solidFill>
              <a:schemeClr val="accent2"/>
            </a:solidFill>
            <a:prstDash val="solid"/>
          </a:ln>
        </p:spPr>
      </p:sp>
      <p:sp>
        <p:nvSpPr>
          <p:cNvPr id="45" name="Text 43"/>
          <p:cNvSpPr txBox="1"/>
          <p:nvPr/>
        </p:nvSpPr>
        <p:spPr>
          <a:xfrm>
            <a:off x="8275320" y="4892040"/>
            <a:ext cx="457200" cy="457200"/>
          </a:xfrm>
          <a:prstGeom prst="rect">
            <a:avLst/>
          </a:prstGeom>
          <a:noFill/>
          <a:ln/>
        </p:spPr>
        <p:txBody>
          <a:bodyPr wrap="square" lIns="0" tIns="0" rIns="0" bIns="0" rtlCol="0" anchor="ctr"/>
          <a:lstStyle/>
          <a:p>
            <a:pPr algn="ctr" indent="0" marL="0">
              <a:buNone/>
            </a:pPr>
            <a:r>
              <a:rPr lang="en-US" sz="1600" b="1" dirty="0">
                <a:solidFill>
                  <a:schemeClr val="tx1"/>
                </a:solidFill>
                <a:latin typeface="Calibri" pitchFamily="34" charset="0"/>
                <a:ea typeface="Calibri" pitchFamily="34" charset="-122"/>
                <a:cs typeface="Calibri" pitchFamily="34" charset="-120"/>
              </a:rPr>
              <a:t>9</a:t>
            </a:r>
            <a:endParaRPr lang="en-US" sz="1600" dirty="0"/>
          </a:p>
        </p:txBody>
      </p:sp>
      <p:sp>
        <p:nvSpPr>
          <p:cNvPr id="46" name="Text 44"/>
          <p:cNvSpPr txBox="1"/>
          <p:nvPr/>
        </p:nvSpPr>
        <p:spPr>
          <a:xfrm>
            <a:off x="8915400" y="4892040"/>
            <a:ext cx="2514600" cy="457200"/>
          </a:xfrm>
          <a:prstGeom prst="rect">
            <a:avLst/>
          </a:prstGeom>
          <a:noFill/>
          <a:ln/>
        </p:spPr>
        <p:txBody>
          <a:bodyPr wrap="square" lIns="0" tIns="0" rIns="0" bIns="0" rtlCol="0" anchor="ctr"/>
          <a:lstStyle/>
          <a:p>
            <a:pPr indent="0" marL="0">
              <a:buNone/>
            </a:pPr>
            <a:r>
              <a:rPr lang="en-US" sz="1700" b="1" dirty="0">
                <a:solidFill>
                  <a:schemeClr val="tx1"/>
                </a:solidFill>
                <a:latin typeface="Calibri" pitchFamily="34" charset="0"/>
                <a:ea typeface="Calibri" pitchFamily="34" charset="-122"/>
                <a:cs typeface="Calibri" pitchFamily="34" charset="-120"/>
              </a:rPr>
              <a:t>Migration</a:t>
            </a:r>
            <a:endParaRPr lang="en-US" sz="1700" dirty="0"/>
          </a:p>
        </p:txBody>
      </p:sp>
      <p:sp>
        <p:nvSpPr>
          <p:cNvPr id="47" name="Text 45"/>
          <p:cNvSpPr txBox="1"/>
          <p:nvPr/>
        </p:nvSpPr>
        <p:spPr>
          <a:xfrm>
            <a:off x="8275320" y="5532120"/>
            <a:ext cx="3154680" cy="502920"/>
          </a:xfrm>
          <a:prstGeom prst="rect">
            <a:avLst/>
          </a:prstGeom>
          <a:noFill/>
          <a:ln/>
        </p:spPr>
        <p:txBody>
          <a:bodyPr wrap="square" lIns="0" tIns="0" rIns="0" bIns="0" rtlCol="0" anchor="ctr"/>
          <a:lstStyle/>
          <a:p>
            <a:pPr indent="0" marL="0">
              <a:buNone/>
            </a:pPr>
            <a:r>
              <a:rPr lang="en-US" sz="1500" dirty="0">
                <a:solidFill>
                  <a:schemeClr val="tx2"/>
                </a:solidFill>
                <a:latin typeface="Calibri" pitchFamily="34" charset="0"/>
                <a:ea typeface="Calibri" pitchFamily="34" charset="-122"/>
                <a:cs typeface="Calibri" pitchFamily="34" charset="-120"/>
              </a:rPr>
              <a:t>Static segments</a:t>
            </a:r>
            <a:pPr indent="0" marL="0">
              <a:buNone/>
            </a:pPr>
            <a:r>
              <a:rPr lang="en-US" sz="1500" b="1" dirty="0">
                <a:solidFill>
                  <a:schemeClr val="accent3"/>
                </a:solidFill>
                <a:latin typeface="Calibri" pitchFamily="34" charset="0"/>
                <a:ea typeface="Calibri" pitchFamily="34" charset="-122"/>
                <a:cs typeface="Calibri" pitchFamily="34" charset="-120"/>
              </a:rPr>
              <a:t>  &gt;  </a:t>
            </a:r>
            <a:pPr indent="0" marL="0">
              <a:buNone/>
            </a:pPr>
            <a:r>
              <a:rPr lang="en-US" sz="1500" b="1" dirty="0">
                <a:solidFill>
                  <a:schemeClr val="tx1"/>
                </a:solidFill>
                <a:latin typeface="Calibri" pitchFamily="34" charset="0"/>
                <a:ea typeface="Calibri" pitchFamily="34" charset="-122"/>
                <a:cs typeface="Calibri" pitchFamily="34" charset="-120"/>
              </a:rPr>
              <a:t>Movement between them</a:t>
            </a:r>
            <a:endParaRPr lang="en-US" sz="1500" dirty="0"/>
          </a:p>
        </p:txBody>
      </p:sp>
      <p:sp>
        <p:nvSpPr>
          <p:cNvPr id="25"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txBox="1"/>
          <p:nvPr/>
        </p:nvSpPr>
        <p:spPr>
          <a:xfrm>
            <a:off x="731520" y="640080"/>
            <a:ext cx="10698480" cy="914400"/>
          </a:xfrm>
          <a:prstGeom prst="rect">
            <a:avLst/>
          </a:prstGeom>
          <a:noFill/>
          <a:ln/>
        </p:spPr>
        <p:txBody>
          <a:bodyPr wrap="square" lIns="0" tIns="0" rIns="0" bIns="0" rtlCol="0" anchor="ctr"/>
          <a:lstStyle/>
          <a:p>
            <a:pPr indent="0" marL="0">
              <a:buNone/>
            </a:pPr>
            <a:r>
              <a:rPr lang="en-US" sz="4000" b="1" dirty="0">
                <a:solidFill>
                  <a:schemeClr val="bg1"/>
                </a:solidFill>
                <a:latin typeface="Calibri" pitchFamily="34" charset="0"/>
                <a:ea typeface="Calibri" pitchFamily="34" charset="-122"/>
                <a:cs typeface="Calibri" pitchFamily="34" charset="-120"/>
              </a:rPr>
              <a:t>Key takeaway</a:t>
            </a:r>
            <a:endParaRPr lang="en-US" sz="4000" dirty="0"/>
          </a:p>
        </p:txBody>
      </p:sp>
      <p:sp>
        <p:nvSpPr>
          <p:cNvPr id="3" name="Text 1"/>
          <p:cNvSpPr txBox="1"/>
          <p:nvPr/>
        </p:nvSpPr>
        <p:spPr>
          <a:xfrm>
            <a:off x="731520" y="1737360"/>
            <a:ext cx="10698480" cy="822960"/>
          </a:xfrm>
          <a:prstGeom prst="rect">
            <a:avLst/>
          </a:prstGeom>
          <a:noFill/>
          <a:ln/>
        </p:spPr>
        <p:txBody>
          <a:bodyPr wrap="square" lIns="0" tIns="0" rIns="0" bIns="0" rtlCol="0" anchor="ctr"/>
          <a:lstStyle/>
          <a:p>
            <a:pPr indent="0" marL="0">
              <a:buNone/>
            </a:pPr>
            <a:r>
              <a:rPr lang="en-US" sz="3400" b="1" dirty="0">
                <a:solidFill>
                  <a:schemeClr val="accent2"/>
                </a:solidFill>
                <a:latin typeface="Calibri" pitchFamily="34" charset="0"/>
                <a:ea typeface="Calibri" pitchFamily="34" charset="-122"/>
                <a:cs typeface="Calibri" pitchFamily="34" charset="-120"/>
              </a:rPr>
              <a:t>Turn numbers into explanations.</a:t>
            </a:r>
            <a:endParaRPr lang="en-US" sz="3400" dirty="0"/>
          </a:p>
        </p:txBody>
      </p:sp>
      <p:sp>
        <p:nvSpPr>
          <p:cNvPr id="4" name="Text 2"/>
          <p:cNvSpPr txBox="1"/>
          <p:nvPr/>
        </p:nvSpPr>
        <p:spPr>
          <a:xfrm>
            <a:off x="731520" y="2606040"/>
            <a:ext cx="10698480" cy="457200"/>
          </a:xfrm>
          <a:prstGeom prst="rect">
            <a:avLst/>
          </a:prstGeom>
          <a:noFill/>
          <a:ln/>
        </p:spPr>
        <p:txBody>
          <a:bodyPr wrap="square" lIns="0" tIns="0" rIns="0" bIns="0" rtlCol="0" anchor="t"/>
          <a:lstStyle/>
          <a:p>
            <a:pPr indent="0" marL="0">
              <a:buNone/>
            </a:pPr>
            <a:r>
              <a:rPr lang="en-US" sz="2000" dirty="0">
                <a:solidFill>
                  <a:schemeClr val="accent4"/>
                </a:solidFill>
                <a:latin typeface="Calibri" pitchFamily="34" charset="0"/>
                <a:ea typeface="Calibri" pitchFamily="34" charset="-122"/>
                <a:cs typeface="Calibri" pitchFamily="34" charset="-120"/>
              </a:rPr>
              <a:t>Trend, cause, engagement, decisions.</a:t>
            </a:r>
            <a:endParaRPr lang="en-US" sz="2000" dirty="0"/>
          </a:p>
        </p:txBody>
      </p:sp>
      <p:sp>
        <p:nvSpPr>
          <p:cNvPr id="5" name="Text 3"/>
          <p:cNvSpPr txBox="1"/>
          <p:nvPr/>
        </p:nvSpPr>
        <p:spPr>
          <a:xfrm>
            <a:off x="731520" y="3429000"/>
            <a:ext cx="7315200" cy="365760"/>
          </a:xfrm>
          <a:prstGeom prst="rect">
            <a:avLst/>
          </a:prstGeom>
          <a:noFill/>
          <a:ln/>
        </p:spPr>
        <p:txBody>
          <a:bodyPr wrap="square" lIns="0" tIns="0" rIns="0" bIns="0" rtlCol="0" anchor="t"/>
          <a:lstStyle/>
          <a:p>
            <a:pPr indent="0" marL="0">
              <a:buNone/>
            </a:pPr>
            <a:r>
              <a:rPr lang="en-US" sz="1400" dirty="0">
                <a:solidFill>
                  <a:schemeClr val="accent4"/>
                </a:solidFill>
                <a:latin typeface="Calibri" pitchFamily="34" charset="0"/>
                <a:ea typeface="Calibri" pitchFamily="34" charset="-122"/>
                <a:cs typeface="Calibri" pitchFamily="34" charset="-120"/>
              </a:rPr>
              <a:t>Open questions the data cannot answer</a:t>
            </a:r>
            <a:endParaRPr lang="en-US" sz="1400" dirty="0"/>
          </a:p>
        </p:txBody>
      </p:sp>
      <p:sp>
        <p:nvSpPr>
          <p:cNvPr id="6" name="question"/>
          <p:cNvSpPr/>
          <p:nvPr/>
        </p:nvSpPr>
        <p:spPr>
          <a:xfrm>
            <a:off x="731520" y="3840480"/>
            <a:ext cx="3383280" cy="1737360"/>
          </a:xfrm>
          <a:prstGeom prst="roundRect">
            <a:avLst>
              <a:gd name="adj" fmla="val 6316"/>
            </a:avLst>
          </a:prstGeom>
          <a:solidFill>
            <a:schemeClr val="bg1">
              <a:alpha val="10000"/>
            </a:schemeClr>
          </a:solidFill>
          <a:ln w="12700">
            <a:solidFill>
              <a:schemeClr val="accent2"/>
            </a:solidFill>
            <a:prstDash val="solid"/>
          </a:ln>
        </p:spPr>
      </p:sp>
      <p:sp>
        <p:nvSpPr>
          <p:cNvPr id="7" name="Text 5"/>
          <p:cNvSpPr txBox="1"/>
          <p:nvPr/>
        </p:nvSpPr>
        <p:spPr>
          <a:xfrm>
            <a:off x="960120" y="4023360"/>
            <a:ext cx="2926080" cy="1371600"/>
          </a:xfrm>
          <a:prstGeom prst="rect">
            <a:avLst/>
          </a:prstGeom>
          <a:noFill/>
          <a:ln/>
        </p:spPr>
        <p:txBody>
          <a:bodyPr wrap="square" lIns="0" tIns="0" rIns="0" bIns="0" rtlCol="0" anchor="ctr"/>
          <a:lstStyle/>
          <a:p>
            <a:pPr indent="0" marL="0">
              <a:buNone/>
            </a:pPr>
            <a:r>
              <a:rPr lang="en-US" sz="1800" dirty="0">
                <a:solidFill>
                  <a:schemeClr val="bg1"/>
                </a:solidFill>
                <a:latin typeface="Calibri" pitchFamily="34" charset="0"/>
                <a:ea typeface="Calibri" pitchFamily="34" charset="-122"/>
                <a:cs typeface="Calibri" pitchFamily="34" charset="-120"/>
              </a:rPr>
              <a:t>Who are the 3.46M eFAWATEER users without bank accounts?</a:t>
            </a:r>
            <a:endParaRPr lang="en-US" sz="1800" dirty="0"/>
          </a:p>
        </p:txBody>
      </p:sp>
      <p:sp>
        <p:nvSpPr>
          <p:cNvPr id="8" name="question"/>
          <p:cNvSpPr/>
          <p:nvPr/>
        </p:nvSpPr>
        <p:spPr>
          <a:xfrm>
            <a:off x="4389120" y="3840480"/>
            <a:ext cx="3383280" cy="1737360"/>
          </a:xfrm>
          <a:prstGeom prst="roundRect">
            <a:avLst>
              <a:gd name="adj" fmla="val 6316"/>
            </a:avLst>
          </a:prstGeom>
          <a:solidFill>
            <a:schemeClr val="bg1">
              <a:alpha val="10000"/>
            </a:schemeClr>
          </a:solidFill>
          <a:ln w="12700">
            <a:solidFill>
              <a:schemeClr val="accent2"/>
            </a:solidFill>
            <a:prstDash val="solid"/>
          </a:ln>
        </p:spPr>
      </p:sp>
      <p:sp>
        <p:nvSpPr>
          <p:cNvPr id="9" name="Text 7"/>
          <p:cNvSpPr txBox="1"/>
          <p:nvPr/>
        </p:nvSpPr>
        <p:spPr>
          <a:xfrm>
            <a:off x="4617720" y="4023360"/>
            <a:ext cx="2926080" cy="1371600"/>
          </a:xfrm>
          <a:prstGeom prst="rect">
            <a:avLst/>
          </a:prstGeom>
          <a:noFill/>
          <a:ln/>
        </p:spPr>
        <p:txBody>
          <a:bodyPr wrap="square" lIns="0" tIns="0" rIns="0" bIns="0" rtlCol="0" anchor="ctr"/>
          <a:lstStyle/>
          <a:p>
            <a:pPr indent="0" marL="0">
              <a:buNone/>
            </a:pPr>
            <a:r>
              <a:rPr lang="en-US" sz="1800" dirty="0">
                <a:solidFill>
                  <a:schemeClr val="bg1"/>
                </a:solidFill>
                <a:latin typeface="Calibri" pitchFamily="34" charset="0"/>
                <a:ea typeface="Calibri" pitchFamily="34" charset="-122"/>
                <a:cs typeface="Calibri" pitchFamily="34" charset="-120"/>
              </a:rPr>
              <a:t>Why does December peak?</a:t>
            </a:r>
            <a:endParaRPr lang="en-US" sz="1800" dirty="0"/>
          </a:p>
        </p:txBody>
      </p:sp>
      <p:sp>
        <p:nvSpPr>
          <p:cNvPr id="10" name="question"/>
          <p:cNvSpPr/>
          <p:nvPr/>
        </p:nvSpPr>
        <p:spPr>
          <a:xfrm>
            <a:off x="8046720" y="3840480"/>
            <a:ext cx="3383280" cy="1737360"/>
          </a:xfrm>
          <a:prstGeom prst="roundRect">
            <a:avLst>
              <a:gd name="adj" fmla="val 6316"/>
            </a:avLst>
          </a:prstGeom>
          <a:solidFill>
            <a:schemeClr val="bg1">
              <a:alpha val="10000"/>
            </a:schemeClr>
          </a:solidFill>
          <a:ln w="12700">
            <a:solidFill>
              <a:schemeClr val="accent2"/>
            </a:solidFill>
            <a:prstDash val="solid"/>
          </a:ln>
        </p:spPr>
      </p:sp>
      <p:sp>
        <p:nvSpPr>
          <p:cNvPr id="11" name="Text 9"/>
          <p:cNvSpPr txBox="1"/>
          <p:nvPr/>
        </p:nvSpPr>
        <p:spPr>
          <a:xfrm>
            <a:off x="8275320" y="4023360"/>
            <a:ext cx="2926080" cy="1371600"/>
          </a:xfrm>
          <a:prstGeom prst="rect">
            <a:avLst/>
          </a:prstGeom>
          <a:noFill/>
          <a:ln/>
        </p:spPr>
        <p:txBody>
          <a:bodyPr wrap="square" lIns="0" tIns="0" rIns="0" bIns="0" rtlCol="0" anchor="ctr"/>
          <a:lstStyle/>
          <a:p>
            <a:pPr indent="0" marL="0">
              <a:buNone/>
            </a:pPr>
            <a:r>
              <a:rPr lang="en-US" sz="1800" dirty="0">
                <a:solidFill>
                  <a:schemeClr val="bg1"/>
                </a:solidFill>
                <a:latin typeface="Calibri" pitchFamily="34" charset="0"/>
                <a:ea typeface="Calibri" pitchFamily="34" charset="-122"/>
                <a:cs typeface="Calibri" pitchFamily="34" charset="-120"/>
              </a:rPr>
              <a:t>Is a falling average sustainable?</a:t>
            </a:r>
            <a:endParaRPr lang="en-US" sz="1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motif1"/>
          <p:cNvSpPr/>
          <p:nvPr/>
        </p:nvSpPr>
        <p:spPr>
          <a:xfrm>
            <a:off x="8595360" y="-1097280"/>
            <a:ext cx="5029200" cy="5029200"/>
          </a:xfrm>
          <a:prstGeom prst="ellipse">
            <a:avLst/>
          </a:prstGeom>
          <a:solidFill>
            <a:schemeClr val="accent2">
              <a:alpha val="20000"/>
            </a:schemeClr>
          </a:solidFill>
          <a:ln w="12700">
            <a:solidFill>
              <a:schemeClr val="accent2">
                <a:alpha val="0"/>
              </a:schemeClr>
            </a:solidFill>
            <a:prstDash val="solid"/>
          </a:ln>
        </p:spPr>
      </p:sp>
      <p:sp>
        <p:nvSpPr>
          <p:cNvPr id="3" name="Text 1"/>
          <p:cNvSpPr txBox="1"/>
          <p:nvPr/>
        </p:nvSpPr>
        <p:spPr>
          <a:xfrm>
            <a:off x="731520" y="914400"/>
            <a:ext cx="8229600" cy="914400"/>
          </a:xfrm>
          <a:prstGeom prst="rect">
            <a:avLst/>
          </a:prstGeom>
          <a:noFill/>
          <a:ln/>
        </p:spPr>
        <p:txBody>
          <a:bodyPr wrap="square" lIns="0" tIns="0" rIns="0" bIns="0" rtlCol="0" anchor="ctr"/>
          <a:lstStyle/>
          <a:p>
            <a:pPr indent="0" marL="0">
              <a:buNone/>
            </a:pPr>
            <a:r>
              <a:rPr lang="en-US" sz="4400" b="1" dirty="0">
                <a:solidFill>
                  <a:schemeClr val="bg1"/>
                </a:solidFill>
                <a:latin typeface="Calibri" pitchFamily="34" charset="0"/>
                <a:ea typeface="Calibri" pitchFamily="34" charset="-122"/>
                <a:cs typeface="Calibri" pitchFamily="34" charset="-120"/>
              </a:rPr>
              <a:t>Appendix</a:t>
            </a:r>
            <a:endParaRPr lang="en-US" sz="4400" dirty="0"/>
          </a:p>
        </p:txBody>
      </p:sp>
      <p:sp>
        <p:nvSpPr>
          <p:cNvPr id="4" name="Text 2"/>
          <p:cNvSpPr txBox="1"/>
          <p:nvPr/>
        </p:nvSpPr>
        <p:spPr>
          <a:xfrm>
            <a:off x="731520" y="1828800"/>
            <a:ext cx="8229600" cy="548640"/>
          </a:xfrm>
          <a:prstGeom prst="rect">
            <a:avLst/>
          </a:prstGeom>
          <a:noFill/>
          <a:ln/>
        </p:spPr>
        <p:txBody>
          <a:bodyPr wrap="square" lIns="0" tIns="0" rIns="0" bIns="0" rtlCol="0" anchor="t"/>
          <a:lstStyle/>
          <a:p>
            <a:pPr indent="0" marL="0">
              <a:buNone/>
            </a:pPr>
            <a:r>
              <a:rPr lang="en-US" sz="2200" dirty="0">
                <a:solidFill>
                  <a:schemeClr val="accent2"/>
                </a:solidFill>
                <a:latin typeface="Calibri" pitchFamily="34" charset="0"/>
                <a:ea typeface="Calibri" pitchFamily="34" charset="-122"/>
                <a:cs typeface="Calibri" pitchFamily="34" charset="-120"/>
              </a:rPr>
              <a:t>System-by-system detail</a:t>
            </a:r>
            <a:endParaRPr lang="en-US" sz="2200" dirty="0"/>
          </a:p>
        </p:txBody>
      </p:sp>
      <p:sp>
        <p:nvSpPr>
          <p:cNvPr id="5" name="appendix number"/>
          <p:cNvSpPr/>
          <p:nvPr/>
        </p:nvSpPr>
        <p:spPr>
          <a:xfrm>
            <a:off x="731520" y="2926080"/>
            <a:ext cx="457200" cy="457200"/>
          </a:xfrm>
          <a:prstGeom prst="ellipse">
            <a:avLst/>
          </a:prstGeom>
          <a:solidFill>
            <a:schemeClr val="accent2"/>
          </a:solidFill>
          <a:ln w="12700">
            <a:solidFill>
              <a:schemeClr val="accent2"/>
            </a:solidFill>
            <a:prstDash val="solid"/>
          </a:ln>
        </p:spPr>
      </p:sp>
      <p:sp>
        <p:nvSpPr>
          <p:cNvPr id="6" name="Text 4"/>
          <p:cNvSpPr txBox="1"/>
          <p:nvPr/>
        </p:nvSpPr>
        <p:spPr>
          <a:xfrm>
            <a:off x="731520" y="2926080"/>
            <a:ext cx="457200" cy="457200"/>
          </a:xfrm>
          <a:prstGeom prst="rect">
            <a:avLst/>
          </a:prstGeom>
          <a:noFill/>
          <a:ln/>
        </p:spPr>
        <p:txBody>
          <a:bodyPr wrap="square" lIns="0" tIns="0" rIns="0" bIns="0" rtlCol="0" anchor="ctr"/>
          <a:lstStyle/>
          <a:p>
            <a:pPr algn="ctr" indent="0" marL="0">
              <a:buNone/>
            </a:pPr>
            <a:r>
              <a:rPr lang="en-US" sz="1600" b="1" dirty="0">
                <a:solidFill>
                  <a:schemeClr val="tx1"/>
                </a:solidFill>
                <a:latin typeface="Calibri" pitchFamily="34" charset="0"/>
                <a:ea typeface="Calibri" pitchFamily="34" charset="-122"/>
                <a:cs typeface="Calibri" pitchFamily="34" charset="-120"/>
              </a:rPr>
              <a:t>1</a:t>
            </a:r>
            <a:endParaRPr lang="en-US" sz="1600" dirty="0"/>
          </a:p>
        </p:txBody>
      </p:sp>
      <p:sp>
        <p:nvSpPr>
          <p:cNvPr id="7" name="Text 5"/>
          <p:cNvSpPr txBox="1"/>
          <p:nvPr/>
        </p:nvSpPr>
        <p:spPr>
          <a:xfrm>
            <a:off x="1417320" y="2926080"/>
            <a:ext cx="4114800" cy="457200"/>
          </a:xfrm>
          <a:prstGeom prst="rect">
            <a:avLst/>
          </a:prstGeom>
          <a:noFill/>
          <a:ln/>
        </p:spPr>
        <p:txBody>
          <a:bodyPr wrap="square" lIns="0" tIns="0" rIns="0" bIns="0" rtlCol="0" anchor="ctr"/>
          <a:lstStyle/>
          <a:p>
            <a:pPr indent="0" marL="0">
              <a:buNone/>
            </a:pPr>
            <a:r>
              <a:rPr lang="en-US" sz="1800" dirty="0">
                <a:solidFill>
                  <a:schemeClr val="bg1"/>
                </a:solidFill>
                <a:latin typeface="Calibri" pitchFamily="34" charset="0"/>
                <a:ea typeface="Calibri" pitchFamily="34" charset="-122"/>
                <a:cs typeface="Calibri" pitchFamily="34" charset="-120"/>
              </a:rPr>
              <a:t>CliQ: depth vs breadth</a:t>
            </a:r>
            <a:endParaRPr lang="en-US" sz="1800" dirty="0"/>
          </a:p>
        </p:txBody>
      </p:sp>
      <p:sp>
        <p:nvSpPr>
          <p:cNvPr id="8" name="appendix number"/>
          <p:cNvSpPr/>
          <p:nvPr/>
        </p:nvSpPr>
        <p:spPr>
          <a:xfrm>
            <a:off x="5852160" y="2926080"/>
            <a:ext cx="457200" cy="457200"/>
          </a:xfrm>
          <a:prstGeom prst="ellipse">
            <a:avLst/>
          </a:prstGeom>
          <a:solidFill>
            <a:schemeClr val="accent2"/>
          </a:solidFill>
          <a:ln w="12700">
            <a:solidFill>
              <a:schemeClr val="accent2"/>
            </a:solidFill>
            <a:prstDash val="solid"/>
          </a:ln>
        </p:spPr>
      </p:sp>
      <p:sp>
        <p:nvSpPr>
          <p:cNvPr id="9" name="Text 7"/>
          <p:cNvSpPr txBox="1"/>
          <p:nvPr/>
        </p:nvSpPr>
        <p:spPr>
          <a:xfrm>
            <a:off x="5852160" y="2926080"/>
            <a:ext cx="457200" cy="457200"/>
          </a:xfrm>
          <a:prstGeom prst="rect">
            <a:avLst/>
          </a:prstGeom>
          <a:noFill/>
          <a:ln/>
        </p:spPr>
        <p:txBody>
          <a:bodyPr wrap="square" lIns="0" tIns="0" rIns="0" bIns="0" rtlCol="0" anchor="ctr"/>
          <a:lstStyle/>
          <a:p>
            <a:pPr algn="ctr" indent="0" marL="0">
              <a:buNone/>
            </a:pPr>
            <a:r>
              <a:rPr lang="en-US" sz="1600" b="1" dirty="0">
                <a:solidFill>
                  <a:schemeClr val="tx1"/>
                </a:solidFill>
                <a:latin typeface="Calibri" pitchFamily="34" charset="0"/>
                <a:ea typeface="Calibri" pitchFamily="34" charset="-122"/>
                <a:cs typeface="Calibri" pitchFamily="34" charset="-120"/>
              </a:rPr>
              <a:t>2</a:t>
            </a:r>
            <a:endParaRPr lang="en-US" sz="1600" dirty="0"/>
          </a:p>
        </p:txBody>
      </p:sp>
      <p:sp>
        <p:nvSpPr>
          <p:cNvPr id="10" name="Text 8"/>
          <p:cNvSpPr txBox="1"/>
          <p:nvPr/>
        </p:nvSpPr>
        <p:spPr>
          <a:xfrm>
            <a:off x="6537960" y="2926080"/>
            <a:ext cx="4114800" cy="457200"/>
          </a:xfrm>
          <a:prstGeom prst="rect">
            <a:avLst/>
          </a:prstGeom>
          <a:noFill/>
          <a:ln/>
        </p:spPr>
        <p:txBody>
          <a:bodyPr wrap="square" lIns="0" tIns="0" rIns="0" bIns="0" rtlCol="0" anchor="ctr"/>
          <a:lstStyle/>
          <a:p>
            <a:pPr indent="0" marL="0">
              <a:buNone/>
            </a:pPr>
            <a:r>
              <a:rPr lang="en-US" sz="1800" dirty="0">
                <a:solidFill>
                  <a:schemeClr val="bg1"/>
                </a:solidFill>
                <a:latin typeface="Calibri" pitchFamily="34" charset="0"/>
                <a:ea typeface="Calibri" pitchFamily="34" charset="-122"/>
                <a:cs typeface="Calibri" pitchFamily="34" charset="-120"/>
              </a:rPr>
              <a:t>Gender split</a:t>
            </a:r>
            <a:endParaRPr lang="en-US" sz="1800" dirty="0"/>
          </a:p>
        </p:txBody>
      </p:sp>
      <p:sp>
        <p:nvSpPr>
          <p:cNvPr id="11" name="appendix number"/>
          <p:cNvSpPr/>
          <p:nvPr/>
        </p:nvSpPr>
        <p:spPr>
          <a:xfrm>
            <a:off x="731520" y="3703320"/>
            <a:ext cx="457200" cy="457200"/>
          </a:xfrm>
          <a:prstGeom prst="ellipse">
            <a:avLst/>
          </a:prstGeom>
          <a:solidFill>
            <a:schemeClr val="accent2"/>
          </a:solidFill>
          <a:ln w="12700">
            <a:solidFill>
              <a:schemeClr val="accent2"/>
            </a:solidFill>
            <a:prstDash val="solid"/>
          </a:ln>
        </p:spPr>
      </p:sp>
      <p:sp>
        <p:nvSpPr>
          <p:cNvPr id="12" name="Text 10"/>
          <p:cNvSpPr txBox="1"/>
          <p:nvPr/>
        </p:nvSpPr>
        <p:spPr>
          <a:xfrm>
            <a:off x="731520" y="3703320"/>
            <a:ext cx="457200" cy="457200"/>
          </a:xfrm>
          <a:prstGeom prst="rect">
            <a:avLst/>
          </a:prstGeom>
          <a:noFill/>
          <a:ln/>
        </p:spPr>
        <p:txBody>
          <a:bodyPr wrap="square" lIns="0" tIns="0" rIns="0" bIns="0" rtlCol="0" anchor="ctr"/>
          <a:lstStyle/>
          <a:p>
            <a:pPr algn="ctr" indent="0" marL="0">
              <a:buNone/>
            </a:pPr>
            <a:r>
              <a:rPr lang="en-US" sz="1600" b="1" dirty="0">
                <a:solidFill>
                  <a:schemeClr val="tx1"/>
                </a:solidFill>
                <a:latin typeface="Calibri" pitchFamily="34" charset="0"/>
                <a:ea typeface="Calibri" pitchFamily="34" charset="-122"/>
                <a:cs typeface="Calibri" pitchFamily="34" charset="-120"/>
              </a:rPr>
              <a:t>3</a:t>
            </a:r>
            <a:endParaRPr lang="en-US" sz="1600" dirty="0"/>
          </a:p>
        </p:txBody>
      </p:sp>
      <p:sp>
        <p:nvSpPr>
          <p:cNvPr id="13" name="Text 11"/>
          <p:cNvSpPr txBox="1"/>
          <p:nvPr/>
        </p:nvSpPr>
        <p:spPr>
          <a:xfrm>
            <a:off x="1417320" y="3703320"/>
            <a:ext cx="4114800" cy="457200"/>
          </a:xfrm>
          <a:prstGeom prst="rect">
            <a:avLst/>
          </a:prstGeom>
          <a:noFill/>
          <a:ln/>
        </p:spPr>
        <p:txBody>
          <a:bodyPr wrap="square" lIns="0" tIns="0" rIns="0" bIns="0" rtlCol="0" anchor="ctr"/>
          <a:lstStyle/>
          <a:p>
            <a:pPr indent="0" marL="0">
              <a:buNone/>
            </a:pPr>
            <a:r>
              <a:rPr lang="en-US" sz="1800" dirty="0">
                <a:solidFill>
                  <a:schemeClr val="bg1"/>
                </a:solidFill>
                <a:latin typeface="Calibri" pitchFamily="34" charset="0"/>
                <a:ea typeface="Calibri" pitchFamily="34" charset="-122"/>
                <a:cs typeface="Calibri" pitchFamily="34" charset="-120"/>
              </a:rPr>
              <a:t>JoMoPay</a:t>
            </a:r>
            <a:endParaRPr lang="en-US" sz="1800" dirty="0"/>
          </a:p>
        </p:txBody>
      </p:sp>
      <p:sp>
        <p:nvSpPr>
          <p:cNvPr id="14" name="appendix number"/>
          <p:cNvSpPr/>
          <p:nvPr/>
        </p:nvSpPr>
        <p:spPr>
          <a:xfrm>
            <a:off x="5852160" y="3703320"/>
            <a:ext cx="457200" cy="457200"/>
          </a:xfrm>
          <a:prstGeom prst="ellipse">
            <a:avLst/>
          </a:prstGeom>
          <a:solidFill>
            <a:schemeClr val="accent2"/>
          </a:solidFill>
          <a:ln w="12700">
            <a:solidFill>
              <a:schemeClr val="accent2"/>
            </a:solidFill>
            <a:prstDash val="solid"/>
          </a:ln>
        </p:spPr>
      </p:sp>
      <p:sp>
        <p:nvSpPr>
          <p:cNvPr id="15" name="Text 13"/>
          <p:cNvSpPr txBox="1"/>
          <p:nvPr/>
        </p:nvSpPr>
        <p:spPr>
          <a:xfrm>
            <a:off x="5852160" y="3703320"/>
            <a:ext cx="457200" cy="457200"/>
          </a:xfrm>
          <a:prstGeom prst="rect">
            <a:avLst/>
          </a:prstGeom>
          <a:noFill/>
          <a:ln/>
        </p:spPr>
        <p:txBody>
          <a:bodyPr wrap="square" lIns="0" tIns="0" rIns="0" bIns="0" rtlCol="0" anchor="ctr"/>
          <a:lstStyle/>
          <a:p>
            <a:pPr algn="ctr" indent="0" marL="0">
              <a:buNone/>
            </a:pPr>
            <a:r>
              <a:rPr lang="en-US" sz="1600" b="1" dirty="0">
                <a:solidFill>
                  <a:schemeClr val="tx1"/>
                </a:solidFill>
                <a:latin typeface="Calibri" pitchFamily="34" charset="0"/>
                <a:ea typeface="Calibri" pitchFamily="34" charset="-122"/>
                <a:cs typeface="Calibri" pitchFamily="34" charset="-120"/>
              </a:rPr>
              <a:t>4</a:t>
            </a:r>
            <a:endParaRPr lang="en-US" sz="1600" dirty="0"/>
          </a:p>
        </p:txBody>
      </p:sp>
      <p:sp>
        <p:nvSpPr>
          <p:cNvPr id="16" name="Text 14"/>
          <p:cNvSpPr txBox="1"/>
          <p:nvPr/>
        </p:nvSpPr>
        <p:spPr>
          <a:xfrm>
            <a:off x="6537960" y="3703320"/>
            <a:ext cx="4114800" cy="457200"/>
          </a:xfrm>
          <a:prstGeom prst="rect">
            <a:avLst/>
          </a:prstGeom>
          <a:noFill/>
          <a:ln/>
        </p:spPr>
        <p:txBody>
          <a:bodyPr wrap="square" lIns="0" tIns="0" rIns="0" bIns="0" rtlCol="0" anchor="ctr"/>
          <a:lstStyle/>
          <a:p>
            <a:pPr indent="0" marL="0">
              <a:buNone/>
            </a:pPr>
            <a:r>
              <a:rPr lang="en-US" sz="1800" dirty="0">
                <a:solidFill>
                  <a:schemeClr val="bg1"/>
                </a:solidFill>
                <a:latin typeface="Calibri" pitchFamily="34" charset="0"/>
                <a:ea typeface="Calibri" pitchFamily="34" charset="-122"/>
                <a:cs typeface="Calibri" pitchFamily="34" charset="-120"/>
              </a:rPr>
              <a:t>eFAWATEERcom</a:t>
            </a:r>
            <a:endParaRPr lang="en-US" sz="1800" dirty="0"/>
          </a:p>
        </p:txBody>
      </p:sp>
      <p:sp>
        <p:nvSpPr>
          <p:cNvPr id="17" name="appendix number"/>
          <p:cNvSpPr/>
          <p:nvPr/>
        </p:nvSpPr>
        <p:spPr>
          <a:xfrm>
            <a:off x="731520" y="4480560"/>
            <a:ext cx="457200" cy="457200"/>
          </a:xfrm>
          <a:prstGeom prst="ellipse">
            <a:avLst/>
          </a:prstGeom>
          <a:solidFill>
            <a:schemeClr val="accent2"/>
          </a:solidFill>
          <a:ln w="12700">
            <a:solidFill>
              <a:schemeClr val="accent2"/>
            </a:solidFill>
            <a:prstDash val="solid"/>
          </a:ln>
        </p:spPr>
      </p:sp>
      <p:sp>
        <p:nvSpPr>
          <p:cNvPr id="18" name="Text 16"/>
          <p:cNvSpPr txBox="1"/>
          <p:nvPr/>
        </p:nvSpPr>
        <p:spPr>
          <a:xfrm>
            <a:off x="731520" y="4480560"/>
            <a:ext cx="457200" cy="457200"/>
          </a:xfrm>
          <a:prstGeom prst="rect">
            <a:avLst/>
          </a:prstGeom>
          <a:noFill/>
          <a:ln/>
        </p:spPr>
        <p:txBody>
          <a:bodyPr wrap="square" lIns="0" tIns="0" rIns="0" bIns="0" rtlCol="0" anchor="ctr"/>
          <a:lstStyle/>
          <a:p>
            <a:pPr algn="ctr" indent="0" marL="0">
              <a:buNone/>
            </a:pPr>
            <a:r>
              <a:rPr lang="en-US" sz="1600" b="1" dirty="0">
                <a:solidFill>
                  <a:schemeClr val="tx1"/>
                </a:solidFill>
                <a:latin typeface="Calibri" pitchFamily="34" charset="0"/>
                <a:ea typeface="Calibri" pitchFamily="34" charset="-122"/>
                <a:cs typeface="Calibri" pitchFamily="34" charset="-120"/>
              </a:rPr>
              <a:t>5</a:t>
            </a:r>
            <a:endParaRPr lang="en-US" sz="1600" dirty="0"/>
          </a:p>
        </p:txBody>
      </p:sp>
      <p:sp>
        <p:nvSpPr>
          <p:cNvPr id="19" name="Text 17"/>
          <p:cNvSpPr txBox="1"/>
          <p:nvPr/>
        </p:nvSpPr>
        <p:spPr>
          <a:xfrm>
            <a:off x="1417320" y="4480560"/>
            <a:ext cx="4114800" cy="457200"/>
          </a:xfrm>
          <a:prstGeom prst="rect">
            <a:avLst/>
          </a:prstGeom>
          <a:noFill/>
          <a:ln/>
        </p:spPr>
        <p:txBody>
          <a:bodyPr wrap="square" lIns="0" tIns="0" rIns="0" bIns="0" rtlCol="0" anchor="ctr"/>
          <a:lstStyle/>
          <a:p>
            <a:pPr indent="0" marL="0">
              <a:buNone/>
            </a:pPr>
            <a:r>
              <a:rPr lang="en-US" sz="1800" dirty="0">
                <a:solidFill>
                  <a:schemeClr val="bg1"/>
                </a:solidFill>
                <a:latin typeface="Calibri" pitchFamily="34" charset="0"/>
                <a:ea typeface="Calibri" pitchFamily="34" charset="-122"/>
                <a:cs typeface="Calibri" pitchFamily="34" charset="-120"/>
              </a:rPr>
              <a:t>ACH</a:t>
            </a:r>
            <a:endParaRPr lang="en-US" sz="1800" dirty="0"/>
          </a:p>
        </p:txBody>
      </p:sp>
      <p:sp>
        <p:nvSpPr>
          <p:cNvPr id="20" name="appendix number"/>
          <p:cNvSpPr/>
          <p:nvPr/>
        </p:nvSpPr>
        <p:spPr>
          <a:xfrm>
            <a:off x="5852160" y="4480560"/>
            <a:ext cx="457200" cy="457200"/>
          </a:xfrm>
          <a:prstGeom prst="ellipse">
            <a:avLst/>
          </a:prstGeom>
          <a:solidFill>
            <a:schemeClr val="accent2"/>
          </a:solidFill>
          <a:ln w="12700">
            <a:solidFill>
              <a:schemeClr val="accent2"/>
            </a:solidFill>
            <a:prstDash val="solid"/>
          </a:ln>
        </p:spPr>
      </p:sp>
      <p:sp>
        <p:nvSpPr>
          <p:cNvPr id="21" name="Text 19"/>
          <p:cNvSpPr txBox="1"/>
          <p:nvPr/>
        </p:nvSpPr>
        <p:spPr>
          <a:xfrm>
            <a:off x="5852160" y="4480560"/>
            <a:ext cx="457200" cy="457200"/>
          </a:xfrm>
          <a:prstGeom prst="rect">
            <a:avLst/>
          </a:prstGeom>
          <a:noFill/>
          <a:ln/>
        </p:spPr>
        <p:txBody>
          <a:bodyPr wrap="square" lIns="0" tIns="0" rIns="0" bIns="0" rtlCol="0" anchor="ctr"/>
          <a:lstStyle/>
          <a:p>
            <a:pPr algn="ctr" indent="0" marL="0">
              <a:buNone/>
            </a:pPr>
            <a:r>
              <a:rPr lang="en-US" sz="1600" b="1" dirty="0">
                <a:solidFill>
                  <a:schemeClr val="tx1"/>
                </a:solidFill>
                <a:latin typeface="Calibri" pitchFamily="34" charset="0"/>
                <a:ea typeface="Calibri" pitchFamily="34" charset="-122"/>
                <a:cs typeface="Calibri" pitchFamily="34" charset="-120"/>
              </a:rPr>
              <a:t>6</a:t>
            </a:r>
            <a:endParaRPr lang="en-US" sz="1600" dirty="0"/>
          </a:p>
        </p:txBody>
      </p:sp>
      <p:sp>
        <p:nvSpPr>
          <p:cNvPr id="22" name="Text 20"/>
          <p:cNvSpPr txBox="1"/>
          <p:nvPr/>
        </p:nvSpPr>
        <p:spPr>
          <a:xfrm>
            <a:off x="6537960" y="4480560"/>
            <a:ext cx="4114800" cy="457200"/>
          </a:xfrm>
          <a:prstGeom prst="rect">
            <a:avLst/>
          </a:prstGeom>
          <a:noFill/>
          <a:ln/>
        </p:spPr>
        <p:txBody>
          <a:bodyPr wrap="square" lIns="0" tIns="0" rIns="0" bIns="0" rtlCol="0" anchor="ctr"/>
          <a:lstStyle/>
          <a:p>
            <a:pPr indent="0" marL="0">
              <a:buNone/>
            </a:pPr>
            <a:r>
              <a:rPr lang="en-US" sz="1800" dirty="0">
                <a:solidFill>
                  <a:schemeClr val="bg1"/>
                </a:solidFill>
                <a:latin typeface="Calibri" pitchFamily="34" charset="0"/>
                <a:ea typeface="Calibri" pitchFamily="34" charset="-122"/>
                <a:cs typeface="Calibri" pitchFamily="34" charset="-120"/>
              </a:rPr>
              <a:t>ECCU cheques</a:t>
            </a:r>
            <a:endParaRPr lang="en-US" sz="1800" dirty="0"/>
          </a:p>
        </p:txBody>
      </p:sp>
      <p:sp>
        <p:nvSpPr>
          <p:cNvPr id="23" name="appendix number"/>
          <p:cNvSpPr/>
          <p:nvPr/>
        </p:nvSpPr>
        <p:spPr>
          <a:xfrm>
            <a:off x="731520" y="5257800"/>
            <a:ext cx="457200" cy="457200"/>
          </a:xfrm>
          <a:prstGeom prst="ellipse">
            <a:avLst/>
          </a:prstGeom>
          <a:solidFill>
            <a:schemeClr val="accent2"/>
          </a:solidFill>
          <a:ln w="12700">
            <a:solidFill>
              <a:schemeClr val="accent2"/>
            </a:solidFill>
            <a:prstDash val="solid"/>
          </a:ln>
        </p:spPr>
      </p:sp>
      <p:sp>
        <p:nvSpPr>
          <p:cNvPr id="24" name="Text 22"/>
          <p:cNvSpPr txBox="1"/>
          <p:nvPr/>
        </p:nvSpPr>
        <p:spPr>
          <a:xfrm>
            <a:off x="731520" y="5257800"/>
            <a:ext cx="457200" cy="457200"/>
          </a:xfrm>
          <a:prstGeom prst="rect">
            <a:avLst/>
          </a:prstGeom>
          <a:noFill/>
          <a:ln/>
        </p:spPr>
        <p:txBody>
          <a:bodyPr wrap="square" lIns="0" tIns="0" rIns="0" bIns="0" rtlCol="0" anchor="ctr"/>
          <a:lstStyle/>
          <a:p>
            <a:pPr algn="ctr" indent="0" marL="0">
              <a:buNone/>
            </a:pPr>
            <a:r>
              <a:rPr lang="en-US" sz="1600" b="1" dirty="0">
                <a:solidFill>
                  <a:schemeClr val="tx1"/>
                </a:solidFill>
                <a:latin typeface="Calibri" pitchFamily="34" charset="0"/>
                <a:ea typeface="Calibri" pitchFamily="34" charset="-122"/>
                <a:cs typeface="Calibri" pitchFamily="34" charset="-120"/>
              </a:rPr>
              <a:t>7</a:t>
            </a:r>
            <a:endParaRPr lang="en-US" sz="1600" dirty="0"/>
          </a:p>
        </p:txBody>
      </p:sp>
      <p:sp>
        <p:nvSpPr>
          <p:cNvPr id="25" name="Text 23"/>
          <p:cNvSpPr txBox="1"/>
          <p:nvPr/>
        </p:nvSpPr>
        <p:spPr>
          <a:xfrm>
            <a:off x="1417320" y="5257800"/>
            <a:ext cx="4114800" cy="457200"/>
          </a:xfrm>
          <a:prstGeom prst="rect">
            <a:avLst/>
          </a:prstGeom>
          <a:noFill/>
          <a:ln/>
        </p:spPr>
        <p:txBody>
          <a:bodyPr wrap="square" lIns="0" tIns="0" rIns="0" bIns="0" rtlCol="0" anchor="ctr"/>
          <a:lstStyle/>
          <a:p>
            <a:pPr indent="0" marL="0">
              <a:buNone/>
            </a:pPr>
            <a:r>
              <a:rPr lang="en-US" sz="1800" dirty="0">
                <a:solidFill>
                  <a:schemeClr val="bg1"/>
                </a:solidFill>
                <a:latin typeface="Calibri" pitchFamily="34" charset="0"/>
                <a:ea typeface="Calibri" pitchFamily="34" charset="-122"/>
                <a:cs typeface="Calibri" pitchFamily="34" charset="-120"/>
              </a:rPr>
              <a:t>IPS</a:t>
            </a:r>
            <a:endParaRPr lang="en-US" sz="18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lIns="0" tIns="0" rIns="0" bIns="0" rtlCol="0" anchor="ctr"/>
          <a:lstStyle/>
          <a:p>
            <a:pPr algn="l" indent="0" marL="0">
              <a:buNone/>
            </a:pPr>
            <a:r>
              <a:rPr lang="en-US" sz="2800" b="1" dirty="0">
                <a:solidFill>
                  <a:schemeClr val="tx1"/>
                </a:solidFill>
              </a:rPr>
              <a:t>CliQ grew deeper, not just wider</a:t>
            </a:r>
            <a:endParaRPr lang="en-US" sz="2800" dirty="0"/>
          </a:p>
        </p:txBody>
      </p:sp>
      <p:sp>
        <p:nvSpPr>
          <p:cNvPr id="3" name="data marker"/>
          <p:cNvSpPr/>
          <p:nvPr/>
        </p:nvSpPr>
        <p:spPr>
          <a:xfrm>
            <a:off x="548640" y="1280160"/>
            <a:ext cx="6583680" cy="347472"/>
          </a:xfrm>
          <a:prstGeom prst="roundRect">
            <a:avLst>
              <a:gd name="adj" fmla="val 21053"/>
            </a:avLst>
          </a:prstGeom>
          <a:solidFill>
            <a:schemeClr val="bg2"/>
          </a:solidFill>
          <a:ln w="12700">
            <a:solidFill>
              <a:schemeClr val="accent4"/>
            </a:solidFill>
            <a:prstDash val="solid"/>
          </a:ln>
        </p:spPr>
      </p:sp>
      <p:sp>
        <p:nvSpPr>
          <p:cNvPr id="4" name="Text 2"/>
          <p:cNvSpPr txBox="1"/>
          <p:nvPr/>
        </p:nvSpPr>
        <p:spPr>
          <a:xfrm>
            <a:off x="548640" y="1280160"/>
            <a:ext cx="6583680" cy="347472"/>
          </a:xfrm>
          <a:prstGeom prst="rect">
            <a:avLst/>
          </a:prstGeom>
          <a:noFill/>
          <a:ln/>
        </p:spPr>
        <p:txBody>
          <a:bodyPr wrap="square" lIns="0" tIns="0" rIns="0" bIns="0" rtlCol="0" anchor="ctr"/>
          <a:lstStyle/>
          <a:p>
            <a:pPr algn="ctr" indent="0" marL="0">
              <a:buNone/>
            </a:pPr>
            <a:r>
              <a:rPr lang="en-US" sz="1100" b="1" dirty="0">
                <a:solidFill>
                  <a:schemeClr val="tx1"/>
                </a:solidFill>
                <a:latin typeface="Calibri" pitchFamily="34" charset="0"/>
                <a:ea typeface="Calibri" pitchFamily="34" charset="-122"/>
                <a:cs typeface="Calibri" pitchFamily="34" charset="-120"/>
              </a:rPr>
              <a:t>DERIVED: indexed to 2024 = 100 from reported growth rates</a:t>
            </a:r>
            <a:endParaRPr lang="en-US" sz="1100" dirty="0"/>
          </a:p>
        </p:txBody>
      </p:sp>
      <p:graphicFrame>
        <p:nvGraphicFramePr>
          <p:cNvPr id="5" name="Chart 0" descr=""/>
          <p:cNvGraphicFramePr/>
          <p:nvPr/>
        </p:nvGraphicFramePr>
        <p:xfrm>
          <a:off x="548640" y="1691640"/>
          <a:ext cx="6583680" cy="3840480"/>
        </p:xfrm>
        <a:graphic xmlns:a="http://schemas.openxmlformats.org/drawingml/2006/main">
          <a:graphicData uri="http://schemas.openxmlformats.org/drawingml/2006/chart">
            <c:chart xmlns:c="http://schemas.openxmlformats.org/drawingml/2006/chart" r:id="rId1"/>
          </a:graphicData>
        </a:graphic>
      </p:graphicFrame>
      <p:sp>
        <p:nvSpPr>
          <p:cNvPr id="6" name="Text 3"/>
          <p:cNvSpPr txBox="1"/>
          <p:nvPr/>
        </p:nvSpPr>
        <p:spPr>
          <a:xfrm>
            <a:off x="548640" y="5623560"/>
            <a:ext cx="6583680" cy="457200"/>
          </a:xfrm>
          <a:prstGeom prst="rect">
            <a:avLst/>
          </a:prstGeom>
          <a:noFill/>
          <a:ln/>
        </p:spPr>
        <p:txBody>
          <a:bodyPr wrap="square" lIns="0" tIns="0" rIns="0" bIns="0" rtlCol="0" anchor="ctr"/>
          <a:lstStyle/>
          <a:p>
            <a:pPr algn="ctr" indent="0" marL="0">
              <a:buNone/>
            </a:pPr>
            <a:r>
              <a:rPr lang="en-US" sz="1700" b="1" dirty="0">
                <a:solidFill>
                  <a:srgbClr val="243746"/>
                </a:solidFill>
                <a:latin typeface="Calibri" pitchFamily="34" charset="0"/>
                <a:ea typeface="Calibri" pitchFamily="34" charset="-122"/>
                <a:cs typeface="Calibri" pitchFamily="34" charset="-120"/>
              </a:rPr>
              <a:t>1.27 users x 1.57 per user = 2.0 transactions</a:t>
            </a:r>
            <a:endParaRPr lang="en-US" sz="1700" dirty="0"/>
          </a:p>
        </p:txBody>
      </p:sp>
      <p:sp>
        <p:nvSpPr>
          <p:cNvPr id="7" name="card"/>
          <p:cNvSpPr/>
          <p:nvPr/>
        </p:nvSpPr>
        <p:spPr>
          <a:xfrm>
            <a:off x="7498080" y="1371600"/>
            <a:ext cx="4114800" cy="2468880"/>
          </a:xfrm>
          <a:prstGeom prst="roundRect">
            <a:avLst>
              <a:gd name="adj" fmla="val 4444"/>
            </a:avLst>
          </a:prstGeom>
          <a:solidFill>
            <a:schemeClr val="bg2"/>
          </a:solidFill>
          <a:ln w="12700">
            <a:solidFill>
              <a:schemeClr val="bg2"/>
            </a:solidFill>
            <a:prstDash val="solid"/>
          </a:ln>
        </p:spPr>
      </p:sp>
      <p:sp>
        <p:nvSpPr>
          <p:cNvPr id="8" name="Text 5"/>
          <p:cNvSpPr txBox="1"/>
          <p:nvPr/>
        </p:nvSpPr>
        <p:spPr>
          <a:xfrm>
            <a:off x="7726680" y="1508760"/>
            <a:ext cx="3657600" cy="365760"/>
          </a:xfrm>
          <a:prstGeom prst="rect">
            <a:avLst/>
          </a:prstGeom>
          <a:noFill/>
          <a:ln/>
        </p:spPr>
        <p:txBody>
          <a:bodyPr wrap="square" lIns="0" tIns="0" rIns="0" bIns="0" rtlCol="0" anchor="t"/>
          <a:lstStyle/>
          <a:p>
            <a:pPr indent="0" marL="0">
              <a:buNone/>
            </a:pPr>
            <a:r>
              <a:rPr lang="en-US" sz="1600" b="1" dirty="0">
                <a:solidFill>
                  <a:schemeClr val="tx1"/>
                </a:solidFill>
                <a:latin typeface="Calibri" pitchFamily="34" charset="0"/>
                <a:ea typeface="Calibri" pitchFamily="34" charset="-122"/>
                <a:cs typeface="Calibri" pitchFamily="34" charset="-120"/>
              </a:rPr>
              <a:t>Source of the doubling (derived)</a:t>
            </a:r>
            <a:endParaRPr lang="en-US" sz="1600" dirty="0"/>
          </a:p>
        </p:txBody>
      </p:sp>
      <p:sp>
        <p:nvSpPr>
          <p:cNvPr id="9" name="depth"/>
          <p:cNvSpPr/>
          <p:nvPr/>
        </p:nvSpPr>
        <p:spPr>
          <a:xfrm>
            <a:off x="7726680" y="2103120"/>
            <a:ext cx="2377440" cy="640080"/>
          </a:xfrm>
          <a:prstGeom prst="rect">
            <a:avLst/>
          </a:prstGeom>
          <a:solidFill>
            <a:schemeClr val="accent2"/>
          </a:solidFill>
          <a:ln w="12700">
            <a:solidFill>
              <a:schemeClr val="accent2"/>
            </a:solidFill>
            <a:prstDash val="solid"/>
          </a:ln>
        </p:spPr>
      </p:sp>
      <p:sp>
        <p:nvSpPr>
          <p:cNvPr id="10" name="breadth"/>
          <p:cNvSpPr/>
          <p:nvPr/>
        </p:nvSpPr>
        <p:spPr>
          <a:xfrm>
            <a:off x="10104120" y="2103120"/>
            <a:ext cx="1280160" cy="640080"/>
          </a:xfrm>
          <a:prstGeom prst="rect">
            <a:avLst/>
          </a:prstGeom>
          <a:solidFill>
            <a:schemeClr val="accent1"/>
          </a:solidFill>
          <a:ln w="12700">
            <a:solidFill>
              <a:schemeClr val="accent1"/>
            </a:solidFill>
            <a:prstDash val="solid"/>
          </a:ln>
        </p:spPr>
      </p:sp>
      <p:sp>
        <p:nvSpPr>
          <p:cNvPr id="11" name="Text 8"/>
          <p:cNvSpPr txBox="1"/>
          <p:nvPr/>
        </p:nvSpPr>
        <p:spPr>
          <a:xfrm>
            <a:off x="7726680" y="2103120"/>
            <a:ext cx="2377440" cy="640080"/>
          </a:xfrm>
          <a:prstGeom prst="rect">
            <a:avLst/>
          </a:prstGeom>
          <a:noFill/>
          <a:ln/>
        </p:spPr>
        <p:txBody>
          <a:bodyPr wrap="square" lIns="0" tIns="0" rIns="0" bIns="0" rtlCol="0" anchor="ctr"/>
          <a:lstStyle/>
          <a:p>
            <a:pPr algn="ctr" indent="0" marL="0">
              <a:buNone/>
            </a:pPr>
            <a:r>
              <a:rPr lang="en-US" sz="1600" b="1" dirty="0">
                <a:solidFill>
                  <a:schemeClr val="tx1"/>
                </a:solidFill>
                <a:latin typeface="Calibri" pitchFamily="34" charset="0"/>
                <a:ea typeface="Calibri" pitchFamily="34" charset="-122"/>
                <a:cs typeface="Calibri" pitchFamily="34" charset="-120"/>
              </a:rPr>
              <a:t>Depth 65%</a:t>
            </a:r>
            <a:endParaRPr lang="en-US" sz="1600" dirty="0"/>
          </a:p>
        </p:txBody>
      </p:sp>
      <p:sp>
        <p:nvSpPr>
          <p:cNvPr id="12" name="Text 9"/>
          <p:cNvSpPr txBox="1"/>
          <p:nvPr/>
        </p:nvSpPr>
        <p:spPr>
          <a:xfrm>
            <a:off x="10104120" y="2103120"/>
            <a:ext cx="1280160" cy="640080"/>
          </a:xfrm>
          <a:prstGeom prst="rect">
            <a:avLst/>
          </a:prstGeom>
          <a:noFill/>
          <a:ln/>
        </p:spPr>
        <p:txBody>
          <a:bodyPr wrap="square" lIns="0" tIns="0" rIns="0" bIns="0" rtlCol="0" anchor="ctr"/>
          <a:lstStyle/>
          <a:p>
            <a:pPr algn="ctr" indent="0" marL="0">
              <a:buNone/>
            </a:pPr>
            <a:r>
              <a:rPr lang="en-US" sz="1400" b="1" dirty="0">
                <a:solidFill>
                  <a:schemeClr val="bg1"/>
                </a:solidFill>
                <a:latin typeface="Calibri" pitchFamily="34" charset="0"/>
                <a:ea typeface="Calibri" pitchFamily="34" charset="-122"/>
                <a:cs typeface="Calibri" pitchFamily="34" charset="-120"/>
              </a:rPr>
              <a:t>Breadth 35%</a:t>
            </a:r>
            <a:endParaRPr lang="en-US" sz="1400" dirty="0"/>
          </a:p>
        </p:txBody>
      </p:sp>
      <p:sp>
        <p:nvSpPr>
          <p:cNvPr id="13" name="Text 10"/>
          <p:cNvSpPr txBox="1"/>
          <p:nvPr/>
        </p:nvSpPr>
        <p:spPr>
          <a:xfrm>
            <a:off x="7726680" y="2926080"/>
            <a:ext cx="3657600" cy="731520"/>
          </a:xfrm>
          <a:prstGeom prst="rect">
            <a:avLst/>
          </a:prstGeom>
          <a:noFill/>
          <a:ln/>
        </p:spPr>
        <p:txBody>
          <a:bodyPr wrap="square" lIns="0" tIns="0" rIns="0" bIns="0" rtlCol="0" anchor="t"/>
          <a:lstStyle/>
          <a:p>
            <a:pPr indent="0" marL="0">
              <a:buNone/>
            </a:pPr>
            <a:r>
              <a:rPr lang="en-US" sz="1400" dirty="0">
                <a:solidFill>
                  <a:schemeClr val="tx2"/>
                </a:solidFill>
                <a:latin typeface="Calibri" pitchFamily="34" charset="0"/>
                <a:ea typeface="Calibri" pitchFamily="34" charset="-122"/>
                <a:cs typeface="Calibri" pitchFamily="34" charset="-120"/>
              </a:rPr>
              <a:t>Depth = existing users doing more. Breadth = new users.</a:t>
            </a:r>
            <a:endParaRPr lang="en-US" sz="1400" dirty="0"/>
          </a:p>
        </p:txBody>
      </p:sp>
      <p:sp>
        <p:nvSpPr>
          <p:cNvPr id="14" name="takeaway"/>
          <p:cNvSpPr/>
          <p:nvPr/>
        </p:nvSpPr>
        <p:spPr>
          <a:xfrm>
            <a:off x="7498080" y="4023360"/>
            <a:ext cx="4114800" cy="1463040"/>
          </a:xfrm>
          <a:prstGeom prst="roundRect">
            <a:avLst>
              <a:gd name="adj" fmla="val 7500"/>
            </a:avLst>
          </a:prstGeom>
          <a:solidFill>
            <a:schemeClr val="bg2"/>
          </a:solidFill>
          <a:ln w="12700">
            <a:solidFill>
              <a:schemeClr val="bg2"/>
            </a:solidFill>
            <a:prstDash val="solid"/>
          </a:ln>
        </p:spPr>
      </p:sp>
      <p:sp>
        <p:nvSpPr>
          <p:cNvPr id="15" name="Text 12"/>
          <p:cNvSpPr txBox="1"/>
          <p:nvPr/>
        </p:nvSpPr>
        <p:spPr>
          <a:xfrm>
            <a:off x="7726680" y="4160520"/>
            <a:ext cx="3657600" cy="1188720"/>
          </a:xfrm>
          <a:prstGeom prst="rect">
            <a:avLst/>
          </a:prstGeom>
          <a:noFill/>
          <a:ln/>
        </p:spPr>
        <p:txBody>
          <a:bodyPr wrap="square" lIns="0" tIns="0" rIns="0" bIns="0" rtlCol="0" anchor="ctr"/>
          <a:lstStyle/>
          <a:p>
            <a:pPr indent="0" marL="0">
              <a:buNone/>
            </a:pPr>
            <a:r>
              <a:rPr lang="en-US" sz="1600" b="1" dirty="0">
                <a:solidFill>
                  <a:schemeClr val="accent3"/>
                </a:solidFill>
                <a:latin typeface="Calibri" pitchFamily="34" charset="0"/>
                <a:ea typeface="Calibri" pitchFamily="34" charset="-122"/>
                <a:cs typeface="Calibri" pitchFamily="34" charset="-120"/>
              </a:rPr>
              <a:t>"~4x" =  </a:t>
            </a:r>
            <a:pPr indent="0" marL="0">
              <a:buNone/>
            </a:pPr>
            <a:r>
              <a:rPr lang="en-US" sz="1600" dirty="0">
                <a:solidFill>
                  <a:schemeClr val="tx1"/>
                </a:solidFill>
                <a:latin typeface="Calibri" pitchFamily="34" charset="0"/>
                <a:ea typeface="Calibri" pitchFamily="34" charset="-122"/>
                <a:cs typeface="Calibri" pitchFamily="34" charset="-120"/>
              </a:rPr>
              <a:t>the growth gap (3.7x), not per-user.</a:t>
            </a:r>
            <a:endParaRPr lang="en-US" sz="1600" dirty="0"/>
          </a:p>
        </p:txBody>
      </p:sp>
      <p:sp>
        <p:nvSpPr>
          <p:cNvPr id="25"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lIns="0" tIns="0" rIns="0" bIns="0" rtlCol="0" anchor="ctr"/>
          <a:lstStyle/>
          <a:p>
            <a:pPr algn="l" indent="0" marL="0">
              <a:buNone/>
            </a:pPr>
            <a:r>
              <a:rPr lang="en-US" sz="2800" b="1" dirty="0">
                <a:solidFill>
                  <a:schemeClr val="tx1"/>
                </a:solidFill>
              </a:rPr>
              <a:t>Wallets reach far more women than CliQ</a:t>
            </a:r>
            <a:endParaRPr lang="en-US" sz="2800" dirty="0"/>
          </a:p>
        </p:txBody>
      </p:sp>
      <p:sp>
        <p:nvSpPr>
          <p:cNvPr id="3" name="data marker"/>
          <p:cNvSpPr/>
          <p:nvPr/>
        </p:nvSpPr>
        <p:spPr>
          <a:xfrm>
            <a:off x="7680960" y="457200"/>
            <a:ext cx="3931920" cy="347472"/>
          </a:xfrm>
          <a:prstGeom prst="roundRect">
            <a:avLst>
              <a:gd name="adj" fmla="val 21053"/>
            </a:avLst>
          </a:prstGeom>
          <a:solidFill>
            <a:schemeClr val="bg2"/>
          </a:solidFill>
          <a:ln w="12700">
            <a:solidFill>
              <a:schemeClr val="accent4"/>
            </a:solidFill>
            <a:prstDash val="solid"/>
          </a:ln>
        </p:spPr>
      </p:sp>
      <p:sp>
        <p:nvSpPr>
          <p:cNvPr id="4" name="Text 2"/>
          <p:cNvSpPr txBox="1"/>
          <p:nvPr/>
        </p:nvSpPr>
        <p:spPr>
          <a:xfrm>
            <a:off x="7680960" y="457200"/>
            <a:ext cx="3931920" cy="347472"/>
          </a:xfrm>
          <a:prstGeom prst="rect">
            <a:avLst/>
          </a:prstGeom>
          <a:noFill/>
          <a:ln/>
        </p:spPr>
        <p:txBody>
          <a:bodyPr wrap="square" lIns="0" tIns="0" rIns="0" bIns="0" rtlCol="0" anchor="ctr"/>
          <a:lstStyle/>
          <a:p>
            <a:pPr algn="ctr" indent="0" marL="0">
              <a:buNone/>
            </a:pPr>
            <a:r>
              <a:rPr lang="en-US" sz="1100" b="1" dirty="0">
                <a:solidFill>
                  <a:schemeClr val="tx1"/>
                </a:solidFill>
                <a:latin typeface="Calibri" pitchFamily="34" charset="0"/>
                <a:ea typeface="Calibri" pitchFamily="34" charset="-122"/>
                <a:cs typeface="Calibri" pitchFamily="34" charset="-120"/>
              </a:rPr>
              <a:t>DERIVED: JoMoPay male share = remainder</a:t>
            </a:r>
            <a:endParaRPr lang="en-US" sz="1100" dirty="0"/>
          </a:p>
        </p:txBody>
      </p:sp>
      <p:sp>
        <p:nvSpPr>
          <p:cNvPr id="5" name="card"/>
          <p:cNvSpPr/>
          <p:nvPr/>
        </p:nvSpPr>
        <p:spPr>
          <a:xfrm>
            <a:off x="548640" y="1371600"/>
            <a:ext cx="5394960" cy="4069080"/>
          </a:xfrm>
          <a:prstGeom prst="roundRect">
            <a:avLst>
              <a:gd name="adj" fmla="val 2697"/>
            </a:avLst>
          </a:prstGeom>
          <a:solidFill>
            <a:schemeClr val="bg2"/>
          </a:solidFill>
          <a:ln w="12700">
            <a:solidFill>
              <a:schemeClr val="bg2"/>
            </a:solidFill>
            <a:prstDash val="solid"/>
          </a:ln>
        </p:spPr>
      </p:sp>
      <p:sp>
        <p:nvSpPr>
          <p:cNvPr id="6" name="Text 4"/>
          <p:cNvSpPr txBox="1"/>
          <p:nvPr/>
        </p:nvSpPr>
        <p:spPr>
          <a:xfrm>
            <a:off x="822960" y="1481328"/>
            <a:ext cx="4846320" cy="411480"/>
          </a:xfrm>
          <a:prstGeom prst="rect">
            <a:avLst/>
          </a:prstGeom>
          <a:noFill/>
          <a:ln/>
        </p:spPr>
        <p:txBody>
          <a:bodyPr wrap="square" lIns="0" tIns="0" rIns="0" bIns="0" rtlCol="0" anchor="t"/>
          <a:lstStyle/>
          <a:p>
            <a:pPr indent="0" marL="0">
              <a:buNone/>
            </a:pPr>
            <a:r>
              <a:rPr lang="en-US" sz="2000" b="1" dirty="0">
                <a:solidFill>
                  <a:schemeClr val="tx1"/>
                </a:solidFill>
                <a:latin typeface="Calibri" pitchFamily="34" charset="0"/>
                <a:ea typeface="Calibri" pitchFamily="34" charset="-122"/>
                <a:cs typeface="Calibri" pitchFamily="34" charset="-120"/>
              </a:rPr>
              <a:t>CliQ</a:t>
            </a:r>
            <a:endParaRPr lang="en-US" sz="2000" dirty="0"/>
          </a:p>
        </p:txBody>
      </p:sp>
      <p:pic>
        <p:nvPicPr>
          <p:cNvPr id="7" name="Image 0" descr="CliQ male share 61%">    </p:cNvPr>
          <p:cNvPicPr>
            <a:picLocks noChangeAspect="1"/>
          </p:cNvPicPr>
          <p:nvPr/>
        </p:nvPicPr>
        <p:blipFill>
          <a:blip r:embed="rId1"/>
          <a:stretch>
            <a:fillRect/>
          </a:stretch>
        </p:blipFill>
        <p:spPr>
          <a:xfrm>
            <a:off x="1554480" y="1920240"/>
            <a:ext cx="1188720" cy="2377440"/>
          </a:xfrm>
          <a:prstGeom prst="rect">
            <a:avLst/>
          </a:prstGeom>
        </p:spPr>
      </p:pic>
      <p:pic>
        <p:nvPicPr>
          <p:cNvPr id="8" name="Image 1" descr="CliQ female share 36%">    </p:cNvPr>
          <p:cNvPicPr>
            <a:picLocks noChangeAspect="1"/>
          </p:cNvPicPr>
          <p:nvPr/>
        </p:nvPicPr>
        <p:blipFill>
          <a:blip r:embed="rId2"/>
          <a:stretch>
            <a:fillRect/>
          </a:stretch>
        </p:blipFill>
        <p:spPr>
          <a:xfrm>
            <a:off x="3749040" y="1920240"/>
            <a:ext cx="1188720" cy="2377440"/>
          </a:xfrm>
          <a:prstGeom prst="rect">
            <a:avLst/>
          </a:prstGeom>
        </p:spPr>
      </p:pic>
      <p:sp>
        <p:nvSpPr>
          <p:cNvPr id="9" name="Text 5"/>
          <p:cNvSpPr txBox="1"/>
          <p:nvPr/>
        </p:nvSpPr>
        <p:spPr>
          <a:xfrm>
            <a:off x="1234440" y="4343400"/>
            <a:ext cx="1828800" cy="502920"/>
          </a:xfrm>
          <a:prstGeom prst="rect">
            <a:avLst/>
          </a:prstGeom>
          <a:noFill/>
          <a:ln/>
        </p:spPr>
        <p:txBody>
          <a:bodyPr wrap="square" lIns="0" tIns="0" rIns="0" bIns="0" rtlCol="0" anchor="ctr"/>
          <a:lstStyle/>
          <a:p>
            <a:pPr algn="ctr" indent="0" marL="0">
              <a:buNone/>
            </a:pPr>
            <a:r>
              <a:rPr lang="en-US" sz="3000" b="1" dirty="0">
                <a:solidFill>
                  <a:schemeClr val="tx1"/>
                </a:solidFill>
                <a:latin typeface="Calibri" pitchFamily="34" charset="0"/>
                <a:ea typeface="Calibri" pitchFamily="34" charset="-122"/>
                <a:cs typeface="Calibri" pitchFamily="34" charset="-120"/>
              </a:rPr>
              <a:t>61%</a:t>
            </a:r>
            <a:endParaRPr lang="en-US" sz="3000" dirty="0"/>
          </a:p>
        </p:txBody>
      </p:sp>
      <p:sp>
        <p:nvSpPr>
          <p:cNvPr id="10" name="Text 6"/>
          <p:cNvSpPr txBox="1"/>
          <p:nvPr/>
        </p:nvSpPr>
        <p:spPr>
          <a:xfrm>
            <a:off x="3429000" y="4343400"/>
            <a:ext cx="1828800" cy="502920"/>
          </a:xfrm>
          <a:prstGeom prst="rect">
            <a:avLst/>
          </a:prstGeom>
          <a:noFill/>
          <a:ln/>
        </p:spPr>
        <p:txBody>
          <a:bodyPr wrap="square" lIns="0" tIns="0" rIns="0" bIns="0" rtlCol="0" anchor="ctr"/>
          <a:lstStyle/>
          <a:p>
            <a:pPr algn="ctr" indent="0" marL="0">
              <a:buNone/>
            </a:pPr>
            <a:r>
              <a:rPr lang="en-US" sz="3000" b="1" dirty="0">
                <a:solidFill>
                  <a:schemeClr val="tx1"/>
                </a:solidFill>
                <a:latin typeface="Calibri" pitchFamily="34" charset="0"/>
                <a:ea typeface="Calibri" pitchFamily="34" charset="-122"/>
                <a:cs typeface="Calibri" pitchFamily="34" charset="-120"/>
              </a:rPr>
              <a:t>36%</a:t>
            </a:r>
            <a:endParaRPr lang="en-US" sz="3000" dirty="0"/>
          </a:p>
        </p:txBody>
      </p:sp>
      <p:sp>
        <p:nvSpPr>
          <p:cNvPr id="11" name="Text 7"/>
          <p:cNvSpPr txBox="1"/>
          <p:nvPr/>
        </p:nvSpPr>
        <p:spPr>
          <a:xfrm>
            <a:off x="1234440" y="4846320"/>
            <a:ext cx="1828800" cy="274320"/>
          </a:xfrm>
          <a:prstGeom prst="rect">
            <a:avLst/>
          </a:prstGeom>
          <a:noFill/>
          <a:ln/>
        </p:spPr>
        <p:txBody>
          <a:bodyPr wrap="square" lIns="0" tIns="0" rIns="0" bIns="0" rtlCol="0" anchor="t"/>
          <a:lstStyle/>
          <a:p>
            <a:pPr algn="ctr" indent="0" marL="0">
              <a:buNone/>
            </a:pPr>
            <a:r>
              <a:rPr lang="en-US" sz="1400" dirty="0">
                <a:solidFill>
                  <a:schemeClr val="tx2"/>
                </a:solidFill>
                <a:latin typeface="Calibri" pitchFamily="34" charset="0"/>
                <a:ea typeface="Calibri" pitchFamily="34" charset="-122"/>
                <a:cs typeface="Calibri" pitchFamily="34" charset="-120"/>
              </a:rPr>
              <a:t>Male</a:t>
            </a:r>
            <a:endParaRPr lang="en-US" sz="1400" dirty="0"/>
          </a:p>
        </p:txBody>
      </p:sp>
      <p:sp>
        <p:nvSpPr>
          <p:cNvPr id="12" name="Text 8"/>
          <p:cNvSpPr txBox="1"/>
          <p:nvPr/>
        </p:nvSpPr>
        <p:spPr>
          <a:xfrm>
            <a:off x="3429000" y="4846320"/>
            <a:ext cx="1828800" cy="274320"/>
          </a:xfrm>
          <a:prstGeom prst="rect">
            <a:avLst/>
          </a:prstGeom>
          <a:noFill/>
          <a:ln/>
        </p:spPr>
        <p:txBody>
          <a:bodyPr wrap="square" lIns="0" tIns="0" rIns="0" bIns="0" rtlCol="0" anchor="t"/>
          <a:lstStyle/>
          <a:p>
            <a:pPr algn="ctr" indent="0" marL="0">
              <a:buNone/>
            </a:pPr>
            <a:r>
              <a:rPr lang="en-US" sz="1400" dirty="0">
                <a:solidFill>
                  <a:schemeClr val="tx2"/>
                </a:solidFill>
                <a:latin typeface="Calibri" pitchFamily="34" charset="0"/>
                <a:ea typeface="Calibri" pitchFamily="34" charset="-122"/>
                <a:cs typeface="Calibri" pitchFamily="34" charset="-120"/>
              </a:rPr>
              <a:t>Female</a:t>
            </a:r>
            <a:endParaRPr lang="en-US" sz="1400" dirty="0"/>
          </a:p>
        </p:txBody>
      </p:sp>
      <p:sp>
        <p:nvSpPr>
          <p:cNvPr id="13" name="Text 9"/>
          <p:cNvSpPr txBox="1"/>
          <p:nvPr/>
        </p:nvSpPr>
        <p:spPr>
          <a:xfrm>
            <a:off x="822960" y="5138928"/>
            <a:ext cx="4846320" cy="256032"/>
          </a:xfrm>
          <a:prstGeom prst="rect">
            <a:avLst/>
          </a:prstGeom>
          <a:noFill/>
          <a:ln/>
        </p:spPr>
        <p:txBody>
          <a:bodyPr wrap="square" lIns="0" tIns="0" rIns="0" bIns="0" rtlCol="0" anchor="t"/>
          <a:lstStyle/>
          <a:p>
            <a:pPr indent="0" marL="0">
              <a:buNone/>
            </a:pPr>
            <a:r>
              <a:rPr lang="en-US" sz="1000" dirty="0">
                <a:solidFill>
                  <a:schemeClr val="tx2"/>
                </a:solidFill>
                <a:latin typeface="Calibri" pitchFamily="34" charset="0"/>
                <a:ea typeface="Calibri" pitchFamily="34" charset="-122"/>
                <a:cs typeface="Calibri" pitchFamily="34" charset="-120"/>
              </a:rPr>
              <a:t>Remaining 3% unspecified in the source</a:t>
            </a:r>
            <a:endParaRPr lang="en-US" sz="1000" dirty="0"/>
          </a:p>
        </p:txBody>
      </p:sp>
      <p:sp>
        <p:nvSpPr>
          <p:cNvPr id="14" name="card"/>
          <p:cNvSpPr/>
          <p:nvPr/>
        </p:nvSpPr>
        <p:spPr>
          <a:xfrm>
            <a:off x="6217920" y="1371600"/>
            <a:ext cx="5394960" cy="4069080"/>
          </a:xfrm>
          <a:prstGeom prst="roundRect">
            <a:avLst>
              <a:gd name="adj" fmla="val 2697"/>
            </a:avLst>
          </a:prstGeom>
          <a:solidFill>
            <a:schemeClr val="bg2"/>
          </a:solidFill>
          <a:ln w="12700">
            <a:solidFill>
              <a:schemeClr val="bg2"/>
            </a:solidFill>
            <a:prstDash val="solid"/>
          </a:ln>
        </p:spPr>
      </p:sp>
      <p:sp>
        <p:nvSpPr>
          <p:cNvPr id="15" name="Text 11"/>
          <p:cNvSpPr txBox="1"/>
          <p:nvPr/>
        </p:nvSpPr>
        <p:spPr>
          <a:xfrm>
            <a:off x="6492240" y="1481328"/>
            <a:ext cx="4846320" cy="411480"/>
          </a:xfrm>
          <a:prstGeom prst="rect">
            <a:avLst/>
          </a:prstGeom>
          <a:noFill/>
          <a:ln/>
        </p:spPr>
        <p:txBody>
          <a:bodyPr wrap="square" lIns="0" tIns="0" rIns="0" bIns="0" rtlCol="0" anchor="t"/>
          <a:lstStyle/>
          <a:p>
            <a:pPr indent="0" marL="0">
              <a:buNone/>
            </a:pPr>
            <a:r>
              <a:rPr lang="en-US" sz="2000" b="1" dirty="0">
                <a:solidFill>
                  <a:schemeClr val="tx1"/>
                </a:solidFill>
                <a:latin typeface="Calibri" pitchFamily="34" charset="0"/>
                <a:ea typeface="Calibri" pitchFamily="34" charset="-122"/>
                <a:cs typeface="Calibri" pitchFamily="34" charset="-120"/>
              </a:rPr>
              <a:t>JoMoPay</a:t>
            </a:r>
            <a:endParaRPr lang="en-US" sz="2000" dirty="0"/>
          </a:p>
        </p:txBody>
      </p:sp>
      <p:pic>
        <p:nvPicPr>
          <p:cNvPr id="16" name="Image 2" descr="JoMoPay male share 53.2%">    </p:cNvPr>
          <p:cNvPicPr>
            <a:picLocks noChangeAspect="1"/>
          </p:cNvPicPr>
          <p:nvPr/>
        </p:nvPicPr>
        <p:blipFill>
          <a:blip r:embed="rId3"/>
          <a:stretch>
            <a:fillRect/>
          </a:stretch>
        </p:blipFill>
        <p:spPr>
          <a:xfrm>
            <a:off x="7223760" y="1920240"/>
            <a:ext cx="1188720" cy="2377440"/>
          </a:xfrm>
          <a:prstGeom prst="rect">
            <a:avLst/>
          </a:prstGeom>
        </p:spPr>
      </p:pic>
      <p:pic>
        <p:nvPicPr>
          <p:cNvPr id="17" name="Image 3" descr="JoMoPay female share 46.8%">    </p:cNvPr>
          <p:cNvPicPr>
            <a:picLocks noChangeAspect="1"/>
          </p:cNvPicPr>
          <p:nvPr/>
        </p:nvPicPr>
        <p:blipFill>
          <a:blip r:embed="rId4"/>
          <a:stretch>
            <a:fillRect/>
          </a:stretch>
        </p:blipFill>
        <p:spPr>
          <a:xfrm>
            <a:off x="9418320" y="1920240"/>
            <a:ext cx="1188720" cy="2377440"/>
          </a:xfrm>
          <a:prstGeom prst="rect">
            <a:avLst/>
          </a:prstGeom>
        </p:spPr>
      </p:pic>
      <p:sp>
        <p:nvSpPr>
          <p:cNvPr id="18" name="Text 12"/>
          <p:cNvSpPr txBox="1"/>
          <p:nvPr/>
        </p:nvSpPr>
        <p:spPr>
          <a:xfrm>
            <a:off x="6903720" y="4343400"/>
            <a:ext cx="1828800" cy="502920"/>
          </a:xfrm>
          <a:prstGeom prst="rect">
            <a:avLst/>
          </a:prstGeom>
          <a:noFill/>
          <a:ln/>
        </p:spPr>
        <p:txBody>
          <a:bodyPr wrap="square" lIns="0" tIns="0" rIns="0" bIns="0" rtlCol="0" anchor="ctr"/>
          <a:lstStyle/>
          <a:p>
            <a:pPr algn="ctr" indent="0" marL="0">
              <a:buNone/>
            </a:pPr>
            <a:r>
              <a:rPr lang="en-US" sz="3000" b="1" dirty="0">
                <a:solidFill>
                  <a:schemeClr val="tx1"/>
                </a:solidFill>
                <a:latin typeface="Calibri" pitchFamily="34" charset="0"/>
                <a:ea typeface="Calibri" pitchFamily="34" charset="-122"/>
                <a:cs typeface="Calibri" pitchFamily="34" charset="-120"/>
              </a:rPr>
              <a:t>53.2%</a:t>
            </a:r>
            <a:endParaRPr lang="en-US" sz="3000" dirty="0"/>
          </a:p>
        </p:txBody>
      </p:sp>
      <p:sp>
        <p:nvSpPr>
          <p:cNvPr id="19" name="Text 13"/>
          <p:cNvSpPr txBox="1"/>
          <p:nvPr/>
        </p:nvSpPr>
        <p:spPr>
          <a:xfrm>
            <a:off x="9098280" y="4343400"/>
            <a:ext cx="1828800" cy="502920"/>
          </a:xfrm>
          <a:prstGeom prst="rect">
            <a:avLst/>
          </a:prstGeom>
          <a:noFill/>
          <a:ln/>
        </p:spPr>
        <p:txBody>
          <a:bodyPr wrap="square" lIns="0" tIns="0" rIns="0" bIns="0" rtlCol="0" anchor="ctr"/>
          <a:lstStyle/>
          <a:p>
            <a:pPr algn="ctr" indent="0" marL="0">
              <a:buNone/>
            </a:pPr>
            <a:r>
              <a:rPr lang="en-US" sz="3000" b="1" dirty="0">
                <a:solidFill>
                  <a:schemeClr val="tx1"/>
                </a:solidFill>
                <a:latin typeface="Calibri" pitchFamily="34" charset="0"/>
                <a:ea typeface="Calibri" pitchFamily="34" charset="-122"/>
                <a:cs typeface="Calibri" pitchFamily="34" charset="-120"/>
              </a:rPr>
              <a:t>46.8%</a:t>
            </a:r>
            <a:endParaRPr lang="en-US" sz="3000" dirty="0"/>
          </a:p>
        </p:txBody>
      </p:sp>
      <p:sp>
        <p:nvSpPr>
          <p:cNvPr id="20" name="Text 14"/>
          <p:cNvSpPr txBox="1"/>
          <p:nvPr/>
        </p:nvSpPr>
        <p:spPr>
          <a:xfrm>
            <a:off x="6903720" y="4846320"/>
            <a:ext cx="1828800" cy="274320"/>
          </a:xfrm>
          <a:prstGeom prst="rect">
            <a:avLst/>
          </a:prstGeom>
          <a:noFill/>
          <a:ln/>
        </p:spPr>
        <p:txBody>
          <a:bodyPr wrap="square" lIns="0" tIns="0" rIns="0" bIns="0" rtlCol="0" anchor="t"/>
          <a:lstStyle/>
          <a:p>
            <a:pPr algn="ctr" indent="0" marL="0">
              <a:buNone/>
            </a:pPr>
            <a:r>
              <a:rPr lang="en-US" sz="1400" dirty="0">
                <a:solidFill>
                  <a:schemeClr val="tx2"/>
                </a:solidFill>
                <a:latin typeface="Calibri" pitchFamily="34" charset="0"/>
                <a:ea typeface="Calibri" pitchFamily="34" charset="-122"/>
                <a:cs typeface="Calibri" pitchFamily="34" charset="-120"/>
              </a:rPr>
              <a:t>Male</a:t>
            </a:r>
            <a:endParaRPr lang="en-US" sz="1400" dirty="0"/>
          </a:p>
        </p:txBody>
      </p:sp>
      <p:sp>
        <p:nvSpPr>
          <p:cNvPr id="21" name="Text 15"/>
          <p:cNvSpPr txBox="1"/>
          <p:nvPr/>
        </p:nvSpPr>
        <p:spPr>
          <a:xfrm>
            <a:off x="9098280" y="4846320"/>
            <a:ext cx="1828800" cy="274320"/>
          </a:xfrm>
          <a:prstGeom prst="rect">
            <a:avLst/>
          </a:prstGeom>
          <a:noFill/>
          <a:ln/>
        </p:spPr>
        <p:txBody>
          <a:bodyPr wrap="square" lIns="0" tIns="0" rIns="0" bIns="0" rtlCol="0" anchor="t"/>
          <a:lstStyle/>
          <a:p>
            <a:pPr algn="ctr" indent="0" marL="0">
              <a:buNone/>
            </a:pPr>
            <a:r>
              <a:rPr lang="en-US" sz="1400" dirty="0">
                <a:solidFill>
                  <a:schemeClr val="tx2"/>
                </a:solidFill>
                <a:latin typeface="Calibri" pitchFamily="34" charset="0"/>
                <a:ea typeface="Calibri" pitchFamily="34" charset="-122"/>
                <a:cs typeface="Calibri" pitchFamily="34" charset="-120"/>
              </a:rPr>
              <a:t>Female</a:t>
            </a:r>
            <a:endParaRPr lang="en-US" sz="1400" dirty="0"/>
          </a:p>
        </p:txBody>
      </p:sp>
      <p:sp>
        <p:nvSpPr>
          <p:cNvPr id="22" name="Text 16"/>
          <p:cNvSpPr txBox="1"/>
          <p:nvPr/>
        </p:nvSpPr>
        <p:spPr>
          <a:xfrm>
            <a:off x="6492240" y="5138928"/>
            <a:ext cx="4846320" cy="256032"/>
          </a:xfrm>
          <a:prstGeom prst="rect">
            <a:avLst/>
          </a:prstGeom>
          <a:noFill/>
          <a:ln/>
        </p:spPr>
        <p:txBody>
          <a:bodyPr wrap="square" lIns="0" tIns="0" rIns="0" bIns="0" rtlCol="0" anchor="t"/>
          <a:lstStyle/>
          <a:p>
            <a:pPr indent="0" marL="0">
              <a:buNone/>
            </a:pPr>
            <a:r>
              <a:rPr lang="en-US" sz="1000" dirty="0">
                <a:solidFill>
                  <a:schemeClr val="tx2"/>
                </a:solidFill>
                <a:latin typeface="Calibri" pitchFamily="34" charset="0"/>
                <a:ea typeface="Calibri" pitchFamily="34" charset="-122"/>
                <a:cs typeface="Calibri" pitchFamily="34" charset="-120"/>
              </a:rPr>
              <a:t>Male share = remainder after female 46.8%</a:t>
            </a:r>
            <a:endParaRPr lang="en-US" sz="1000" dirty="0"/>
          </a:p>
        </p:txBody>
      </p:sp>
      <p:sp>
        <p:nvSpPr>
          <p:cNvPr id="23" name="takeaway"/>
          <p:cNvSpPr/>
          <p:nvPr/>
        </p:nvSpPr>
        <p:spPr>
          <a:xfrm>
            <a:off x="548640" y="5577840"/>
            <a:ext cx="11064240" cy="685800"/>
          </a:xfrm>
          <a:prstGeom prst="roundRect">
            <a:avLst>
              <a:gd name="adj" fmla="val 16000"/>
            </a:avLst>
          </a:prstGeom>
          <a:solidFill>
            <a:schemeClr val="bg2"/>
          </a:solidFill>
          <a:ln w="12700">
            <a:solidFill>
              <a:schemeClr val="bg2"/>
            </a:solidFill>
            <a:prstDash val="solid"/>
          </a:ln>
        </p:spPr>
      </p:sp>
      <p:sp>
        <p:nvSpPr>
          <p:cNvPr id="24" name="Text 18"/>
          <p:cNvSpPr txBox="1"/>
          <p:nvPr/>
        </p:nvSpPr>
        <p:spPr>
          <a:xfrm>
            <a:off x="777240" y="5715000"/>
            <a:ext cx="10607040" cy="411480"/>
          </a:xfrm>
          <a:prstGeom prst="rect">
            <a:avLst/>
          </a:prstGeom>
          <a:noFill/>
          <a:ln/>
        </p:spPr>
        <p:txBody>
          <a:bodyPr wrap="square" lIns="0" tIns="0" rIns="0" bIns="0" rtlCol="0" anchor="ctr"/>
          <a:lstStyle/>
          <a:p>
            <a:pPr indent="0" marL="0">
              <a:buNone/>
            </a:pPr>
            <a:r>
              <a:rPr lang="en-US" sz="1600" b="1" dirty="0">
                <a:solidFill>
                  <a:schemeClr val="accent3"/>
                </a:solidFill>
                <a:latin typeface="Calibri" pitchFamily="34" charset="0"/>
                <a:ea typeface="Calibri" pitchFamily="34" charset="-122"/>
                <a:cs typeface="Calibri" pitchFamily="34" charset="-120"/>
              </a:rPr>
              <a:t>10.8 pp gap:  </a:t>
            </a:r>
            <a:pPr indent="0" marL="0">
              <a:buNone/>
            </a:pPr>
            <a:r>
              <a:rPr lang="en-US" sz="1600" dirty="0">
                <a:solidFill>
                  <a:schemeClr val="tx1"/>
                </a:solidFill>
                <a:latin typeface="Calibri" pitchFamily="34" charset="0"/>
                <a:ea typeface="Calibri" pitchFamily="34" charset="-122"/>
                <a:cs typeface="Calibri" pitchFamily="34" charset="-120"/>
              </a:rPr>
              <a:t>JoMoPay 46.8% female vs CliQ 36%.</a:t>
            </a:r>
            <a:endParaRPr lang="en-US" sz="1600" dirty="0"/>
          </a:p>
        </p:txBody>
      </p:sp>
      <p:sp>
        <p:nvSpPr>
          <p:cNvPr id="25"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lIns="0" tIns="0" rIns="0" bIns="0" rtlCol="0" anchor="ctr"/>
          <a:lstStyle/>
          <a:p>
            <a:pPr algn="l" indent="0" marL="0">
              <a:buNone/>
            </a:pPr>
            <a:r>
              <a:rPr lang="en-US" sz="2800" b="1" dirty="0">
                <a:solidFill>
                  <a:schemeClr val="tx1"/>
                </a:solidFill>
              </a:rPr>
              <a:t>JoMoPay is shifting from cash corridor to spending wallet</a:t>
            </a:r>
            <a:endParaRPr lang="en-US" sz="2800" dirty="0"/>
          </a:p>
        </p:txBody>
      </p:sp>
      <p:graphicFrame>
        <p:nvGraphicFramePr>
          <p:cNvPr id="3" name="Chart 0" descr=""/>
          <p:cNvGraphicFramePr/>
          <p:nvPr/>
        </p:nvGraphicFramePr>
        <p:xfrm>
          <a:off x="548640" y="1371600"/>
          <a:ext cx="5120640" cy="3383280"/>
        </p:xfrm>
        <a:graphic xmlns:a="http://schemas.openxmlformats.org/drawingml/2006/main">
          <a:graphicData uri="http://schemas.openxmlformats.org/drawingml/2006/chart">
            <c:chart xmlns:c="http://schemas.openxmlformats.org/drawingml/2006/chart" r:id="rId1"/>
          </a:graphicData>
        </a:graphic>
      </p:graphicFrame>
      <p:graphicFrame>
        <p:nvGraphicFramePr>
          <p:cNvPr id="4" name="Chart 1" descr=""/>
          <p:cNvGraphicFramePr/>
          <p:nvPr/>
        </p:nvGraphicFramePr>
        <p:xfrm>
          <a:off x="5852160" y="1371600"/>
          <a:ext cx="2743200" cy="3383280"/>
        </p:xfrm>
        <a:graphic xmlns:a="http://schemas.openxmlformats.org/drawingml/2006/main">
          <a:graphicData uri="http://schemas.openxmlformats.org/drawingml/2006/chart">
            <c:chart xmlns:c="http://schemas.openxmlformats.org/drawingml/2006/chart" r:id="rId2"/>
          </a:graphicData>
        </a:graphic>
      </p:graphicFrame>
      <p:graphicFrame>
        <p:nvGraphicFramePr>
          <p:cNvPr id="5" name="Chart 2" descr=""/>
          <p:cNvGraphicFramePr/>
          <p:nvPr/>
        </p:nvGraphicFramePr>
        <p:xfrm>
          <a:off x="8778240" y="1371600"/>
          <a:ext cx="2834640" cy="3383280"/>
        </p:xfrm>
        <a:graphic xmlns:a="http://schemas.openxmlformats.org/drawingml/2006/main">
          <a:graphicData uri="http://schemas.openxmlformats.org/drawingml/2006/chart">
            <c:chart xmlns:c="http://schemas.openxmlformats.org/drawingml/2006/chart" r:id="rId3"/>
          </a:graphicData>
        </a:graphic>
      </p:graphicFrame>
      <p:sp>
        <p:nvSpPr>
          <p:cNvPr id="6" name="takeaway"/>
          <p:cNvSpPr/>
          <p:nvPr/>
        </p:nvSpPr>
        <p:spPr>
          <a:xfrm>
            <a:off x="548640" y="5029200"/>
            <a:ext cx="11064240" cy="1005840"/>
          </a:xfrm>
          <a:prstGeom prst="roundRect">
            <a:avLst>
              <a:gd name="adj" fmla="val 10909"/>
            </a:avLst>
          </a:prstGeom>
          <a:solidFill>
            <a:schemeClr val="bg2"/>
          </a:solidFill>
          <a:ln w="12700">
            <a:solidFill>
              <a:schemeClr val="bg2"/>
            </a:solidFill>
            <a:prstDash val="solid"/>
          </a:ln>
        </p:spPr>
      </p:sp>
      <p:sp>
        <p:nvSpPr>
          <p:cNvPr id="7" name="Text 2"/>
          <p:cNvSpPr txBox="1"/>
          <p:nvPr/>
        </p:nvSpPr>
        <p:spPr>
          <a:xfrm>
            <a:off x="777240" y="5166360"/>
            <a:ext cx="10607040" cy="731520"/>
          </a:xfrm>
          <a:prstGeom prst="rect">
            <a:avLst/>
          </a:prstGeom>
          <a:noFill/>
          <a:ln/>
        </p:spPr>
        <p:txBody>
          <a:bodyPr wrap="square" lIns="0" tIns="0" rIns="0" bIns="0" rtlCol="0" anchor="ctr"/>
          <a:lstStyle/>
          <a:p>
            <a:pPr indent="0" marL="0">
              <a:buNone/>
            </a:pPr>
            <a:r>
              <a:rPr lang="en-US" sz="1600" b="1" dirty="0">
                <a:solidFill>
                  <a:schemeClr val="accent3"/>
                </a:solidFill>
                <a:latin typeface="Calibri" pitchFamily="34" charset="0"/>
                <a:ea typeface="Calibri" pitchFamily="34" charset="-122"/>
                <a:cs typeface="Calibri" pitchFamily="34" charset="-120"/>
              </a:rPr>
              <a:t>Missed:  </a:t>
            </a:r>
            <a:pPr indent="0" marL="0">
              <a:buNone/>
            </a:pPr>
            <a:r>
              <a:rPr lang="en-US" sz="1600" dirty="0">
                <a:solidFill>
                  <a:schemeClr val="tx1"/>
                </a:solidFill>
                <a:latin typeface="Calibri" pitchFamily="34" charset="0"/>
                <a:ea typeface="Calibri" pitchFamily="34" charset="-122"/>
                <a:cs typeface="Calibri" pitchFamily="34" charset="-120"/>
              </a:rPr>
              <a:t>Cash Out -1.9 pp, Purchases +4.5 pp. The wallet is becoming a spending platform.</a:t>
            </a:r>
            <a:endParaRPr lang="en-US" sz="1600" dirty="0"/>
          </a:p>
        </p:txBody>
      </p:sp>
      <p:sp>
        <p:nvSpPr>
          <p:cNvPr id="25"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lIns="0" tIns="0" rIns="0" bIns="0" rtlCol="0" anchor="ctr"/>
          <a:lstStyle/>
          <a:p>
            <a:pPr algn="l" indent="0" marL="0">
              <a:buNone/>
            </a:pPr>
            <a:r>
              <a:rPr lang="en-US" sz="2800" b="1" dirty="0">
                <a:solidFill>
                  <a:schemeClr val="tx1"/>
                </a:solidFill>
              </a:rPr>
              <a:t>eFAWATEERcom: cash users are actively converting</a:t>
            </a:r>
            <a:endParaRPr lang="en-US" sz="2800" dirty="0"/>
          </a:p>
        </p:txBody>
      </p:sp>
      <p:graphicFrame>
        <p:nvGraphicFramePr>
          <p:cNvPr id="3" name="Chart 0" descr=""/>
          <p:cNvGraphicFramePr/>
          <p:nvPr/>
        </p:nvGraphicFramePr>
        <p:xfrm>
          <a:off x="548640" y="1371600"/>
          <a:ext cx="5486400" cy="3474720"/>
        </p:xfrm>
        <a:graphic xmlns:a="http://schemas.openxmlformats.org/drawingml/2006/main">
          <a:graphicData uri="http://schemas.openxmlformats.org/drawingml/2006/chart">
            <c:chart xmlns:c="http://schemas.openxmlformats.org/drawingml/2006/chart" r:id="rId1"/>
          </a:graphicData>
        </a:graphic>
      </p:graphicFrame>
      <p:graphicFrame>
        <p:nvGraphicFramePr>
          <p:cNvPr id="4" name="Chart 1" descr=""/>
          <p:cNvGraphicFramePr/>
          <p:nvPr/>
        </p:nvGraphicFramePr>
        <p:xfrm>
          <a:off x="6217920" y="1371600"/>
          <a:ext cx="5394960" cy="3474720"/>
        </p:xfrm>
        <a:graphic xmlns:a="http://schemas.openxmlformats.org/drawingml/2006/main">
          <a:graphicData uri="http://schemas.openxmlformats.org/drawingml/2006/chart">
            <c:chart xmlns:c="http://schemas.openxmlformats.org/drawingml/2006/chart" r:id="rId2"/>
          </a:graphicData>
        </a:graphic>
      </p:graphicFrame>
      <p:sp>
        <p:nvSpPr>
          <p:cNvPr id="5" name="takeaway"/>
          <p:cNvSpPr/>
          <p:nvPr/>
        </p:nvSpPr>
        <p:spPr>
          <a:xfrm>
            <a:off x="548640" y="5074920"/>
            <a:ext cx="5394960" cy="1005840"/>
          </a:xfrm>
          <a:prstGeom prst="roundRect">
            <a:avLst>
              <a:gd name="adj" fmla="val 10909"/>
            </a:avLst>
          </a:prstGeom>
          <a:solidFill>
            <a:schemeClr val="bg2"/>
          </a:solidFill>
          <a:ln w="12700">
            <a:solidFill>
              <a:schemeClr val="bg2"/>
            </a:solidFill>
            <a:prstDash val="solid"/>
          </a:ln>
        </p:spPr>
      </p:sp>
      <p:sp>
        <p:nvSpPr>
          <p:cNvPr id="6" name="Text 2"/>
          <p:cNvSpPr txBox="1"/>
          <p:nvPr/>
        </p:nvSpPr>
        <p:spPr>
          <a:xfrm>
            <a:off x="777240" y="5212080"/>
            <a:ext cx="4937760" cy="731520"/>
          </a:xfrm>
          <a:prstGeom prst="rect">
            <a:avLst/>
          </a:prstGeom>
          <a:noFill/>
          <a:ln/>
        </p:spPr>
        <p:txBody>
          <a:bodyPr wrap="square" lIns="0" tIns="0" rIns="0" bIns="0" rtlCol="0" anchor="ctr"/>
          <a:lstStyle/>
          <a:p>
            <a:pPr indent="0" marL="0">
              <a:buNone/>
            </a:pPr>
            <a:r>
              <a:rPr lang="en-US" sz="1600" b="1" dirty="0">
                <a:solidFill>
                  <a:schemeClr val="accent3"/>
                </a:solidFill>
                <a:latin typeface="Calibri" pitchFamily="34" charset="0"/>
                <a:ea typeface="Calibri" pitchFamily="34" charset="-122"/>
                <a:cs typeface="Calibri" pitchFamily="34" charset="-120"/>
              </a:rPr>
              <a:t>Trend:  </a:t>
            </a:r>
            <a:pPr indent="0" marL="0">
              <a:buNone/>
            </a:pPr>
            <a:r>
              <a:rPr lang="en-US" sz="1600" dirty="0">
                <a:solidFill>
                  <a:schemeClr val="tx1"/>
                </a:solidFill>
                <a:latin typeface="Calibri" pitchFamily="34" charset="0"/>
                <a:ea typeface="Calibri" pitchFamily="34" charset="-122"/>
                <a:cs typeface="Calibri" pitchFamily="34" charset="-120"/>
              </a:rPr>
              <a:t>digital share rises every year.</a:t>
            </a:r>
            <a:endParaRPr lang="en-US" sz="1600" dirty="0"/>
          </a:p>
        </p:txBody>
      </p:sp>
      <p:sp>
        <p:nvSpPr>
          <p:cNvPr id="7" name="takeaway"/>
          <p:cNvSpPr/>
          <p:nvPr/>
        </p:nvSpPr>
        <p:spPr>
          <a:xfrm>
            <a:off x="6217920" y="5074920"/>
            <a:ext cx="5394960" cy="1005840"/>
          </a:xfrm>
          <a:prstGeom prst="roundRect">
            <a:avLst>
              <a:gd name="adj" fmla="val 10909"/>
            </a:avLst>
          </a:prstGeom>
          <a:solidFill>
            <a:schemeClr val="bg2"/>
          </a:solidFill>
          <a:ln w="12700">
            <a:solidFill>
              <a:schemeClr val="bg2"/>
            </a:solidFill>
            <a:prstDash val="solid"/>
          </a:ln>
        </p:spPr>
      </p:sp>
      <p:sp>
        <p:nvSpPr>
          <p:cNvPr id="8" name="Text 4"/>
          <p:cNvSpPr txBox="1"/>
          <p:nvPr/>
        </p:nvSpPr>
        <p:spPr>
          <a:xfrm>
            <a:off x="6446520" y="5212080"/>
            <a:ext cx="4937760" cy="731520"/>
          </a:xfrm>
          <a:prstGeom prst="rect">
            <a:avLst/>
          </a:prstGeom>
          <a:noFill/>
          <a:ln/>
        </p:spPr>
        <p:txBody>
          <a:bodyPr wrap="square" lIns="0" tIns="0" rIns="0" bIns="0" rtlCol="0" anchor="ctr"/>
          <a:lstStyle/>
          <a:p>
            <a:pPr indent="0" marL="0">
              <a:buNone/>
            </a:pPr>
            <a:r>
              <a:rPr lang="en-US" sz="1600" b="1" dirty="0">
                <a:solidFill>
                  <a:schemeClr val="accent3"/>
                </a:solidFill>
                <a:latin typeface="Calibri" pitchFamily="34" charset="0"/>
                <a:ea typeface="Calibri" pitchFamily="34" charset="-122"/>
                <a:cs typeface="Calibri" pitchFamily="34" charset="-120"/>
              </a:rPr>
              <a:t>Open:  </a:t>
            </a:r>
            <a:pPr indent="0" marL="0">
              <a:buNone/>
            </a:pPr>
            <a:r>
              <a:rPr lang="en-US" sz="1600" dirty="0">
                <a:solidFill>
                  <a:schemeClr val="tx1"/>
                </a:solidFill>
                <a:latin typeface="Calibri" pitchFamily="34" charset="0"/>
                <a:ea typeface="Calibri" pitchFamily="34" charset="-122"/>
                <a:cs typeface="Calibri" pitchFamily="34" charset="-120"/>
              </a:rPr>
              <a:t>3.46M users have no bank account.</a:t>
            </a:r>
            <a:endParaRPr lang="en-US" sz="1600" dirty="0"/>
          </a:p>
        </p:txBody>
      </p:sp>
      <p:sp>
        <p:nvSpPr>
          <p:cNvPr id="25"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lIns="0" tIns="0" rIns="0" bIns="0" rtlCol="0" anchor="ctr"/>
          <a:lstStyle/>
          <a:p>
            <a:pPr algn="l" indent="0" marL="0">
              <a:buNone/>
            </a:pPr>
            <a:r>
              <a:rPr lang="en-US" sz="2800" b="1" dirty="0">
                <a:solidFill>
                  <a:schemeClr val="tx1"/>
                </a:solidFill>
              </a:rPr>
              <a:t>ACH: salary share is slipping and growth is flat</a:t>
            </a:r>
            <a:endParaRPr lang="en-US" sz="2800" dirty="0"/>
          </a:p>
        </p:txBody>
      </p:sp>
      <p:sp>
        <p:nvSpPr>
          <p:cNvPr id="3" name="card"/>
          <p:cNvSpPr/>
          <p:nvPr/>
        </p:nvSpPr>
        <p:spPr>
          <a:xfrm>
            <a:off x="548640" y="1371600"/>
            <a:ext cx="2651760" cy="1417320"/>
          </a:xfrm>
          <a:prstGeom prst="roundRect">
            <a:avLst>
              <a:gd name="adj" fmla="val 7742"/>
            </a:avLst>
          </a:prstGeom>
          <a:solidFill>
            <a:schemeClr val="bg2"/>
          </a:solidFill>
          <a:ln w="12700">
            <a:solidFill>
              <a:schemeClr val="bg2"/>
            </a:solidFill>
            <a:prstDash val="solid"/>
          </a:ln>
        </p:spPr>
      </p:sp>
      <p:sp>
        <p:nvSpPr>
          <p:cNvPr id="4" name="Text 2"/>
          <p:cNvSpPr txBox="1"/>
          <p:nvPr/>
        </p:nvSpPr>
        <p:spPr>
          <a:xfrm>
            <a:off x="731520" y="1508760"/>
            <a:ext cx="2286000" cy="731520"/>
          </a:xfrm>
          <a:prstGeom prst="rect">
            <a:avLst/>
          </a:prstGeom>
          <a:noFill/>
          <a:ln/>
        </p:spPr>
        <p:txBody>
          <a:bodyPr wrap="square" lIns="0" tIns="0" rIns="0" bIns="0" rtlCol="0" anchor="ctr"/>
          <a:lstStyle/>
          <a:p>
            <a:pPr algn="ctr" indent="0" marL="0">
              <a:buNone/>
            </a:pPr>
            <a:r>
              <a:rPr lang="en-US" sz="4000" b="1" dirty="0">
                <a:solidFill>
                  <a:srgbClr val="C0463C"/>
                </a:solidFill>
                <a:latin typeface="Calibri" pitchFamily="34" charset="0"/>
                <a:ea typeface="Calibri" pitchFamily="34" charset="-122"/>
                <a:cs typeface="Calibri" pitchFamily="34" charset="-120"/>
              </a:rPr>
              <a:t>-0.9 pp</a:t>
            </a:r>
            <a:endParaRPr lang="en-US" sz="4000" dirty="0"/>
          </a:p>
        </p:txBody>
      </p:sp>
      <p:sp>
        <p:nvSpPr>
          <p:cNvPr id="5" name="Text 3"/>
          <p:cNvSpPr txBox="1"/>
          <p:nvPr/>
        </p:nvSpPr>
        <p:spPr>
          <a:xfrm>
            <a:off x="731520" y="2240280"/>
            <a:ext cx="2286000" cy="457200"/>
          </a:xfrm>
          <a:prstGeom prst="rect">
            <a:avLst/>
          </a:prstGeom>
          <a:noFill/>
          <a:ln/>
        </p:spPr>
        <p:txBody>
          <a:bodyPr wrap="square" lIns="0" tIns="0" rIns="0" bIns="0" rtlCol="0" anchor="t"/>
          <a:lstStyle/>
          <a:p>
            <a:pPr algn="ctr" indent="0" marL="0">
              <a:buNone/>
            </a:pPr>
            <a:r>
              <a:rPr lang="en-US" sz="1400" dirty="0">
                <a:solidFill>
                  <a:schemeClr val="tx2"/>
                </a:solidFill>
                <a:latin typeface="Calibri" pitchFamily="34" charset="0"/>
                <a:ea typeface="Calibri" pitchFamily="34" charset="-122"/>
                <a:cs typeface="Calibri" pitchFamily="34" charset="-120"/>
              </a:rPr>
              <a:t>Salary share of volume</a:t>
            </a:r>
            <a:endParaRPr lang="en-US" sz="1400" dirty="0"/>
          </a:p>
        </p:txBody>
      </p:sp>
      <p:sp>
        <p:nvSpPr>
          <p:cNvPr id="6" name="card"/>
          <p:cNvSpPr/>
          <p:nvPr/>
        </p:nvSpPr>
        <p:spPr>
          <a:xfrm>
            <a:off x="3383280" y="1371600"/>
            <a:ext cx="2651760" cy="1417320"/>
          </a:xfrm>
          <a:prstGeom prst="roundRect">
            <a:avLst>
              <a:gd name="adj" fmla="val 7742"/>
            </a:avLst>
          </a:prstGeom>
          <a:solidFill>
            <a:schemeClr val="bg2"/>
          </a:solidFill>
          <a:ln w="12700">
            <a:solidFill>
              <a:schemeClr val="bg2"/>
            </a:solidFill>
            <a:prstDash val="solid"/>
          </a:ln>
        </p:spPr>
      </p:sp>
      <p:sp>
        <p:nvSpPr>
          <p:cNvPr id="7" name="Text 5"/>
          <p:cNvSpPr txBox="1"/>
          <p:nvPr/>
        </p:nvSpPr>
        <p:spPr>
          <a:xfrm>
            <a:off x="3566160" y="1508760"/>
            <a:ext cx="2286000" cy="731520"/>
          </a:xfrm>
          <a:prstGeom prst="rect">
            <a:avLst/>
          </a:prstGeom>
          <a:noFill/>
          <a:ln/>
        </p:spPr>
        <p:txBody>
          <a:bodyPr wrap="square" lIns="0" tIns="0" rIns="0" bIns="0" rtlCol="0" anchor="ctr"/>
          <a:lstStyle/>
          <a:p>
            <a:pPr algn="ctr" indent="0" marL="0">
              <a:buNone/>
            </a:pPr>
            <a:r>
              <a:rPr lang="en-US" sz="4000" b="1" dirty="0">
                <a:solidFill>
                  <a:srgbClr val="C0463C"/>
                </a:solidFill>
                <a:latin typeface="Calibri" pitchFamily="34" charset="0"/>
                <a:ea typeface="Calibri" pitchFamily="34" charset="-122"/>
                <a:cs typeface="Calibri" pitchFamily="34" charset="-120"/>
              </a:rPr>
              <a:t>-0.5 pp</a:t>
            </a:r>
            <a:endParaRPr lang="en-US" sz="4000" dirty="0"/>
          </a:p>
        </p:txBody>
      </p:sp>
      <p:sp>
        <p:nvSpPr>
          <p:cNvPr id="8" name="Text 6"/>
          <p:cNvSpPr txBox="1"/>
          <p:nvPr/>
        </p:nvSpPr>
        <p:spPr>
          <a:xfrm>
            <a:off x="3566160" y="2240280"/>
            <a:ext cx="2286000" cy="457200"/>
          </a:xfrm>
          <a:prstGeom prst="rect">
            <a:avLst/>
          </a:prstGeom>
          <a:noFill/>
          <a:ln/>
        </p:spPr>
        <p:txBody>
          <a:bodyPr wrap="square" lIns="0" tIns="0" rIns="0" bIns="0" rtlCol="0" anchor="t"/>
          <a:lstStyle/>
          <a:p>
            <a:pPr algn="ctr" indent="0" marL="0">
              <a:buNone/>
            </a:pPr>
            <a:r>
              <a:rPr lang="en-US" sz="1400" dirty="0">
                <a:solidFill>
                  <a:schemeClr val="tx2"/>
                </a:solidFill>
                <a:latin typeface="Calibri" pitchFamily="34" charset="0"/>
                <a:ea typeface="Calibri" pitchFamily="34" charset="-122"/>
                <a:cs typeface="Calibri" pitchFamily="34" charset="-120"/>
              </a:rPr>
              <a:t>Salary share of value</a:t>
            </a:r>
            <a:endParaRPr lang="en-US" sz="1400" dirty="0"/>
          </a:p>
        </p:txBody>
      </p:sp>
      <p:sp>
        <p:nvSpPr>
          <p:cNvPr id="9" name="card"/>
          <p:cNvSpPr/>
          <p:nvPr/>
        </p:nvSpPr>
        <p:spPr>
          <a:xfrm>
            <a:off x="6217920" y="1371600"/>
            <a:ext cx="2651760" cy="1417320"/>
          </a:xfrm>
          <a:prstGeom prst="roundRect">
            <a:avLst>
              <a:gd name="adj" fmla="val 7742"/>
            </a:avLst>
          </a:prstGeom>
          <a:solidFill>
            <a:schemeClr val="bg2"/>
          </a:solidFill>
          <a:ln w="12700">
            <a:solidFill>
              <a:schemeClr val="bg2"/>
            </a:solidFill>
            <a:prstDash val="solid"/>
          </a:ln>
        </p:spPr>
      </p:sp>
      <p:sp>
        <p:nvSpPr>
          <p:cNvPr id="10" name="Text 8"/>
          <p:cNvSpPr txBox="1"/>
          <p:nvPr/>
        </p:nvSpPr>
        <p:spPr>
          <a:xfrm>
            <a:off x="6400800" y="1508760"/>
            <a:ext cx="2286000" cy="731520"/>
          </a:xfrm>
          <a:prstGeom prst="rect">
            <a:avLst/>
          </a:prstGeom>
          <a:noFill/>
          <a:ln/>
        </p:spPr>
        <p:txBody>
          <a:bodyPr wrap="square" lIns="0" tIns="0" rIns="0" bIns="0" rtlCol="0" anchor="ctr"/>
          <a:lstStyle/>
          <a:p>
            <a:pPr algn="ctr" indent="0" marL="0">
              <a:buNone/>
            </a:pPr>
            <a:r>
              <a:rPr lang="en-US" sz="4000" b="1" dirty="0">
                <a:solidFill>
                  <a:schemeClr val="tx1"/>
                </a:solidFill>
                <a:latin typeface="Calibri" pitchFamily="34" charset="0"/>
                <a:ea typeface="Calibri" pitchFamily="34" charset="-122"/>
                <a:cs typeface="Calibri" pitchFamily="34" charset="-120"/>
              </a:rPr>
              <a:t>+6.3%</a:t>
            </a:r>
            <a:endParaRPr lang="en-US" sz="4000" dirty="0"/>
          </a:p>
        </p:txBody>
      </p:sp>
      <p:sp>
        <p:nvSpPr>
          <p:cNvPr id="11" name="Text 9"/>
          <p:cNvSpPr txBox="1"/>
          <p:nvPr/>
        </p:nvSpPr>
        <p:spPr>
          <a:xfrm>
            <a:off x="6400800" y="2240280"/>
            <a:ext cx="2286000" cy="457200"/>
          </a:xfrm>
          <a:prstGeom prst="rect">
            <a:avLst/>
          </a:prstGeom>
          <a:noFill/>
          <a:ln/>
        </p:spPr>
        <p:txBody>
          <a:bodyPr wrap="square" lIns="0" tIns="0" rIns="0" bIns="0" rtlCol="0" anchor="t"/>
          <a:lstStyle/>
          <a:p>
            <a:pPr algn="ctr" indent="0" marL="0">
              <a:buNone/>
            </a:pPr>
            <a:r>
              <a:rPr lang="en-US" sz="1400" dirty="0">
                <a:solidFill>
                  <a:schemeClr val="tx2"/>
                </a:solidFill>
                <a:latin typeface="Calibri" pitchFamily="34" charset="0"/>
                <a:ea typeface="Calibri" pitchFamily="34" charset="-122"/>
                <a:cs typeface="Calibri" pitchFamily="34" charset="-120"/>
              </a:rPr>
              <a:t>Salary txn growth (+6.4% in 2024)</a:t>
            </a:r>
            <a:endParaRPr lang="en-US" sz="1400" dirty="0"/>
          </a:p>
        </p:txBody>
      </p:sp>
      <p:sp>
        <p:nvSpPr>
          <p:cNvPr id="12" name="card"/>
          <p:cNvSpPr/>
          <p:nvPr/>
        </p:nvSpPr>
        <p:spPr>
          <a:xfrm>
            <a:off x="9052560" y="1371600"/>
            <a:ext cx="2560320" cy="1417320"/>
          </a:xfrm>
          <a:prstGeom prst="roundRect">
            <a:avLst>
              <a:gd name="adj" fmla="val 7742"/>
            </a:avLst>
          </a:prstGeom>
          <a:solidFill>
            <a:schemeClr val="bg2"/>
          </a:solidFill>
          <a:ln w="12700">
            <a:solidFill>
              <a:schemeClr val="bg2"/>
            </a:solidFill>
            <a:prstDash val="solid"/>
          </a:ln>
        </p:spPr>
      </p:sp>
      <p:sp>
        <p:nvSpPr>
          <p:cNvPr id="13" name="Text 11"/>
          <p:cNvSpPr txBox="1"/>
          <p:nvPr/>
        </p:nvSpPr>
        <p:spPr>
          <a:xfrm>
            <a:off x="9235440" y="1508760"/>
            <a:ext cx="2194560" cy="731520"/>
          </a:xfrm>
          <a:prstGeom prst="rect">
            <a:avLst/>
          </a:prstGeom>
          <a:noFill/>
          <a:ln/>
        </p:spPr>
        <p:txBody>
          <a:bodyPr wrap="square" lIns="0" tIns="0" rIns="0" bIns="0" rtlCol="0" anchor="ctr"/>
          <a:lstStyle/>
          <a:p>
            <a:pPr algn="ctr" indent="0" marL="0">
              <a:buNone/>
            </a:pPr>
            <a:r>
              <a:rPr lang="en-US" sz="4000" b="1" dirty="0">
                <a:solidFill>
                  <a:schemeClr val="accent3"/>
                </a:solidFill>
                <a:latin typeface="Calibri" pitchFamily="34" charset="0"/>
                <a:ea typeface="Calibri" pitchFamily="34" charset="-122"/>
                <a:cs typeface="Calibri" pitchFamily="34" charset="-120"/>
              </a:rPr>
              <a:t>446</a:t>
            </a:r>
            <a:endParaRPr lang="en-US" sz="4000" dirty="0"/>
          </a:p>
        </p:txBody>
      </p:sp>
      <p:sp>
        <p:nvSpPr>
          <p:cNvPr id="14" name="Text 12"/>
          <p:cNvSpPr txBox="1"/>
          <p:nvPr/>
        </p:nvSpPr>
        <p:spPr>
          <a:xfrm>
            <a:off x="9235440" y="2240280"/>
            <a:ext cx="2194560" cy="457200"/>
          </a:xfrm>
          <a:prstGeom prst="rect">
            <a:avLst/>
          </a:prstGeom>
          <a:noFill/>
          <a:ln/>
        </p:spPr>
        <p:txBody>
          <a:bodyPr wrap="square" lIns="0" tIns="0" rIns="0" bIns="0" rtlCol="0" anchor="t"/>
          <a:lstStyle/>
          <a:p>
            <a:pPr algn="ctr" indent="0" marL="0">
              <a:buNone/>
            </a:pPr>
            <a:r>
              <a:rPr lang="en-US" sz="1400" dirty="0">
                <a:solidFill>
                  <a:schemeClr val="tx2"/>
                </a:solidFill>
                <a:latin typeface="Calibri" pitchFamily="34" charset="0"/>
                <a:ea typeface="Calibri" pitchFamily="34" charset="-122"/>
                <a:cs typeface="Calibri" pitchFamily="34" charset="-120"/>
              </a:rPr>
              <a:t>GBP transactions behind +19% value</a:t>
            </a:r>
            <a:endParaRPr lang="en-US" sz="1400" dirty="0"/>
          </a:p>
        </p:txBody>
      </p:sp>
      <p:graphicFrame>
        <p:nvGraphicFramePr>
          <p:cNvPr id="15" name="Chart 0" descr=""/>
          <p:cNvGraphicFramePr/>
          <p:nvPr/>
        </p:nvGraphicFramePr>
        <p:xfrm>
          <a:off x="548640" y="3017520"/>
          <a:ext cx="4937760" cy="3200400"/>
        </p:xfrm>
        <a:graphic xmlns:a="http://schemas.openxmlformats.org/drawingml/2006/main">
          <a:graphicData uri="http://schemas.openxmlformats.org/drawingml/2006/chart">
            <c:chart xmlns:c="http://schemas.openxmlformats.org/drawingml/2006/chart" r:id="rId1"/>
          </a:graphicData>
        </a:graphic>
      </p:graphicFrame>
      <p:sp>
        <p:nvSpPr>
          <p:cNvPr id="16" name="takeaway"/>
          <p:cNvSpPr/>
          <p:nvPr/>
        </p:nvSpPr>
        <p:spPr>
          <a:xfrm>
            <a:off x="5760720" y="3200400"/>
            <a:ext cx="5852160" cy="2011680"/>
          </a:xfrm>
          <a:prstGeom prst="roundRect">
            <a:avLst>
              <a:gd name="adj" fmla="val 5455"/>
            </a:avLst>
          </a:prstGeom>
          <a:solidFill>
            <a:schemeClr val="bg2"/>
          </a:solidFill>
          <a:ln w="12700">
            <a:solidFill>
              <a:schemeClr val="bg2"/>
            </a:solidFill>
            <a:prstDash val="solid"/>
          </a:ln>
        </p:spPr>
      </p:sp>
      <p:sp>
        <p:nvSpPr>
          <p:cNvPr id="17" name="Text 14"/>
          <p:cNvSpPr txBox="1"/>
          <p:nvPr/>
        </p:nvSpPr>
        <p:spPr>
          <a:xfrm>
            <a:off x="5989320" y="3337560"/>
            <a:ext cx="5394960" cy="1737360"/>
          </a:xfrm>
          <a:prstGeom prst="rect">
            <a:avLst/>
          </a:prstGeom>
          <a:noFill/>
          <a:ln/>
        </p:spPr>
        <p:txBody>
          <a:bodyPr wrap="square" lIns="0" tIns="0" rIns="0" bIns="0" rtlCol="0" anchor="ctr"/>
          <a:lstStyle/>
          <a:p>
            <a:pPr indent="0" marL="0">
              <a:buNone/>
            </a:pPr>
            <a:r>
              <a:rPr lang="en-US" sz="1600" b="1" dirty="0">
                <a:solidFill>
                  <a:schemeClr val="accent3"/>
                </a:solidFill>
                <a:latin typeface="Calibri" pitchFamily="34" charset="0"/>
                <a:ea typeface="Calibri" pitchFamily="34" charset="-122"/>
                <a:cs typeface="Calibri" pitchFamily="34" charset="-120"/>
              </a:rPr>
              <a:t>Missed:  </a:t>
            </a:r>
            <a:pPr indent="0" marL="0">
              <a:buNone/>
            </a:pPr>
            <a:r>
              <a:rPr lang="en-US" sz="1600" dirty="0">
                <a:solidFill>
                  <a:schemeClr val="tx1"/>
                </a:solidFill>
                <a:latin typeface="Calibri" pitchFamily="34" charset="0"/>
                <a:ea typeface="Calibri" pitchFamily="34" charset="-122"/>
                <a:cs typeface="Calibri" pitchFamily="34" charset="-120"/>
              </a:rPr>
              <a:t>non-salary ACH is growing faster. The GBP spike rests on only 446 transactions.</a:t>
            </a:r>
            <a:endParaRPr lang="en-US" sz="1600" dirty="0"/>
          </a:p>
        </p:txBody>
      </p:sp>
      <p:sp>
        <p:nvSpPr>
          <p:cNvPr id="25"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lIns="0" tIns="0" rIns="0" bIns="0" rtlCol="0" anchor="ctr"/>
          <a:lstStyle/>
          <a:p>
            <a:pPr algn="l" indent="0" marL="0">
              <a:buNone/>
            </a:pPr>
            <a:r>
              <a:rPr lang="en-US" sz="2800" b="1" dirty="0">
                <a:solidFill>
                  <a:schemeClr val="tx1"/>
                </a:solidFill>
              </a:rPr>
              <a:t>ECCU: a legal change explains the drop in returned cheques</a:t>
            </a:r>
            <a:endParaRPr lang="en-US" sz="2800" dirty="0"/>
          </a:p>
        </p:txBody>
      </p:sp>
      <p:graphicFrame>
        <p:nvGraphicFramePr>
          <p:cNvPr id="3" name="Chart 0" descr=""/>
          <p:cNvGraphicFramePr/>
          <p:nvPr/>
        </p:nvGraphicFramePr>
        <p:xfrm>
          <a:off x="548640" y="1371600"/>
          <a:ext cx="4937760" cy="4206240"/>
        </p:xfrm>
        <a:graphic xmlns:a="http://schemas.openxmlformats.org/drawingml/2006/main">
          <a:graphicData uri="http://schemas.openxmlformats.org/drawingml/2006/chart">
            <c:chart xmlns:c="http://schemas.openxmlformats.org/drawingml/2006/chart" r:id="rId1"/>
          </a:graphicData>
        </a:graphic>
      </p:graphicFrame>
      <p:sp>
        <p:nvSpPr>
          <p:cNvPr id="4" name="card"/>
          <p:cNvSpPr/>
          <p:nvPr/>
        </p:nvSpPr>
        <p:spPr>
          <a:xfrm>
            <a:off x="5760720" y="1371600"/>
            <a:ext cx="2834640" cy="1417320"/>
          </a:xfrm>
          <a:prstGeom prst="roundRect">
            <a:avLst>
              <a:gd name="adj" fmla="val 7742"/>
            </a:avLst>
          </a:prstGeom>
          <a:solidFill>
            <a:schemeClr val="bg2"/>
          </a:solidFill>
          <a:ln w="12700">
            <a:solidFill>
              <a:schemeClr val="bg2"/>
            </a:solidFill>
            <a:prstDash val="solid"/>
          </a:ln>
        </p:spPr>
      </p:sp>
      <p:sp>
        <p:nvSpPr>
          <p:cNvPr id="5" name="Text 2"/>
          <p:cNvSpPr txBox="1"/>
          <p:nvPr/>
        </p:nvSpPr>
        <p:spPr>
          <a:xfrm>
            <a:off x="5943600" y="1508760"/>
            <a:ext cx="2468880" cy="731520"/>
          </a:xfrm>
          <a:prstGeom prst="rect">
            <a:avLst/>
          </a:prstGeom>
          <a:noFill/>
          <a:ln/>
        </p:spPr>
        <p:txBody>
          <a:bodyPr wrap="square" lIns="0" tIns="0" rIns="0" bIns="0" rtlCol="0" anchor="ctr"/>
          <a:lstStyle/>
          <a:p>
            <a:pPr algn="ctr" indent="0" marL="0">
              <a:buNone/>
            </a:pPr>
            <a:r>
              <a:rPr lang="en-US" sz="4000" b="1" dirty="0">
                <a:solidFill>
                  <a:schemeClr val="tx1"/>
                </a:solidFill>
                <a:latin typeface="Calibri" pitchFamily="34" charset="0"/>
                <a:ea typeface="Calibri" pitchFamily="34" charset="-122"/>
                <a:cs typeface="Calibri" pitchFamily="34" charset="-120"/>
              </a:rPr>
              <a:t>44%</a:t>
            </a:r>
            <a:endParaRPr lang="en-US" sz="4000" dirty="0"/>
          </a:p>
        </p:txBody>
      </p:sp>
      <p:sp>
        <p:nvSpPr>
          <p:cNvPr id="6" name="Text 3"/>
          <p:cNvSpPr txBox="1"/>
          <p:nvPr/>
        </p:nvSpPr>
        <p:spPr>
          <a:xfrm>
            <a:off x="5943600" y="2240280"/>
            <a:ext cx="2468880" cy="457200"/>
          </a:xfrm>
          <a:prstGeom prst="rect">
            <a:avLst/>
          </a:prstGeom>
          <a:noFill/>
          <a:ln/>
        </p:spPr>
        <p:txBody>
          <a:bodyPr wrap="square" lIns="0" tIns="0" rIns="0" bIns="0" rtlCol="0" anchor="t"/>
          <a:lstStyle/>
          <a:p>
            <a:pPr algn="ctr" indent="0" marL="0">
              <a:buNone/>
            </a:pPr>
            <a:r>
              <a:rPr lang="en-US" sz="1400" dirty="0">
                <a:solidFill>
                  <a:schemeClr val="tx2"/>
                </a:solidFill>
                <a:latin typeface="Calibri" pitchFamily="34" charset="0"/>
                <a:ea typeface="Calibri" pitchFamily="34" charset="-122"/>
                <a:cs typeface="Calibri" pitchFamily="34" charset="-120"/>
              </a:rPr>
              <a:t>of all JoPACC system value</a:t>
            </a:r>
            <a:endParaRPr lang="en-US" sz="1400" dirty="0"/>
          </a:p>
        </p:txBody>
      </p:sp>
      <p:sp>
        <p:nvSpPr>
          <p:cNvPr id="7" name="card"/>
          <p:cNvSpPr/>
          <p:nvPr/>
        </p:nvSpPr>
        <p:spPr>
          <a:xfrm>
            <a:off x="8778240" y="1371600"/>
            <a:ext cx="2834640" cy="1417320"/>
          </a:xfrm>
          <a:prstGeom prst="roundRect">
            <a:avLst>
              <a:gd name="adj" fmla="val 7742"/>
            </a:avLst>
          </a:prstGeom>
          <a:solidFill>
            <a:schemeClr val="bg2"/>
          </a:solidFill>
          <a:ln w="12700">
            <a:solidFill>
              <a:schemeClr val="bg2"/>
            </a:solidFill>
            <a:prstDash val="solid"/>
          </a:ln>
        </p:spPr>
      </p:sp>
      <p:sp>
        <p:nvSpPr>
          <p:cNvPr id="8" name="Text 5"/>
          <p:cNvSpPr txBox="1"/>
          <p:nvPr/>
        </p:nvSpPr>
        <p:spPr>
          <a:xfrm>
            <a:off x="8961120" y="1508760"/>
            <a:ext cx="2468880" cy="731520"/>
          </a:xfrm>
          <a:prstGeom prst="rect">
            <a:avLst/>
          </a:prstGeom>
          <a:noFill/>
          <a:ln/>
        </p:spPr>
        <p:txBody>
          <a:bodyPr wrap="square" lIns="0" tIns="0" rIns="0" bIns="0" rtlCol="0" anchor="ctr"/>
          <a:lstStyle/>
          <a:p>
            <a:pPr algn="ctr" indent="0" marL="0">
              <a:buNone/>
            </a:pPr>
            <a:r>
              <a:rPr lang="en-US" sz="4000" b="1" dirty="0">
                <a:solidFill>
                  <a:srgbClr val="2E8B63"/>
                </a:solidFill>
                <a:latin typeface="Calibri" pitchFamily="34" charset="0"/>
                <a:ea typeface="Calibri" pitchFamily="34" charset="-122"/>
                <a:cs typeface="Calibri" pitchFamily="34" charset="-120"/>
              </a:rPr>
              <a:t>-26.5%</a:t>
            </a:r>
            <a:endParaRPr lang="en-US" sz="4000" dirty="0"/>
          </a:p>
        </p:txBody>
      </p:sp>
      <p:sp>
        <p:nvSpPr>
          <p:cNvPr id="9" name="Text 6"/>
          <p:cNvSpPr txBox="1"/>
          <p:nvPr/>
        </p:nvSpPr>
        <p:spPr>
          <a:xfrm>
            <a:off x="8961120" y="2240280"/>
            <a:ext cx="2468880" cy="457200"/>
          </a:xfrm>
          <a:prstGeom prst="rect">
            <a:avLst/>
          </a:prstGeom>
          <a:noFill/>
          <a:ln/>
        </p:spPr>
        <p:txBody>
          <a:bodyPr wrap="square" lIns="0" tIns="0" rIns="0" bIns="0" rtlCol="0" anchor="t"/>
          <a:lstStyle/>
          <a:p>
            <a:pPr algn="ctr" indent="0" marL="0">
              <a:buNone/>
            </a:pPr>
            <a:r>
              <a:rPr lang="en-US" sz="1400" dirty="0">
                <a:solidFill>
                  <a:schemeClr val="tx2"/>
                </a:solidFill>
                <a:latin typeface="Calibri" pitchFamily="34" charset="0"/>
                <a:ea typeface="Calibri" pitchFamily="34" charset="-122"/>
                <a:cs typeface="Calibri" pitchFamily="34" charset="-120"/>
              </a:rPr>
              <a:t>Returned cheque value, 2025</a:t>
            </a:r>
            <a:endParaRPr lang="en-US" sz="1400" dirty="0"/>
          </a:p>
        </p:txBody>
      </p:sp>
      <p:sp>
        <p:nvSpPr>
          <p:cNvPr id="10" name="takeaway"/>
          <p:cNvSpPr/>
          <p:nvPr/>
        </p:nvSpPr>
        <p:spPr>
          <a:xfrm>
            <a:off x="5760720" y="3108960"/>
            <a:ext cx="5852160" cy="2011680"/>
          </a:xfrm>
          <a:prstGeom prst="roundRect">
            <a:avLst>
              <a:gd name="adj" fmla="val 5455"/>
            </a:avLst>
          </a:prstGeom>
          <a:solidFill>
            <a:schemeClr val="bg2"/>
          </a:solidFill>
          <a:ln w="12700">
            <a:solidFill>
              <a:schemeClr val="bg2"/>
            </a:solidFill>
            <a:prstDash val="solid"/>
          </a:ln>
        </p:spPr>
      </p:sp>
      <p:sp>
        <p:nvSpPr>
          <p:cNvPr id="11" name="Text 8"/>
          <p:cNvSpPr txBox="1"/>
          <p:nvPr/>
        </p:nvSpPr>
        <p:spPr>
          <a:xfrm>
            <a:off x="5989320" y="3246120"/>
            <a:ext cx="5394960" cy="1737360"/>
          </a:xfrm>
          <a:prstGeom prst="rect">
            <a:avLst/>
          </a:prstGeom>
          <a:noFill/>
          <a:ln/>
        </p:spPr>
        <p:txBody>
          <a:bodyPr wrap="square" lIns="0" tIns="0" rIns="0" bIns="0" rtlCol="0" anchor="ctr"/>
          <a:lstStyle/>
          <a:p>
            <a:pPr indent="0" marL="0">
              <a:buNone/>
            </a:pPr>
            <a:r>
              <a:rPr lang="en-US" sz="1600" b="1" dirty="0">
                <a:solidFill>
                  <a:schemeClr val="accent3"/>
                </a:solidFill>
                <a:latin typeface="Calibri" pitchFamily="34" charset="0"/>
                <a:ea typeface="Calibri" pitchFamily="34" charset="-122"/>
                <a:cs typeface="Calibri" pitchFamily="34" charset="-120"/>
              </a:rPr>
              <a:t>Lead with it:  </a:t>
            </a:r>
            <a:pPr indent="0" marL="0">
              <a:buNone/>
            </a:pPr>
            <a:r>
              <a:rPr lang="en-US" sz="1600" dirty="0">
                <a:solidFill>
                  <a:schemeClr val="tx1"/>
                </a:solidFill>
                <a:latin typeface="Calibri" pitchFamily="34" charset="0"/>
                <a:ea typeface="Calibri" pitchFamily="34" charset="-122"/>
                <a:cs typeface="Calibri" pitchFamily="34" charset="-120"/>
              </a:rPr>
              <a:t>imprisonment for debt was abolished in June 2025, a likely main driver of the drop.</a:t>
            </a:r>
            <a:endParaRPr lang="en-US" sz="1600" dirty="0"/>
          </a:p>
        </p:txBody>
      </p:sp>
      <p:sp>
        <p:nvSpPr>
          <p:cNvPr id="25"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lIns="0" tIns="0" rIns="0" bIns="0" rtlCol="0" anchor="ctr"/>
          <a:lstStyle/>
          <a:p>
            <a:pPr algn="l" indent="0" marL="0">
              <a:buNone/>
            </a:pPr>
            <a:r>
              <a:rPr lang="en-US" sz="2800" b="1" dirty="0">
                <a:solidFill>
                  <a:schemeClr val="tx1"/>
                </a:solidFill>
              </a:rPr>
              <a:t>IPS: fewer new users, far more activity</a:t>
            </a:r>
            <a:endParaRPr lang="en-US" sz="2800" dirty="0"/>
          </a:p>
        </p:txBody>
      </p:sp>
      <p:graphicFrame>
        <p:nvGraphicFramePr>
          <p:cNvPr id="3" name="Chart 0" descr=""/>
          <p:cNvGraphicFramePr/>
          <p:nvPr/>
        </p:nvGraphicFramePr>
        <p:xfrm>
          <a:off x="548640" y="1371600"/>
          <a:ext cx="3566160" cy="3474720"/>
        </p:xfrm>
        <a:graphic xmlns:a="http://schemas.openxmlformats.org/drawingml/2006/main">
          <a:graphicData uri="http://schemas.openxmlformats.org/drawingml/2006/chart">
            <c:chart xmlns:c="http://schemas.openxmlformats.org/drawingml/2006/chart" r:id="rId1"/>
          </a:graphicData>
        </a:graphic>
      </p:graphicFrame>
      <p:graphicFrame>
        <p:nvGraphicFramePr>
          <p:cNvPr id="4" name="Chart 1" descr=""/>
          <p:cNvGraphicFramePr/>
          <p:nvPr/>
        </p:nvGraphicFramePr>
        <p:xfrm>
          <a:off x="4297680" y="1371600"/>
          <a:ext cx="3566160" cy="3474720"/>
        </p:xfrm>
        <a:graphic xmlns:a="http://schemas.openxmlformats.org/drawingml/2006/main">
          <a:graphicData uri="http://schemas.openxmlformats.org/drawingml/2006/chart">
            <c:chart xmlns:c="http://schemas.openxmlformats.org/drawingml/2006/chart" r:id="rId2"/>
          </a:graphicData>
        </a:graphic>
      </p:graphicFrame>
      <p:graphicFrame>
        <p:nvGraphicFramePr>
          <p:cNvPr id="5" name="Chart 2" descr=""/>
          <p:cNvGraphicFramePr/>
          <p:nvPr/>
        </p:nvGraphicFramePr>
        <p:xfrm>
          <a:off x="8046720" y="1371600"/>
          <a:ext cx="3566160" cy="3474720"/>
        </p:xfrm>
        <a:graphic xmlns:a="http://schemas.openxmlformats.org/drawingml/2006/main">
          <a:graphicData uri="http://schemas.openxmlformats.org/drawingml/2006/chart">
            <c:chart xmlns:c="http://schemas.openxmlformats.org/drawingml/2006/chart" r:id="rId3"/>
          </a:graphicData>
        </a:graphic>
      </p:graphicFrame>
      <p:sp>
        <p:nvSpPr>
          <p:cNvPr id="6" name="takeaway"/>
          <p:cNvSpPr/>
          <p:nvPr/>
        </p:nvSpPr>
        <p:spPr>
          <a:xfrm>
            <a:off x="548640" y="5074920"/>
            <a:ext cx="11064240" cy="1005840"/>
          </a:xfrm>
          <a:prstGeom prst="roundRect">
            <a:avLst>
              <a:gd name="adj" fmla="val 10909"/>
            </a:avLst>
          </a:prstGeom>
          <a:solidFill>
            <a:schemeClr val="bg2"/>
          </a:solidFill>
          <a:ln w="12700">
            <a:solidFill>
              <a:schemeClr val="bg2"/>
            </a:solidFill>
            <a:prstDash val="solid"/>
          </a:ln>
        </p:spPr>
      </p:sp>
      <p:sp>
        <p:nvSpPr>
          <p:cNvPr id="7" name="Text 2"/>
          <p:cNvSpPr txBox="1"/>
          <p:nvPr/>
        </p:nvSpPr>
        <p:spPr>
          <a:xfrm>
            <a:off x="777240" y="5212080"/>
            <a:ext cx="10607040" cy="731520"/>
          </a:xfrm>
          <a:prstGeom prst="rect">
            <a:avLst/>
          </a:prstGeom>
          <a:noFill/>
          <a:ln/>
        </p:spPr>
        <p:txBody>
          <a:bodyPr wrap="square" lIns="0" tIns="0" rIns="0" bIns="0" rtlCol="0" anchor="ctr"/>
          <a:lstStyle/>
          <a:p>
            <a:pPr indent="0" marL="0">
              <a:buNone/>
            </a:pPr>
            <a:r>
              <a:rPr lang="en-US" sz="1600" b="1" dirty="0">
                <a:solidFill>
                  <a:schemeClr val="accent3"/>
                </a:solidFill>
                <a:latin typeface="Calibri" pitchFamily="34" charset="0"/>
                <a:ea typeface="Calibri" pitchFamily="34" charset="-122"/>
                <a:cs typeface="Calibri" pitchFamily="34" charset="-120"/>
              </a:rPr>
              <a:t>Missed:  </a:t>
            </a:r>
            <a:pPr indent="0" marL="0">
              <a:buNone/>
            </a:pPr>
            <a:r>
              <a:rPr lang="en-US" sz="1600" dirty="0">
                <a:solidFill>
                  <a:schemeClr val="tx1"/>
                </a:solidFill>
                <a:latin typeface="Calibri" pitchFamily="34" charset="0"/>
                <a:ea typeface="Calibri" pitchFamily="34" charset="-122"/>
                <a:cs typeface="Calibri" pitchFamily="34" charset="-120"/>
              </a:rPr>
              <a:t>user growth slowed while activity per user jumped, and wallet-only users are moving to dual-channel.</a:t>
            </a:r>
            <a:endParaRPr lang="en-US" sz="1600" dirty="0"/>
          </a:p>
        </p:txBody>
      </p:sp>
      <p:sp>
        <p:nvSpPr>
          <p:cNvPr id="25"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17</a:t>
            </a:fld>
            <a:endParaRPr lang="en-US"/>
          </a:p>
        </p:txBody>
      </p:sp>
    </p:spTree>
  </p:cSld>
  <p:clrMapOvr>
    <a:masterClrMapping/>
  </p:clrMapOvr>
</p:sld>
</file>

<file path=ppt/theme/theme1.xml><?xml version="1.0" encoding="utf-8"?>
<a:theme xmlns:a="http://schemas.openxmlformats.org/drawingml/2006/main" name="JoPACC">
  <a:themeElements>
    <a:clrScheme name="JoPACC">
      <a:dk1>
        <a:srgbClr val="243746"/>
      </a:dk1>
      <a:lt1>
        <a:srgbClr val="FFFFFF"/>
      </a:lt1>
      <a:dk2>
        <a:srgbClr val="6F7271"/>
      </a:dk2>
      <a:lt2>
        <a:srgbClr val="F4F5F6"/>
      </a:lt2>
      <a:accent1>
        <a:srgbClr val="243746"/>
      </a:accent1>
      <a:accent2>
        <a:srgbClr val="FFB600"/>
      </a:accent2>
      <a:accent3>
        <a:srgbClr val="AE841F"/>
      </a:accent3>
      <a:accent4>
        <a:srgbClr val="9EA1A2"/>
      </a:accent4>
      <a:accent5>
        <a:srgbClr val="6F7271"/>
      </a:accent5>
      <a:accent6>
        <a:srgbClr val="2E8B63"/>
      </a:accent6>
      <a:hlink>
        <a:srgbClr val="AE841F"/>
      </a:hlink>
      <a:folHlink>
        <a:srgbClr val="6F7271"/>
      </a:folHlink>
    </a:clrScheme>
    <a:fontScheme name="JoPACC">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17</Slides>
  <Notes>17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17</vt:i4>
      </vt:variant>
    </vt:vector>
  </HeadingPairs>
  <TitlesOfParts>
    <vt:vector size="2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JoPACC 2024-2025 Report Comparison</dc:title>
  <dc:subject>PptxGenJS Presentation</dc:subject>
  <dc:creator>PptxGenJS</dc:creator>
  <cp:lastModifiedBy>PptxGenJS</cp:lastModifiedBy>
  <cp:revision>1</cp:revision>
  <dcterms:created xsi:type="dcterms:W3CDTF">2026-10-12T11:28:31Z</dcterms:created>
  <dcterms:modified xsi:type="dcterms:W3CDTF">2026-10-12T11:28:31Z</dcterms:modified>
</cp:coreProperties>
</file>