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ed83e4-709f-8f4a-7fb3-25526dd26dd0}">
          <p14:sldIdLst>
            <p14:sldId id="256"/>
          </p14:sldIdLst>
        </p14:section>
        <p14:section name="Part One: Gaps identified" id="{a6ad2144-cf89-451a-70eb-bbf264845ad2}">
          <p14:sldIdLst>
            <p14:sldId id="257"/>
          </p14:sldIdLst>
        </p14:section>
        <p14:section name="Part Two: Recommendations" id="{627c1d02-90d0-cab8-f497-08971a394e2c}">
          <p14:sldIdLst>
            <p14:sldId id="258"/>
            <p14:sldId id="259"/>
            <p14:sldId id="260"/>
            <p14:sldId id="261"/>
            <p14:sldId id="262"/>
            <p14:sldId id="263"/>
            <p14:sldId id="264"/>
            <p14:sldId id="265"/>
            <p14:sldId id="266"/>
          </p14:sldIdLst>
        </p14:section>
        <p14:section name="Closing" id="{2487a2de-4512-082b-dd07-5768f64ddfd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F7271"/>
                </a:solidFill>
                <a:latin typeface="+mn-lt"/>
              </a:defRPr>
            </a:pPr>
            <a:r>
              <a:rPr sz="1400" b="0" i="0" u="none" strike="noStrike">
                <a:solidFill>
                  <a:srgbClr val="6F7271"/>
                </a:solidFill>
                <a:latin typeface="+mn-lt"/>
              </a:rPr>
              <a:t>Transactions per quarter (millions)</a:t>
            </a:r>
          </a:p>
        </c:rich>
      </c:tx>
      <c:layout/>
      <c:overlay val="0"/>
    </c:title>
    <c:autoTitleDeleted val="0"/>
    <c:plotArea>
      <c:layout/>
      <c:barChart>
        <c:barDir val="col"/>
        <c:grouping val="clustered"/>
        <c:varyColors val="0"/>
        <c:ser>
          <c:idx val="0"/>
          <c:order val="0"/>
          <c:tx>
            <c:strRef>
              <c:f>Sheet1!$B$1</c:f>
              <c:strCache>
                <c:ptCount val="1"/>
                <c:pt idx="0">
                  <c:v>Transactions (millions)</c:v>
                </c:pt>
              </c:strCache>
            </c:strRef>
          </c:tx>
          <c:spPr>
            <a:solidFill>
              <a:srgbClr val="FFB600"/>
            </a:solidFill>
            <a:effectLst/>
          </c:spPr>
          <c:invertIfNegative val="0"/>
          <c:dLbls>
            <c:numFmt formatCode="#,##0" sourceLinked="0"/>
            <c:txPr>
              <a:bodyPr/>
              <a:lstStyle/>
              <a:p>
                <a:pPr>
                  <a:defRPr b="0" i="0" strike="noStrike" sz="1100" u="none">
                    <a:solidFill>
                      <a:srgbClr val="243746"/>
                    </a:solidFill>
                    <a:latin typeface="+mn-lt"/>
                  </a:defRPr>
                </a:pPr>
              </a:p>
            </c:txPr>
            <c:showLegendKey val="0"/>
            <c:showVal val="1"/>
            <c:showCatName val="0"/>
            <c:showSerName val="0"/>
            <c:showPercent val="0"/>
            <c:showBubbleSize val="0"/>
            <c:showLeaderLines val="0"/>
          </c:dLbls>
          <c:cat>
            <c:multiLvlStrRef>
              <c:f>Sheet1!$A$2:$A$9</c:f>
              <c:multiLvlStrCache>
                <c:ptCount val="8"/>
                <c:lvl>
                  <c:pt idx="0">
                    <c:v>Q3 24</c:v>
                  </c:pt>
                  <c:pt idx="1">
                    <c:v>Q4 24</c:v>
                  </c:pt>
                  <c:pt idx="2">
                    <c:v>Q1 25</c:v>
                  </c:pt>
                  <c:pt idx="3">
                    <c:v>Q2 25</c:v>
                  </c:pt>
                  <c:pt idx="4">
                    <c:v>Q3 25</c:v>
                  </c:pt>
                  <c:pt idx="5">
                    <c:v>Q4 25</c:v>
                  </c:pt>
                  <c:pt idx="6">
                    <c:v>Q1 26</c:v>
                  </c:pt>
                  <c:pt idx="7">
                    <c:v>Q2 26</c:v>
                  </c:pt>
                </c:lvl>
              </c:multiLvlStrCache>
            </c:multiLvlStrRef>
          </c:cat>
          <c:val>
            <c:numRef>
              <c:f>Sheet1!$B$2:$B$9</c:f>
              <c:numCache>
                <c:formatCode>General</c:formatCode>
                <c:ptCount val="8"/>
                <c:pt idx="0">
                  <c:v>60</c:v>
                </c:pt>
                <c:pt idx="1">
                  <c:v>68</c:v>
                </c:pt>
                <c:pt idx="2">
                  <c:v>73</c:v>
                </c:pt>
                <c:pt idx="3">
                  <c:v>84</c:v>
                </c:pt>
                <c:pt idx="4">
                  <c:v>99</c:v>
                </c:pt>
                <c:pt idx="5">
                  <c:v>107</c:v>
                </c:pt>
                <c:pt idx="6">
                  <c:v>114</c:v>
                </c:pt>
                <c:pt idx="7">
                  <c:v>130</c:v>
                </c:pt>
              </c:numCache>
            </c:numRef>
          </c:val>
        </c:ser>
        <c:dLbls>
          <c:numFmt formatCode="#,##0" sourceLinked="0"/>
          <c:txPr>
            <a:bodyPr/>
            <a:lstStyle/>
            <a:p>
              <a:pPr>
                <a:defRPr b="0" i="0" strike="noStrike" sz="1100" u="none">
                  <a:solidFill>
                    <a:srgbClr val="24374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F7271"/>
                </a:solidFill>
                <a:latin typeface="+mn-lt"/>
              </a:defRPr>
            </a:pPr>
            <a:r>
              <a:rPr sz="1400" b="0" i="0" u="none" strike="noStrike">
                <a:solidFill>
                  <a:srgbClr val="6F7271"/>
                </a:solidFill>
                <a:latin typeface="+mn-lt"/>
              </a:rPr>
              <a:t>Value per quarter (JOD billions)</a:t>
            </a:r>
          </a:p>
        </c:rich>
      </c:tx>
      <c:layout/>
      <c:overlay val="0"/>
    </c:title>
    <c:autoTitleDeleted val="0"/>
    <c:plotArea>
      <c:layout/>
      <c:barChart>
        <c:barDir val="col"/>
        <c:grouping val="clustered"/>
        <c:varyColors val="0"/>
        <c:ser>
          <c:idx val="0"/>
          <c:order val="0"/>
          <c:tx>
            <c:strRef>
              <c:f>Sheet1!$B$1</c:f>
              <c:strCache>
                <c:ptCount val="1"/>
                <c:pt idx="0">
                  <c:v>Value (JOD billions)</c:v>
                </c:pt>
              </c:strCache>
            </c:strRef>
          </c:tx>
          <c:spPr>
            <a:solidFill>
              <a:srgbClr val="243746"/>
            </a:solidFill>
            <a:effectLst/>
          </c:spPr>
          <c:invertIfNegative val="0"/>
          <c:dLbls>
            <c:numFmt formatCode="0.0" sourceLinked="0"/>
            <c:txPr>
              <a:bodyPr/>
              <a:lstStyle/>
              <a:p>
                <a:pPr>
                  <a:defRPr b="0" i="0" strike="noStrike" sz="1100" u="none">
                    <a:solidFill>
                      <a:srgbClr val="243746"/>
                    </a:solidFill>
                    <a:latin typeface="+mn-lt"/>
                  </a:defRPr>
                </a:pPr>
              </a:p>
            </c:txPr>
            <c:showLegendKey val="0"/>
            <c:showVal val="1"/>
            <c:showCatName val="0"/>
            <c:showSerName val="0"/>
            <c:showPercent val="0"/>
            <c:showBubbleSize val="0"/>
            <c:showLeaderLines val="0"/>
          </c:dLbls>
          <c:cat>
            <c:multiLvlStrRef>
              <c:f>Sheet1!$A$2:$A$9</c:f>
              <c:multiLvlStrCache>
                <c:ptCount val="8"/>
                <c:lvl>
                  <c:pt idx="0">
                    <c:v>Q3 24</c:v>
                  </c:pt>
                  <c:pt idx="1">
                    <c:v>Q4 24</c:v>
                  </c:pt>
                  <c:pt idx="2">
                    <c:v>Q1 25</c:v>
                  </c:pt>
                  <c:pt idx="3">
                    <c:v>Q2 25</c:v>
                  </c:pt>
                  <c:pt idx="4">
                    <c:v>Q3 25</c:v>
                  </c:pt>
                  <c:pt idx="5">
                    <c:v>Q4 25</c:v>
                  </c:pt>
                  <c:pt idx="6">
                    <c:v>Q1 26</c:v>
                  </c:pt>
                  <c:pt idx="7">
                    <c:v>Q2 26</c:v>
                  </c:pt>
                </c:lvl>
              </c:multiLvlStrCache>
            </c:multiLvlStrRef>
          </c:cat>
          <c:val>
            <c:numRef>
              <c:f>Sheet1!$B$2:$B$9</c:f>
              <c:numCache>
                <c:formatCode>General</c:formatCode>
                <c:ptCount val="8"/>
                <c:pt idx="0">
                  <c:v>21.1</c:v>
                </c:pt>
                <c:pt idx="1">
                  <c:v>21.6</c:v>
                </c:pt>
                <c:pt idx="2">
                  <c:v>21.4</c:v>
                </c:pt>
                <c:pt idx="3">
                  <c:v>22.4</c:v>
                </c:pt>
                <c:pt idx="4">
                  <c:v>24.6</c:v>
                </c:pt>
                <c:pt idx="5">
                  <c:v>25</c:v>
                </c:pt>
                <c:pt idx="6">
                  <c:v>23.8</c:v>
                </c:pt>
                <c:pt idx="7">
                  <c:v>24.8</c:v>
                </c:pt>
              </c:numCache>
            </c:numRef>
          </c:val>
        </c:ser>
        <c:dLbls>
          <c:numFmt formatCode="0.0" sourceLinked="0"/>
          <c:txPr>
            <a:bodyPr/>
            <a:lstStyle/>
            <a:p>
              <a:pPr>
                <a:defRPr b="0" i="0" strike="noStrike" sz="1100" u="none">
                  <a:solidFill>
                    <a:srgbClr val="24374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F7271"/>
                </a:solidFill>
                <a:latin typeface="+mn-lt"/>
              </a:defRPr>
            </a:pPr>
            <a:r>
              <a:rPr sz="1400" b="0" i="0" u="none" strike="noStrike">
                <a:solidFill>
                  <a:srgbClr val="6F7271"/>
                </a:solidFill>
                <a:latin typeface="+mn-lt"/>
              </a:rPr>
              <a:t>Average transaction value (JOD), all systems combined</a:t>
            </a:r>
          </a:p>
        </c:rich>
      </c:tx>
      <c:layout/>
      <c:overlay val="0"/>
    </c:title>
    <c:autoTitleDeleted val="0"/>
    <c:plotArea>
      <c:layout/>
      <c:lineChart>
        <c:varyColors val="0"/>
        <c:ser>
          <c:idx val="0"/>
          <c:order val="0"/>
          <c:tx>
            <c:strRef>
              <c:f>Sheet1!$B$1</c:f>
              <c:strCache>
                <c:ptCount val="1"/>
                <c:pt idx="0">
                  <c:v>Average transaction value (JOD)</c:v>
                </c:pt>
              </c:strCache>
            </c:strRef>
          </c:tx>
          <c:spPr>
            <a:solidFill>
              <a:srgbClr val="243746"/>
            </a:solidFill>
            <a:ln w="38100" cap="flat">
              <a:solidFill>
                <a:srgbClr val="243746"/>
              </a:solidFill>
              <a:prstDash val="solid"/>
              <a:round/>
            </a:ln>
            <a:effectLst/>
          </c:spPr>
          <c:invertIfNegative val="0"/>
          <c:dLbls>
            <c:numFmt formatCode="0.0" sourceLinked="0"/>
            <c:txPr>
              <a:bodyPr/>
              <a:lstStyle/>
              <a:p>
                <a:pPr>
                  <a:defRPr b="0" i="0" strike="noStrike" sz="1100" u="none">
                    <a:solidFill>
                      <a:srgbClr val="243746"/>
                    </a:solidFill>
                    <a:latin typeface="+mn-lt"/>
                  </a:defRPr>
                </a:pPr>
              </a:p>
            </c:txPr>
            <c:dLblPos val="t"/>
            <c:showLegendKey val="0"/>
            <c:showVal val="1"/>
            <c:showCatName val="0"/>
            <c:showSerName val="0"/>
            <c:showPercent val="0"/>
            <c:showBubbleSize val="0"/>
            <c:showLeaderLines val="0"/>
          </c:dLbls>
          <c:marker>
            <c:symbol val="circle"/>
            <c:size val="9"/>
            <c:spPr>
              <a:solidFill>
                <a:srgbClr val="243746"/>
              </a:solidFill>
              <a:ln w="9525" cap="flat">
                <a:solidFill>
                  <a:srgbClr val="243746"/>
                </a:solidFill>
                <a:prstDash val="solid"/>
                <a:round/>
              </a:ln>
              <a:effectLst/>
            </c:spPr>
          </c:marker>
          <c:cat>
            <c:multiLvlStrRef>
              <c:f>Sheet1!$A$2:$A$9</c:f>
              <c:multiLvlStrCache>
                <c:ptCount val="8"/>
                <c:lvl>
                  <c:pt idx="0">
                    <c:v>Q3 24</c:v>
                  </c:pt>
                  <c:pt idx="1">
                    <c:v>Q4 24</c:v>
                  </c:pt>
                  <c:pt idx="2">
                    <c:v>Q1 25</c:v>
                  </c:pt>
                  <c:pt idx="3">
                    <c:v>Q2 25</c:v>
                  </c:pt>
                  <c:pt idx="4">
                    <c:v>Q3 25</c:v>
                  </c:pt>
                  <c:pt idx="5">
                    <c:v>Q4 25</c:v>
                  </c:pt>
                  <c:pt idx="6">
                    <c:v>Q1 26</c:v>
                  </c:pt>
                  <c:pt idx="7">
                    <c:v>Q2 26</c:v>
                  </c:pt>
                </c:lvl>
              </c:multiLvlStrCache>
            </c:multiLvlStrRef>
          </c:cat>
          <c:val>
            <c:numRef>
              <c:f>Sheet1!$B$2:$B$9</c:f>
              <c:numCache>
                <c:formatCode>General</c:formatCode>
                <c:ptCount val="8"/>
                <c:pt idx="0">
                  <c:v>349.8</c:v>
                </c:pt>
                <c:pt idx="1">
                  <c:v>319.7</c:v>
                </c:pt>
                <c:pt idx="2">
                  <c:v>290.9</c:v>
                </c:pt>
                <c:pt idx="3">
                  <c:v>264.9</c:v>
                </c:pt>
                <c:pt idx="4">
                  <c:v>248</c:v>
                </c:pt>
                <c:pt idx="5">
                  <c:v>233.5</c:v>
                </c:pt>
                <c:pt idx="6">
                  <c:v>209.2</c:v>
                </c:pt>
                <c:pt idx="7">
                  <c:v>190.4</c:v>
                </c:pt>
              </c:numCache>
            </c:numRef>
          </c:val>
          <c:smooth val="0"/>
        </c:ser>
        <c:dLbls>
          <c:numFmt formatCode="0.0" sourceLinked="0"/>
          <c:txPr>
            <a:bodyPr/>
            <a:lstStyle/>
            <a:p>
              <a:pPr>
                <a:defRPr b="0" i="0" strike="noStrike" sz="1100" u="none">
                  <a:solidFill>
                    <a:srgbClr val="243746"/>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the reports are accurate and consistent, but they tell us what happened, not why. Point to the marker key: derived figures were calculated from the published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significant gap is limited analytical depth. Example: eFAWATEERcom's total transaction value fell 12.0% in Q1 2026, and the report gives no sign of what drove it, such as a biller category or a seasonal effect. Researchers cannot validate trends; investors cannot judge whether growth is sustainable. The reports themselves are consistent and well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on one slide: each tile shows how reporting works today and how it should work. All of it uses only data already available in JoPACC's dataset. Recommendation 1 comes first because the others build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the hierarchy to the IPS, the IPS section would be restructured around it. Figures from CliQ and JoMoPay are combined under one shared structure: entities (business, merchant, government, agent) and individuals first, then individuals by nationality, age group and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level the report shows users, transactions and transaction value, using only published data. The same structure can power an interactive view so readers drill down from the system total to the most detailed breakdown. Categories with very small counts are grouped to protect confidentiality.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recommendation is presented first because the others build upon it. The rest can be implemented without an interactive interface, but interactivity greatly extends what the reports can offer, so they can serve a wider range of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systems into one trend view: payment volume grew from about 60 million to 130 million transactions per quarter between Q3 2024 and Q2 2026, while total value rose only from JOD 21.1 billion to JOD 24.8 billion. Systems combined: CliQ, JoMoPay, eFAWATEERcom, ECCU and ACH (JOD-denominated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notable movement in the quarterly reports came in Q3 2025, when the number of transactions was low relative to value. That led to a manual calculation of the average transaction value for each quarter. Average = total value divided by total volume. It fell from JOD 349.8 to JOD 190.4, roughly 45%. Growth comes from more, smaller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the average helps researchers and investors interpret growth correctly, and helps operations and risk teams plan capacity and set monitoring thresholds. Totals alone do not reveal that growth is driven by many smaller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is total value divided by total volume, so a small number of very large transactions can raise it significantly. The mode (most frequent value) or the median (middle value) would better represent a standard transaction, but they cannot be calculated from the published reports, which have no individual transaction values or distribution. So the average is the best indicator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combines systems with very different transaction sizes, so it should be reported per system. That lets readers tell genuine changes in transaction size from shifts in the mix of systems. Systems in the combined trend: CliQ, JoMoPay, eFAWATEERcom, ECCU, and ACH (JOD-denominated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dirty="0">
                <a:solidFill>
                  <a:schemeClr val="tx2"/>
                </a:solidFill>
              </a:rPr>
              <a:t>JoPACC  |  Gaps identified and recommendations</a:t>
            </a:r>
            <a:endParaRPr lang="en-US" sz="10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4374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large"/>
          <p:cNvSpPr/>
          <p:nvPr/>
        </p:nvSpPr>
        <p:spPr>
          <a:xfrm>
            <a:off x="8595360" y="-1188720"/>
            <a:ext cx="5120640" cy="5120640"/>
          </a:xfrm>
          <a:prstGeom prst="ellipse">
            <a:avLst/>
          </a:prstGeom>
          <a:solidFill>
            <a:schemeClr val="accent2">
              <a:alpha val="20000"/>
            </a:schemeClr>
          </a:solidFill>
          <a:ln w="12700">
            <a:solidFill>
              <a:schemeClr val="accent2">
                <a:alpha val="0"/>
              </a:schemeClr>
            </a:solidFill>
            <a:prstDash val="solid"/>
          </a:ln>
        </p:spPr>
      </p:sp>
      <p:sp>
        <p:nvSpPr>
          <p:cNvPr id="3" name="Circle small"/>
          <p:cNvSpPr/>
          <p:nvPr/>
        </p:nvSpPr>
        <p:spPr>
          <a:xfrm>
            <a:off x="9966960" y="3291840"/>
            <a:ext cx="3200400" cy="3200400"/>
          </a:xfrm>
          <a:prstGeom prst="ellipse">
            <a:avLst/>
          </a:prstGeom>
          <a:solidFill>
            <a:schemeClr val="accent2">
              <a:alpha val="5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20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JoPACC</a:t>
            </a:r>
            <a:endParaRPr lang="en-US" sz="1400" dirty="0"/>
          </a:p>
        </p:txBody>
      </p:sp>
      <p:sp>
        <p:nvSpPr>
          <p:cNvPr id="6" name="Text 4"/>
          <p:cNvSpPr txBox="1"/>
          <p:nvPr/>
        </p:nvSpPr>
        <p:spPr>
          <a:xfrm>
            <a:off x="731520" y="2148840"/>
            <a:ext cx="8686800" cy="822960"/>
          </a:xfrm>
          <a:prstGeom prst="rect">
            <a:avLst/>
          </a:prstGeom>
          <a:noFill/>
          <a:ln/>
        </p:spPr>
        <p:txBody>
          <a:bodyPr wrap="square" lIns="0" tIns="0" rIns="0" bIns="0" rtlCol="0" anchor="ctr"/>
          <a:lstStyle/>
          <a:p>
            <a:pPr indent="0" marL="0">
              <a:buNone/>
            </a:pPr>
            <a:r>
              <a:rPr lang="en-US" sz="4000" b="1" dirty="0">
                <a:solidFill>
                  <a:schemeClr val="bg1"/>
                </a:solidFill>
                <a:latin typeface="Calibri" pitchFamily="34" charset="0"/>
                <a:ea typeface="Calibri" pitchFamily="34" charset="-122"/>
                <a:cs typeface="Calibri" pitchFamily="34" charset="-120"/>
              </a:rPr>
              <a:t>Gaps identified and recommendations</a:t>
            </a:r>
            <a:endParaRPr lang="en-US" sz="4000" dirty="0"/>
          </a:p>
        </p:txBody>
      </p:sp>
      <p:sp>
        <p:nvSpPr>
          <p:cNvPr id="7" name="Text 5"/>
          <p:cNvSpPr txBox="1"/>
          <p:nvPr/>
        </p:nvSpPr>
        <p:spPr>
          <a:xfrm>
            <a:off x="731520" y="3017520"/>
            <a:ext cx="8686800" cy="457200"/>
          </a:xfrm>
          <a:prstGeom prst="rect">
            <a:avLst/>
          </a:prstGeom>
          <a:noFill/>
          <a:ln/>
        </p:spPr>
        <p:txBody>
          <a:bodyPr wrap="square" lIns="0" tIns="0" rIns="0" bIns="0" rtlCol="0" anchor="ctr"/>
          <a:lstStyle/>
          <a:p>
            <a:pPr indent="0" marL="0">
              <a:buNone/>
            </a:pPr>
            <a:r>
              <a:rPr lang="en-US" sz="2000" dirty="0">
                <a:solidFill>
                  <a:schemeClr val="accent2"/>
                </a:solidFill>
                <a:latin typeface="Calibri" pitchFamily="34" charset="0"/>
                <a:ea typeface="Calibri" pitchFamily="34" charset="-122"/>
                <a:cs typeface="Calibri" pitchFamily="34" charset="-120"/>
              </a:rPr>
              <a:t>The reports show what happened. Readers also need to know why.</a:t>
            </a:r>
            <a:endParaRPr lang="en-US" sz="2000" dirty="0"/>
          </a:p>
        </p:txBody>
      </p:sp>
      <p:sp>
        <p:nvSpPr>
          <p:cNvPr id="8" name="Chip period"/>
          <p:cNvSpPr/>
          <p:nvPr/>
        </p:nvSpPr>
        <p:spPr>
          <a:xfrm>
            <a:off x="731520" y="5532120"/>
            <a:ext cx="2743200" cy="365760"/>
          </a:xfrm>
          <a:prstGeom prst="roundRect">
            <a:avLst>
              <a:gd name="adj" fmla="val 15000"/>
            </a:avLst>
          </a:prstGeom>
          <a:solidFill>
            <a:schemeClr val="accent2"/>
          </a:solidFill>
          <a:ln w="12700">
            <a:solidFill>
              <a:schemeClr val="accent2"/>
            </a:solidFill>
            <a:prstDash val="solid"/>
          </a:ln>
        </p:spPr>
      </p:sp>
      <p:sp>
        <p:nvSpPr>
          <p:cNvPr id="9" name="Text 7"/>
          <p:cNvSpPr txBox="1"/>
          <p:nvPr/>
        </p:nvSpPr>
        <p:spPr>
          <a:xfrm>
            <a:off x="731520" y="5532120"/>
            <a:ext cx="274320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Q3 2024 to Q2 2026 quarterly reports</a:t>
            </a:r>
            <a:endParaRPr lang="en-US" sz="1100" dirty="0"/>
          </a:p>
        </p:txBody>
      </p:sp>
      <p:sp>
        <p:nvSpPr>
          <p:cNvPr id="10" name="Chip derived"/>
          <p:cNvSpPr/>
          <p:nvPr/>
        </p:nvSpPr>
        <p:spPr>
          <a:xfrm>
            <a:off x="3657600" y="5532120"/>
            <a:ext cx="3108960" cy="365760"/>
          </a:xfrm>
          <a:prstGeom prst="roundRect">
            <a:avLst>
              <a:gd name="adj" fmla="val 15000"/>
            </a:avLst>
          </a:prstGeom>
          <a:solidFill>
            <a:schemeClr val="bg2"/>
          </a:solidFill>
          <a:ln w="12700">
            <a:solidFill>
              <a:schemeClr val="bg2"/>
            </a:solidFill>
            <a:prstDash val="solid"/>
          </a:ln>
        </p:spPr>
      </p:sp>
      <p:sp>
        <p:nvSpPr>
          <p:cNvPr id="11" name="Text 9"/>
          <p:cNvSpPr txBox="1"/>
          <p:nvPr/>
        </p:nvSpPr>
        <p:spPr>
          <a:xfrm>
            <a:off x="3657600" y="5532120"/>
            <a:ext cx="310896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6949440" y="5532120"/>
            <a:ext cx="3840480" cy="365760"/>
          </a:xfrm>
          <a:prstGeom prst="rect">
            <a:avLst/>
          </a:prstGeom>
          <a:noFill/>
          <a:ln/>
        </p:spPr>
        <p:txBody>
          <a:bodyPr wrap="square" lIns="0" tIns="0" rIns="0" bIns="0" rtlCol="0" anchor="ctr"/>
          <a:lstStyle/>
          <a:p>
            <a:pPr indent="0" marL="0">
              <a:buNone/>
            </a:pPr>
            <a:r>
              <a:rPr lang="en-US" sz="1200" dirty="0">
                <a:solidFill>
                  <a:srgbClr val="9EA1A2"/>
                </a:solidFill>
                <a:latin typeface="Calibri" pitchFamily="34" charset="0"/>
                <a:ea typeface="Calibri" pitchFamily="34" charset="-122"/>
                <a:cs typeface="Calibri" pitchFamily="34" charset="-120"/>
              </a:rPr>
              <a:t>Unmarked figures come from the JoPACC reports.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The reports describe what happened, not why</a:t>
            </a:r>
            <a:endParaRPr lang="en-US" sz="2800" dirty="0"/>
          </a:p>
        </p:txBody>
      </p:sp>
      <p:sp>
        <p:nvSpPr>
          <p:cNvPr id="4" name="Card eFAWATEERcom"/>
          <p:cNvSpPr/>
          <p:nvPr/>
        </p:nvSpPr>
        <p:spPr>
          <a:xfrm>
            <a:off x="548640" y="1371600"/>
            <a:ext cx="3575304" cy="3566160"/>
          </a:xfrm>
          <a:prstGeom prst="roundRect">
            <a:avLst>
              <a:gd name="adj" fmla="val 3846"/>
            </a:avLst>
          </a:prstGeom>
          <a:solidFill>
            <a:schemeClr val="bg2"/>
          </a:solidFill>
          <a:ln w="12700">
            <a:solidFill>
              <a:schemeClr val="bg2"/>
            </a:solidFill>
            <a:prstDash val="solid"/>
          </a:ln>
        </p:spPr>
      </p:sp>
      <p:sp>
        <p:nvSpPr>
          <p:cNvPr id="5" name="Text 2"/>
          <p:cNvSpPr txBox="1"/>
          <p:nvPr/>
        </p:nvSpPr>
        <p:spPr>
          <a:xfrm>
            <a:off x="822960" y="1554480"/>
            <a:ext cx="3017520" cy="36576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eFAWATEERcom</a:t>
            </a:r>
            <a:endParaRPr lang="en-US" sz="1500" dirty="0"/>
          </a:p>
        </p:txBody>
      </p:sp>
      <p:sp>
        <p:nvSpPr>
          <p:cNvPr id="6" name="Text 3"/>
          <p:cNvSpPr txBox="1"/>
          <p:nvPr/>
        </p:nvSpPr>
        <p:spPr>
          <a:xfrm>
            <a:off x="822960" y="2103120"/>
            <a:ext cx="3108960" cy="731520"/>
          </a:xfrm>
          <a:prstGeom prst="rect">
            <a:avLst/>
          </a:prstGeom>
          <a:noFill/>
          <a:ln/>
        </p:spPr>
        <p:txBody>
          <a:bodyPr wrap="square" lIns="0" tIns="0" rIns="0" bIns="0" rtlCol="0" anchor="ctr"/>
          <a:lstStyle/>
          <a:p>
            <a:pPr indent="0" marL="0">
              <a:buNone/>
            </a:pPr>
            <a:r>
              <a:rPr lang="en-US" sz="3600" b="1" dirty="0">
                <a:solidFill>
                  <a:srgbClr val="C0463C"/>
                </a:solidFill>
                <a:latin typeface="Calibri" pitchFamily="34" charset="0"/>
                <a:ea typeface="Calibri" pitchFamily="34" charset="-122"/>
                <a:cs typeface="Calibri" pitchFamily="34" charset="-120"/>
              </a:rPr>
              <a:t>-12.0%</a:t>
            </a:r>
            <a:endParaRPr lang="en-US" sz="3600" dirty="0"/>
          </a:p>
        </p:txBody>
      </p:sp>
      <p:sp>
        <p:nvSpPr>
          <p:cNvPr id="7" name="Text 4"/>
          <p:cNvSpPr txBox="1"/>
          <p:nvPr/>
        </p:nvSpPr>
        <p:spPr>
          <a:xfrm>
            <a:off x="822960" y="2834640"/>
            <a:ext cx="310896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total value, Q1 2026</a:t>
            </a:r>
            <a:endParaRPr lang="en-US" sz="1400" dirty="0"/>
          </a:p>
        </p:txBody>
      </p:sp>
      <p:sp>
        <p:nvSpPr>
          <p:cNvPr id="8" name="Text 5"/>
          <p:cNvSpPr txBox="1"/>
          <p:nvPr/>
        </p:nvSpPr>
        <p:spPr>
          <a:xfrm>
            <a:off x="822960" y="352044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9" name="Text 6"/>
          <p:cNvSpPr txBox="1"/>
          <p:nvPr/>
        </p:nvSpPr>
        <p:spPr>
          <a:xfrm>
            <a:off x="822960" y="3749040"/>
            <a:ext cx="3108960" cy="3200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Value fell. No driver given.</a:t>
            </a:r>
            <a:endParaRPr lang="en-US" sz="1600" dirty="0"/>
          </a:p>
        </p:txBody>
      </p:sp>
      <p:sp>
        <p:nvSpPr>
          <p:cNvPr id="10" name="Text 7"/>
          <p:cNvSpPr txBox="1"/>
          <p:nvPr/>
        </p:nvSpPr>
        <p:spPr>
          <a:xfrm>
            <a:off x="822960" y="4160520"/>
            <a:ext cx="3017520" cy="228600"/>
          </a:xfrm>
          <a:prstGeom prst="rect">
            <a:avLst/>
          </a:prstGeom>
          <a:noFill/>
          <a:ln/>
        </p:spPr>
        <p:txBody>
          <a:bodyPr wrap="square" lIns="0" tIns="0" rIns="0" bIns="0" rtlCol="0" anchor="ctr"/>
          <a:lstStyle/>
          <a:p>
            <a:pPr indent="0" marL="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1" name="Text 8"/>
          <p:cNvSpPr txBox="1"/>
          <p:nvPr/>
        </p:nvSpPr>
        <p:spPr>
          <a:xfrm>
            <a:off x="822960" y="4389120"/>
            <a:ext cx="310896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Biller category or seasonal effect?</a:t>
            </a:r>
            <a:endParaRPr lang="en-US" sz="1600" dirty="0"/>
          </a:p>
        </p:txBody>
      </p:sp>
      <p:sp>
        <p:nvSpPr>
          <p:cNvPr id="12" name="Card Researchers"/>
          <p:cNvSpPr/>
          <p:nvPr/>
        </p:nvSpPr>
        <p:spPr>
          <a:xfrm>
            <a:off x="4306824" y="1371600"/>
            <a:ext cx="3575304" cy="356616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4581144" y="1554480"/>
            <a:ext cx="3017520" cy="36576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Researchers</a:t>
            </a:r>
            <a:endParaRPr lang="en-US" sz="1500" dirty="0"/>
          </a:p>
        </p:txBody>
      </p:sp>
      <p:sp>
        <p:nvSpPr>
          <p:cNvPr id="14" name="Text 11"/>
          <p:cNvSpPr txBox="1"/>
          <p:nvPr/>
        </p:nvSpPr>
        <p:spPr>
          <a:xfrm>
            <a:off x="4581144" y="2103120"/>
            <a:ext cx="3108960" cy="731520"/>
          </a:xfrm>
          <a:prstGeom prst="rect">
            <a:avLst/>
          </a:prstGeom>
          <a:noFill/>
          <a:ln/>
        </p:spPr>
        <p:txBody>
          <a:bodyPr wrap="square" lIns="0" tIns="0" rIns="0" bIns="0" rtlCol="0" anchor="ctr"/>
          <a:lstStyle/>
          <a:p>
            <a:pPr indent="0" marL="0">
              <a:buNone/>
            </a:pPr>
            <a:r>
              <a:rPr lang="en-US" sz="3600" b="1" dirty="0">
                <a:solidFill>
                  <a:srgbClr val="243746"/>
                </a:solidFill>
                <a:latin typeface="Calibri" pitchFamily="34" charset="0"/>
                <a:ea typeface="Calibri" pitchFamily="34" charset="-122"/>
                <a:cs typeface="Calibri" pitchFamily="34" charset="-120"/>
              </a:rPr>
              <a:t>No validation</a:t>
            </a:r>
            <a:endParaRPr lang="en-US" sz="3600" dirty="0"/>
          </a:p>
        </p:txBody>
      </p:sp>
      <p:sp>
        <p:nvSpPr>
          <p:cNvPr id="15" name="Text 12"/>
          <p:cNvSpPr txBox="1"/>
          <p:nvPr/>
        </p:nvSpPr>
        <p:spPr>
          <a:xfrm>
            <a:off x="4581144" y="2834640"/>
            <a:ext cx="310896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trends cannot be checked</a:t>
            </a:r>
            <a:endParaRPr lang="en-US" sz="1400" dirty="0"/>
          </a:p>
        </p:txBody>
      </p:sp>
      <p:sp>
        <p:nvSpPr>
          <p:cNvPr id="16" name="Text 13"/>
          <p:cNvSpPr txBox="1"/>
          <p:nvPr/>
        </p:nvSpPr>
        <p:spPr>
          <a:xfrm>
            <a:off x="4581144" y="352044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17" name="Text 14"/>
          <p:cNvSpPr txBox="1"/>
          <p:nvPr/>
        </p:nvSpPr>
        <p:spPr>
          <a:xfrm>
            <a:off x="4581144" y="3749040"/>
            <a:ext cx="3108960" cy="3200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what, in limited detail.</a:t>
            </a:r>
            <a:endParaRPr lang="en-US" sz="1600" dirty="0"/>
          </a:p>
        </p:txBody>
      </p:sp>
      <p:sp>
        <p:nvSpPr>
          <p:cNvPr id="18" name="Text 15"/>
          <p:cNvSpPr txBox="1"/>
          <p:nvPr/>
        </p:nvSpPr>
        <p:spPr>
          <a:xfrm>
            <a:off x="4581144" y="4160520"/>
            <a:ext cx="3017520" cy="228600"/>
          </a:xfrm>
          <a:prstGeom prst="rect">
            <a:avLst/>
          </a:prstGeom>
          <a:noFill/>
          <a:ln/>
        </p:spPr>
        <p:txBody>
          <a:bodyPr wrap="square" lIns="0" tIns="0" rIns="0" bIns="0" rtlCol="0" anchor="ctr"/>
          <a:lstStyle/>
          <a:p>
            <a:pPr indent="0" marL="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9" name="Text 16"/>
          <p:cNvSpPr txBox="1"/>
          <p:nvPr/>
        </p:nvSpPr>
        <p:spPr>
          <a:xfrm>
            <a:off x="4581144" y="4389120"/>
            <a:ext cx="310896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Drivers of users, volumes, values.</a:t>
            </a:r>
            <a:endParaRPr lang="en-US" sz="1600" dirty="0"/>
          </a:p>
        </p:txBody>
      </p:sp>
      <p:sp>
        <p:nvSpPr>
          <p:cNvPr id="20" name="Card Investors"/>
          <p:cNvSpPr/>
          <p:nvPr/>
        </p:nvSpPr>
        <p:spPr>
          <a:xfrm>
            <a:off x="8065008" y="1371600"/>
            <a:ext cx="3575304" cy="3566160"/>
          </a:xfrm>
          <a:prstGeom prst="roundRect">
            <a:avLst>
              <a:gd name="adj" fmla="val 3846"/>
            </a:avLst>
          </a:prstGeom>
          <a:solidFill>
            <a:schemeClr val="bg2"/>
          </a:solidFill>
          <a:ln w="12700">
            <a:solidFill>
              <a:schemeClr val="bg2"/>
            </a:solidFill>
            <a:prstDash val="solid"/>
          </a:ln>
        </p:spPr>
      </p:sp>
      <p:sp>
        <p:nvSpPr>
          <p:cNvPr id="21" name="Text 18"/>
          <p:cNvSpPr txBox="1"/>
          <p:nvPr/>
        </p:nvSpPr>
        <p:spPr>
          <a:xfrm>
            <a:off x="8339328" y="1554480"/>
            <a:ext cx="3017520" cy="36576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Investors</a:t>
            </a:r>
            <a:endParaRPr lang="en-US" sz="1500" dirty="0"/>
          </a:p>
        </p:txBody>
      </p:sp>
      <p:sp>
        <p:nvSpPr>
          <p:cNvPr id="22" name="Text 19"/>
          <p:cNvSpPr txBox="1"/>
          <p:nvPr/>
        </p:nvSpPr>
        <p:spPr>
          <a:xfrm>
            <a:off x="8339328" y="2103120"/>
            <a:ext cx="3108960" cy="731520"/>
          </a:xfrm>
          <a:prstGeom prst="rect">
            <a:avLst/>
          </a:prstGeom>
          <a:noFill/>
          <a:ln/>
        </p:spPr>
        <p:txBody>
          <a:bodyPr wrap="square" lIns="0" tIns="0" rIns="0" bIns="0" rtlCol="0" anchor="ctr"/>
          <a:lstStyle/>
          <a:p>
            <a:pPr indent="0" marL="0">
              <a:buNone/>
            </a:pPr>
            <a:r>
              <a:rPr lang="en-US" sz="3600" b="1" dirty="0">
                <a:solidFill>
                  <a:srgbClr val="243746"/>
                </a:solidFill>
                <a:latin typeface="Calibri" pitchFamily="34" charset="0"/>
                <a:ea typeface="Calibri" pitchFamily="34" charset="-122"/>
                <a:cs typeface="Calibri" pitchFamily="34" charset="-120"/>
              </a:rPr>
              <a:t>Growth unclear</a:t>
            </a:r>
            <a:endParaRPr lang="en-US" sz="3600" dirty="0"/>
          </a:p>
        </p:txBody>
      </p:sp>
      <p:sp>
        <p:nvSpPr>
          <p:cNvPr id="23" name="Text 20"/>
          <p:cNvSpPr txBox="1"/>
          <p:nvPr/>
        </p:nvSpPr>
        <p:spPr>
          <a:xfrm>
            <a:off x="8339328" y="2834640"/>
            <a:ext cx="310896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sustainability cannot be judged</a:t>
            </a:r>
            <a:endParaRPr lang="en-US" sz="1400" dirty="0"/>
          </a:p>
        </p:txBody>
      </p:sp>
      <p:sp>
        <p:nvSpPr>
          <p:cNvPr id="24" name="Text 21"/>
          <p:cNvSpPr txBox="1"/>
          <p:nvPr/>
        </p:nvSpPr>
        <p:spPr>
          <a:xfrm>
            <a:off x="8339328" y="352044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25" name="Text 22"/>
          <p:cNvSpPr txBox="1"/>
          <p:nvPr/>
        </p:nvSpPr>
        <p:spPr>
          <a:xfrm>
            <a:off x="8339328" y="3749040"/>
            <a:ext cx="3108960" cy="3200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reliable record of each quarter.</a:t>
            </a:r>
            <a:endParaRPr lang="en-US" sz="1600" dirty="0"/>
          </a:p>
        </p:txBody>
      </p:sp>
      <p:sp>
        <p:nvSpPr>
          <p:cNvPr id="26" name="Text 23"/>
          <p:cNvSpPr txBox="1"/>
          <p:nvPr/>
        </p:nvSpPr>
        <p:spPr>
          <a:xfrm>
            <a:off x="8339328" y="4160520"/>
            <a:ext cx="3017520" cy="228600"/>
          </a:xfrm>
          <a:prstGeom prst="rect">
            <a:avLst/>
          </a:prstGeom>
          <a:noFill/>
          <a:ln/>
        </p:spPr>
        <p:txBody>
          <a:bodyPr wrap="square" lIns="0" tIns="0" rIns="0" bIns="0" rtlCol="0" anchor="ctr"/>
          <a:lstStyle/>
          <a:p>
            <a:pPr indent="0" marL="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27" name="Text 24"/>
          <p:cNvSpPr txBox="1"/>
          <p:nvPr/>
        </p:nvSpPr>
        <p:spPr>
          <a:xfrm>
            <a:off x="8339328" y="4389120"/>
            <a:ext cx="310896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Whether growth will last.</a:t>
            </a:r>
            <a:endParaRPr lang="en-US" sz="1600" dirty="0"/>
          </a:p>
        </p:txBody>
      </p:sp>
      <p:sp>
        <p:nvSpPr>
          <p:cNvPr id="28" name="Bar why"/>
          <p:cNvSpPr/>
          <p:nvPr/>
        </p:nvSpPr>
        <p:spPr>
          <a:xfrm>
            <a:off x="548640" y="5212080"/>
            <a:ext cx="11091672" cy="777240"/>
          </a:xfrm>
          <a:prstGeom prst="roundRect">
            <a:avLst>
              <a:gd name="adj" fmla="val 17647"/>
            </a:avLst>
          </a:prstGeom>
          <a:solidFill>
            <a:schemeClr val="bg2"/>
          </a:solidFill>
          <a:ln w="12700">
            <a:solidFill>
              <a:schemeClr val="bg2"/>
            </a:solidFill>
            <a:prstDash val="solid"/>
          </a:ln>
        </p:spPr>
      </p:sp>
      <p:sp>
        <p:nvSpPr>
          <p:cNvPr id="29" name="Text 26"/>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Why it matters:  </a:t>
            </a:r>
            <a:pPr indent="0" marL="0">
              <a:buNone/>
            </a:pPr>
            <a:r>
              <a:rPr lang="en-US" sz="1600" dirty="0">
                <a:solidFill>
                  <a:schemeClr val="tx1"/>
                </a:solidFill>
                <a:latin typeface="Calibri" pitchFamily="34" charset="0"/>
                <a:ea typeface="Calibri" pitchFamily="34" charset="-122"/>
                <a:cs typeface="Calibri" pitchFamily="34" charset="-120"/>
              </a:rPr>
              <a:t>readers must rely on assumptions, which risks misleading conclusions.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Four recommendations to close the gap</a:t>
            </a:r>
            <a:endParaRPr lang="en-US" sz="2800" dirty="0"/>
          </a:p>
        </p:txBody>
      </p:sp>
      <p:sp>
        <p:nvSpPr>
          <p:cNvPr id="4" name="Tile 1"/>
          <p:cNvSpPr/>
          <p:nvPr/>
        </p:nvSpPr>
        <p:spPr>
          <a:xfrm>
            <a:off x="548640" y="1371600"/>
            <a:ext cx="5454396" cy="1783080"/>
          </a:xfrm>
          <a:prstGeom prst="roundRect">
            <a:avLst>
              <a:gd name="adj" fmla="val 7692"/>
            </a:avLst>
          </a:prstGeom>
          <a:solidFill>
            <a:schemeClr val="bg2"/>
          </a:solidFill>
          <a:ln w="12700">
            <a:solidFill>
              <a:schemeClr val="bg2"/>
            </a:solidFill>
            <a:prstDash val="solid"/>
          </a:ln>
        </p:spPr>
      </p:sp>
      <p:sp>
        <p:nvSpPr>
          <p:cNvPr id="5" name="Number 1"/>
          <p:cNvSpPr/>
          <p:nvPr/>
        </p:nvSpPr>
        <p:spPr>
          <a:xfrm>
            <a:off x="868680" y="164592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68680" y="16459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600200" y="1645920"/>
            <a:ext cx="4114800" cy="50292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Interactive UI</a:t>
            </a:r>
            <a:endParaRPr lang="en-US" sz="2000" dirty="0"/>
          </a:p>
        </p:txBody>
      </p:sp>
      <p:sp>
        <p:nvSpPr>
          <p:cNvPr id="8" name="Text 5"/>
          <p:cNvSpPr txBox="1"/>
          <p:nvPr/>
        </p:nvSpPr>
        <p:spPr>
          <a:xfrm>
            <a:off x="868680" y="2423160"/>
            <a:ext cx="4846320" cy="457200"/>
          </a:xfrm>
          <a:prstGeom prst="rect">
            <a:avLst/>
          </a:prstGeom>
          <a:noFill/>
          <a:ln/>
        </p:spPr>
        <p:txBody>
          <a:bodyPr wrap="square" lIns="0" tIns="0" rIns="0" bIns="0" rtlCol="0" anchor="ctr"/>
          <a:lstStyle/>
          <a:p>
            <a:pPr indent="0" marL="0">
              <a:buNone/>
            </a:pPr>
            <a:r>
              <a:rPr lang="en-US" sz="1600" dirty="0">
                <a:solidFill>
                  <a:srgbClr val="6F7271"/>
                </a:solidFill>
                <a:latin typeface="Calibri" pitchFamily="34" charset="0"/>
                <a:ea typeface="Calibri" pitchFamily="34" charset="-122"/>
                <a:cs typeface="Calibri" pitchFamily="34" charset="-120"/>
              </a:rPr>
              <a:t>Static tables  </a:t>
            </a:r>
            <a:pPr indent="0" marL="0">
              <a:buNone/>
            </a:pPr>
            <a:r>
              <a:rPr lang="en-US" sz="1600" b="1" dirty="0">
                <a:solidFill>
                  <a:schemeClr val="accent3"/>
                </a:solidFill>
                <a:latin typeface="Calibri" pitchFamily="34" charset="0"/>
                <a:ea typeface="Calibri" pitchFamily="34" charset="-122"/>
                <a:cs typeface="Calibri" pitchFamily="34" charset="-120"/>
              </a:rPr>
              <a:t>&gt;  </a:t>
            </a:r>
            <a:pPr indent="0" marL="0">
              <a:buNone/>
            </a:pPr>
            <a:r>
              <a:rPr lang="en-US" sz="1600" b="1" dirty="0">
                <a:solidFill>
                  <a:schemeClr val="tx1"/>
                </a:solidFill>
                <a:latin typeface="Calibri" pitchFamily="34" charset="0"/>
                <a:ea typeface="Calibri" pitchFamily="34" charset="-122"/>
                <a:cs typeface="Calibri" pitchFamily="34" charset="-120"/>
              </a:rPr>
              <a:t>Drill-down by level</a:t>
            </a:r>
            <a:endParaRPr lang="en-US" sz="1600" dirty="0"/>
          </a:p>
        </p:txBody>
      </p:sp>
      <p:sp>
        <p:nvSpPr>
          <p:cNvPr id="9" name="Tile 2"/>
          <p:cNvSpPr/>
          <p:nvPr/>
        </p:nvSpPr>
        <p:spPr>
          <a:xfrm>
            <a:off x="6185916" y="1371600"/>
            <a:ext cx="5454396" cy="1783080"/>
          </a:xfrm>
          <a:prstGeom prst="roundRect">
            <a:avLst>
              <a:gd name="adj" fmla="val 7692"/>
            </a:avLst>
          </a:prstGeom>
          <a:solidFill>
            <a:schemeClr val="bg2"/>
          </a:solidFill>
          <a:ln w="12700">
            <a:solidFill>
              <a:schemeClr val="bg2"/>
            </a:solidFill>
            <a:prstDash val="solid"/>
          </a:ln>
        </p:spPr>
      </p:sp>
      <p:sp>
        <p:nvSpPr>
          <p:cNvPr id="10" name="Number 2"/>
          <p:cNvSpPr/>
          <p:nvPr/>
        </p:nvSpPr>
        <p:spPr>
          <a:xfrm>
            <a:off x="6505956" y="164592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6505956" y="16459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7237476" y="1645920"/>
            <a:ext cx="4114800" cy="50292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Average transaction value</a:t>
            </a:r>
            <a:endParaRPr lang="en-US" sz="2000" dirty="0"/>
          </a:p>
        </p:txBody>
      </p:sp>
      <p:sp>
        <p:nvSpPr>
          <p:cNvPr id="13" name="Text 10"/>
          <p:cNvSpPr txBox="1"/>
          <p:nvPr/>
        </p:nvSpPr>
        <p:spPr>
          <a:xfrm>
            <a:off x="6505956" y="2423160"/>
            <a:ext cx="4846320" cy="457200"/>
          </a:xfrm>
          <a:prstGeom prst="rect">
            <a:avLst/>
          </a:prstGeom>
          <a:noFill/>
          <a:ln/>
        </p:spPr>
        <p:txBody>
          <a:bodyPr wrap="square" lIns="0" tIns="0" rIns="0" bIns="0" rtlCol="0" anchor="ctr"/>
          <a:lstStyle/>
          <a:p>
            <a:pPr indent="0" marL="0">
              <a:buNone/>
            </a:pPr>
            <a:r>
              <a:rPr lang="en-US" sz="1600" dirty="0">
                <a:solidFill>
                  <a:srgbClr val="6F7271"/>
                </a:solidFill>
                <a:latin typeface="Calibri" pitchFamily="34" charset="0"/>
                <a:ea typeface="Calibri" pitchFamily="34" charset="-122"/>
                <a:cs typeface="Calibri" pitchFamily="34" charset="-120"/>
              </a:rPr>
              <a:t>Totals only  </a:t>
            </a:r>
            <a:pPr indent="0" marL="0">
              <a:buNone/>
            </a:pPr>
            <a:r>
              <a:rPr lang="en-US" sz="1600" b="1" dirty="0">
                <a:solidFill>
                  <a:schemeClr val="accent3"/>
                </a:solidFill>
                <a:latin typeface="Calibri" pitchFamily="34" charset="0"/>
                <a:ea typeface="Calibri" pitchFamily="34" charset="-122"/>
                <a:cs typeface="Calibri" pitchFamily="34" charset="-120"/>
              </a:rPr>
              <a:t>&gt;  </a:t>
            </a:r>
            <a:pPr indent="0" marL="0">
              <a:buNone/>
            </a:pPr>
            <a:r>
              <a:rPr lang="en-US" sz="1600" b="1" dirty="0">
                <a:solidFill>
                  <a:schemeClr val="tx1"/>
                </a:solidFill>
                <a:latin typeface="Calibri" pitchFamily="34" charset="0"/>
                <a:ea typeface="Calibri" pitchFamily="34" charset="-122"/>
                <a:cs typeface="Calibri" pitchFamily="34" charset="-120"/>
              </a:rPr>
              <a:t>A standard metric</a:t>
            </a:r>
            <a:endParaRPr lang="en-US" sz="1600" dirty="0"/>
          </a:p>
        </p:txBody>
      </p:sp>
      <p:sp>
        <p:nvSpPr>
          <p:cNvPr id="14" name="Tile 3"/>
          <p:cNvSpPr/>
          <p:nvPr/>
        </p:nvSpPr>
        <p:spPr>
          <a:xfrm>
            <a:off x="548640" y="3337560"/>
            <a:ext cx="5454396" cy="1783080"/>
          </a:xfrm>
          <a:prstGeom prst="roundRect">
            <a:avLst>
              <a:gd name="adj" fmla="val 7692"/>
            </a:avLst>
          </a:prstGeom>
          <a:solidFill>
            <a:schemeClr val="bg2"/>
          </a:solidFill>
          <a:ln w="12700">
            <a:solidFill>
              <a:schemeClr val="bg2"/>
            </a:solidFill>
            <a:prstDash val="solid"/>
          </a:ln>
        </p:spPr>
      </p:sp>
      <p:sp>
        <p:nvSpPr>
          <p:cNvPr id="15" name="Number 3"/>
          <p:cNvSpPr/>
          <p:nvPr/>
        </p:nvSpPr>
        <p:spPr>
          <a:xfrm>
            <a:off x="868680" y="361188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68680" y="36118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600200" y="3611880"/>
            <a:ext cx="4114800" cy="50292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Mode and median</a:t>
            </a:r>
            <a:endParaRPr lang="en-US" sz="2000" dirty="0"/>
          </a:p>
        </p:txBody>
      </p:sp>
      <p:sp>
        <p:nvSpPr>
          <p:cNvPr id="18" name="Text 15"/>
          <p:cNvSpPr txBox="1"/>
          <p:nvPr/>
        </p:nvSpPr>
        <p:spPr>
          <a:xfrm>
            <a:off x="868680" y="4389120"/>
            <a:ext cx="4846320" cy="457200"/>
          </a:xfrm>
          <a:prstGeom prst="rect">
            <a:avLst/>
          </a:prstGeom>
          <a:noFill/>
          <a:ln/>
        </p:spPr>
        <p:txBody>
          <a:bodyPr wrap="square" lIns="0" tIns="0" rIns="0" bIns="0" rtlCol="0" anchor="ctr"/>
          <a:lstStyle/>
          <a:p>
            <a:pPr indent="0" marL="0">
              <a:buNone/>
            </a:pPr>
            <a:r>
              <a:rPr lang="en-US" sz="1600" dirty="0">
                <a:solidFill>
                  <a:srgbClr val="6F7271"/>
                </a:solidFill>
                <a:latin typeface="Calibri" pitchFamily="34" charset="0"/>
                <a:ea typeface="Calibri" pitchFamily="34" charset="-122"/>
                <a:cs typeface="Calibri" pitchFamily="34" charset="-120"/>
              </a:rPr>
              <a:t>Average only  </a:t>
            </a:r>
            <a:pPr indent="0" marL="0">
              <a:buNone/>
            </a:pPr>
            <a:r>
              <a:rPr lang="en-US" sz="1600" b="1" dirty="0">
                <a:solidFill>
                  <a:schemeClr val="accent3"/>
                </a:solidFill>
                <a:latin typeface="Calibri" pitchFamily="34" charset="0"/>
                <a:ea typeface="Calibri" pitchFamily="34" charset="-122"/>
                <a:cs typeface="Calibri" pitchFamily="34" charset="-120"/>
              </a:rPr>
              <a:t>&gt;  </a:t>
            </a:r>
            <a:pPr indent="0" marL="0">
              <a:buNone/>
            </a:pPr>
            <a:r>
              <a:rPr lang="en-US" sz="1600" b="1" dirty="0">
                <a:solidFill>
                  <a:schemeClr val="tx1"/>
                </a:solidFill>
                <a:latin typeface="Calibri" pitchFamily="34" charset="0"/>
                <a:ea typeface="Calibri" pitchFamily="34" charset="-122"/>
                <a:cs typeface="Calibri" pitchFamily="34" charset="-120"/>
              </a:rPr>
              <a:t>Distribution by value range</a:t>
            </a:r>
            <a:endParaRPr lang="en-US" sz="1600" dirty="0"/>
          </a:p>
        </p:txBody>
      </p:sp>
      <p:sp>
        <p:nvSpPr>
          <p:cNvPr id="19" name="Tile 4"/>
          <p:cNvSpPr/>
          <p:nvPr/>
        </p:nvSpPr>
        <p:spPr>
          <a:xfrm>
            <a:off x="6185916" y="3337560"/>
            <a:ext cx="5454396" cy="1783080"/>
          </a:xfrm>
          <a:prstGeom prst="roundRect">
            <a:avLst>
              <a:gd name="adj" fmla="val 7692"/>
            </a:avLst>
          </a:prstGeom>
          <a:solidFill>
            <a:schemeClr val="bg2"/>
          </a:solidFill>
          <a:ln w="12700">
            <a:solidFill>
              <a:schemeClr val="bg2"/>
            </a:solidFill>
            <a:prstDash val="solid"/>
          </a:ln>
        </p:spPr>
      </p:sp>
      <p:sp>
        <p:nvSpPr>
          <p:cNvPr id="20" name="Number 4"/>
          <p:cNvSpPr/>
          <p:nvPr/>
        </p:nvSpPr>
        <p:spPr>
          <a:xfrm>
            <a:off x="6505956" y="3611880"/>
            <a:ext cx="502920" cy="502920"/>
          </a:xfrm>
          <a:prstGeom prst="ellipse">
            <a:avLst/>
          </a:prstGeom>
          <a:solidFill>
            <a:schemeClr val="accent2"/>
          </a:solidFill>
          <a:ln w="12700">
            <a:solidFill>
              <a:schemeClr val="accent2"/>
            </a:solidFill>
            <a:prstDash val="solid"/>
          </a:ln>
        </p:spPr>
      </p:sp>
      <p:sp>
        <p:nvSpPr>
          <p:cNvPr id="21" name="Text 18"/>
          <p:cNvSpPr txBox="1"/>
          <p:nvPr/>
        </p:nvSpPr>
        <p:spPr>
          <a:xfrm>
            <a:off x="6505956" y="36118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22" name="Text 19"/>
          <p:cNvSpPr txBox="1"/>
          <p:nvPr/>
        </p:nvSpPr>
        <p:spPr>
          <a:xfrm>
            <a:off x="7237476" y="3611880"/>
            <a:ext cx="4114800" cy="50292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Averages per system</a:t>
            </a:r>
            <a:endParaRPr lang="en-US" sz="2000" dirty="0"/>
          </a:p>
        </p:txBody>
      </p:sp>
      <p:sp>
        <p:nvSpPr>
          <p:cNvPr id="23" name="Text 20"/>
          <p:cNvSpPr txBox="1"/>
          <p:nvPr/>
        </p:nvSpPr>
        <p:spPr>
          <a:xfrm>
            <a:off x="6505956" y="4389120"/>
            <a:ext cx="4846320" cy="457200"/>
          </a:xfrm>
          <a:prstGeom prst="rect">
            <a:avLst/>
          </a:prstGeom>
          <a:noFill/>
          <a:ln/>
        </p:spPr>
        <p:txBody>
          <a:bodyPr wrap="square" lIns="0" tIns="0" rIns="0" bIns="0" rtlCol="0" anchor="ctr"/>
          <a:lstStyle/>
          <a:p>
            <a:pPr indent="0" marL="0">
              <a:buNone/>
            </a:pPr>
            <a:r>
              <a:rPr lang="en-US" sz="1600" dirty="0">
                <a:solidFill>
                  <a:srgbClr val="6F7271"/>
                </a:solidFill>
                <a:latin typeface="Calibri" pitchFamily="34" charset="0"/>
                <a:ea typeface="Calibri" pitchFamily="34" charset="-122"/>
                <a:cs typeface="Calibri" pitchFamily="34" charset="-120"/>
              </a:rPr>
              <a:t>One combined figure  </a:t>
            </a:r>
            <a:pPr indent="0" marL="0">
              <a:buNone/>
            </a:pPr>
            <a:r>
              <a:rPr lang="en-US" sz="1600" b="1" dirty="0">
                <a:solidFill>
                  <a:schemeClr val="accent3"/>
                </a:solidFill>
                <a:latin typeface="Calibri" pitchFamily="34" charset="0"/>
                <a:ea typeface="Calibri" pitchFamily="34" charset="-122"/>
                <a:cs typeface="Calibri" pitchFamily="34" charset="-120"/>
              </a:rPr>
              <a:t>&gt;  </a:t>
            </a:r>
            <a:pPr indent="0" marL="0">
              <a:buNone/>
            </a:pPr>
            <a:r>
              <a:rPr lang="en-US" sz="1600" b="1" dirty="0">
                <a:solidFill>
                  <a:schemeClr val="tx1"/>
                </a:solidFill>
                <a:latin typeface="Calibri" pitchFamily="34" charset="0"/>
                <a:ea typeface="Calibri" pitchFamily="34" charset="-122"/>
                <a:cs typeface="Calibri" pitchFamily="34" charset="-120"/>
              </a:rPr>
              <a:t>Each system reported</a:t>
            </a:r>
            <a:endParaRPr lang="en-US" sz="1600" dirty="0"/>
          </a:p>
        </p:txBody>
      </p:sp>
      <p:sp>
        <p:nvSpPr>
          <p:cNvPr id="24" name="Bar data"/>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5" name="Text 22"/>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Only existing data:  </a:t>
            </a:r>
            <a:pPr indent="0" marL="0">
              <a:buNone/>
            </a:pPr>
            <a:r>
              <a:rPr lang="en-US" sz="1600" dirty="0">
                <a:solidFill>
                  <a:schemeClr val="tx1"/>
                </a:solidFill>
                <a:latin typeface="Calibri" pitchFamily="34" charset="0"/>
                <a:ea typeface="Calibri" pitchFamily="34" charset="-122"/>
                <a:cs typeface="Calibri" pitchFamily="34" charset="-120"/>
              </a:rPr>
              <a:t>every recommendation uses figures already in JoPACC's dataset.</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One shared hierarchy to organise IPS reporting</a:t>
            </a:r>
            <a:endParaRPr lang="en-US" sz="2800" dirty="0"/>
          </a:p>
        </p:txBody>
      </p:sp>
      <p:sp>
        <p:nvSpPr>
          <p:cNvPr id="4" name="Step card 1"/>
          <p:cNvSpPr/>
          <p:nvPr/>
        </p:nvSpPr>
        <p:spPr>
          <a:xfrm>
            <a:off x="548640" y="1371600"/>
            <a:ext cx="4846320" cy="1097280"/>
          </a:xfrm>
          <a:prstGeom prst="roundRect">
            <a:avLst>
              <a:gd name="adj" fmla="val 12500"/>
            </a:avLst>
          </a:prstGeom>
          <a:solidFill>
            <a:schemeClr val="bg2"/>
          </a:solidFill>
          <a:ln w="12700">
            <a:solidFill>
              <a:schemeClr val="bg2"/>
            </a:solidFill>
            <a:prstDash val="solid"/>
          </a:ln>
        </p:spPr>
      </p:sp>
      <p:sp>
        <p:nvSpPr>
          <p:cNvPr id="5" name="Step number 1"/>
          <p:cNvSpPr/>
          <p:nvPr/>
        </p:nvSpPr>
        <p:spPr>
          <a:xfrm>
            <a:off x="822960" y="1673352"/>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22960" y="167335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554480" y="1536192"/>
            <a:ext cx="36576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Entities and individuals</a:t>
            </a:r>
            <a:endParaRPr lang="en-US" sz="1800" dirty="0"/>
          </a:p>
        </p:txBody>
      </p:sp>
      <p:sp>
        <p:nvSpPr>
          <p:cNvPr id="8" name="Text 5"/>
          <p:cNvSpPr txBox="1"/>
          <p:nvPr/>
        </p:nvSpPr>
        <p:spPr>
          <a:xfrm>
            <a:off x="1554480" y="1938528"/>
            <a:ext cx="3657600" cy="365760"/>
          </a:xfrm>
          <a:prstGeom prst="rect">
            <a:avLst/>
          </a:prstGeom>
          <a:noFill/>
          <a:ln/>
        </p:spPr>
        <p:txBody>
          <a:bodyPr wrap="square" lIns="0" tIns="0" rIns="0" bIns="0" rtlCol="0" anchor="t"/>
          <a:lstStyle/>
          <a:p>
            <a:pPr indent="0" marL="0">
              <a:buNone/>
            </a:pPr>
            <a:r>
              <a:rPr lang="en-US" sz="1400" dirty="0">
                <a:solidFill>
                  <a:srgbClr val="6F7271"/>
                </a:solidFill>
                <a:latin typeface="Calibri" pitchFamily="34" charset="0"/>
                <a:ea typeface="Calibri" pitchFamily="34" charset="-122"/>
                <a:cs typeface="Calibri" pitchFamily="34" charset="-120"/>
              </a:rPr>
              <a:t>Entities: business, merchant, government, agent</a:t>
            </a:r>
            <a:endParaRPr lang="en-US" sz="1400" dirty="0"/>
          </a:p>
        </p:txBody>
      </p:sp>
      <p:sp>
        <p:nvSpPr>
          <p:cNvPr id="9" name="Step card 2"/>
          <p:cNvSpPr/>
          <p:nvPr/>
        </p:nvSpPr>
        <p:spPr>
          <a:xfrm>
            <a:off x="548640" y="2651760"/>
            <a:ext cx="4846320" cy="1097280"/>
          </a:xfrm>
          <a:prstGeom prst="roundRect">
            <a:avLst>
              <a:gd name="adj" fmla="val 12500"/>
            </a:avLst>
          </a:prstGeom>
          <a:solidFill>
            <a:schemeClr val="bg2"/>
          </a:solidFill>
          <a:ln w="12700">
            <a:solidFill>
              <a:schemeClr val="bg2"/>
            </a:solidFill>
            <a:prstDash val="solid"/>
          </a:ln>
        </p:spPr>
      </p:sp>
      <p:sp>
        <p:nvSpPr>
          <p:cNvPr id="10" name="Step number 2"/>
          <p:cNvSpPr/>
          <p:nvPr/>
        </p:nvSpPr>
        <p:spPr>
          <a:xfrm>
            <a:off x="822960" y="2953512"/>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822960" y="295351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1554480" y="2816352"/>
            <a:ext cx="36576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Individuals by nationality</a:t>
            </a:r>
            <a:endParaRPr lang="en-US" sz="1800" dirty="0"/>
          </a:p>
        </p:txBody>
      </p:sp>
      <p:sp>
        <p:nvSpPr>
          <p:cNvPr id="13" name="Text 10"/>
          <p:cNvSpPr txBox="1"/>
          <p:nvPr/>
        </p:nvSpPr>
        <p:spPr>
          <a:xfrm>
            <a:off x="1554480" y="3218688"/>
            <a:ext cx="3657600" cy="365760"/>
          </a:xfrm>
          <a:prstGeom prst="rect">
            <a:avLst/>
          </a:prstGeom>
          <a:noFill/>
          <a:ln/>
        </p:spPr>
        <p:txBody>
          <a:bodyPr wrap="square" lIns="0" tIns="0" rIns="0" bIns="0" rtlCol="0" anchor="t"/>
          <a:lstStyle/>
          <a:p>
            <a:pPr indent="0" marL="0">
              <a:buNone/>
            </a:pPr>
            <a:r>
              <a:rPr lang="en-US" sz="1400" dirty="0">
                <a:solidFill>
                  <a:srgbClr val="6F7271"/>
                </a:solidFill>
                <a:latin typeface="Calibri" pitchFamily="34" charset="0"/>
                <a:ea typeface="Calibri" pitchFamily="34" charset="-122"/>
                <a:cs typeface="Calibri" pitchFamily="34" charset="-120"/>
              </a:rPr>
              <a:t>Jordanian and non-Jordanian</a:t>
            </a:r>
            <a:endParaRPr lang="en-US" sz="1400" dirty="0"/>
          </a:p>
        </p:txBody>
      </p:sp>
      <p:sp>
        <p:nvSpPr>
          <p:cNvPr id="14" name="Step card 3"/>
          <p:cNvSpPr/>
          <p:nvPr/>
        </p:nvSpPr>
        <p:spPr>
          <a:xfrm>
            <a:off x="548640" y="3931920"/>
            <a:ext cx="4846320" cy="1097280"/>
          </a:xfrm>
          <a:prstGeom prst="roundRect">
            <a:avLst>
              <a:gd name="adj" fmla="val 12500"/>
            </a:avLst>
          </a:prstGeom>
          <a:solidFill>
            <a:schemeClr val="bg2"/>
          </a:solidFill>
          <a:ln w="12700">
            <a:solidFill>
              <a:schemeClr val="bg2"/>
            </a:solidFill>
            <a:prstDash val="solid"/>
          </a:ln>
        </p:spPr>
      </p:sp>
      <p:sp>
        <p:nvSpPr>
          <p:cNvPr id="15" name="Step number 3"/>
          <p:cNvSpPr/>
          <p:nvPr/>
        </p:nvSpPr>
        <p:spPr>
          <a:xfrm>
            <a:off x="822960" y="4233672"/>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22960" y="423367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554480" y="4096512"/>
            <a:ext cx="3657600"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Age group, then gender</a:t>
            </a:r>
            <a:endParaRPr lang="en-US" sz="1800" dirty="0"/>
          </a:p>
        </p:txBody>
      </p:sp>
      <p:sp>
        <p:nvSpPr>
          <p:cNvPr id="18" name="Text 15"/>
          <p:cNvSpPr txBox="1"/>
          <p:nvPr/>
        </p:nvSpPr>
        <p:spPr>
          <a:xfrm>
            <a:off x="1554480" y="4498848"/>
            <a:ext cx="3657600" cy="365760"/>
          </a:xfrm>
          <a:prstGeom prst="rect">
            <a:avLst/>
          </a:prstGeom>
          <a:noFill/>
          <a:ln/>
        </p:spPr>
        <p:txBody>
          <a:bodyPr wrap="square" lIns="0" tIns="0" rIns="0" bIns="0" rtlCol="0" anchor="t"/>
          <a:lstStyle/>
          <a:p>
            <a:pPr indent="0" marL="0">
              <a:buNone/>
            </a:pPr>
            <a:r>
              <a:rPr lang="en-US" sz="1400" dirty="0">
                <a:solidFill>
                  <a:srgbClr val="6F7271"/>
                </a:solidFill>
                <a:latin typeface="Calibri" pitchFamily="34" charset="0"/>
                <a:ea typeface="Calibri" pitchFamily="34" charset="-122"/>
                <a:cs typeface="Calibri" pitchFamily="34" charset="-120"/>
              </a:rPr>
              <a:t>The most detailed level of the breakdown</a:t>
            </a:r>
            <a:endParaRPr lang="en-US" sz="1400" dirty="0"/>
          </a:p>
        </p:txBody>
      </p:sp>
      <p:sp>
        <p:nvSpPr>
          <p:cNvPr id="19" name="Image frame"/>
          <p:cNvSpPr/>
          <p:nvPr/>
        </p:nvSpPr>
        <p:spPr>
          <a:xfrm>
            <a:off x="5669280" y="1371600"/>
            <a:ext cx="5971032" cy="3657600"/>
          </a:xfrm>
          <a:prstGeom prst="roundRect">
            <a:avLst>
              <a:gd name="adj" fmla="val 3750"/>
            </a:avLst>
          </a:prstGeom>
          <a:solidFill>
            <a:srgbClr val="141414"/>
          </a:solidFill>
          <a:ln w="12700">
            <a:solidFill>
              <a:srgbClr val="141414"/>
            </a:solidFill>
            <a:prstDash val="solid"/>
          </a:ln>
        </p:spPr>
      </p:sp>
      <p:pic>
        <p:nvPicPr>
          <p:cNvPr id="20" name="Image 0" descr="Hierarchy: System splits into Entity (business, merchant, government, agent) and Individual (Jordanian or non-Jordanian, then age groups, then gender)">    </p:cNvPr>
          <p:cNvPicPr>
            <a:picLocks noChangeAspect="1"/>
          </p:cNvPicPr>
          <p:nvPr/>
        </p:nvPicPr>
        <p:blipFill>
          <a:blip r:embed="rId1"/>
          <a:stretch>
            <a:fillRect/>
          </a:stretch>
        </p:blipFill>
        <p:spPr>
          <a:xfrm>
            <a:off x="5788152" y="1481328"/>
            <a:ext cx="5733288" cy="3419856"/>
          </a:xfrm>
          <a:prstGeom prst="rect">
            <a:avLst/>
          </a:prstGeom>
        </p:spPr>
      </p:pic>
      <p:sp>
        <p:nvSpPr>
          <p:cNvPr id="21" name="Bar IPS"/>
          <p:cNvSpPr/>
          <p:nvPr/>
        </p:nvSpPr>
        <p:spPr>
          <a:xfrm>
            <a:off x="548640" y="5303520"/>
            <a:ext cx="11091672" cy="731520"/>
          </a:xfrm>
          <a:prstGeom prst="roundRect">
            <a:avLst>
              <a:gd name="adj" fmla="val 18750"/>
            </a:avLst>
          </a:prstGeom>
          <a:solidFill>
            <a:schemeClr val="bg2"/>
          </a:solidFill>
          <a:ln w="12700">
            <a:solidFill>
              <a:schemeClr val="bg2"/>
            </a:solidFill>
            <a:prstDash val="solid"/>
          </a:ln>
        </p:spPr>
      </p:sp>
      <p:sp>
        <p:nvSpPr>
          <p:cNvPr id="22" name="Text 18"/>
          <p:cNvSpPr txBox="1"/>
          <p:nvPr/>
        </p:nvSpPr>
        <p:spPr>
          <a:xfrm>
            <a:off x="822960" y="5303520"/>
            <a:ext cx="1051560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Applied to the IPS:  </a:t>
            </a:r>
            <a:pPr indent="0" marL="0">
              <a:buNone/>
            </a:pPr>
            <a:r>
              <a:rPr lang="en-US" sz="1600" dirty="0">
                <a:solidFill>
                  <a:schemeClr val="tx1"/>
                </a:solidFill>
                <a:latin typeface="Calibri" pitchFamily="34" charset="0"/>
                <a:ea typeface="Calibri" pitchFamily="34" charset="-122"/>
                <a:cs typeface="Calibri" pitchFamily="34" charset="-120"/>
              </a:rPr>
              <a:t>CliQ and JoMoPay figures combined under one shared structure.</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Every level reports the same three measures</a:t>
            </a:r>
            <a:endParaRPr lang="en-US" sz="2800" dirty="0"/>
          </a:p>
        </p:txBody>
      </p:sp>
      <p:sp>
        <p:nvSpPr>
          <p:cNvPr id="4" name="Measure Users"/>
          <p:cNvSpPr/>
          <p:nvPr/>
        </p:nvSpPr>
        <p:spPr>
          <a:xfrm>
            <a:off x="548640" y="1371600"/>
            <a:ext cx="3575304" cy="1417320"/>
          </a:xfrm>
          <a:prstGeom prst="roundRect">
            <a:avLst>
              <a:gd name="adj" fmla="val 9677"/>
            </a:avLst>
          </a:prstGeom>
          <a:solidFill>
            <a:schemeClr val="bg2"/>
          </a:solidFill>
          <a:ln w="12700">
            <a:solidFill>
              <a:schemeClr val="bg2"/>
            </a:solidFill>
            <a:prstDash val="solid"/>
          </a:ln>
        </p:spPr>
      </p:sp>
      <p:sp>
        <p:nvSpPr>
          <p:cNvPr id="5" name="Text 2"/>
          <p:cNvSpPr txBox="1"/>
          <p:nvPr/>
        </p:nvSpPr>
        <p:spPr>
          <a:xfrm>
            <a:off x="548640" y="1508760"/>
            <a:ext cx="3575304" cy="640080"/>
          </a:xfrm>
          <a:prstGeom prst="rect">
            <a:avLst/>
          </a:prstGeom>
          <a:noFill/>
          <a:ln/>
        </p:spPr>
        <p:txBody>
          <a:bodyPr wrap="square" lIns="0" tIns="0" rIns="0" bIns="0" rtlCol="0" anchor="ctr"/>
          <a:lstStyle/>
          <a:p>
            <a:pPr algn="ctr" indent="0" marL="0">
              <a:buNone/>
            </a:pPr>
            <a:r>
              <a:rPr lang="en-US" sz="3400" b="1" dirty="0">
                <a:solidFill>
                  <a:schemeClr val="tx1"/>
                </a:solidFill>
                <a:latin typeface="Calibri" pitchFamily="34" charset="0"/>
                <a:ea typeface="Calibri" pitchFamily="34" charset="-122"/>
                <a:cs typeface="Calibri" pitchFamily="34" charset="-120"/>
              </a:rPr>
              <a:t>Users</a:t>
            </a:r>
            <a:endParaRPr lang="en-US" sz="34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number of users</a:t>
            </a:r>
            <a:endParaRPr lang="en-US" sz="1400" dirty="0"/>
          </a:p>
        </p:txBody>
      </p:sp>
      <p:sp>
        <p:nvSpPr>
          <p:cNvPr id="7" name="Measure Transactions"/>
          <p:cNvSpPr/>
          <p:nvPr/>
        </p:nvSpPr>
        <p:spPr>
          <a:xfrm>
            <a:off x="4306824" y="1371600"/>
            <a:ext cx="3575304" cy="1417320"/>
          </a:xfrm>
          <a:prstGeom prst="roundRect">
            <a:avLst>
              <a:gd name="adj" fmla="val 9677"/>
            </a:avLst>
          </a:prstGeom>
          <a:solidFill>
            <a:schemeClr val="bg2"/>
          </a:solidFill>
          <a:ln w="12700">
            <a:solidFill>
              <a:schemeClr val="bg2"/>
            </a:solidFill>
            <a:prstDash val="solid"/>
          </a:ln>
        </p:spPr>
      </p:sp>
      <p:sp>
        <p:nvSpPr>
          <p:cNvPr id="8" name="Text 5"/>
          <p:cNvSpPr txBox="1"/>
          <p:nvPr/>
        </p:nvSpPr>
        <p:spPr>
          <a:xfrm>
            <a:off x="4306824" y="1508760"/>
            <a:ext cx="3575304" cy="640080"/>
          </a:xfrm>
          <a:prstGeom prst="rect">
            <a:avLst/>
          </a:prstGeom>
          <a:noFill/>
          <a:ln/>
        </p:spPr>
        <p:txBody>
          <a:bodyPr wrap="square" lIns="0" tIns="0" rIns="0" bIns="0" rtlCol="0" anchor="ctr"/>
          <a:lstStyle/>
          <a:p>
            <a:pPr algn="ctr" indent="0" marL="0">
              <a:buNone/>
            </a:pPr>
            <a:r>
              <a:rPr lang="en-US" sz="3400" b="1" dirty="0">
                <a:solidFill>
                  <a:schemeClr val="tx1"/>
                </a:solidFill>
                <a:latin typeface="Calibri" pitchFamily="34" charset="0"/>
                <a:ea typeface="Calibri" pitchFamily="34" charset="-122"/>
                <a:cs typeface="Calibri" pitchFamily="34" charset="-120"/>
              </a:rPr>
              <a:t>Transactions</a:t>
            </a:r>
            <a:endParaRPr lang="en-US" sz="34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number of transactions</a:t>
            </a:r>
            <a:endParaRPr lang="en-US" sz="1400" dirty="0"/>
          </a:p>
        </p:txBody>
      </p:sp>
      <p:sp>
        <p:nvSpPr>
          <p:cNvPr id="10" name="Measure Value"/>
          <p:cNvSpPr/>
          <p:nvPr/>
        </p:nvSpPr>
        <p:spPr>
          <a:xfrm>
            <a:off x="8065008" y="1371600"/>
            <a:ext cx="3575304" cy="1417320"/>
          </a:xfrm>
          <a:prstGeom prst="roundRect">
            <a:avLst>
              <a:gd name="adj" fmla="val 9677"/>
            </a:avLst>
          </a:prstGeom>
          <a:solidFill>
            <a:schemeClr val="bg2"/>
          </a:solidFill>
          <a:ln w="12700">
            <a:solidFill>
              <a:schemeClr val="bg2"/>
            </a:solidFill>
            <a:prstDash val="solid"/>
          </a:ln>
        </p:spPr>
      </p:sp>
      <p:sp>
        <p:nvSpPr>
          <p:cNvPr id="11" name="Text 8"/>
          <p:cNvSpPr txBox="1"/>
          <p:nvPr/>
        </p:nvSpPr>
        <p:spPr>
          <a:xfrm>
            <a:off x="8065008" y="1508760"/>
            <a:ext cx="3575304" cy="640080"/>
          </a:xfrm>
          <a:prstGeom prst="rect">
            <a:avLst/>
          </a:prstGeom>
          <a:noFill/>
          <a:ln/>
        </p:spPr>
        <p:txBody>
          <a:bodyPr wrap="square" lIns="0" tIns="0" rIns="0" bIns="0" rtlCol="0" anchor="ctr"/>
          <a:lstStyle/>
          <a:p>
            <a:pPr algn="ctr" indent="0" marL="0">
              <a:buNone/>
            </a:pPr>
            <a:r>
              <a:rPr lang="en-US" sz="3400" b="1" dirty="0">
                <a:solidFill>
                  <a:schemeClr val="tx1"/>
                </a:solidFill>
                <a:latin typeface="Calibri" pitchFamily="34" charset="0"/>
                <a:ea typeface="Calibri" pitchFamily="34" charset="-122"/>
                <a:cs typeface="Calibri" pitchFamily="34" charset="-120"/>
              </a:rPr>
              <a:t>Value</a:t>
            </a:r>
            <a:endParaRPr lang="en-US" sz="34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transaction value (JOD)</a:t>
            </a:r>
            <a:endParaRPr lang="en-US" sz="1400" dirty="0"/>
          </a:p>
        </p:txBody>
      </p:sp>
      <p:sp>
        <p:nvSpPr>
          <p:cNvPr id="13" name="Info Drill down"/>
          <p:cNvSpPr/>
          <p:nvPr/>
        </p:nvSpPr>
        <p:spPr>
          <a:xfrm>
            <a:off x="548640" y="3017520"/>
            <a:ext cx="5454396" cy="2103120"/>
          </a:xfrm>
          <a:prstGeom prst="roundRect">
            <a:avLst>
              <a:gd name="adj" fmla="val 6522"/>
            </a:avLst>
          </a:prstGeom>
          <a:solidFill>
            <a:schemeClr val="bg2"/>
          </a:solidFill>
          <a:ln w="12700">
            <a:solidFill>
              <a:schemeClr val="bg2"/>
            </a:solidFill>
            <a:prstDash val="solid"/>
          </a:ln>
        </p:spPr>
      </p:sp>
      <p:sp>
        <p:nvSpPr>
          <p:cNvPr id="14" name="Text 11"/>
          <p:cNvSpPr txBox="1"/>
          <p:nvPr/>
        </p:nvSpPr>
        <p:spPr>
          <a:xfrm>
            <a:off x="868680" y="3200400"/>
            <a:ext cx="4754880" cy="41148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Drill down</a:t>
            </a:r>
            <a:endParaRPr lang="en-US" sz="1800" dirty="0"/>
          </a:p>
        </p:txBody>
      </p:sp>
      <p:sp>
        <p:nvSpPr>
          <p:cNvPr id="15" name="Text 12"/>
          <p:cNvSpPr txBox="1"/>
          <p:nvPr/>
        </p:nvSpPr>
        <p:spPr>
          <a:xfrm>
            <a:off x="868680" y="3703320"/>
            <a:ext cx="484632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Readers move from the system total to the most detailed breakdown, at the level they need.</a:t>
            </a:r>
            <a:endParaRPr lang="en-US" sz="1800" dirty="0"/>
          </a:p>
        </p:txBody>
      </p:sp>
      <p:sp>
        <p:nvSpPr>
          <p:cNvPr id="16" name="Info Protect confidentiality"/>
          <p:cNvSpPr/>
          <p:nvPr/>
        </p:nvSpPr>
        <p:spPr>
          <a:xfrm>
            <a:off x="6185916" y="3017520"/>
            <a:ext cx="5454396" cy="2103120"/>
          </a:xfrm>
          <a:prstGeom prst="roundRect">
            <a:avLst>
              <a:gd name="adj" fmla="val 6522"/>
            </a:avLst>
          </a:prstGeom>
          <a:solidFill>
            <a:schemeClr val="bg2"/>
          </a:solidFill>
          <a:ln w="12700">
            <a:solidFill>
              <a:schemeClr val="bg2"/>
            </a:solidFill>
            <a:prstDash val="solid"/>
          </a:ln>
        </p:spPr>
      </p:sp>
      <p:sp>
        <p:nvSpPr>
          <p:cNvPr id="17" name="Text 14"/>
          <p:cNvSpPr txBox="1"/>
          <p:nvPr/>
        </p:nvSpPr>
        <p:spPr>
          <a:xfrm>
            <a:off x="6505956" y="3200400"/>
            <a:ext cx="4754880" cy="41148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Protect confidentiality</a:t>
            </a:r>
            <a:endParaRPr lang="en-US" sz="1800" dirty="0"/>
          </a:p>
        </p:txBody>
      </p:sp>
      <p:sp>
        <p:nvSpPr>
          <p:cNvPr id="18" name="Text 15"/>
          <p:cNvSpPr txBox="1"/>
          <p:nvPr/>
        </p:nvSpPr>
        <p:spPr>
          <a:xfrm>
            <a:off x="6505956" y="3703320"/>
            <a:ext cx="484632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Categories with very small counts are grouped together.</a:t>
            </a:r>
            <a:endParaRPr lang="en-US" sz="1800" dirty="0"/>
          </a:p>
        </p:txBody>
      </p:sp>
      <p:sp>
        <p:nvSpPr>
          <p:cNvPr id="19" name="Bar structure"/>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0" name="Text 17"/>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Why it matters:  </a:t>
            </a:r>
            <a:pPr indent="0" marL="0">
              <a:buNone/>
            </a:pPr>
            <a:r>
              <a:rPr lang="en-US" sz="1600" dirty="0">
                <a:solidFill>
                  <a:schemeClr val="tx1"/>
                </a:solidFill>
                <a:latin typeface="Calibri" pitchFamily="34" charset="0"/>
                <a:ea typeface="Calibri" pitchFamily="34" charset="-122"/>
                <a:cs typeface="Calibri" pitchFamily="34" charset="-120"/>
              </a:rPr>
              <a:t>one structure, one set of measures, from system total to detail.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Why the interactive view comes first</a:t>
            </a:r>
            <a:endParaRPr lang="en-US" sz="2800" dirty="0"/>
          </a:p>
        </p:txBody>
      </p:sp>
      <p:sp>
        <p:nvSpPr>
          <p:cNvPr id="4" name="Dark card"/>
          <p:cNvSpPr/>
          <p:nvPr/>
        </p:nvSpPr>
        <p:spPr>
          <a:xfrm>
            <a:off x="548640" y="1371600"/>
            <a:ext cx="4023360" cy="4480560"/>
          </a:xfrm>
          <a:prstGeom prst="roundRect">
            <a:avLst>
              <a:gd name="adj" fmla="val 3409"/>
            </a:avLst>
          </a:prstGeom>
          <a:solidFill>
            <a:srgbClr val="243746"/>
          </a:solidFill>
          <a:ln w="12700">
            <a:solidFill>
              <a:srgbClr val="243746"/>
            </a:solidFill>
            <a:prstDash val="solid"/>
          </a:ln>
        </p:spPr>
      </p:sp>
      <p:sp>
        <p:nvSpPr>
          <p:cNvPr id="5" name="Text 2"/>
          <p:cNvSpPr txBox="1"/>
          <p:nvPr/>
        </p:nvSpPr>
        <p:spPr>
          <a:xfrm>
            <a:off x="868680" y="1920240"/>
            <a:ext cx="3383280" cy="731520"/>
          </a:xfrm>
          <a:prstGeom prst="rect">
            <a:avLst/>
          </a:prstGeom>
          <a:noFill/>
          <a:ln/>
        </p:spPr>
        <p:txBody>
          <a:bodyPr wrap="square" lIns="0" tIns="0" rIns="0" bIns="0" rtlCol="0" anchor="ctr"/>
          <a:lstStyle/>
          <a:p>
            <a:pPr indent="0" marL="0">
              <a:buNone/>
            </a:pPr>
            <a:r>
              <a:rPr lang="en-US" sz="3400" b="1" dirty="0">
                <a:solidFill>
                  <a:schemeClr val="accent2"/>
                </a:solidFill>
                <a:latin typeface="Calibri" pitchFamily="34" charset="0"/>
                <a:ea typeface="Calibri" pitchFamily="34" charset="-122"/>
                <a:cs typeface="Calibri" pitchFamily="34" charset="-120"/>
              </a:rPr>
              <a:t>Build on it</a:t>
            </a:r>
            <a:endParaRPr lang="en-US" sz="3400" dirty="0"/>
          </a:p>
        </p:txBody>
      </p:sp>
      <p:sp>
        <p:nvSpPr>
          <p:cNvPr id="6" name="Text 3"/>
          <p:cNvSpPr txBox="1"/>
          <p:nvPr/>
        </p:nvSpPr>
        <p:spPr>
          <a:xfrm>
            <a:off x="868680" y="2834640"/>
            <a:ext cx="3383280" cy="12801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The other recommendations can work without an interactive interface.</a:t>
            </a:r>
            <a:endParaRPr lang="en-US" sz="1800" dirty="0"/>
          </a:p>
        </p:txBody>
      </p:sp>
      <p:sp>
        <p:nvSpPr>
          <p:cNvPr id="7" name="Text 4"/>
          <p:cNvSpPr txBox="1"/>
          <p:nvPr/>
        </p:nvSpPr>
        <p:spPr>
          <a:xfrm>
            <a:off x="868680" y="4297680"/>
            <a:ext cx="3383280" cy="914400"/>
          </a:xfrm>
          <a:prstGeom prst="rect">
            <a:avLst/>
          </a:prstGeom>
          <a:noFill/>
          <a:ln/>
        </p:spPr>
        <p:txBody>
          <a:bodyPr wrap="square" lIns="0" tIns="0" rIns="0" bIns="0" rtlCol="0" anchor="t"/>
          <a:lstStyle/>
          <a:p>
            <a:pPr indent="0" marL="0">
              <a:buNone/>
            </a:pPr>
            <a:r>
              <a:rPr lang="en-US" sz="1600" dirty="0">
                <a:solidFill>
                  <a:srgbClr val="9EA1A2"/>
                </a:solidFill>
                <a:latin typeface="Calibri" pitchFamily="34" charset="0"/>
                <a:ea typeface="Calibri" pitchFamily="34" charset="-122"/>
                <a:cs typeface="Calibri" pitchFamily="34" charset="-120"/>
              </a:rPr>
              <a:t>Interactivity extends what the reports offer.</a:t>
            </a:r>
            <a:endParaRPr lang="en-US" sz="1600" dirty="0"/>
          </a:p>
        </p:txBody>
      </p:sp>
      <p:sp>
        <p:nvSpPr>
          <p:cNvPr id="8" name="Audience Researchers"/>
          <p:cNvSpPr/>
          <p:nvPr/>
        </p:nvSpPr>
        <p:spPr>
          <a:xfrm>
            <a:off x="4800600" y="1371600"/>
            <a:ext cx="6839712" cy="1371600"/>
          </a:xfrm>
          <a:prstGeom prst="roundRect">
            <a:avLst>
              <a:gd name="adj" fmla="val 10000"/>
            </a:avLst>
          </a:prstGeom>
          <a:solidFill>
            <a:schemeClr val="bg2"/>
          </a:solidFill>
          <a:ln w="12700">
            <a:solidFill>
              <a:schemeClr val="bg2"/>
            </a:solidFill>
            <a:prstDash val="solid"/>
          </a:ln>
        </p:spPr>
      </p:sp>
      <p:sp>
        <p:nvSpPr>
          <p:cNvPr id="9" name="Audience number 1"/>
          <p:cNvSpPr/>
          <p:nvPr/>
        </p:nvSpPr>
        <p:spPr>
          <a:xfrm>
            <a:off x="5120640" y="1801368"/>
            <a:ext cx="502920" cy="502920"/>
          </a:xfrm>
          <a:prstGeom prst="ellipse">
            <a:avLst/>
          </a:prstGeom>
          <a:solidFill>
            <a:schemeClr val="accent2"/>
          </a:solidFill>
          <a:ln w="12700">
            <a:solidFill>
              <a:schemeClr val="accent2"/>
            </a:solidFill>
            <a:prstDash val="solid"/>
          </a:ln>
        </p:spPr>
      </p:sp>
      <p:sp>
        <p:nvSpPr>
          <p:cNvPr id="10" name="Text 7"/>
          <p:cNvSpPr txBox="1"/>
          <p:nvPr/>
        </p:nvSpPr>
        <p:spPr>
          <a:xfrm>
            <a:off x="5120640" y="180136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11" name="Text 8"/>
          <p:cNvSpPr txBox="1"/>
          <p:nvPr/>
        </p:nvSpPr>
        <p:spPr>
          <a:xfrm>
            <a:off x="5897880" y="1600200"/>
            <a:ext cx="5486400"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Researchers</a:t>
            </a:r>
            <a:endParaRPr lang="en-US" sz="2000" dirty="0"/>
          </a:p>
        </p:txBody>
      </p:sp>
      <p:sp>
        <p:nvSpPr>
          <p:cNvPr id="12" name="Text 9"/>
          <p:cNvSpPr txBox="1"/>
          <p:nvPr/>
        </p:nvSpPr>
        <p:spPr>
          <a:xfrm>
            <a:off x="5897880" y="2057400"/>
            <a:ext cx="5486400" cy="45720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Explore the data at the level of detail they need.</a:t>
            </a:r>
            <a:endParaRPr lang="en-US" sz="1600" dirty="0"/>
          </a:p>
        </p:txBody>
      </p:sp>
      <p:sp>
        <p:nvSpPr>
          <p:cNvPr id="13" name="Audience Investors"/>
          <p:cNvSpPr/>
          <p:nvPr/>
        </p:nvSpPr>
        <p:spPr>
          <a:xfrm>
            <a:off x="4800600" y="2926080"/>
            <a:ext cx="6839712" cy="1371600"/>
          </a:xfrm>
          <a:prstGeom prst="roundRect">
            <a:avLst>
              <a:gd name="adj" fmla="val 10000"/>
            </a:avLst>
          </a:prstGeom>
          <a:solidFill>
            <a:schemeClr val="bg2"/>
          </a:solidFill>
          <a:ln w="12700">
            <a:solidFill>
              <a:schemeClr val="bg2"/>
            </a:solidFill>
            <a:prstDash val="solid"/>
          </a:ln>
        </p:spPr>
      </p:sp>
      <p:sp>
        <p:nvSpPr>
          <p:cNvPr id="14" name="Audience number 2"/>
          <p:cNvSpPr/>
          <p:nvPr/>
        </p:nvSpPr>
        <p:spPr>
          <a:xfrm>
            <a:off x="5120640" y="3355848"/>
            <a:ext cx="502920" cy="502920"/>
          </a:xfrm>
          <a:prstGeom prst="ellipse">
            <a:avLst/>
          </a:prstGeom>
          <a:solidFill>
            <a:schemeClr val="accent2"/>
          </a:solidFill>
          <a:ln w="12700">
            <a:solidFill>
              <a:schemeClr val="accent2"/>
            </a:solidFill>
            <a:prstDash val="solid"/>
          </a:ln>
        </p:spPr>
      </p:sp>
      <p:sp>
        <p:nvSpPr>
          <p:cNvPr id="15" name="Text 12"/>
          <p:cNvSpPr txBox="1"/>
          <p:nvPr/>
        </p:nvSpPr>
        <p:spPr>
          <a:xfrm>
            <a:off x="5120640" y="335584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5897880" y="3154680"/>
            <a:ext cx="5486400"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Investors</a:t>
            </a:r>
            <a:endParaRPr lang="en-US" sz="2000" dirty="0"/>
          </a:p>
        </p:txBody>
      </p:sp>
      <p:sp>
        <p:nvSpPr>
          <p:cNvPr id="17" name="Text 14"/>
          <p:cNvSpPr txBox="1"/>
          <p:nvPr/>
        </p:nvSpPr>
        <p:spPr>
          <a:xfrm>
            <a:off x="5897880" y="3611880"/>
            <a:ext cx="5486400" cy="45720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Drill from the system total to the most detailed breakdown.</a:t>
            </a:r>
            <a:endParaRPr lang="en-US" sz="1600" dirty="0"/>
          </a:p>
        </p:txBody>
      </p:sp>
      <p:sp>
        <p:nvSpPr>
          <p:cNvPr id="18" name="Audience Other readers"/>
          <p:cNvSpPr/>
          <p:nvPr/>
        </p:nvSpPr>
        <p:spPr>
          <a:xfrm>
            <a:off x="4800600" y="4480560"/>
            <a:ext cx="6839712" cy="1371600"/>
          </a:xfrm>
          <a:prstGeom prst="roundRect">
            <a:avLst>
              <a:gd name="adj" fmla="val 10000"/>
            </a:avLst>
          </a:prstGeom>
          <a:solidFill>
            <a:schemeClr val="bg2"/>
          </a:solidFill>
          <a:ln w="12700">
            <a:solidFill>
              <a:schemeClr val="bg2"/>
            </a:solidFill>
            <a:prstDash val="solid"/>
          </a:ln>
        </p:spPr>
      </p:sp>
      <p:sp>
        <p:nvSpPr>
          <p:cNvPr id="19" name="Audience number 3"/>
          <p:cNvSpPr/>
          <p:nvPr/>
        </p:nvSpPr>
        <p:spPr>
          <a:xfrm>
            <a:off x="5120640" y="4910328"/>
            <a:ext cx="502920" cy="502920"/>
          </a:xfrm>
          <a:prstGeom prst="ellipse">
            <a:avLst/>
          </a:prstGeom>
          <a:solidFill>
            <a:schemeClr val="accent2"/>
          </a:solidFill>
          <a:ln w="12700">
            <a:solidFill>
              <a:schemeClr val="accent2"/>
            </a:solidFill>
            <a:prstDash val="solid"/>
          </a:ln>
        </p:spPr>
      </p:sp>
      <p:sp>
        <p:nvSpPr>
          <p:cNvPr id="20" name="Text 17"/>
          <p:cNvSpPr txBox="1"/>
          <p:nvPr/>
        </p:nvSpPr>
        <p:spPr>
          <a:xfrm>
            <a:off x="5120640" y="491032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21" name="Text 18"/>
          <p:cNvSpPr txBox="1"/>
          <p:nvPr/>
        </p:nvSpPr>
        <p:spPr>
          <a:xfrm>
            <a:off x="5897880" y="4709160"/>
            <a:ext cx="5486400"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Other readers</a:t>
            </a:r>
            <a:endParaRPr lang="en-US" sz="2000" dirty="0"/>
          </a:p>
        </p:txBody>
      </p:sp>
      <p:sp>
        <p:nvSpPr>
          <p:cNvPr id="22" name="Text 19"/>
          <p:cNvSpPr txBox="1"/>
          <p:nvPr/>
        </p:nvSpPr>
        <p:spPr>
          <a:xfrm>
            <a:off x="5897880" y="5166360"/>
            <a:ext cx="5486400" cy="45720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One report that serves a wider range of users.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Volume more than doubled, but value rose far less</a:t>
            </a:r>
            <a:endParaRPr lang="en-US" sz="2800" dirty="0"/>
          </a:p>
        </p:txBody>
      </p:sp>
      <p:graphicFrame>
        <p:nvGraphicFramePr>
          <p:cNvPr id="4" name="Chart 0" descr=""/>
          <p:cNvGraphicFramePr/>
          <p:nvPr/>
        </p:nvGraphicFramePr>
        <p:xfrm>
          <a:off x="548640" y="1325880"/>
          <a:ext cx="5454396"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85916" y="1325880"/>
          <a:ext cx="5454396" cy="3657600"/>
        </p:xfrm>
        <a:graphic xmlns:a="http://schemas.openxmlformats.org/drawingml/2006/main">
          <a:graphicData uri="http://schemas.openxmlformats.org/drawingml/2006/chart">
            <c:chart xmlns:c="http://schemas.openxmlformats.org/drawingml/2006/chart" r:id="rId2"/>
          </a:graphicData>
        </a:graphic>
      </p:graphicFrame>
      <p:sp>
        <p:nvSpPr>
          <p:cNvPr id="6" name="Bar reading"/>
          <p:cNvSpPr/>
          <p:nvPr/>
        </p:nvSpPr>
        <p:spPr>
          <a:xfrm>
            <a:off x="548640" y="5257800"/>
            <a:ext cx="11091672" cy="777240"/>
          </a:xfrm>
          <a:prstGeom prst="roundRect">
            <a:avLst>
              <a:gd name="adj" fmla="val 17647"/>
            </a:avLst>
          </a:prstGeom>
          <a:solidFill>
            <a:schemeClr val="bg2"/>
          </a:solidFill>
          <a:ln w="12700">
            <a:solidFill>
              <a:schemeClr val="bg2"/>
            </a:solidFill>
            <a:prstDash val="solid"/>
          </a:ln>
        </p:spPr>
      </p:sp>
      <p:sp>
        <p:nvSpPr>
          <p:cNvPr id="7" name="Text 2"/>
          <p:cNvSpPr txBox="1"/>
          <p:nvPr/>
        </p:nvSpPr>
        <p:spPr>
          <a:xfrm>
            <a:off x="822960" y="525780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Reading it:  </a:t>
            </a:r>
            <a:pPr indent="0" marL="0">
              <a:buNone/>
            </a:pPr>
            <a:r>
              <a:rPr lang="en-US" sz="1600" dirty="0">
                <a:solidFill>
                  <a:schemeClr val="tx1"/>
                </a:solidFill>
                <a:latin typeface="Calibri" pitchFamily="34" charset="0"/>
                <a:ea typeface="Calibri" pitchFamily="34" charset="-122"/>
                <a:cs typeface="Calibri" pitchFamily="34" charset="-120"/>
              </a:rPr>
              <a:t>60M to 130M transactions, while value moved from JOD 21.1B to 24.8B.</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The average payment fell about 45% since Q3 2024</a:t>
            </a:r>
            <a:endParaRPr lang="en-US" sz="2800" dirty="0"/>
          </a:p>
        </p:txBody>
      </p:sp>
      <p:sp>
        <p:nvSpPr>
          <p:cNvPr id="4" name="Stat 1"/>
          <p:cNvSpPr/>
          <p:nvPr/>
        </p:nvSpPr>
        <p:spPr>
          <a:xfrm>
            <a:off x="548640" y="1371600"/>
            <a:ext cx="3575304" cy="1280160"/>
          </a:xfrm>
          <a:prstGeom prst="roundRect">
            <a:avLst>
              <a:gd name="adj" fmla="val 10714"/>
            </a:avLst>
          </a:prstGeom>
          <a:solidFill>
            <a:schemeClr val="bg2"/>
          </a:solidFill>
          <a:ln w="12700">
            <a:solidFill>
              <a:schemeClr val="bg2"/>
            </a:solidFill>
            <a:prstDash val="solid"/>
          </a:ln>
        </p:spPr>
      </p:sp>
      <p:sp>
        <p:nvSpPr>
          <p:cNvPr id="5" name="Text 2"/>
          <p:cNvSpPr txBox="1"/>
          <p:nvPr/>
        </p:nvSpPr>
        <p:spPr>
          <a:xfrm>
            <a:off x="548640" y="1600200"/>
            <a:ext cx="3575304" cy="594360"/>
          </a:xfrm>
          <a:prstGeom prst="rect">
            <a:avLst/>
          </a:prstGeom>
          <a:noFill/>
          <a:ln/>
        </p:spPr>
        <p:txBody>
          <a:bodyPr wrap="square" lIns="0" tIns="0" rIns="0" bIns="0" rtlCol="0" anchor="ctr"/>
          <a:lstStyle/>
          <a:p>
            <a:pPr algn="ctr" indent="0" marL="0">
              <a:buNone/>
            </a:pPr>
            <a:r>
              <a:rPr lang="en-US" sz="3600" b="1" dirty="0">
                <a:solidFill>
                  <a:srgbClr val="243746"/>
                </a:solidFill>
                <a:latin typeface="Calibri" pitchFamily="34" charset="0"/>
                <a:ea typeface="Calibri" pitchFamily="34" charset="-122"/>
                <a:cs typeface="Calibri" pitchFamily="34" charset="-120"/>
              </a:rPr>
              <a:t>JOD 349.8</a:t>
            </a:r>
            <a:endParaRPr lang="en-US" sz="36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Q3 2024</a:t>
            </a:r>
            <a:endParaRPr lang="en-US" sz="1400" dirty="0"/>
          </a:p>
        </p:txBody>
      </p:sp>
      <p:sp>
        <p:nvSpPr>
          <p:cNvPr id="7" name="Stat 2"/>
          <p:cNvSpPr/>
          <p:nvPr/>
        </p:nvSpPr>
        <p:spPr>
          <a:xfrm>
            <a:off x="4306824" y="1371600"/>
            <a:ext cx="3575304" cy="1280160"/>
          </a:xfrm>
          <a:prstGeom prst="roundRect">
            <a:avLst>
              <a:gd name="adj" fmla="val 10714"/>
            </a:avLst>
          </a:prstGeom>
          <a:solidFill>
            <a:schemeClr val="bg2"/>
          </a:solidFill>
          <a:ln w="12700">
            <a:solidFill>
              <a:schemeClr val="bg2"/>
            </a:solidFill>
            <a:prstDash val="solid"/>
          </a:ln>
        </p:spPr>
      </p:sp>
      <p:sp>
        <p:nvSpPr>
          <p:cNvPr id="8" name="Text 5"/>
          <p:cNvSpPr txBox="1"/>
          <p:nvPr/>
        </p:nvSpPr>
        <p:spPr>
          <a:xfrm>
            <a:off x="4306824" y="1600200"/>
            <a:ext cx="3575304" cy="594360"/>
          </a:xfrm>
          <a:prstGeom prst="rect">
            <a:avLst/>
          </a:prstGeom>
          <a:noFill/>
          <a:ln/>
        </p:spPr>
        <p:txBody>
          <a:bodyPr wrap="square" lIns="0" tIns="0" rIns="0" bIns="0" rtlCol="0" anchor="ctr"/>
          <a:lstStyle/>
          <a:p>
            <a:pPr algn="ctr" indent="0" marL="0">
              <a:buNone/>
            </a:pPr>
            <a:r>
              <a:rPr lang="en-US" sz="3600" b="1" dirty="0">
                <a:solidFill>
                  <a:srgbClr val="243746"/>
                </a:solidFill>
                <a:latin typeface="Calibri" pitchFamily="34" charset="0"/>
                <a:ea typeface="Calibri" pitchFamily="34" charset="-122"/>
                <a:cs typeface="Calibri" pitchFamily="34" charset="-120"/>
              </a:rPr>
              <a:t>JOD 190.4</a:t>
            </a:r>
            <a:endParaRPr lang="en-US" sz="36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Q2 2026</a:t>
            </a:r>
            <a:endParaRPr lang="en-US" sz="1400" dirty="0"/>
          </a:p>
        </p:txBody>
      </p:sp>
      <p:sp>
        <p:nvSpPr>
          <p:cNvPr id="10" name="Stat 3"/>
          <p:cNvSpPr/>
          <p:nvPr/>
        </p:nvSpPr>
        <p:spPr>
          <a:xfrm>
            <a:off x="8065008" y="1371600"/>
            <a:ext cx="3575304" cy="1280160"/>
          </a:xfrm>
          <a:prstGeom prst="roundRect">
            <a:avLst>
              <a:gd name="adj" fmla="val 10714"/>
            </a:avLst>
          </a:prstGeom>
          <a:solidFill>
            <a:schemeClr val="bg2"/>
          </a:solidFill>
          <a:ln w="12700">
            <a:solidFill>
              <a:schemeClr val="bg2"/>
            </a:solidFill>
            <a:prstDash val="solid"/>
          </a:ln>
        </p:spPr>
      </p:sp>
      <p:sp>
        <p:nvSpPr>
          <p:cNvPr id="11" name="Text 8"/>
          <p:cNvSpPr txBox="1"/>
          <p:nvPr/>
        </p:nvSpPr>
        <p:spPr>
          <a:xfrm>
            <a:off x="8065008" y="1600200"/>
            <a:ext cx="3575304" cy="594360"/>
          </a:xfrm>
          <a:prstGeom prst="rect">
            <a:avLst/>
          </a:prstGeom>
          <a:noFill/>
          <a:ln/>
        </p:spPr>
        <p:txBody>
          <a:bodyPr wrap="square" lIns="0" tIns="0" rIns="0" bIns="0" rtlCol="0" anchor="ctr"/>
          <a:lstStyle/>
          <a:p>
            <a:pPr algn="ctr" indent="0" marL="0">
              <a:buNone/>
            </a:pPr>
            <a:r>
              <a:rPr lang="en-US" sz="3600" b="1" dirty="0">
                <a:solidFill>
                  <a:srgbClr val="C0463C"/>
                </a:solidFill>
                <a:latin typeface="Calibri" pitchFamily="34" charset="0"/>
                <a:ea typeface="Calibri" pitchFamily="34" charset="-122"/>
                <a:cs typeface="Calibri" pitchFamily="34" charset="-120"/>
              </a:rPr>
              <a:t>-45%</a:t>
            </a:r>
            <a:endParaRPr lang="en-US" sz="36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algn="ctr" indent="0" marL="0">
              <a:buNone/>
            </a:pPr>
            <a:r>
              <a:rPr lang="en-US" sz="1400" dirty="0">
                <a:solidFill>
                  <a:srgbClr val="6F7271"/>
                </a:solidFill>
                <a:latin typeface="Calibri" pitchFamily="34" charset="0"/>
                <a:ea typeface="Calibri" pitchFamily="34" charset="-122"/>
                <a:cs typeface="Calibri" pitchFamily="34" charset="-120"/>
              </a:rPr>
              <a:t>average transaction value</a:t>
            </a:r>
            <a:endParaRPr lang="en-US" sz="1400" dirty="0"/>
          </a:p>
        </p:txBody>
      </p:sp>
      <p:sp>
        <p:nvSpPr>
          <p:cNvPr id="13" name="Derived chip"/>
          <p:cNvSpPr/>
          <p:nvPr/>
        </p:nvSpPr>
        <p:spPr>
          <a:xfrm>
            <a:off x="10469880" y="1463040"/>
            <a:ext cx="1005840" cy="329184"/>
          </a:xfrm>
          <a:prstGeom prst="roundRect">
            <a:avLst>
              <a:gd name="adj" fmla="val 27778"/>
            </a:avLst>
          </a:prstGeom>
          <a:solidFill>
            <a:schemeClr val="bg1"/>
          </a:solidFill>
          <a:ln w="12700">
            <a:solidFill>
              <a:schemeClr val="tx1"/>
            </a:solidFill>
            <a:prstDash val="solid"/>
          </a:ln>
        </p:spPr>
      </p:sp>
      <p:sp>
        <p:nvSpPr>
          <p:cNvPr id="14" name="Text 11"/>
          <p:cNvSpPr txBox="1"/>
          <p:nvPr/>
        </p:nvSpPr>
        <p:spPr>
          <a:xfrm>
            <a:off x="10469880" y="1463040"/>
            <a:ext cx="100584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DERIVED</a:t>
            </a:r>
            <a:endParaRPr lang="en-US" sz="1000" dirty="0"/>
          </a:p>
        </p:txBody>
      </p:sp>
      <p:graphicFrame>
        <p:nvGraphicFramePr>
          <p:cNvPr id="15" name="Chart 0" descr=""/>
          <p:cNvGraphicFramePr/>
          <p:nvPr/>
        </p:nvGraphicFramePr>
        <p:xfrm>
          <a:off x="548640" y="2834640"/>
          <a:ext cx="7223760" cy="3383280"/>
        </p:xfrm>
        <a:graphic xmlns:a="http://schemas.openxmlformats.org/drawingml/2006/main">
          <a:graphicData uri="http://schemas.openxmlformats.org/drawingml/2006/chart">
            <c:chart xmlns:c="http://schemas.openxmlformats.org/drawingml/2006/chart" r:id="rId1"/>
          </a:graphicData>
        </a:graphic>
      </p:graphicFrame>
      <p:sp>
        <p:nvSpPr>
          <p:cNvPr id="16" name="Q3 2025 card"/>
          <p:cNvSpPr/>
          <p:nvPr/>
        </p:nvSpPr>
        <p:spPr>
          <a:xfrm>
            <a:off x="8046720" y="2926080"/>
            <a:ext cx="3593592" cy="3200400"/>
          </a:xfrm>
          <a:prstGeom prst="roundRect">
            <a:avLst>
              <a:gd name="adj" fmla="val 4286"/>
            </a:avLst>
          </a:prstGeom>
          <a:solidFill>
            <a:schemeClr val="bg2"/>
          </a:solidFill>
          <a:ln w="12700">
            <a:solidFill>
              <a:schemeClr val="bg2"/>
            </a:solidFill>
            <a:prstDash val="solid"/>
          </a:ln>
        </p:spPr>
      </p:sp>
      <p:sp>
        <p:nvSpPr>
          <p:cNvPr id="17" name="Text 13"/>
          <p:cNvSpPr txBox="1"/>
          <p:nvPr/>
        </p:nvSpPr>
        <p:spPr>
          <a:xfrm>
            <a:off x="8321040" y="3154680"/>
            <a:ext cx="3108960" cy="640080"/>
          </a:xfrm>
          <a:prstGeom prst="rect">
            <a:avLst/>
          </a:prstGeom>
          <a:noFill/>
          <a:ln/>
        </p:spPr>
        <p:txBody>
          <a:bodyPr wrap="square" lIns="0" tIns="0" rIns="0" bIns="0" rtlCol="0" anchor="ctr"/>
          <a:lstStyle/>
          <a:p>
            <a:pPr indent="0" marL="0">
              <a:buNone/>
            </a:pPr>
            <a:r>
              <a:rPr lang="en-US" sz="3400" b="1" dirty="0">
                <a:solidFill>
                  <a:schemeClr val="tx1"/>
                </a:solidFill>
                <a:latin typeface="Calibri" pitchFamily="34" charset="0"/>
                <a:ea typeface="Calibri" pitchFamily="34" charset="-122"/>
                <a:cs typeface="Calibri" pitchFamily="34" charset="-120"/>
              </a:rPr>
              <a:t>Q3 2025</a:t>
            </a:r>
            <a:endParaRPr lang="en-US" sz="3400" dirty="0"/>
          </a:p>
        </p:txBody>
      </p:sp>
      <p:sp>
        <p:nvSpPr>
          <p:cNvPr id="18" name="Text 14"/>
          <p:cNvSpPr txBox="1"/>
          <p:nvPr/>
        </p:nvSpPr>
        <p:spPr>
          <a:xfrm>
            <a:off x="8321040" y="3931920"/>
            <a:ext cx="3108960" cy="192024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The most notable movement: transactions were low relative to value, which prompted the manual average calculation.</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Why average transaction value should be standard</a:t>
            </a:r>
            <a:endParaRPr lang="en-US" sz="2800" dirty="0"/>
          </a:p>
        </p:txBody>
      </p:sp>
      <p:sp>
        <p:nvSpPr>
          <p:cNvPr id="4" name="Reason 1"/>
          <p:cNvSpPr/>
          <p:nvPr/>
        </p:nvSpPr>
        <p:spPr>
          <a:xfrm>
            <a:off x="548640" y="1371600"/>
            <a:ext cx="3575304" cy="3566160"/>
          </a:xfrm>
          <a:prstGeom prst="roundRect">
            <a:avLst>
              <a:gd name="adj" fmla="val 3846"/>
            </a:avLst>
          </a:prstGeom>
          <a:solidFill>
            <a:schemeClr val="bg2"/>
          </a:solidFill>
          <a:ln w="12700">
            <a:solidFill>
              <a:schemeClr val="bg2"/>
            </a:solidFill>
            <a:prstDash val="solid"/>
          </a:ln>
        </p:spPr>
      </p:sp>
      <p:sp>
        <p:nvSpPr>
          <p:cNvPr id="5" name="Reason number 1"/>
          <p:cNvSpPr/>
          <p:nvPr/>
        </p:nvSpPr>
        <p:spPr>
          <a:xfrm>
            <a:off x="868680" y="1691640"/>
            <a:ext cx="548640" cy="548640"/>
          </a:xfrm>
          <a:prstGeom prst="ellipse">
            <a:avLst/>
          </a:prstGeom>
          <a:solidFill>
            <a:schemeClr val="accent2"/>
          </a:solidFill>
          <a:ln w="12700">
            <a:solidFill>
              <a:schemeClr val="accent2"/>
            </a:solidFill>
            <a:prstDash val="solid"/>
          </a:ln>
        </p:spPr>
      </p:sp>
      <p:sp>
        <p:nvSpPr>
          <p:cNvPr id="6" name="Text 3"/>
          <p:cNvSpPr txBox="1"/>
          <p:nvPr/>
        </p:nvSpPr>
        <p:spPr>
          <a:xfrm>
            <a:off x="868680" y="169164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868680" y="2514600"/>
            <a:ext cx="3017520" cy="8229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Researchers and investors</a:t>
            </a:r>
            <a:endParaRPr lang="en-US" sz="2000" dirty="0"/>
          </a:p>
        </p:txBody>
      </p:sp>
      <p:sp>
        <p:nvSpPr>
          <p:cNvPr id="8" name="Text 5"/>
          <p:cNvSpPr txBox="1"/>
          <p:nvPr/>
        </p:nvSpPr>
        <p:spPr>
          <a:xfrm>
            <a:off x="868680" y="3200400"/>
            <a:ext cx="3017520" cy="146304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Read growth correctly: more, smaller payments, not higher-value ones.</a:t>
            </a:r>
            <a:endParaRPr lang="en-US" sz="1600" dirty="0"/>
          </a:p>
        </p:txBody>
      </p:sp>
      <p:sp>
        <p:nvSpPr>
          <p:cNvPr id="9" name="Reason 2"/>
          <p:cNvSpPr/>
          <p:nvPr/>
        </p:nvSpPr>
        <p:spPr>
          <a:xfrm>
            <a:off x="4306824" y="1371600"/>
            <a:ext cx="3575304" cy="3566160"/>
          </a:xfrm>
          <a:prstGeom prst="roundRect">
            <a:avLst>
              <a:gd name="adj" fmla="val 3846"/>
            </a:avLst>
          </a:prstGeom>
          <a:solidFill>
            <a:schemeClr val="bg2"/>
          </a:solidFill>
          <a:ln w="12700">
            <a:solidFill>
              <a:schemeClr val="bg2"/>
            </a:solidFill>
            <a:prstDash val="solid"/>
          </a:ln>
        </p:spPr>
      </p:sp>
      <p:sp>
        <p:nvSpPr>
          <p:cNvPr id="10" name="Reason number 2"/>
          <p:cNvSpPr/>
          <p:nvPr/>
        </p:nvSpPr>
        <p:spPr>
          <a:xfrm>
            <a:off x="4626864" y="1691640"/>
            <a:ext cx="548640" cy="548640"/>
          </a:xfrm>
          <a:prstGeom prst="ellipse">
            <a:avLst/>
          </a:prstGeom>
          <a:solidFill>
            <a:schemeClr val="accent2"/>
          </a:solidFill>
          <a:ln w="12700">
            <a:solidFill>
              <a:schemeClr val="accent2"/>
            </a:solidFill>
            <a:prstDash val="solid"/>
          </a:ln>
        </p:spPr>
      </p:sp>
      <p:sp>
        <p:nvSpPr>
          <p:cNvPr id="11" name="Text 8"/>
          <p:cNvSpPr txBox="1"/>
          <p:nvPr/>
        </p:nvSpPr>
        <p:spPr>
          <a:xfrm>
            <a:off x="4626864" y="169164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4626864" y="2514600"/>
            <a:ext cx="3017520" cy="8229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Operations and risk teams</a:t>
            </a:r>
            <a:endParaRPr lang="en-US" sz="2000" dirty="0"/>
          </a:p>
        </p:txBody>
      </p:sp>
      <p:sp>
        <p:nvSpPr>
          <p:cNvPr id="13" name="Text 10"/>
          <p:cNvSpPr txBox="1"/>
          <p:nvPr/>
        </p:nvSpPr>
        <p:spPr>
          <a:xfrm>
            <a:off x="4626864" y="3200400"/>
            <a:ext cx="3017520" cy="146304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Plan capacity and set monitoring thresholds.</a:t>
            </a:r>
            <a:endParaRPr lang="en-US" sz="1600" dirty="0"/>
          </a:p>
        </p:txBody>
      </p:sp>
      <p:sp>
        <p:nvSpPr>
          <p:cNvPr id="14" name="Reason 3"/>
          <p:cNvSpPr/>
          <p:nvPr/>
        </p:nvSpPr>
        <p:spPr>
          <a:xfrm>
            <a:off x="8065008" y="1371600"/>
            <a:ext cx="3575304" cy="3566160"/>
          </a:xfrm>
          <a:prstGeom prst="roundRect">
            <a:avLst>
              <a:gd name="adj" fmla="val 3846"/>
            </a:avLst>
          </a:prstGeom>
          <a:solidFill>
            <a:schemeClr val="bg2"/>
          </a:solidFill>
          <a:ln w="12700">
            <a:solidFill>
              <a:schemeClr val="bg2"/>
            </a:solidFill>
            <a:prstDash val="solid"/>
          </a:ln>
        </p:spPr>
      </p:sp>
      <p:sp>
        <p:nvSpPr>
          <p:cNvPr id="15" name="Reason number 3"/>
          <p:cNvSpPr/>
          <p:nvPr/>
        </p:nvSpPr>
        <p:spPr>
          <a:xfrm>
            <a:off x="8385048" y="1691640"/>
            <a:ext cx="548640" cy="548640"/>
          </a:xfrm>
          <a:prstGeom prst="ellipse">
            <a:avLst/>
          </a:prstGeom>
          <a:solidFill>
            <a:schemeClr val="accent2"/>
          </a:solidFill>
          <a:ln w="12700">
            <a:solidFill>
              <a:schemeClr val="accent2"/>
            </a:solidFill>
            <a:prstDash val="solid"/>
          </a:ln>
        </p:spPr>
      </p:sp>
      <p:sp>
        <p:nvSpPr>
          <p:cNvPr id="16" name="Text 13"/>
          <p:cNvSpPr txBox="1"/>
          <p:nvPr/>
        </p:nvSpPr>
        <p:spPr>
          <a:xfrm>
            <a:off x="8385048" y="169164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8385048" y="2514600"/>
            <a:ext cx="3017520" cy="8229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Everyone reading totals</a:t>
            </a:r>
            <a:endParaRPr lang="en-US" sz="2000" dirty="0"/>
          </a:p>
        </p:txBody>
      </p:sp>
      <p:sp>
        <p:nvSpPr>
          <p:cNvPr id="18" name="Text 15"/>
          <p:cNvSpPr txBox="1"/>
          <p:nvPr/>
        </p:nvSpPr>
        <p:spPr>
          <a:xfrm>
            <a:off x="8385048" y="3200400"/>
            <a:ext cx="3017520" cy="146304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Totals alone hide the shift toward smaller payments.</a:t>
            </a:r>
            <a:endParaRPr lang="en-US" sz="1600" dirty="0"/>
          </a:p>
        </p:txBody>
      </p:sp>
      <p:sp>
        <p:nvSpPr>
          <p:cNvPr id="19" name="Bar takeaway"/>
          <p:cNvSpPr/>
          <p:nvPr/>
        </p:nvSpPr>
        <p:spPr>
          <a:xfrm>
            <a:off x="548640" y="5212080"/>
            <a:ext cx="11091672" cy="777240"/>
          </a:xfrm>
          <a:prstGeom prst="roundRect">
            <a:avLst>
              <a:gd name="adj" fmla="val 17647"/>
            </a:avLst>
          </a:prstGeom>
          <a:solidFill>
            <a:schemeClr val="bg2"/>
          </a:solidFill>
          <a:ln w="12700">
            <a:solidFill>
              <a:schemeClr val="bg2"/>
            </a:solidFill>
            <a:prstDash val="solid"/>
          </a:ln>
        </p:spPr>
      </p:sp>
      <p:sp>
        <p:nvSpPr>
          <p:cNvPr id="20" name="Text 17"/>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Takeaway:  </a:t>
            </a:r>
            <a:pPr indent="0" marL="0">
              <a:buNone/>
            </a:pPr>
            <a:r>
              <a:rPr lang="en-US" sz="1600" dirty="0">
                <a:solidFill>
                  <a:schemeClr val="tx1"/>
                </a:solidFill>
                <a:latin typeface="Calibri" pitchFamily="34" charset="0"/>
                <a:ea typeface="Calibri" pitchFamily="34" charset="-122"/>
                <a:cs typeface="Calibri" pitchFamily="34" charset="-120"/>
              </a:rPr>
              <a:t>growth is driven by a larger number of smaller payments.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The average is not the typical transaction</a:t>
            </a:r>
            <a:endParaRPr lang="en-US" sz="2800" dirty="0"/>
          </a:p>
        </p:txBody>
      </p:sp>
      <p:sp>
        <p:nvSpPr>
          <p:cNvPr id="4" name="Formula card"/>
          <p:cNvSpPr/>
          <p:nvPr/>
        </p:nvSpPr>
        <p:spPr>
          <a:xfrm>
            <a:off x="548640" y="1371600"/>
            <a:ext cx="11091672" cy="1234440"/>
          </a:xfrm>
          <a:prstGeom prst="roundRect">
            <a:avLst>
              <a:gd name="adj" fmla="val 11111"/>
            </a:avLst>
          </a:prstGeom>
          <a:solidFill>
            <a:srgbClr val="243746"/>
          </a:solidFill>
          <a:ln w="12700">
            <a:solidFill>
              <a:srgbClr val="243746"/>
            </a:solidFill>
            <a:prstDash val="solid"/>
          </a:ln>
        </p:spPr>
      </p:sp>
      <p:sp>
        <p:nvSpPr>
          <p:cNvPr id="5" name="Text 2"/>
          <p:cNvSpPr txBox="1"/>
          <p:nvPr/>
        </p:nvSpPr>
        <p:spPr>
          <a:xfrm>
            <a:off x="868680" y="1463040"/>
            <a:ext cx="6583680" cy="1051560"/>
          </a:xfrm>
          <a:prstGeom prst="rect">
            <a:avLst/>
          </a:prstGeom>
          <a:noFill/>
          <a:ln/>
        </p:spPr>
        <p:txBody>
          <a:bodyPr wrap="square" lIns="0" tIns="0" rIns="0" bIns="0" rtlCol="0" anchor="ctr"/>
          <a:lstStyle/>
          <a:p>
            <a:pPr indent="0" marL="0">
              <a:buNone/>
            </a:pPr>
            <a:r>
              <a:rPr lang="en-US" sz="2800" b="1" dirty="0">
                <a:solidFill>
                  <a:schemeClr val="accent2"/>
                </a:solidFill>
                <a:latin typeface="Calibri" pitchFamily="34" charset="0"/>
                <a:ea typeface="Calibri" pitchFamily="34" charset="-122"/>
                <a:cs typeface="Calibri" pitchFamily="34" charset="-120"/>
              </a:rPr>
              <a:t>Average = total value  ÷  total volume</a:t>
            </a:r>
            <a:endParaRPr lang="en-US" sz="2800" dirty="0"/>
          </a:p>
        </p:txBody>
      </p:sp>
      <p:sp>
        <p:nvSpPr>
          <p:cNvPr id="6" name="Text 3"/>
          <p:cNvSpPr txBox="1"/>
          <p:nvPr/>
        </p:nvSpPr>
        <p:spPr>
          <a:xfrm>
            <a:off x="7406640" y="1463040"/>
            <a:ext cx="3931920" cy="10515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A few very large transactions can raise it significantly.</a:t>
            </a:r>
            <a:endParaRPr lang="en-US" sz="1600" dirty="0"/>
          </a:p>
        </p:txBody>
      </p:sp>
      <p:sp>
        <p:nvSpPr>
          <p:cNvPr id="7" name="Measure Average"/>
          <p:cNvSpPr/>
          <p:nvPr/>
        </p:nvSpPr>
        <p:spPr>
          <a:xfrm>
            <a:off x="548640" y="2834640"/>
            <a:ext cx="3575304" cy="2331720"/>
          </a:xfrm>
          <a:prstGeom prst="roundRect">
            <a:avLst>
              <a:gd name="adj" fmla="val 5882"/>
            </a:avLst>
          </a:prstGeom>
          <a:solidFill>
            <a:schemeClr val="bg2"/>
          </a:solidFill>
          <a:ln w="12700">
            <a:solidFill>
              <a:schemeClr val="bg2"/>
            </a:solidFill>
            <a:prstDash val="solid"/>
          </a:ln>
        </p:spPr>
      </p:sp>
      <p:sp>
        <p:nvSpPr>
          <p:cNvPr id="8" name="Text 5"/>
          <p:cNvSpPr txBox="1"/>
          <p:nvPr/>
        </p:nvSpPr>
        <p:spPr>
          <a:xfrm>
            <a:off x="822960" y="3017520"/>
            <a:ext cx="3017520" cy="457200"/>
          </a:xfrm>
          <a:prstGeom prst="rect">
            <a:avLst/>
          </a:prstGeom>
          <a:noFill/>
          <a:ln/>
        </p:spPr>
        <p:txBody>
          <a:bodyPr wrap="square" lIns="0" tIns="0" rIns="0" bIns="0" rtlCol="0" anchor="ctr"/>
          <a:lstStyle/>
          <a:p>
            <a:pPr indent="0" marL="0">
              <a:buNone/>
            </a:pPr>
            <a:r>
              <a:rPr lang="en-US" sz="2400" b="1" dirty="0">
                <a:solidFill>
                  <a:schemeClr val="tx1"/>
                </a:solidFill>
                <a:latin typeface="Calibri" pitchFamily="34" charset="0"/>
                <a:ea typeface="Calibri" pitchFamily="34" charset="-122"/>
                <a:cs typeface="Calibri" pitchFamily="34" charset="-120"/>
              </a:rPr>
              <a:t>Average</a:t>
            </a:r>
            <a:endParaRPr lang="en-US" sz="2400" dirty="0"/>
          </a:p>
        </p:txBody>
      </p:sp>
      <p:sp>
        <p:nvSpPr>
          <p:cNvPr id="9" name="Text 6"/>
          <p:cNvSpPr txBox="1"/>
          <p:nvPr/>
        </p:nvSpPr>
        <p:spPr>
          <a:xfrm>
            <a:off x="822960" y="3474720"/>
            <a:ext cx="301752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total value divided by volume</a:t>
            </a:r>
            <a:endParaRPr lang="en-US" sz="1400" dirty="0"/>
          </a:p>
        </p:txBody>
      </p:sp>
      <p:sp>
        <p:nvSpPr>
          <p:cNvPr id="10" name="Text 7"/>
          <p:cNvSpPr txBox="1"/>
          <p:nvPr/>
        </p:nvSpPr>
        <p:spPr>
          <a:xfrm>
            <a:off x="822960" y="406908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11" name="Text 8"/>
          <p:cNvSpPr txBox="1"/>
          <p:nvPr/>
        </p:nvSpPr>
        <p:spPr>
          <a:xfrm>
            <a:off x="822960" y="4315968"/>
            <a:ext cx="3108960" cy="731520"/>
          </a:xfrm>
          <a:prstGeom prst="rect">
            <a:avLst/>
          </a:prstGeom>
          <a:noFill/>
          <a:ln/>
        </p:spPr>
        <p:txBody>
          <a:bodyPr wrap="square" lIns="0" tIns="0" rIns="0" bIns="0" rtlCol="0" anchor="t"/>
          <a:lstStyle/>
          <a:p>
            <a:pPr indent="0" marL="0">
              <a:buNone/>
            </a:pPr>
            <a:r>
              <a:rPr lang="en-US" sz="1600" b="1" dirty="0">
                <a:solidFill>
                  <a:srgbClr val="2E8B63"/>
                </a:solidFill>
                <a:latin typeface="Calibri" pitchFamily="34" charset="0"/>
                <a:ea typeface="Calibri" pitchFamily="34" charset="-122"/>
                <a:cs typeface="Calibri" pitchFamily="34" charset="-120"/>
              </a:rPr>
              <a:t>Calculable: the best indicator the data allows.</a:t>
            </a:r>
            <a:endParaRPr lang="en-US" sz="1600" dirty="0"/>
          </a:p>
        </p:txBody>
      </p:sp>
      <p:sp>
        <p:nvSpPr>
          <p:cNvPr id="12" name="Measure Median"/>
          <p:cNvSpPr/>
          <p:nvPr/>
        </p:nvSpPr>
        <p:spPr>
          <a:xfrm>
            <a:off x="4306824" y="2834640"/>
            <a:ext cx="3575304" cy="2331720"/>
          </a:xfrm>
          <a:prstGeom prst="roundRect">
            <a:avLst>
              <a:gd name="adj" fmla="val 5882"/>
            </a:avLst>
          </a:prstGeom>
          <a:solidFill>
            <a:schemeClr val="bg2"/>
          </a:solidFill>
          <a:ln w="12700">
            <a:solidFill>
              <a:schemeClr val="bg2"/>
            </a:solidFill>
            <a:prstDash val="solid"/>
          </a:ln>
        </p:spPr>
      </p:sp>
      <p:sp>
        <p:nvSpPr>
          <p:cNvPr id="13" name="Text 10"/>
          <p:cNvSpPr txBox="1"/>
          <p:nvPr/>
        </p:nvSpPr>
        <p:spPr>
          <a:xfrm>
            <a:off x="4581144" y="3017520"/>
            <a:ext cx="3017520" cy="457200"/>
          </a:xfrm>
          <a:prstGeom prst="rect">
            <a:avLst/>
          </a:prstGeom>
          <a:noFill/>
          <a:ln/>
        </p:spPr>
        <p:txBody>
          <a:bodyPr wrap="square" lIns="0" tIns="0" rIns="0" bIns="0" rtlCol="0" anchor="ctr"/>
          <a:lstStyle/>
          <a:p>
            <a:pPr indent="0" marL="0">
              <a:buNone/>
            </a:pPr>
            <a:r>
              <a:rPr lang="en-US" sz="2400" b="1" dirty="0">
                <a:solidFill>
                  <a:schemeClr val="tx1"/>
                </a:solidFill>
                <a:latin typeface="Calibri" pitchFamily="34" charset="0"/>
                <a:ea typeface="Calibri" pitchFamily="34" charset="-122"/>
                <a:cs typeface="Calibri" pitchFamily="34" charset="-120"/>
              </a:rPr>
              <a:t>Median</a:t>
            </a:r>
            <a:endParaRPr lang="en-US" sz="2400" dirty="0"/>
          </a:p>
        </p:txBody>
      </p:sp>
      <p:sp>
        <p:nvSpPr>
          <p:cNvPr id="14" name="Text 11"/>
          <p:cNvSpPr txBox="1"/>
          <p:nvPr/>
        </p:nvSpPr>
        <p:spPr>
          <a:xfrm>
            <a:off x="4581144" y="3474720"/>
            <a:ext cx="301752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the middle value</a:t>
            </a:r>
            <a:endParaRPr lang="en-US" sz="1400" dirty="0"/>
          </a:p>
        </p:txBody>
      </p:sp>
      <p:sp>
        <p:nvSpPr>
          <p:cNvPr id="15" name="Text 12"/>
          <p:cNvSpPr txBox="1"/>
          <p:nvPr/>
        </p:nvSpPr>
        <p:spPr>
          <a:xfrm>
            <a:off x="4581144" y="406908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16" name="Text 13"/>
          <p:cNvSpPr txBox="1"/>
          <p:nvPr/>
        </p:nvSpPr>
        <p:spPr>
          <a:xfrm>
            <a:off x="4581144" y="4315968"/>
            <a:ext cx="3108960" cy="731520"/>
          </a:xfrm>
          <a:prstGeom prst="rect">
            <a:avLst/>
          </a:prstGeom>
          <a:noFill/>
          <a:ln/>
        </p:spPr>
        <p:txBody>
          <a:bodyPr wrap="square" lIns="0" tIns="0" rIns="0" bIns="0" rtlCol="0" anchor="t"/>
          <a:lstStyle/>
          <a:p>
            <a:pPr indent="0" marL="0">
              <a:buNone/>
            </a:pPr>
            <a:r>
              <a:rPr lang="en-US" sz="1600" b="1" dirty="0">
                <a:solidFill>
                  <a:srgbClr val="C0463C"/>
                </a:solidFill>
                <a:latin typeface="Calibri" pitchFamily="34" charset="0"/>
                <a:ea typeface="Calibri" pitchFamily="34" charset="-122"/>
                <a:cs typeface="Calibri" pitchFamily="34" charset="-120"/>
              </a:rPr>
              <a:t>Not calculable: no individual values published.</a:t>
            </a:r>
            <a:endParaRPr lang="en-US" sz="1600" dirty="0"/>
          </a:p>
        </p:txBody>
      </p:sp>
      <p:sp>
        <p:nvSpPr>
          <p:cNvPr id="17" name="Measure Mode"/>
          <p:cNvSpPr/>
          <p:nvPr/>
        </p:nvSpPr>
        <p:spPr>
          <a:xfrm>
            <a:off x="8065008" y="2834640"/>
            <a:ext cx="3575304" cy="2331720"/>
          </a:xfrm>
          <a:prstGeom prst="roundRect">
            <a:avLst>
              <a:gd name="adj" fmla="val 5882"/>
            </a:avLst>
          </a:prstGeom>
          <a:solidFill>
            <a:schemeClr val="bg2"/>
          </a:solidFill>
          <a:ln w="12700">
            <a:solidFill>
              <a:schemeClr val="bg2"/>
            </a:solidFill>
            <a:prstDash val="solid"/>
          </a:ln>
        </p:spPr>
      </p:sp>
      <p:sp>
        <p:nvSpPr>
          <p:cNvPr id="18" name="Text 15"/>
          <p:cNvSpPr txBox="1"/>
          <p:nvPr/>
        </p:nvSpPr>
        <p:spPr>
          <a:xfrm>
            <a:off x="8339328" y="3017520"/>
            <a:ext cx="3017520" cy="457200"/>
          </a:xfrm>
          <a:prstGeom prst="rect">
            <a:avLst/>
          </a:prstGeom>
          <a:noFill/>
          <a:ln/>
        </p:spPr>
        <p:txBody>
          <a:bodyPr wrap="square" lIns="0" tIns="0" rIns="0" bIns="0" rtlCol="0" anchor="ctr"/>
          <a:lstStyle/>
          <a:p>
            <a:pPr indent="0" marL="0">
              <a:buNone/>
            </a:pPr>
            <a:r>
              <a:rPr lang="en-US" sz="2400" b="1" dirty="0">
                <a:solidFill>
                  <a:schemeClr val="tx1"/>
                </a:solidFill>
                <a:latin typeface="Calibri" pitchFamily="34" charset="0"/>
                <a:ea typeface="Calibri" pitchFamily="34" charset="-122"/>
                <a:cs typeface="Calibri" pitchFamily="34" charset="-120"/>
              </a:rPr>
              <a:t>Mode</a:t>
            </a:r>
            <a:endParaRPr lang="en-US" sz="2400" dirty="0"/>
          </a:p>
        </p:txBody>
      </p:sp>
      <p:sp>
        <p:nvSpPr>
          <p:cNvPr id="19" name="Text 16"/>
          <p:cNvSpPr txBox="1"/>
          <p:nvPr/>
        </p:nvSpPr>
        <p:spPr>
          <a:xfrm>
            <a:off x="8339328" y="3474720"/>
            <a:ext cx="301752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the most frequent value</a:t>
            </a:r>
            <a:endParaRPr lang="en-US" sz="1400" dirty="0"/>
          </a:p>
        </p:txBody>
      </p:sp>
      <p:sp>
        <p:nvSpPr>
          <p:cNvPr id="20" name="Text 17"/>
          <p:cNvSpPr txBox="1"/>
          <p:nvPr/>
        </p:nvSpPr>
        <p:spPr>
          <a:xfrm>
            <a:off x="8339328" y="4069080"/>
            <a:ext cx="3017520" cy="228600"/>
          </a:xfrm>
          <a:prstGeom prst="rect">
            <a:avLst/>
          </a:prstGeom>
          <a:noFill/>
          <a:ln/>
        </p:spPr>
        <p:txBody>
          <a:bodyPr wrap="square" lIns="0" tIns="0" rIns="0" bIns="0" rtlCol="0" anchor="ctr"/>
          <a:lstStyle/>
          <a:p>
            <a:pPr indent="0" marL="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21" name="Text 18"/>
          <p:cNvSpPr txBox="1"/>
          <p:nvPr/>
        </p:nvSpPr>
        <p:spPr>
          <a:xfrm>
            <a:off x="8339328" y="4315968"/>
            <a:ext cx="3108960" cy="731520"/>
          </a:xfrm>
          <a:prstGeom prst="rect">
            <a:avLst/>
          </a:prstGeom>
          <a:noFill/>
          <a:ln/>
        </p:spPr>
        <p:txBody>
          <a:bodyPr wrap="square" lIns="0" tIns="0" rIns="0" bIns="0" rtlCol="0" anchor="t"/>
          <a:lstStyle/>
          <a:p>
            <a:pPr indent="0" marL="0">
              <a:buNone/>
            </a:pPr>
            <a:r>
              <a:rPr lang="en-US" sz="1600" b="1" dirty="0">
                <a:solidFill>
                  <a:srgbClr val="C0463C"/>
                </a:solidFill>
                <a:latin typeface="Calibri" pitchFamily="34" charset="0"/>
                <a:ea typeface="Calibri" pitchFamily="34" charset="-122"/>
                <a:cs typeface="Calibri" pitchFamily="34" charset="-120"/>
              </a:rPr>
              <a:t>Not calculable: no distribution published.</a:t>
            </a:r>
            <a:endParaRPr lang="en-US" sz="1600" dirty="0"/>
          </a:p>
        </p:txBody>
      </p:sp>
      <p:sp>
        <p:nvSpPr>
          <p:cNvPr id="22" name="Bar future"/>
          <p:cNvSpPr/>
          <p:nvPr/>
        </p:nvSpPr>
        <p:spPr>
          <a:xfrm>
            <a:off x="548640" y="5394960"/>
            <a:ext cx="11091672" cy="731520"/>
          </a:xfrm>
          <a:prstGeom prst="roundRect">
            <a:avLst>
              <a:gd name="adj" fmla="val 18750"/>
            </a:avLst>
          </a:prstGeom>
          <a:solidFill>
            <a:schemeClr val="bg2"/>
          </a:solidFill>
          <a:ln w="12700">
            <a:solidFill>
              <a:schemeClr val="bg2"/>
            </a:solidFill>
            <a:prstDash val="solid"/>
          </a:ln>
        </p:spPr>
      </p:sp>
      <p:sp>
        <p:nvSpPr>
          <p:cNvPr id="23" name="Text 20"/>
          <p:cNvSpPr txBox="1"/>
          <p:nvPr/>
        </p:nvSpPr>
        <p:spPr>
          <a:xfrm>
            <a:off x="822960" y="5394960"/>
            <a:ext cx="1051560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Future improvement:  </a:t>
            </a:r>
            <a:pPr indent="0" marL="0">
              <a:buNone/>
            </a:pPr>
            <a:r>
              <a:rPr lang="en-US" sz="1600" dirty="0">
                <a:solidFill>
                  <a:schemeClr val="tx1"/>
                </a:solidFill>
                <a:latin typeface="Calibri" pitchFamily="34" charset="0"/>
                <a:ea typeface="Calibri" pitchFamily="34" charset="-122"/>
                <a:cs typeface="Calibri" pitchFamily="34" charset="-120"/>
              </a:rPr>
              <a:t>publish mode, median, or a distribution by value range.</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Report the average for each system</a:t>
            </a:r>
            <a:endParaRPr lang="en-US" sz="2800" dirty="0"/>
          </a:p>
        </p:txBody>
      </p:sp>
      <p:sp>
        <p:nvSpPr>
          <p:cNvPr id="4" name="Today card"/>
          <p:cNvSpPr/>
          <p:nvPr/>
        </p:nvSpPr>
        <p:spPr>
          <a:xfrm>
            <a:off x="548640" y="1371600"/>
            <a:ext cx="5120640" cy="274320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68680" y="1600200"/>
            <a:ext cx="4480560" cy="274320"/>
          </a:xfrm>
          <a:prstGeom prst="rect">
            <a:avLst/>
          </a:prstGeom>
          <a:noFill/>
          <a:ln/>
        </p:spPr>
        <p:txBody>
          <a:bodyPr wrap="square" lIns="0" tIns="0" rIns="0" bIns="0" rtlCol="0" anchor="ctr"/>
          <a:lstStyle/>
          <a:p>
            <a:pPr indent="0" marL="0">
              <a:buNone/>
            </a:pPr>
            <a:r>
              <a:rPr lang="en-US" sz="1100" b="1" dirty="0">
                <a:solidFill>
                  <a:srgbClr val="6F7271"/>
                </a:solidFill>
                <a:latin typeface="Calibri" pitchFamily="34" charset="0"/>
                <a:ea typeface="Calibri" pitchFamily="34" charset="-122"/>
                <a:cs typeface="Calibri" pitchFamily="34" charset="-120"/>
              </a:rPr>
              <a:t>TODAY</a:t>
            </a:r>
            <a:endParaRPr lang="en-US" sz="1100" dirty="0"/>
          </a:p>
        </p:txBody>
      </p:sp>
      <p:sp>
        <p:nvSpPr>
          <p:cNvPr id="6" name="Text 3"/>
          <p:cNvSpPr txBox="1"/>
          <p:nvPr/>
        </p:nvSpPr>
        <p:spPr>
          <a:xfrm>
            <a:off x="868680" y="1965960"/>
            <a:ext cx="4480560" cy="548640"/>
          </a:xfrm>
          <a:prstGeom prst="rect">
            <a:avLst/>
          </a:prstGeom>
          <a:noFill/>
          <a:ln/>
        </p:spPr>
        <p:txBody>
          <a:bodyPr wrap="square" lIns="0" tIns="0" rIns="0" bIns="0" rtlCol="0" anchor="ctr"/>
          <a:lstStyle/>
          <a:p>
            <a:pPr indent="0" marL="0">
              <a:buNone/>
            </a:pPr>
            <a:r>
              <a:rPr lang="en-US" sz="2400" b="1" dirty="0">
                <a:solidFill>
                  <a:schemeClr val="tx1"/>
                </a:solidFill>
                <a:latin typeface="Calibri" pitchFamily="34" charset="0"/>
                <a:ea typeface="Calibri" pitchFamily="34" charset="-122"/>
                <a:cs typeface="Calibri" pitchFamily="34" charset="-120"/>
              </a:rPr>
              <a:t>One combined average</a:t>
            </a:r>
            <a:endParaRPr lang="en-US" sz="2400" dirty="0"/>
          </a:p>
        </p:txBody>
      </p:sp>
      <p:sp>
        <p:nvSpPr>
          <p:cNvPr id="7" name="Text 4"/>
          <p:cNvSpPr txBox="1"/>
          <p:nvPr/>
        </p:nvSpPr>
        <p:spPr>
          <a:xfrm>
            <a:off x="868680" y="2697480"/>
            <a:ext cx="4480560" cy="1097280"/>
          </a:xfrm>
          <a:prstGeom prst="rect">
            <a:avLst/>
          </a:prstGeom>
          <a:noFill/>
          <a:ln/>
        </p:spPr>
        <p:txBody>
          <a:bodyPr wrap="square" lIns="0" tIns="0" rIns="0" bIns="0" rtlCol="0" anchor="t"/>
          <a:lstStyle/>
          <a:p>
            <a:pPr indent="0" marL="0">
              <a:buNone/>
            </a:pPr>
            <a:r>
              <a:rPr lang="en-US" sz="1600" dirty="0">
                <a:solidFill>
                  <a:srgbClr val="6F7271"/>
                </a:solidFill>
                <a:latin typeface="Calibri" pitchFamily="34" charset="0"/>
                <a:ea typeface="Calibri" pitchFamily="34" charset="-122"/>
                <a:cs typeface="Calibri" pitchFamily="34" charset="-120"/>
              </a:rPr>
              <a:t>Blends systems with very different transaction sizes.</a:t>
            </a:r>
            <a:endParaRPr lang="en-US" sz="1600" dirty="0"/>
          </a:p>
        </p:txBody>
      </p:sp>
      <p:sp>
        <p:nvSpPr>
          <p:cNvPr id="8" name="Text 5"/>
          <p:cNvSpPr txBox="1"/>
          <p:nvPr/>
        </p:nvSpPr>
        <p:spPr>
          <a:xfrm>
            <a:off x="5669280" y="2377440"/>
            <a:ext cx="850392" cy="731520"/>
          </a:xfrm>
          <a:prstGeom prst="rect">
            <a:avLst/>
          </a:prstGeom>
          <a:noFill/>
          <a:ln/>
        </p:spPr>
        <p:txBody>
          <a:bodyPr wrap="square" lIns="0" tIns="0" rIns="0" bIns="0" rtlCol="0" anchor="ctr"/>
          <a:lstStyle/>
          <a:p>
            <a:pPr algn="ctr" indent="0" marL="0">
              <a:buNone/>
            </a:pPr>
            <a:r>
              <a:rPr lang="en-US" sz="4000" b="1" dirty="0">
                <a:solidFill>
                  <a:schemeClr val="accent2"/>
                </a:solidFill>
                <a:latin typeface="Calibri" pitchFamily="34" charset="0"/>
                <a:ea typeface="Calibri" pitchFamily="34" charset="-122"/>
                <a:cs typeface="Calibri" pitchFamily="34" charset="-120"/>
              </a:rPr>
              <a:t>&gt;</a:t>
            </a:r>
            <a:endParaRPr lang="en-US" sz="4000" dirty="0"/>
          </a:p>
        </p:txBody>
      </p:sp>
      <p:sp>
        <p:nvSpPr>
          <p:cNvPr id="9" name="Proposed card"/>
          <p:cNvSpPr/>
          <p:nvPr/>
        </p:nvSpPr>
        <p:spPr>
          <a:xfrm>
            <a:off x="6519672" y="1371600"/>
            <a:ext cx="5120640" cy="274320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6839712" y="1600200"/>
            <a:ext cx="4480560" cy="274320"/>
          </a:xfrm>
          <a:prstGeom prst="rect">
            <a:avLst/>
          </a:prstGeom>
          <a:noFill/>
          <a:ln/>
        </p:spPr>
        <p:txBody>
          <a:bodyPr wrap="square" lIns="0" tIns="0" rIns="0" bIns="0" rtlCol="0" anchor="ctr"/>
          <a:lstStyle/>
          <a:p>
            <a:pPr indent="0" marL="0">
              <a:buNone/>
            </a:pPr>
            <a:r>
              <a:rPr lang="en-US" sz="1100" b="1" dirty="0">
                <a:solidFill>
                  <a:schemeClr val="accent3"/>
                </a:solidFill>
                <a:latin typeface="Calibri" pitchFamily="34" charset="0"/>
                <a:ea typeface="Calibri" pitchFamily="34" charset="-122"/>
                <a:cs typeface="Calibri" pitchFamily="34" charset="-120"/>
              </a:rPr>
              <a:t>PROPOSED</a:t>
            </a:r>
            <a:endParaRPr lang="en-US" sz="1100" dirty="0"/>
          </a:p>
        </p:txBody>
      </p:sp>
      <p:sp>
        <p:nvSpPr>
          <p:cNvPr id="11" name="Text 8"/>
          <p:cNvSpPr txBox="1"/>
          <p:nvPr/>
        </p:nvSpPr>
        <p:spPr>
          <a:xfrm>
            <a:off x="6839712" y="1965960"/>
            <a:ext cx="4480560" cy="548640"/>
          </a:xfrm>
          <a:prstGeom prst="rect">
            <a:avLst/>
          </a:prstGeom>
          <a:noFill/>
          <a:ln/>
        </p:spPr>
        <p:txBody>
          <a:bodyPr wrap="square" lIns="0" tIns="0" rIns="0" bIns="0" rtlCol="0" anchor="ctr"/>
          <a:lstStyle/>
          <a:p>
            <a:pPr indent="0" marL="0">
              <a:buNone/>
            </a:pPr>
            <a:r>
              <a:rPr lang="en-US" sz="2400" b="1" dirty="0">
                <a:solidFill>
                  <a:schemeClr val="tx1"/>
                </a:solidFill>
                <a:latin typeface="Calibri" pitchFamily="34" charset="0"/>
                <a:ea typeface="Calibri" pitchFamily="34" charset="-122"/>
                <a:cs typeface="Calibri" pitchFamily="34" charset="-120"/>
              </a:rPr>
              <a:t>An average per system</a:t>
            </a:r>
            <a:endParaRPr lang="en-US" sz="2400" dirty="0"/>
          </a:p>
        </p:txBody>
      </p:sp>
      <p:sp>
        <p:nvSpPr>
          <p:cNvPr id="12" name="Text 9"/>
          <p:cNvSpPr txBox="1"/>
          <p:nvPr/>
        </p:nvSpPr>
        <p:spPr>
          <a:xfrm>
            <a:off x="6839712" y="2697480"/>
            <a:ext cx="4480560" cy="10972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Separates real changes in transaction size from shifts in the mix of systems.</a:t>
            </a:r>
            <a:endParaRPr lang="en-US" sz="1600" dirty="0"/>
          </a:p>
        </p:txBody>
      </p:sp>
      <p:sp>
        <p:nvSpPr>
          <p:cNvPr id="13" name="Text 10"/>
          <p:cNvSpPr txBox="1"/>
          <p:nvPr/>
        </p:nvSpPr>
        <p:spPr>
          <a:xfrm>
            <a:off x="548640" y="4434840"/>
            <a:ext cx="5486400" cy="320040"/>
          </a:xfrm>
          <a:prstGeom prst="rect">
            <a:avLst/>
          </a:prstGeom>
          <a:noFill/>
          <a:ln/>
        </p:spPr>
        <p:txBody>
          <a:bodyPr wrap="square" lIns="0" tIns="0" rIns="0" bIns="0" rtlCol="0" anchor="ctr"/>
          <a:lstStyle/>
          <a:p>
            <a:pPr indent="0" marL="0">
              <a:buNone/>
            </a:pPr>
            <a:r>
              <a:rPr lang="en-US" sz="1400" dirty="0">
                <a:solidFill>
                  <a:srgbClr val="6F7271"/>
                </a:solidFill>
                <a:latin typeface="Calibri" pitchFamily="34" charset="0"/>
                <a:ea typeface="Calibri" pitchFamily="34" charset="-122"/>
                <a:cs typeface="Calibri" pitchFamily="34" charset="-120"/>
              </a:rPr>
              <a:t>Systems in the combined trend</a:t>
            </a:r>
            <a:endParaRPr lang="en-US" sz="1400" dirty="0"/>
          </a:p>
        </p:txBody>
      </p:sp>
      <p:sp>
        <p:nvSpPr>
          <p:cNvPr id="14" name="System CliQ"/>
          <p:cNvSpPr/>
          <p:nvPr/>
        </p:nvSpPr>
        <p:spPr>
          <a:xfrm>
            <a:off x="548640" y="4846320"/>
            <a:ext cx="2057400" cy="777240"/>
          </a:xfrm>
          <a:prstGeom prst="roundRect">
            <a:avLst>
              <a:gd name="adj" fmla="val 17647"/>
            </a:avLst>
          </a:prstGeom>
          <a:solidFill>
            <a:schemeClr val="bg2"/>
          </a:solidFill>
          <a:ln w="12700">
            <a:solidFill>
              <a:schemeClr val="bg2"/>
            </a:solidFill>
            <a:prstDash val="solid"/>
          </a:ln>
        </p:spPr>
      </p:sp>
      <p:sp>
        <p:nvSpPr>
          <p:cNvPr id="15" name="Text 12"/>
          <p:cNvSpPr txBox="1"/>
          <p:nvPr/>
        </p:nvSpPr>
        <p:spPr>
          <a:xfrm>
            <a:off x="548640" y="4846320"/>
            <a:ext cx="2057400" cy="7772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CliQ</a:t>
            </a:r>
            <a:endParaRPr lang="en-US" sz="1800" dirty="0"/>
          </a:p>
        </p:txBody>
      </p:sp>
      <p:sp>
        <p:nvSpPr>
          <p:cNvPr id="16" name="System JoMoPay"/>
          <p:cNvSpPr/>
          <p:nvPr/>
        </p:nvSpPr>
        <p:spPr>
          <a:xfrm>
            <a:off x="2788920" y="4846320"/>
            <a:ext cx="2057400" cy="777240"/>
          </a:xfrm>
          <a:prstGeom prst="roundRect">
            <a:avLst>
              <a:gd name="adj" fmla="val 17647"/>
            </a:avLst>
          </a:prstGeom>
          <a:solidFill>
            <a:schemeClr val="bg2"/>
          </a:solidFill>
          <a:ln w="12700">
            <a:solidFill>
              <a:schemeClr val="bg2"/>
            </a:solidFill>
            <a:prstDash val="solid"/>
          </a:ln>
        </p:spPr>
      </p:sp>
      <p:sp>
        <p:nvSpPr>
          <p:cNvPr id="17" name="Text 14"/>
          <p:cNvSpPr txBox="1"/>
          <p:nvPr/>
        </p:nvSpPr>
        <p:spPr>
          <a:xfrm>
            <a:off x="2788920" y="4846320"/>
            <a:ext cx="2057400" cy="7772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JoMoPay</a:t>
            </a:r>
            <a:endParaRPr lang="en-US" sz="1800" dirty="0"/>
          </a:p>
        </p:txBody>
      </p:sp>
      <p:sp>
        <p:nvSpPr>
          <p:cNvPr id="18" name="System eFAWATEERcom"/>
          <p:cNvSpPr/>
          <p:nvPr/>
        </p:nvSpPr>
        <p:spPr>
          <a:xfrm>
            <a:off x="5029200" y="4846320"/>
            <a:ext cx="2057400" cy="777240"/>
          </a:xfrm>
          <a:prstGeom prst="roundRect">
            <a:avLst>
              <a:gd name="adj" fmla="val 17647"/>
            </a:avLst>
          </a:prstGeom>
          <a:solidFill>
            <a:schemeClr val="bg2"/>
          </a:solidFill>
          <a:ln w="12700">
            <a:solidFill>
              <a:schemeClr val="bg2"/>
            </a:solidFill>
            <a:prstDash val="solid"/>
          </a:ln>
        </p:spPr>
      </p:sp>
      <p:sp>
        <p:nvSpPr>
          <p:cNvPr id="19" name="Text 16"/>
          <p:cNvSpPr txBox="1"/>
          <p:nvPr/>
        </p:nvSpPr>
        <p:spPr>
          <a:xfrm>
            <a:off x="5029200" y="4846320"/>
            <a:ext cx="2057400" cy="7772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eFAWATEERcom</a:t>
            </a:r>
            <a:endParaRPr lang="en-US" sz="1800" dirty="0"/>
          </a:p>
        </p:txBody>
      </p:sp>
      <p:sp>
        <p:nvSpPr>
          <p:cNvPr id="20" name="System ECCU"/>
          <p:cNvSpPr/>
          <p:nvPr/>
        </p:nvSpPr>
        <p:spPr>
          <a:xfrm>
            <a:off x="7269480" y="4846320"/>
            <a:ext cx="2057400" cy="777240"/>
          </a:xfrm>
          <a:prstGeom prst="roundRect">
            <a:avLst>
              <a:gd name="adj" fmla="val 17647"/>
            </a:avLst>
          </a:prstGeom>
          <a:solidFill>
            <a:schemeClr val="bg2"/>
          </a:solidFill>
          <a:ln w="12700">
            <a:solidFill>
              <a:schemeClr val="bg2"/>
            </a:solidFill>
            <a:prstDash val="solid"/>
          </a:ln>
        </p:spPr>
      </p:sp>
      <p:sp>
        <p:nvSpPr>
          <p:cNvPr id="21" name="Text 18"/>
          <p:cNvSpPr txBox="1"/>
          <p:nvPr/>
        </p:nvSpPr>
        <p:spPr>
          <a:xfrm>
            <a:off x="7269480" y="4846320"/>
            <a:ext cx="2057400" cy="7772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ECCU</a:t>
            </a:r>
            <a:endParaRPr lang="en-US" sz="1800" dirty="0"/>
          </a:p>
        </p:txBody>
      </p:sp>
      <p:sp>
        <p:nvSpPr>
          <p:cNvPr id="22" name="System ACH"/>
          <p:cNvSpPr/>
          <p:nvPr/>
        </p:nvSpPr>
        <p:spPr>
          <a:xfrm>
            <a:off x="9509760" y="4846320"/>
            <a:ext cx="2057400" cy="777240"/>
          </a:xfrm>
          <a:prstGeom prst="roundRect">
            <a:avLst>
              <a:gd name="adj" fmla="val 17647"/>
            </a:avLst>
          </a:prstGeom>
          <a:solidFill>
            <a:schemeClr val="bg2"/>
          </a:solidFill>
          <a:ln w="12700">
            <a:solidFill>
              <a:schemeClr val="bg2"/>
            </a:solidFill>
            <a:prstDash val="solid"/>
          </a:ln>
        </p:spPr>
      </p:sp>
      <p:sp>
        <p:nvSpPr>
          <p:cNvPr id="23" name="Text 20"/>
          <p:cNvSpPr txBox="1"/>
          <p:nvPr/>
        </p:nvSpPr>
        <p:spPr>
          <a:xfrm>
            <a:off x="9509760" y="4846320"/>
            <a:ext cx="2057400" cy="7772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ACH</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27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85800"/>
            <a:ext cx="9144000" cy="640080"/>
          </a:xfrm>
          <a:prstGeom prst="rect">
            <a:avLst/>
          </a:prstGeom>
          <a:noFill/>
          <a:ln/>
        </p:spPr>
        <p:txBody>
          <a:bodyPr wrap="square" lIns="0" tIns="0" rIns="0" bIns="0" rtlCol="0" anchor="ctr"/>
          <a:lstStyle/>
          <a:p>
            <a:pPr indent="0" marL="0">
              <a:buNone/>
            </a:pPr>
            <a:r>
              <a:rPr lang="en-US" sz="3600" b="1" dirty="0">
                <a:solidFill>
                  <a:schemeClr val="bg1"/>
                </a:solidFill>
                <a:latin typeface="Calibri" pitchFamily="34" charset="0"/>
                <a:ea typeface="Calibri" pitchFamily="34" charset="-122"/>
                <a:cs typeface="Calibri" pitchFamily="34" charset="-120"/>
              </a:rPr>
              <a:t>Key takeaway</a:t>
            </a:r>
            <a:endParaRPr lang="en-US" sz="3600" dirty="0"/>
          </a:p>
        </p:txBody>
      </p:sp>
      <p:sp>
        <p:nvSpPr>
          <p:cNvPr id="3" name="Text 1"/>
          <p:cNvSpPr txBox="1"/>
          <p:nvPr/>
        </p:nvSpPr>
        <p:spPr>
          <a:xfrm>
            <a:off x="731520" y="2011680"/>
            <a:ext cx="1005840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libri" pitchFamily="34" charset="0"/>
                <a:ea typeface="Calibri" pitchFamily="34" charset="-122"/>
                <a:cs typeface="Calibri" pitchFamily="34" charset="-120"/>
              </a:rPr>
              <a:t>Explain the growth, not just record it.</a:t>
            </a:r>
            <a:endParaRPr lang="en-US" sz="3000" dirty="0"/>
          </a:p>
        </p:txBody>
      </p:sp>
      <p:sp>
        <p:nvSpPr>
          <p:cNvPr id="4" name="Text 2"/>
          <p:cNvSpPr txBox="1"/>
          <p:nvPr/>
        </p:nvSpPr>
        <p:spPr>
          <a:xfrm>
            <a:off x="731520" y="2697480"/>
            <a:ext cx="10058400" cy="411480"/>
          </a:xfrm>
          <a:prstGeom prst="rect">
            <a:avLst/>
          </a:prstGeom>
          <a:noFill/>
          <a:ln/>
        </p:spPr>
        <p:txBody>
          <a:bodyPr wrap="square" lIns="0" tIns="0" rIns="0" bIns="0" rtlCol="0" anchor="ctr"/>
          <a:lstStyle/>
          <a:p>
            <a:pPr indent="0" marL="0">
              <a:buNone/>
            </a:pPr>
            <a:r>
              <a:rPr lang="en-US" sz="1800" dirty="0">
                <a:solidFill>
                  <a:srgbClr val="9EA1A2"/>
                </a:solidFill>
                <a:latin typeface="Calibri" pitchFamily="34" charset="0"/>
                <a:ea typeface="Calibri" pitchFamily="34" charset="-122"/>
                <a:cs typeface="Calibri" pitchFamily="34" charset="-120"/>
              </a:rPr>
              <a:t>Interactive view, average value, per-system detail, value distributions.</a:t>
            </a:r>
            <a:endParaRPr lang="en-US" sz="1800" dirty="0"/>
          </a:p>
        </p:txBody>
      </p:sp>
      <p:sp>
        <p:nvSpPr>
          <p:cNvPr id="5" name="Text 3"/>
          <p:cNvSpPr txBox="1"/>
          <p:nvPr/>
        </p:nvSpPr>
        <p:spPr>
          <a:xfrm>
            <a:off x="731520" y="3566160"/>
            <a:ext cx="7315200" cy="274320"/>
          </a:xfrm>
          <a:prstGeom prst="rect">
            <a:avLst/>
          </a:prstGeom>
          <a:noFill/>
          <a:ln/>
        </p:spPr>
        <p:txBody>
          <a:bodyPr wrap="square" lIns="0" tIns="0" rIns="0" bIns="0" rtlCol="0" anchor="ctr"/>
          <a:lstStyle/>
          <a:p>
            <a:pPr indent="0" marL="0">
              <a:buNone/>
            </a:pPr>
            <a:r>
              <a:rPr lang="en-US" sz="1200" dirty="0">
                <a:solidFill>
                  <a:srgbClr val="9EA1A2"/>
                </a:solidFill>
                <a:latin typeface="Calibri" pitchFamily="34" charset="0"/>
                <a:ea typeface="Calibri" pitchFamily="34" charset="-122"/>
                <a:cs typeface="Calibri" pitchFamily="34" charset="-120"/>
              </a:rPr>
              <a:t>Open questions the data cannot answer</a:t>
            </a:r>
            <a:endParaRPr lang="en-US" sz="1200" dirty="0"/>
          </a:p>
        </p:txBody>
      </p:sp>
      <p:sp>
        <p:nvSpPr>
          <p:cNvPr id="6" name="Question 1"/>
          <p:cNvSpPr/>
          <p:nvPr/>
        </p:nvSpPr>
        <p:spPr>
          <a:xfrm>
            <a:off x="731520" y="3931920"/>
            <a:ext cx="3383280" cy="1737360"/>
          </a:xfrm>
          <a:prstGeom prst="roundRect">
            <a:avLst>
              <a:gd name="adj" fmla="val 7895"/>
            </a:avLst>
          </a:prstGeom>
          <a:solidFill>
            <a:srgbClr val="3B4E5B"/>
          </a:solidFill>
          <a:ln w="12700">
            <a:solidFill>
              <a:schemeClr val="accent2"/>
            </a:solidFill>
            <a:prstDash val="solid"/>
          </a:ln>
        </p:spPr>
      </p:sp>
      <p:sp>
        <p:nvSpPr>
          <p:cNvPr id="7" name="Text 5"/>
          <p:cNvSpPr txBox="1"/>
          <p:nvPr/>
        </p:nvSpPr>
        <p:spPr>
          <a:xfrm>
            <a:off x="960120" y="3931920"/>
            <a:ext cx="2926080" cy="173736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What drove eFAWATEERcom's 12.0% fall in Q1 2026?</a:t>
            </a:r>
            <a:endParaRPr lang="en-US" sz="1800" dirty="0"/>
          </a:p>
        </p:txBody>
      </p:sp>
      <p:sp>
        <p:nvSpPr>
          <p:cNvPr id="8" name="Question 2"/>
          <p:cNvSpPr/>
          <p:nvPr/>
        </p:nvSpPr>
        <p:spPr>
          <a:xfrm>
            <a:off x="4343400" y="3931920"/>
            <a:ext cx="3383280" cy="1737360"/>
          </a:xfrm>
          <a:prstGeom prst="roundRect">
            <a:avLst>
              <a:gd name="adj" fmla="val 7895"/>
            </a:avLst>
          </a:prstGeom>
          <a:solidFill>
            <a:srgbClr val="3B4E5B"/>
          </a:solidFill>
          <a:ln w="12700">
            <a:solidFill>
              <a:schemeClr val="accent2"/>
            </a:solidFill>
            <a:prstDash val="solid"/>
          </a:ln>
        </p:spPr>
      </p:sp>
      <p:sp>
        <p:nvSpPr>
          <p:cNvPr id="9" name="Text 7"/>
          <p:cNvSpPr txBox="1"/>
          <p:nvPr/>
        </p:nvSpPr>
        <p:spPr>
          <a:xfrm>
            <a:off x="4572000" y="3931920"/>
            <a:ext cx="2926080" cy="173736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Is growth from smaller payments sustainable?</a:t>
            </a:r>
            <a:endParaRPr lang="en-US" sz="1800" dirty="0"/>
          </a:p>
        </p:txBody>
      </p:sp>
      <p:sp>
        <p:nvSpPr>
          <p:cNvPr id="10" name="Question 3"/>
          <p:cNvSpPr/>
          <p:nvPr/>
        </p:nvSpPr>
        <p:spPr>
          <a:xfrm>
            <a:off x="7955280" y="3931920"/>
            <a:ext cx="3383280" cy="1737360"/>
          </a:xfrm>
          <a:prstGeom prst="roundRect">
            <a:avLst>
              <a:gd name="adj" fmla="val 7895"/>
            </a:avLst>
          </a:prstGeom>
          <a:solidFill>
            <a:srgbClr val="3B4E5B"/>
          </a:solidFill>
          <a:ln w="12700">
            <a:solidFill>
              <a:schemeClr val="accent2"/>
            </a:solidFill>
            <a:prstDash val="solid"/>
          </a:ln>
        </p:spPr>
      </p:sp>
      <p:sp>
        <p:nvSpPr>
          <p:cNvPr id="11" name="Text 9"/>
          <p:cNvSpPr txBox="1"/>
          <p:nvPr/>
        </p:nvSpPr>
        <p:spPr>
          <a:xfrm>
            <a:off x="8183880" y="3931920"/>
            <a:ext cx="2926080" cy="173736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What does the typical transaction look like?</a:t>
            </a:r>
            <a:endParaRPr lang="en-US" sz="1800" dirty="0"/>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Part One: Gaps and Recommendations</dc:title>
  <dc:subject>PptxGenJS Presentation</dc:subject>
  <dc:creator>PptxGenJS</dc:creator>
  <cp:lastModifiedBy>PptxGenJS</cp:lastModifiedBy>
  <cp:revision>1</cp:revision>
  <dcterms:created xsi:type="dcterms:W3CDTF">2026-10-12T18:39:51Z</dcterms:created>
  <dcterms:modified xsi:type="dcterms:W3CDTF">2026-10-12T18:39:51Z</dcterms:modified>
</cp:coreProperties>
</file>