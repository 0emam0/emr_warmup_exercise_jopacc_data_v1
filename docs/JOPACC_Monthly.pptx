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9" r:id="rId4"/>
    <p:sldId id="274" r:id="rId5"/>
    <p:sldId id="267" r:id="rId6"/>
    <p:sldId id="261" r:id="rId7"/>
    <p:sldId id="260" r:id="rId8"/>
    <p:sldId id="266" r:id="rId9"/>
    <p:sldId id="258" r:id="rId10"/>
    <p:sldId id="262" r:id="rId11"/>
    <p:sldId id="263" r:id="rId12"/>
    <p:sldId id="269" r:id="rId13"/>
    <p:sldId id="273" r:id="rId14"/>
    <p:sldId id="272"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6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
          <c:y val="0"/>
          <c:w val="1"/>
          <c:h val="1"/>
        </c:manualLayout>
      </c:layout>
      <c:barChart>
        <c:barDir val="col"/>
        <c:grouping val="clustered"/>
        <c:varyColors val="0"/>
        <c:ser>
          <c:idx val="0"/>
          <c:order val="0"/>
          <c:tx>
            <c:strRef>
              <c:f>Sheet1!$B$1</c:f>
              <c:strCache>
                <c:ptCount val="1"/>
                <c:pt idx="0">
                  <c:v>Transactions</c:v>
                </c:pt>
              </c:strCache>
            </c:strRef>
          </c:tx>
          <c:spPr>
            <a:solidFill>
              <a:srgbClr val="A9B0B0"/>
            </a:solidFill>
            <a:effectLst/>
          </c:spPr>
          <c:invertIfNegative val="0"/>
          <c:dPt>
            <c:idx val="0"/>
            <c:invertIfNegative val="0"/>
            <c:bubble3D val="0"/>
            <c:extLst>
              <c:ext xmlns:c16="http://schemas.microsoft.com/office/drawing/2014/chart" uri="{C3380CC4-5D6E-409C-BE32-E72D297353CC}">
                <c16:uniqueId val="{00000001-1750-45BE-8AED-F39D10B0ABE3}"/>
              </c:ext>
            </c:extLst>
          </c:dPt>
          <c:dPt>
            <c:idx val="1"/>
            <c:invertIfNegative val="0"/>
            <c:bubble3D val="0"/>
            <c:spPr>
              <a:solidFill>
                <a:srgbClr val="F9B000"/>
              </a:solidFill>
              <a:effectLst/>
            </c:spPr>
            <c:extLst>
              <c:ext xmlns:c16="http://schemas.microsoft.com/office/drawing/2014/chart" uri="{C3380CC4-5D6E-409C-BE32-E72D297353CC}">
                <c16:uniqueId val="{00000003-1750-45BE-8AED-F39D10B0ABE3}"/>
              </c:ext>
            </c:extLst>
          </c:dPt>
          <c:dLbls>
            <c:dLbl>
              <c:idx val="0"/>
              <c:layout>
                <c:manualLayout>
                  <c:x val="0"/>
                  <c:y val="3.8889107611548533E-2"/>
                </c:manualLayout>
              </c:layout>
              <c:showLegendKey val="0"/>
              <c:showVal val="1"/>
              <c:showCatName val="0"/>
              <c:showSerName val="0"/>
              <c:showPercent val="0"/>
              <c:showBubbleSize val="0"/>
              <c:extLst>
                <c:ext xmlns:c15="http://schemas.microsoft.com/office/drawing/2012/chart" uri="{CE6537A1-D6FC-4f65-9D91-7224C49458BB}">
                  <c15:layout>
                    <c:manualLayout>
                      <c:w val="0.28256578947368421"/>
                      <c:h val="0.26083333333333331"/>
                    </c:manualLayout>
                  </c15:layout>
                </c:ext>
                <c:ext xmlns:c16="http://schemas.microsoft.com/office/drawing/2014/chart" uri="{C3380CC4-5D6E-409C-BE32-E72D297353CC}">
                  <c16:uniqueId val="{00000001-1750-45BE-8AED-F39D10B0ABE3}"/>
                </c:ext>
              </c:extLst>
            </c:dLbl>
            <c:dLbl>
              <c:idx val="1"/>
              <c:layout>
                <c:manualLayout>
                  <c:x val="0"/>
                  <c:y val="-4.9999781277340338E-2"/>
                </c:manualLayout>
              </c:layout>
              <c:showLegendKey val="0"/>
              <c:showVal val="1"/>
              <c:showCatName val="0"/>
              <c:showSerName val="0"/>
              <c:showPercent val="0"/>
              <c:showBubbleSize val="0"/>
              <c:extLst>
                <c:ext xmlns:c15="http://schemas.microsoft.com/office/drawing/2012/chart" uri="{CE6537A1-D6FC-4f65-9D91-7224C49458BB}">
                  <c15:layout>
                    <c:manualLayout>
                      <c:w val="0.24601608187134502"/>
                      <c:h val="0.1608333333333333"/>
                    </c:manualLayout>
                  </c15:layout>
                </c:ext>
                <c:ext xmlns:c16="http://schemas.microsoft.com/office/drawing/2014/chart" uri="{C3380CC4-5D6E-409C-BE32-E72D297353CC}">
                  <c16:uniqueId val="{00000003-1750-45BE-8AED-F39D10B0ABE3}"/>
                </c:ext>
              </c:extLst>
            </c:dLbl>
            <c:numFmt formatCode="0.00&quot;M&quot;" sourceLinked="0"/>
            <c:spPr>
              <a:noFill/>
              <a:ln>
                <a:noFill/>
              </a:ln>
              <a:effectLst/>
            </c:spPr>
            <c:txPr>
              <a:bodyPr/>
              <a:lstStyle/>
              <a:p>
                <a:pPr>
                  <a:defRPr sz="1800" b="1" i="0" u="none" strike="noStrike">
                    <a:solidFill>
                      <a:srgbClr val="2F37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2025</c:v>
                </c:pt>
                <c:pt idx="1">
                  <c:v>Aug 2026</c:v>
                </c:pt>
              </c:strCache>
            </c:strRef>
          </c:cat>
          <c:val>
            <c:numRef>
              <c:f>Sheet1!$B$2:$B$3</c:f>
              <c:numCache>
                <c:formatCode>General</c:formatCode>
                <c:ptCount val="2"/>
                <c:pt idx="0">
                  <c:v>15.77</c:v>
                </c:pt>
                <c:pt idx="1">
                  <c:v>24</c:v>
                </c:pt>
              </c:numCache>
            </c:numRef>
          </c:val>
          <c:extLst>
            <c:ext xmlns:c16="http://schemas.microsoft.com/office/drawing/2014/chart" uri="{C3380CC4-5D6E-409C-BE32-E72D297353CC}">
              <c16:uniqueId val="{00000004-1750-45BE-8AED-F39D10B0ABE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8.79999999999999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
          <c:y val="0"/>
          <c:w val="1"/>
          <c:h val="1"/>
        </c:manualLayout>
      </c:layout>
      <c:barChart>
        <c:barDir val="col"/>
        <c:grouping val="clustered"/>
        <c:varyColors val="0"/>
        <c:ser>
          <c:idx val="0"/>
          <c:order val="0"/>
          <c:tx>
            <c:strRef>
              <c:f>Sheet1!$B$1</c:f>
              <c:strCache>
                <c:ptCount val="1"/>
                <c:pt idx="0">
                  <c:v>Users</c:v>
                </c:pt>
              </c:strCache>
            </c:strRef>
          </c:tx>
          <c:spPr>
            <a:solidFill>
              <a:srgbClr val="A9B0B0"/>
            </a:solidFill>
            <a:effectLst/>
          </c:spPr>
          <c:invertIfNegative val="0"/>
          <c:dPt>
            <c:idx val="0"/>
            <c:invertIfNegative val="0"/>
            <c:bubble3D val="0"/>
            <c:extLst>
              <c:ext xmlns:c16="http://schemas.microsoft.com/office/drawing/2014/chart" uri="{C3380CC4-5D6E-409C-BE32-E72D297353CC}">
                <c16:uniqueId val="{00000001-61D1-4CFE-9394-9E43D846DEFA}"/>
              </c:ext>
            </c:extLst>
          </c:dPt>
          <c:dPt>
            <c:idx val="1"/>
            <c:invertIfNegative val="0"/>
            <c:bubble3D val="0"/>
            <c:spPr>
              <a:solidFill>
                <a:srgbClr val="F9B000"/>
              </a:solidFill>
              <a:effectLst/>
            </c:spPr>
            <c:extLst>
              <c:ext xmlns:c16="http://schemas.microsoft.com/office/drawing/2014/chart" uri="{C3380CC4-5D6E-409C-BE32-E72D297353CC}">
                <c16:uniqueId val="{00000003-61D1-4CFE-9394-9E43D846DEFA}"/>
              </c:ext>
            </c:extLst>
          </c:dPt>
          <c:dLbls>
            <c:numFmt formatCode="0.00&quot;M&quot;" sourceLinked="0"/>
            <c:spPr>
              <a:noFill/>
              <a:ln>
                <a:noFill/>
              </a:ln>
              <a:effectLst/>
            </c:spPr>
            <c:txPr>
              <a:bodyPr/>
              <a:lstStyle/>
              <a:p>
                <a:pPr>
                  <a:defRPr sz="1800" b="1" i="0" u="none" strike="noStrike">
                    <a:solidFill>
                      <a:srgbClr val="2F37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2025</c:v>
                </c:pt>
                <c:pt idx="1">
                  <c:v>Aug 2026</c:v>
                </c:pt>
              </c:strCache>
            </c:strRef>
          </c:cat>
          <c:val>
            <c:numRef>
              <c:f>Sheet1!$B$2:$B$3</c:f>
              <c:numCache>
                <c:formatCode>General</c:formatCode>
                <c:ptCount val="2"/>
                <c:pt idx="0">
                  <c:v>1.96</c:v>
                </c:pt>
                <c:pt idx="1">
                  <c:v>2.39</c:v>
                </c:pt>
              </c:numCache>
            </c:numRef>
          </c:val>
          <c:extLst>
            <c:ext xmlns:c16="http://schemas.microsoft.com/office/drawing/2014/chart" uri="{C3380CC4-5D6E-409C-BE32-E72D297353CC}">
              <c16:uniqueId val="{00000004-61D1-4CFE-9394-9E43D846DEF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8679999999999999"/>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
          <c:y val="0"/>
          <c:w val="1"/>
          <c:h val="1"/>
        </c:manualLayout>
      </c:layout>
      <c:barChart>
        <c:barDir val="col"/>
        <c:grouping val="clustered"/>
        <c:varyColors val="0"/>
        <c:ser>
          <c:idx val="0"/>
          <c:order val="0"/>
          <c:tx>
            <c:strRef>
              <c:f>Sheet1!$B$1</c:f>
              <c:strCache>
                <c:ptCount val="1"/>
                <c:pt idx="0">
                  <c:v>Value of transactions</c:v>
                </c:pt>
              </c:strCache>
            </c:strRef>
          </c:tx>
          <c:spPr>
            <a:solidFill>
              <a:srgbClr val="A9B0B0"/>
            </a:solidFill>
            <a:effectLst/>
          </c:spPr>
          <c:invertIfNegative val="0"/>
          <c:dPt>
            <c:idx val="0"/>
            <c:invertIfNegative val="0"/>
            <c:bubble3D val="0"/>
            <c:extLst>
              <c:ext xmlns:c16="http://schemas.microsoft.com/office/drawing/2014/chart" uri="{C3380CC4-5D6E-409C-BE32-E72D297353CC}">
                <c16:uniqueId val="{00000001-6AFB-41E9-9B98-7E91AA764887}"/>
              </c:ext>
            </c:extLst>
          </c:dPt>
          <c:dPt>
            <c:idx val="1"/>
            <c:invertIfNegative val="0"/>
            <c:bubble3D val="0"/>
            <c:spPr>
              <a:solidFill>
                <a:srgbClr val="F9B000"/>
              </a:solidFill>
              <a:effectLst/>
            </c:spPr>
            <c:extLst>
              <c:ext xmlns:c16="http://schemas.microsoft.com/office/drawing/2014/chart" uri="{C3380CC4-5D6E-409C-BE32-E72D297353CC}">
                <c16:uniqueId val="{00000003-6AFB-41E9-9B98-7E91AA764887}"/>
              </c:ext>
            </c:extLst>
          </c:dPt>
          <c:dLbls>
            <c:numFmt formatCode="0.00&quot;B&quot;" sourceLinked="0"/>
            <c:spPr>
              <a:noFill/>
              <a:ln>
                <a:noFill/>
              </a:ln>
              <a:effectLst/>
            </c:spPr>
            <c:txPr>
              <a:bodyPr/>
              <a:lstStyle/>
              <a:p>
                <a:pPr>
                  <a:defRPr sz="1800" b="1" i="0" u="none" strike="noStrike">
                    <a:solidFill>
                      <a:srgbClr val="2F373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2025</c:v>
                </c:pt>
                <c:pt idx="1">
                  <c:v>Aug 2026</c:v>
                </c:pt>
              </c:strCache>
            </c:strRef>
          </c:cat>
          <c:val>
            <c:numRef>
              <c:f>Sheet1!$B$2:$B$3</c:f>
              <c:numCache>
                <c:formatCode>General</c:formatCode>
                <c:ptCount val="2"/>
                <c:pt idx="0">
                  <c:v>1.88</c:v>
                </c:pt>
                <c:pt idx="1">
                  <c:v>2.4300000000000002</c:v>
                </c:pt>
              </c:numCache>
            </c:numRef>
          </c:val>
          <c:extLst>
            <c:ext xmlns:c16="http://schemas.microsoft.com/office/drawing/2014/chart" uri="{C3380CC4-5D6E-409C-BE32-E72D297353CC}">
              <c16:uniqueId val="{00000004-6AFB-41E9-9B98-7E91AA76488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2.9159999999999999"/>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Transactions (M)</c:v>
                </c:pt>
              </c:strCache>
            </c:strRef>
          </c:tx>
          <c:spPr>
            <a:solidFill>
              <a:srgbClr val="172033"/>
            </a:solidFill>
          </c:spPr>
          <c:invertIfNegative val="1"/>
          <c:dPt>
            <c:idx val="0"/>
            <c:invertIfNegative val="1"/>
            <c:bubble3D val="0"/>
            <c:spPr>
              <a:solidFill>
                <a:srgbClr val="F2A922"/>
              </a:solidFill>
            </c:spPr>
            <c:extLst>
              <c:ext xmlns:c16="http://schemas.microsoft.com/office/drawing/2014/chart" uri="{C3380CC4-5D6E-409C-BE32-E72D297353CC}">
                <c16:uniqueId val="{00000001-B510-45C0-9AEB-73FD307CD22D}"/>
              </c:ext>
            </c:extLst>
          </c:dPt>
          <c:dLbls>
            <c:numFmt formatCode="0.00&quot;M&quot;" sourceLinked="0"/>
            <c:spPr>
              <a:noFill/>
              <a:ln>
                <a:noFill/>
              </a:ln>
              <a:effectLst/>
            </c:spPr>
            <c:txPr>
              <a:bodyPr/>
              <a:lstStyle/>
              <a:p>
                <a:pPr>
                  <a:defRPr sz="1200" b="1">
                    <a:solidFill>
                      <a:srgbClr val="1720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Telecommunication</c:v>
                </c:pt>
                <c:pt idx="1">
                  <c:v>Water and Electricity</c:v>
                </c:pt>
                <c:pt idx="2">
                  <c:v>Government Service</c:v>
                </c:pt>
                <c:pt idx="3">
                  <c:v>Wallets and PSPs</c:v>
                </c:pt>
                <c:pt idx="4">
                  <c:v>Financial Services</c:v>
                </c:pt>
              </c:strCache>
            </c:strRef>
          </c:cat>
          <c:val>
            <c:numRef>
              <c:f>Sheet1!$B$2:$B$6</c:f>
              <c:numCache>
                <c:formatCode>General</c:formatCode>
                <c:ptCount val="5"/>
                <c:pt idx="0">
                  <c:v>2.2000000000000002</c:v>
                </c:pt>
                <c:pt idx="1">
                  <c:v>2.0499999999999998</c:v>
                </c:pt>
                <c:pt idx="2">
                  <c:v>1.71</c:v>
                </c:pt>
                <c:pt idx="3">
                  <c:v>0.58799999999999997</c:v>
                </c:pt>
                <c:pt idx="4">
                  <c:v>0.32700000000000001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B510-45C0-9AEB-73FD307CD22D}"/>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none"/>
        <c:minorTickMark val="none"/>
        <c:tickLblPos val="nextTo"/>
        <c:spPr>
          <a:ln>
            <a:solidFill>
              <a:srgbClr val="E2DFD6"/>
            </a:solidFill>
          </a:ln>
        </c:spPr>
        <c:txPr>
          <a:bodyPr/>
          <a:lstStyle/>
          <a:p>
            <a:pPr>
              <a:defRPr sz="1200">
                <a:solidFill>
                  <a:srgbClr val="172033"/>
                </a:solidFill>
              </a:defRPr>
            </a:pPr>
            <a:endParaRPr lang="en-US"/>
          </a:p>
        </c:txPr>
        <c:crossAx val="-2113994440"/>
        <c:crosses val="autoZero"/>
        <c:auto val="1"/>
        <c:lblAlgn val="ctr"/>
        <c:lblOffset val="100"/>
        <c:noMultiLvlLbl val="0"/>
      </c:catAx>
      <c:valAx>
        <c:axId val="-2113994440"/>
        <c:scaling>
          <c:orientation val="minMax"/>
          <c:max val="2.9"/>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72033"/>
          </a:solidFill>
          <a:latin typeface="IBM Plex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
          <c:y val="0"/>
          <c:w val="1"/>
          <c:h val="1"/>
        </c:manualLayout>
      </c:layout>
      <c:barChart>
        <c:barDir val="bar"/>
        <c:grouping val="stacked"/>
        <c:varyColors val="0"/>
        <c:ser>
          <c:idx val="0"/>
          <c:order val="0"/>
          <c:tx>
            <c:strRef>
              <c:f>Sheet1!$B$1</c:f>
              <c:strCache>
                <c:ptCount val="1"/>
                <c:pt idx="0">
                  <c:v>To Bank</c:v>
                </c:pt>
              </c:strCache>
            </c:strRef>
          </c:tx>
          <c:spPr>
            <a:solidFill>
              <a:srgbClr val="1C3A4B"/>
            </a:solidFill>
            <a:effectLst/>
          </c:spPr>
          <c:invertIfNegative val="0"/>
          <c:cat>
            <c:strRef>
              <c:f>Sheet1!$A$2:$A$3</c:f>
              <c:strCache>
                <c:ptCount val="2"/>
                <c:pt idx="0">
                  <c:v>Banks</c:v>
                </c:pt>
                <c:pt idx="1">
                  <c:v>PSPs</c:v>
                </c:pt>
              </c:strCache>
            </c:strRef>
          </c:cat>
          <c:val>
            <c:numRef>
              <c:f>Sheet1!$B$2:$B$3</c:f>
              <c:numCache>
                <c:formatCode>General</c:formatCode>
                <c:ptCount val="2"/>
                <c:pt idx="0">
                  <c:v>15.81</c:v>
                </c:pt>
                <c:pt idx="1">
                  <c:v>5.09</c:v>
                </c:pt>
              </c:numCache>
            </c:numRef>
          </c:val>
          <c:extLst>
            <c:ext xmlns:c16="http://schemas.microsoft.com/office/drawing/2014/chart" uri="{C3380CC4-5D6E-409C-BE32-E72D297353CC}">
              <c16:uniqueId val="{00000000-CD5A-4FBC-8D6A-C7C2178C1B60}"/>
            </c:ext>
          </c:extLst>
        </c:ser>
        <c:ser>
          <c:idx val="1"/>
          <c:order val="1"/>
          <c:tx>
            <c:strRef>
              <c:f>Sheet1!$C$1</c:f>
              <c:strCache>
                <c:ptCount val="1"/>
                <c:pt idx="0">
                  <c:v>To PSP</c:v>
                </c:pt>
              </c:strCache>
            </c:strRef>
          </c:tx>
          <c:spPr>
            <a:solidFill>
              <a:srgbClr val="FFB400"/>
            </a:solidFill>
            <a:effectLst/>
          </c:spPr>
          <c:invertIfNegative val="0"/>
          <c:cat>
            <c:strRef>
              <c:f>Sheet1!$A$2:$A$3</c:f>
              <c:strCache>
                <c:ptCount val="2"/>
                <c:pt idx="0">
                  <c:v>Banks</c:v>
                </c:pt>
                <c:pt idx="1">
                  <c:v>PSPs</c:v>
                </c:pt>
              </c:strCache>
            </c:strRef>
          </c:cat>
          <c:val>
            <c:numRef>
              <c:f>Sheet1!$C$2:$C$3</c:f>
              <c:numCache>
                <c:formatCode>General</c:formatCode>
                <c:ptCount val="2"/>
                <c:pt idx="0">
                  <c:v>8.16</c:v>
                </c:pt>
                <c:pt idx="1">
                  <c:v>12.27</c:v>
                </c:pt>
              </c:numCache>
            </c:numRef>
          </c:val>
          <c:extLst>
            <c:ext xmlns:c16="http://schemas.microsoft.com/office/drawing/2014/chart" uri="{C3380CC4-5D6E-409C-BE32-E72D297353CC}">
              <c16:uniqueId val="{00000001-CD5A-4FBC-8D6A-C7C2178C1B60}"/>
            </c:ext>
          </c:extLst>
        </c:ser>
        <c:ser>
          <c:idx val="2"/>
          <c:order val="2"/>
          <c:tx>
            <c:strRef>
              <c:f>Sheet1!$D$1</c:f>
              <c:strCache>
                <c:ptCount val="1"/>
                <c:pt idx="0">
                  <c:v>To Acquirer</c:v>
                </c:pt>
              </c:strCache>
            </c:strRef>
          </c:tx>
          <c:spPr>
            <a:solidFill>
              <a:srgbClr val="2EC4B6"/>
            </a:solidFill>
            <a:effectLst/>
          </c:spPr>
          <c:invertIfNegative val="0"/>
          <c:cat>
            <c:strRef>
              <c:f>Sheet1!$A$2:$A$3</c:f>
              <c:strCache>
                <c:ptCount val="2"/>
                <c:pt idx="0">
                  <c:v>Banks</c:v>
                </c:pt>
                <c:pt idx="1">
                  <c:v>PSPs</c:v>
                </c:pt>
              </c:strCache>
            </c:strRef>
          </c:cat>
          <c:val>
            <c:numRef>
              <c:f>Sheet1!$D$2:$D$3</c:f>
              <c:numCache>
                <c:formatCode>General</c:formatCode>
                <c:ptCount val="2"/>
                <c:pt idx="0">
                  <c:v>2.385E-2</c:v>
                </c:pt>
                <c:pt idx="1">
                  <c:v>0.30281000000000002</c:v>
                </c:pt>
              </c:numCache>
            </c:numRef>
          </c:val>
          <c:extLst>
            <c:ext xmlns:c16="http://schemas.microsoft.com/office/drawing/2014/chart" uri="{C3380CC4-5D6E-409C-BE32-E72D297353CC}">
              <c16:uniqueId val="{00000002-CD5A-4FBC-8D6A-C7C2178C1B60}"/>
            </c:ext>
          </c:extLst>
        </c:ser>
        <c:dLbls>
          <c:showLegendKey val="0"/>
          <c:showVal val="0"/>
          <c:showCatName val="0"/>
          <c:showSerName val="0"/>
          <c:showPercent val="0"/>
          <c:showBubbleSize val="0"/>
        </c:dLbls>
        <c:gapWidth val="150"/>
        <c:overlap val="100"/>
        <c:axId val="2094734554"/>
        <c:axId val="2094734552"/>
      </c:barChart>
      <c:catAx>
        <c:axId val="2094734554"/>
        <c:scaling>
          <c:orientation val="maxMin"/>
        </c:scaling>
        <c:delete val="1"/>
        <c:axPos val="l"/>
        <c:numFmt formatCode="General" sourceLinked="1"/>
        <c:majorTickMark val="out"/>
        <c:minorTickMark val="none"/>
        <c:tickLblPos val="nextTo"/>
        <c:crossAx val="2094734552"/>
        <c:crosses val="autoZero"/>
        <c:auto val="1"/>
        <c:lblAlgn val="ctr"/>
        <c:lblOffset val="100"/>
        <c:noMultiLvlLbl val="1"/>
      </c:catAx>
      <c:valAx>
        <c:axId val="2094734552"/>
        <c:scaling>
          <c:orientation val="minMax"/>
          <c:max val="24"/>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005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walk the data team through the proposed changes to the monthly report, which follow the order of the report itself: All Systems, IPS, eFAWATEERcom, ECCU and Visual Design. Agree what we build and confirm the open definitions and data requirements on the last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sections, in the order the report will follow: All Systems, IPS, eFAWATEERcom, ECCU, then visual design, which applies to the whole report. Successful Cheques sits inside ECCU, not as its own section.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mock-up page. Headline numbers on top, then value share and volume share per system (ECCU, IPS, eFAWATEERcom, ACH). IPS combines CliQ and JoMoPay, which is the same merge as the IPS section. Active accounts and the Active Accounts Rate are added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formula is my proposed wording, not an agreed definition. Ask the data team to confirm what counts as an active account, the denominator (total accounts), and which payment systems the rate applies to. No account counts are available in the current material, so none are shown. The Successful Cheques Rate now sits in the ECCU section.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six months: the Mar-26 rise of 11.8% looks like a new trend in a 3-month window, but December was nearly as high. More history lets readers separate a seasonal peak from a real change. The eFAWATEERcom chart is only the example; IPS volume and value trend charts move from three to six months, and the same applies to every other section.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Replaces the existing ATV charts. Transaction volume and transaction value are bars; ATV (value divided by volume) is the line on its own labelled axis, so the three are never mixed. Changes shown are March to August 2026 as printed on the chart. The chart is the supplied mock-up image; rebuild it as a native chart once the final data feed is agreed.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existing Instant Payments and Interoperability sections become one IPS section: a consolidated overview first, then CliQ, then JoMoPay, then a dedicated Interoperability subsection. Mock-up figures: IPS 38.79M transactions and 3.20B JOD, of which CliQ 2.43B and JoMoPay 0.77B JOD. Duplicated indicators are removed so overall IPS activity and interoperability-specific activity can be told apart.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 5 by transactions in the mock-up: Telecommunication 2.2M, Water and Electricity 2.05M, Government Service 1.71M, Wallets and PSPs 588K, Financial Services 327K. The eight other categories are each 154K or less and are sorted by volume in the table. The 95% figure is the Top 5 share of the categories listed on that page (about 6.88M of 7.25M). Chart and table are native objects built from the mock-up values.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layout sketch with placeholders, not data. Confirm where the technical return reasons come from and whether the monthly report breaks returned cheques down by reason today.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72033"/>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172033"/>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72033"/>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172033"/>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Autofit/>
          </a:bodyPr>
          <a:lstStyle/>
          <a:p>
            <a:pPr marL="0" indent="0" algn="l">
              <a:lnSpc>
                <a:spcPts val="1960"/>
              </a:lnSpc>
              <a:buNone/>
            </a:pPr>
            <a:r>
              <a:rPr lang="en-US" sz="1400" b="1" kern="0" spc="200" dirty="0">
                <a:solidFill>
                  <a:srgbClr val="F2A922"/>
                </a:solidFill>
                <a:latin typeface="IBM Plex Sans" pitchFamily="34" charset="0"/>
                <a:ea typeface="IBM Plex Sans" pitchFamily="34" charset="-122"/>
                <a:cs typeface="IBM Plex Sans" pitchFamily="34" charset="-120"/>
              </a:rPr>
              <a:t>JOPACC · MONTHLY REPORT</a:t>
            </a:r>
            <a:endParaRPr lang="en-US" sz="1400" dirty="0"/>
          </a:p>
        </p:txBody>
      </p:sp>
      <p:sp>
        <p:nvSpPr>
          <p:cNvPr id="3" name="Shape 1"/>
          <p:cNvSpPr/>
          <p:nvPr/>
        </p:nvSpPr>
        <p:spPr>
          <a:xfrm>
            <a:off x="812800" y="2171700"/>
            <a:ext cx="1016000" cy="76200"/>
          </a:xfrm>
          <a:prstGeom prst="rect">
            <a:avLst/>
          </a:prstGeom>
          <a:solidFill>
            <a:srgbClr val="F2A922"/>
          </a:solidFill>
          <a:ln/>
        </p:spPr>
        <p:txBody>
          <a:bodyPr/>
          <a:lstStyle/>
          <a:p>
            <a:endParaRPr/>
          </a:p>
        </p:txBody>
      </p:sp>
      <p:sp>
        <p:nvSpPr>
          <p:cNvPr id="4" name="Text 2"/>
          <p:cNvSpPr>
            <a:spLocks noGrp="1"/>
          </p:cNvSpPr>
          <p:nvPr>
            <p:ph type="title"/>
          </p:nvPr>
        </p:nvSpPr>
        <p:spPr>
          <a:xfrm>
            <a:off x="812800" y="2501900"/>
            <a:ext cx="9156700" cy="1625600"/>
          </a:xfrm>
          <a:prstGeom prst="rect">
            <a:avLst/>
          </a:prstGeom>
          <a:noFill/>
          <a:ln/>
        </p:spPr>
        <p:txBody>
          <a:bodyPr wrap="square" lIns="0" tIns="0" rIns="0" bIns="0" rtlCol="0" anchor="t">
            <a:noAutofit/>
          </a:bodyPr>
          <a:lstStyle/>
          <a:p>
            <a:pPr marL="0" indent="0" algn="l">
              <a:lnSpc>
                <a:spcPts val="6300"/>
              </a:lnSpc>
              <a:buNone/>
            </a:pPr>
            <a:r>
              <a:rPr lang="en-US" sz="6000" b="1" i="0" dirty="0">
                <a:solidFill>
                  <a:srgbClr val="F6F5F1"/>
                </a:solidFill>
                <a:latin typeface="IBM Plex Sans" pitchFamily="34" charset="0"/>
                <a:ea typeface="IBM Plex Sans" pitchFamily="34" charset="-122"/>
                <a:cs typeface="IBM Plex Sans" pitchFamily="34" charset="-120"/>
              </a:rPr>
              <a:t>Monthly report: proposed changes</a:t>
            </a:r>
            <a:endParaRPr lang="en-US" sz="6000" dirty="0"/>
          </a:p>
        </p:txBody>
      </p:sp>
      <p:sp>
        <p:nvSpPr>
          <p:cNvPr id="5" name="Text 3"/>
          <p:cNvSpPr/>
          <p:nvPr/>
        </p:nvSpPr>
        <p:spPr>
          <a:xfrm>
            <a:off x="812800" y="4356100"/>
            <a:ext cx="7848600" cy="355600"/>
          </a:xfrm>
          <a:prstGeom prst="rect">
            <a:avLst/>
          </a:prstGeom>
          <a:noFill/>
          <a:ln/>
        </p:spPr>
        <p:txBody>
          <a:bodyPr wrap="square" lIns="0" tIns="0" rIns="0" bIns="0" rtlCol="0" anchor="t">
            <a:noAutofit/>
          </a:bodyPr>
          <a:lstStyle/>
          <a:p>
            <a:pPr marL="0" indent="0" algn="l">
              <a:lnSpc>
                <a:spcPts val="2600"/>
              </a:lnSpc>
              <a:buNone/>
            </a:pPr>
            <a:r>
              <a:rPr lang="en-US" sz="2000" dirty="0">
                <a:solidFill>
                  <a:srgbClr val="C9CFD8"/>
                </a:solidFill>
                <a:latin typeface="IBM Plex Sans" pitchFamily="34" charset="0"/>
                <a:ea typeface="IBM Plex Sans" pitchFamily="34" charset="-122"/>
                <a:cs typeface="IBM Plex Sans" pitchFamily="34" charset="-120"/>
              </a:rPr>
              <a:t>All Systems, IPS, eFAWATEERcom, ECCU and Visual Design</a:t>
            </a:r>
            <a:endParaRPr lang="en-US" sz="2000" dirty="0"/>
          </a:p>
        </p:txBody>
      </p:sp>
      <p:sp>
        <p:nvSpPr>
          <p:cNvPr id="6" name="Text 4"/>
          <p:cNvSpPr/>
          <p:nvPr/>
        </p:nvSpPr>
        <p:spPr>
          <a:xfrm>
            <a:off x="812800" y="5796310"/>
            <a:ext cx="10883392" cy="274290"/>
          </a:xfrm>
          <a:prstGeom prst="rect">
            <a:avLst/>
          </a:prstGeom>
          <a:noFill/>
          <a:ln/>
        </p:spPr>
        <p:txBody>
          <a:bodyPr wrap="square" lIns="0" tIns="0" rIns="0" bIns="0" rtlCol="0" anchor="t">
            <a:noAutofit/>
          </a:bodyPr>
          <a:lstStyle/>
          <a:p>
            <a:pPr marL="0" indent="0" algn="l">
              <a:lnSpc>
                <a:spcPts val="1960"/>
              </a:lnSpc>
              <a:buNone/>
            </a:pPr>
            <a:r>
              <a:rPr lang="en-US" sz="1400" dirty="0">
                <a:solidFill>
                  <a:srgbClr val="C9CFD8"/>
                </a:solidFill>
                <a:latin typeface="IBM Plex Sans" pitchFamily="34" charset="0"/>
                <a:ea typeface="IBM Plex Sans" pitchFamily="34" charset="-122"/>
                <a:cs typeface="IBM Plex Sans" pitchFamily="34" charset="-120"/>
              </a:rPr>
              <a:t>Data team review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Autofit/>
          </a:bodyPr>
          <a:lstStyle/>
          <a:p>
            <a:pPr marL="0" indent="0" algn="l">
              <a:lnSpc>
                <a:spcPts val="3960"/>
              </a:lnSpc>
              <a:buNone/>
            </a:pPr>
            <a:r>
              <a:rPr sz="3600" b="1">
                <a:solidFill>
                  <a:srgbClr val="172033"/>
                </a:solidFill>
                <a:latin typeface="IBM Plex Sans"/>
                <a:ea typeface="IBM Plex Sans"/>
                <a:cs typeface="IBM Plex Sans"/>
              </a:rPr>
              <a:t>Five sections of change</a:t>
            </a:r>
            <a:endParaRPr lang="en-US" sz="3600" dirty="0"/>
          </a:p>
        </p:txBody>
      </p:sp>
      <p:sp>
        <p:nvSpPr>
          <p:cNvPr id="20" name="Section label"/>
          <p:cNvSpPr txBox="1"/>
          <p:nvPr/>
        </p:nvSpPr>
        <p:spPr>
          <a:xfrm>
            <a:off x="812800" y="470000"/>
            <a:ext cx="8000000" cy="238720"/>
          </a:xfrm>
          <a:prstGeom prst="rect">
            <a:avLst/>
          </a:prstGeom>
          <a:noFill/>
        </p:spPr>
        <p:txBody>
          <a:bodyPr wrap="square" lIns="0" tIns="0" rIns="0" bIns="0" anchor="t">
            <a:spAutoFit/>
          </a:bodyPr>
          <a:lstStyle/>
          <a:p>
            <a:pPr marL="0" indent="0" algn="l">
              <a:lnSpc>
                <a:spcPct val="125000"/>
              </a:lnSpc>
              <a:buNone/>
            </a:pPr>
            <a:r>
              <a:rPr sz="1200" b="1" spc="100">
                <a:solidFill>
                  <a:srgbClr val="5B6573"/>
                </a:solidFill>
                <a:latin typeface="IBM Plex Sans"/>
                <a:ea typeface="IBM Plex Sans"/>
                <a:cs typeface="IBM Plex Sans"/>
              </a:rPr>
              <a:t>REPORT STRUCTURE</a:t>
            </a:r>
          </a:p>
        </p:txBody>
      </p:sp>
      <p:sp>
        <p:nvSpPr>
          <p:cNvPr id="21" name="Card 1"/>
          <p:cNvSpPr/>
          <p:nvPr/>
        </p:nvSpPr>
        <p:spPr>
          <a:xfrm>
            <a:off x="812800" y="1725265"/>
            <a:ext cx="2017000" cy="2700000"/>
          </a:xfrm>
          <a:prstGeom prst="roundRect">
            <a:avLst>
              <a:gd name="adj" fmla="val 3880"/>
            </a:avLst>
          </a:prstGeom>
          <a:solidFill>
            <a:srgbClr val="FDFCFA"/>
          </a:solidFill>
          <a:ln w="635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Number 1"/>
          <p:cNvSpPr/>
          <p:nvPr/>
        </p:nvSpPr>
        <p:spPr>
          <a:xfrm>
            <a:off x="1032800" y="1950000"/>
            <a:ext cx="420000" cy="420000"/>
          </a:xfrm>
          <a:prstGeom prst="ellipse">
            <a:avLst/>
          </a:prstGeom>
          <a:solidFill>
            <a:srgbClr val="F2A92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lnSpc>
                <a:spcPct val="125000"/>
              </a:lnSpc>
              <a:buNone/>
            </a:pPr>
            <a:r>
              <a:rPr sz="1600" b="1">
                <a:solidFill>
                  <a:srgbClr val="172033"/>
                </a:solidFill>
                <a:latin typeface="IBM Plex Sans"/>
                <a:ea typeface="IBM Plex Sans"/>
                <a:cs typeface="IBM Plex Sans"/>
              </a:rPr>
              <a:t>1</a:t>
            </a:r>
          </a:p>
        </p:txBody>
      </p:sp>
      <p:sp>
        <p:nvSpPr>
          <p:cNvPr id="23" name="Heading 1"/>
          <p:cNvSpPr txBox="1"/>
          <p:nvPr/>
        </p:nvSpPr>
        <p:spPr>
          <a:xfrm>
            <a:off x="992800" y="2560000"/>
            <a:ext cx="1737000" cy="330000"/>
          </a:xfrm>
          <a:prstGeom prst="rect">
            <a:avLst/>
          </a:prstGeom>
          <a:noFill/>
        </p:spPr>
        <p:txBody>
          <a:bodyPr wrap="square" lIns="0" tIns="0" rIns="0" bIns="0" anchor="t">
            <a:spAutoFit/>
          </a:bodyPr>
          <a:lstStyle/>
          <a:p>
            <a:pPr marL="0" indent="0" algn="l">
              <a:lnSpc>
                <a:spcPct val="125000"/>
              </a:lnSpc>
              <a:buNone/>
            </a:pPr>
            <a:r>
              <a:rPr sz="1500" b="1">
                <a:solidFill>
                  <a:srgbClr val="172033"/>
                </a:solidFill>
                <a:latin typeface="IBM Plex Sans"/>
                <a:ea typeface="IBM Plex Sans"/>
                <a:cs typeface="IBM Plex Sans"/>
              </a:rPr>
              <a:t>All Systems</a:t>
            </a:r>
          </a:p>
        </p:txBody>
      </p:sp>
      <p:sp>
        <p:nvSpPr>
          <p:cNvPr id="24" name="Text 1"/>
          <p:cNvSpPr txBox="1"/>
          <p:nvPr/>
        </p:nvSpPr>
        <p:spPr>
          <a:xfrm>
            <a:off x="992800" y="3000000"/>
            <a:ext cx="1697000" cy="1300000"/>
          </a:xfrm>
          <a:prstGeom prst="rect">
            <a:avLst/>
          </a:prstGeom>
          <a:noFill/>
        </p:spPr>
        <p:txBody>
          <a:bodyPr wrap="square" lIns="0" tIns="0" rIns="0" bIns="0" anchor="t">
            <a:spAutoFit/>
          </a:bodyPr>
          <a:lstStyle/>
          <a:p>
            <a:pPr marL="0" indent="0" algn="l">
              <a:lnSpc>
                <a:spcPct val="125000"/>
              </a:lnSpc>
              <a:buNone/>
            </a:pPr>
            <a:r>
              <a:rPr sz="1400" b="0" dirty="0">
                <a:solidFill>
                  <a:srgbClr val="44505F"/>
                </a:solidFill>
                <a:latin typeface="IBM Plex Sans"/>
                <a:ea typeface="IBM Plex Sans"/>
                <a:cs typeface="IBM Plex Sans"/>
              </a:rPr>
              <a:t>Overview, active accounts, and volume, value and ATV on one chart</a:t>
            </a:r>
          </a:p>
        </p:txBody>
      </p:sp>
      <p:sp>
        <p:nvSpPr>
          <p:cNvPr id="25" name="Card 2"/>
          <p:cNvSpPr/>
          <p:nvPr/>
        </p:nvSpPr>
        <p:spPr>
          <a:xfrm>
            <a:off x="3009800" y="1725265"/>
            <a:ext cx="2017000" cy="2700000"/>
          </a:xfrm>
          <a:prstGeom prst="roundRect">
            <a:avLst>
              <a:gd name="adj" fmla="val 3880"/>
            </a:avLst>
          </a:prstGeom>
          <a:solidFill>
            <a:srgbClr val="FDFCFA"/>
          </a:solidFill>
          <a:ln w="635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Number 2"/>
          <p:cNvSpPr/>
          <p:nvPr/>
        </p:nvSpPr>
        <p:spPr>
          <a:xfrm>
            <a:off x="3229800" y="1950000"/>
            <a:ext cx="420000" cy="420000"/>
          </a:xfrm>
          <a:prstGeom prst="ellipse">
            <a:avLst/>
          </a:prstGeom>
          <a:solidFill>
            <a:srgbClr val="F2A92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lnSpc>
                <a:spcPct val="125000"/>
              </a:lnSpc>
              <a:buNone/>
            </a:pPr>
            <a:r>
              <a:rPr sz="1600" b="1">
                <a:solidFill>
                  <a:srgbClr val="172033"/>
                </a:solidFill>
                <a:latin typeface="IBM Plex Sans"/>
                <a:ea typeface="IBM Plex Sans"/>
                <a:cs typeface="IBM Plex Sans"/>
              </a:rPr>
              <a:t>2</a:t>
            </a:r>
          </a:p>
        </p:txBody>
      </p:sp>
      <p:sp>
        <p:nvSpPr>
          <p:cNvPr id="27" name="Heading 2"/>
          <p:cNvSpPr txBox="1"/>
          <p:nvPr/>
        </p:nvSpPr>
        <p:spPr>
          <a:xfrm>
            <a:off x="3189800" y="2560000"/>
            <a:ext cx="1737000" cy="330000"/>
          </a:xfrm>
          <a:prstGeom prst="rect">
            <a:avLst/>
          </a:prstGeom>
          <a:noFill/>
        </p:spPr>
        <p:txBody>
          <a:bodyPr wrap="square" lIns="0" tIns="0" rIns="0" bIns="0" anchor="t">
            <a:spAutoFit/>
          </a:bodyPr>
          <a:lstStyle/>
          <a:p>
            <a:pPr marL="0" indent="0" algn="l">
              <a:lnSpc>
                <a:spcPct val="125000"/>
              </a:lnSpc>
              <a:buNone/>
            </a:pPr>
            <a:r>
              <a:rPr sz="1500" b="1">
                <a:solidFill>
                  <a:srgbClr val="172033"/>
                </a:solidFill>
                <a:latin typeface="IBM Plex Sans"/>
                <a:ea typeface="IBM Plex Sans"/>
                <a:cs typeface="IBM Plex Sans"/>
              </a:rPr>
              <a:t>IPS</a:t>
            </a:r>
          </a:p>
        </p:txBody>
      </p:sp>
      <p:sp>
        <p:nvSpPr>
          <p:cNvPr id="28" name="Text 2"/>
          <p:cNvSpPr txBox="1"/>
          <p:nvPr/>
        </p:nvSpPr>
        <p:spPr>
          <a:xfrm>
            <a:off x="3189800" y="3000000"/>
            <a:ext cx="1697000" cy="1300000"/>
          </a:xfrm>
          <a:prstGeom prst="rect">
            <a:avLst/>
          </a:prstGeom>
          <a:noFill/>
        </p:spPr>
        <p:txBody>
          <a:bodyPr wrap="square" lIns="0" tIns="0" rIns="0" bIns="0" anchor="t">
            <a:spAutoFit/>
          </a:bodyPr>
          <a:lstStyle/>
          <a:p>
            <a:pPr marL="0" indent="0" algn="l">
              <a:lnSpc>
                <a:spcPct val="125000"/>
              </a:lnSpc>
              <a:buNone/>
            </a:pPr>
            <a:r>
              <a:rPr sz="1400" b="0">
                <a:solidFill>
                  <a:srgbClr val="44505F"/>
                </a:solidFill>
                <a:latin typeface="IBM Plex Sans"/>
                <a:ea typeface="IBM Plex Sans"/>
                <a:cs typeface="IBM Plex Sans"/>
              </a:rPr>
              <a:t>CliQ, JoMoPay and interoperability in one section</a:t>
            </a:r>
          </a:p>
        </p:txBody>
      </p:sp>
      <p:sp>
        <p:nvSpPr>
          <p:cNvPr id="29" name="Card 3"/>
          <p:cNvSpPr/>
          <p:nvPr/>
        </p:nvSpPr>
        <p:spPr>
          <a:xfrm>
            <a:off x="5206800" y="1725265"/>
            <a:ext cx="2017000" cy="2700000"/>
          </a:xfrm>
          <a:prstGeom prst="roundRect">
            <a:avLst>
              <a:gd name="adj" fmla="val 3880"/>
            </a:avLst>
          </a:prstGeom>
          <a:solidFill>
            <a:srgbClr val="FDFCFA"/>
          </a:solidFill>
          <a:ln w="635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Number 3"/>
          <p:cNvSpPr/>
          <p:nvPr/>
        </p:nvSpPr>
        <p:spPr>
          <a:xfrm>
            <a:off x="5426800" y="1950000"/>
            <a:ext cx="420000" cy="420000"/>
          </a:xfrm>
          <a:prstGeom prst="ellipse">
            <a:avLst/>
          </a:prstGeom>
          <a:solidFill>
            <a:srgbClr val="F2A92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lnSpc>
                <a:spcPct val="125000"/>
              </a:lnSpc>
              <a:buNone/>
            </a:pPr>
            <a:r>
              <a:rPr sz="1600" b="1">
                <a:solidFill>
                  <a:srgbClr val="172033"/>
                </a:solidFill>
                <a:latin typeface="IBM Plex Sans"/>
                <a:ea typeface="IBM Plex Sans"/>
                <a:cs typeface="IBM Plex Sans"/>
              </a:rPr>
              <a:t>3</a:t>
            </a:r>
          </a:p>
        </p:txBody>
      </p:sp>
      <p:sp>
        <p:nvSpPr>
          <p:cNvPr id="31" name="Heading 3"/>
          <p:cNvSpPr txBox="1"/>
          <p:nvPr/>
        </p:nvSpPr>
        <p:spPr>
          <a:xfrm>
            <a:off x="5386800" y="2560000"/>
            <a:ext cx="1737000" cy="330000"/>
          </a:xfrm>
          <a:prstGeom prst="rect">
            <a:avLst/>
          </a:prstGeom>
          <a:noFill/>
        </p:spPr>
        <p:txBody>
          <a:bodyPr wrap="square" lIns="0" tIns="0" rIns="0" bIns="0" anchor="t">
            <a:spAutoFit/>
          </a:bodyPr>
          <a:lstStyle/>
          <a:p>
            <a:pPr marL="0" indent="0" algn="l">
              <a:lnSpc>
                <a:spcPct val="125000"/>
              </a:lnSpc>
              <a:buNone/>
            </a:pPr>
            <a:r>
              <a:rPr sz="1500" b="1">
                <a:solidFill>
                  <a:srgbClr val="172033"/>
                </a:solidFill>
                <a:latin typeface="IBM Plex Sans"/>
                <a:ea typeface="IBM Plex Sans"/>
                <a:cs typeface="IBM Plex Sans"/>
              </a:rPr>
              <a:t>eFAWATEERcom</a:t>
            </a:r>
          </a:p>
        </p:txBody>
      </p:sp>
      <p:sp>
        <p:nvSpPr>
          <p:cNvPr id="32" name="Text 3"/>
          <p:cNvSpPr txBox="1"/>
          <p:nvPr/>
        </p:nvSpPr>
        <p:spPr>
          <a:xfrm>
            <a:off x="5386800" y="3000000"/>
            <a:ext cx="1697000" cy="1300000"/>
          </a:xfrm>
          <a:prstGeom prst="rect">
            <a:avLst/>
          </a:prstGeom>
          <a:noFill/>
        </p:spPr>
        <p:txBody>
          <a:bodyPr wrap="square" lIns="0" tIns="0" rIns="0" bIns="0" anchor="t">
            <a:spAutoFit/>
          </a:bodyPr>
          <a:lstStyle/>
          <a:p>
            <a:pPr marL="0" indent="0" algn="l">
              <a:lnSpc>
                <a:spcPct val="125000"/>
              </a:lnSpc>
              <a:buNone/>
            </a:pPr>
            <a:r>
              <a:rPr sz="1400" b="0">
                <a:solidFill>
                  <a:srgbClr val="44505F"/>
                </a:solidFill>
                <a:latin typeface="IBM Plex Sans"/>
                <a:ea typeface="IBM Plex Sans"/>
                <a:cs typeface="IBM Plex Sans"/>
              </a:rPr>
              <a:t>Top 5 categories in the chart, the rest in a table</a:t>
            </a:r>
          </a:p>
        </p:txBody>
      </p:sp>
      <p:sp>
        <p:nvSpPr>
          <p:cNvPr id="33" name="Card 4"/>
          <p:cNvSpPr/>
          <p:nvPr/>
        </p:nvSpPr>
        <p:spPr>
          <a:xfrm>
            <a:off x="7403800" y="1725265"/>
            <a:ext cx="2017000" cy="2700000"/>
          </a:xfrm>
          <a:prstGeom prst="roundRect">
            <a:avLst>
              <a:gd name="adj" fmla="val 3880"/>
            </a:avLst>
          </a:prstGeom>
          <a:solidFill>
            <a:srgbClr val="FDFCFA"/>
          </a:solidFill>
          <a:ln w="635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Number 4"/>
          <p:cNvSpPr/>
          <p:nvPr/>
        </p:nvSpPr>
        <p:spPr>
          <a:xfrm>
            <a:off x="7623800" y="1950000"/>
            <a:ext cx="420000" cy="420000"/>
          </a:xfrm>
          <a:prstGeom prst="ellipse">
            <a:avLst/>
          </a:prstGeom>
          <a:solidFill>
            <a:srgbClr val="F2A92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lnSpc>
                <a:spcPct val="125000"/>
              </a:lnSpc>
              <a:buNone/>
            </a:pPr>
            <a:r>
              <a:rPr sz="1600" b="1">
                <a:solidFill>
                  <a:srgbClr val="172033"/>
                </a:solidFill>
                <a:latin typeface="IBM Plex Sans"/>
                <a:ea typeface="IBM Plex Sans"/>
                <a:cs typeface="IBM Plex Sans"/>
              </a:rPr>
              <a:t>4</a:t>
            </a:r>
          </a:p>
        </p:txBody>
      </p:sp>
      <p:sp>
        <p:nvSpPr>
          <p:cNvPr id="35" name="Heading 4"/>
          <p:cNvSpPr txBox="1"/>
          <p:nvPr/>
        </p:nvSpPr>
        <p:spPr>
          <a:xfrm>
            <a:off x="7583800" y="2560000"/>
            <a:ext cx="1737000" cy="330000"/>
          </a:xfrm>
          <a:prstGeom prst="rect">
            <a:avLst/>
          </a:prstGeom>
          <a:noFill/>
        </p:spPr>
        <p:txBody>
          <a:bodyPr wrap="square" lIns="0" tIns="0" rIns="0" bIns="0" anchor="t">
            <a:spAutoFit/>
          </a:bodyPr>
          <a:lstStyle/>
          <a:p>
            <a:pPr marL="0" indent="0" algn="l">
              <a:lnSpc>
                <a:spcPct val="125000"/>
              </a:lnSpc>
              <a:buNone/>
            </a:pPr>
            <a:r>
              <a:rPr sz="1500" b="1">
                <a:solidFill>
                  <a:srgbClr val="172033"/>
                </a:solidFill>
                <a:latin typeface="IBM Plex Sans"/>
                <a:ea typeface="IBM Plex Sans"/>
                <a:cs typeface="IBM Plex Sans"/>
              </a:rPr>
              <a:t>ECCU</a:t>
            </a:r>
          </a:p>
        </p:txBody>
      </p:sp>
      <p:sp>
        <p:nvSpPr>
          <p:cNvPr id="36" name="Text 4"/>
          <p:cNvSpPr txBox="1"/>
          <p:nvPr/>
        </p:nvSpPr>
        <p:spPr>
          <a:xfrm>
            <a:off x="7583800" y="3000000"/>
            <a:ext cx="1697000" cy="1300000"/>
          </a:xfrm>
          <a:prstGeom prst="rect">
            <a:avLst/>
          </a:prstGeom>
          <a:noFill/>
        </p:spPr>
        <p:txBody>
          <a:bodyPr wrap="square" lIns="0" tIns="0" rIns="0" bIns="0" anchor="t">
            <a:spAutoFit/>
          </a:bodyPr>
          <a:lstStyle/>
          <a:p>
            <a:pPr marL="0" indent="0" algn="l">
              <a:lnSpc>
                <a:spcPct val="125000"/>
              </a:lnSpc>
              <a:buNone/>
            </a:pPr>
            <a:r>
              <a:rPr sz="1400" b="0">
                <a:solidFill>
                  <a:srgbClr val="44505F"/>
                </a:solidFill>
                <a:latin typeface="IBM Plex Sans"/>
                <a:ea typeface="IBM Plex Sans"/>
                <a:cs typeface="IBM Plex Sans"/>
              </a:rPr>
              <a:t>Top 3 return reasons and successful cheques</a:t>
            </a:r>
          </a:p>
        </p:txBody>
      </p:sp>
      <p:sp>
        <p:nvSpPr>
          <p:cNvPr id="37" name="Card 5"/>
          <p:cNvSpPr/>
          <p:nvPr/>
        </p:nvSpPr>
        <p:spPr>
          <a:xfrm>
            <a:off x="9600800" y="1725265"/>
            <a:ext cx="2017000" cy="2700000"/>
          </a:xfrm>
          <a:prstGeom prst="roundRect">
            <a:avLst>
              <a:gd name="adj" fmla="val 3880"/>
            </a:avLst>
          </a:prstGeom>
          <a:solidFill>
            <a:srgbClr val="FDFCFA"/>
          </a:solidFill>
          <a:ln w="635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Number 5"/>
          <p:cNvSpPr/>
          <p:nvPr/>
        </p:nvSpPr>
        <p:spPr>
          <a:xfrm>
            <a:off x="9820800" y="1950000"/>
            <a:ext cx="420000" cy="420000"/>
          </a:xfrm>
          <a:prstGeom prst="ellipse">
            <a:avLst/>
          </a:prstGeom>
          <a:solidFill>
            <a:srgbClr val="F2A92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lnSpc>
                <a:spcPct val="125000"/>
              </a:lnSpc>
              <a:buNone/>
            </a:pPr>
            <a:r>
              <a:rPr sz="1600" b="1">
                <a:solidFill>
                  <a:srgbClr val="172033"/>
                </a:solidFill>
                <a:latin typeface="IBM Plex Sans"/>
                <a:ea typeface="IBM Plex Sans"/>
                <a:cs typeface="IBM Plex Sans"/>
              </a:rPr>
              <a:t>5</a:t>
            </a:r>
          </a:p>
        </p:txBody>
      </p:sp>
      <p:sp>
        <p:nvSpPr>
          <p:cNvPr id="39" name="Heading 5"/>
          <p:cNvSpPr txBox="1"/>
          <p:nvPr/>
        </p:nvSpPr>
        <p:spPr>
          <a:xfrm>
            <a:off x="9780800" y="2560000"/>
            <a:ext cx="1737000" cy="330000"/>
          </a:xfrm>
          <a:prstGeom prst="rect">
            <a:avLst/>
          </a:prstGeom>
          <a:noFill/>
        </p:spPr>
        <p:txBody>
          <a:bodyPr wrap="square" lIns="0" tIns="0" rIns="0" bIns="0" anchor="t">
            <a:spAutoFit/>
          </a:bodyPr>
          <a:lstStyle/>
          <a:p>
            <a:pPr marL="0" indent="0" algn="l">
              <a:lnSpc>
                <a:spcPct val="125000"/>
              </a:lnSpc>
              <a:buNone/>
            </a:pPr>
            <a:r>
              <a:rPr sz="1500" b="1">
                <a:solidFill>
                  <a:srgbClr val="172033"/>
                </a:solidFill>
                <a:latin typeface="IBM Plex Sans"/>
                <a:ea typeface="IBM Plex Sans"/>
                <a:cs typeface="IBM Plex Sans"/>
              </a:rPr>
              <a:t>Visual Design</a:t>
            </a:r>
          </a:p>
        </p:txBody>
      </p:sp>
      <p:sp>
        <p:nvSpPr>
          <p:cNvPr id="40" name="Text 5"/>
          <p:cNvSpPr txBox="1"/>
          <p:nvPr/>
        </p:nvSpPr>
        <p:spPr>
          <a:xfrm>
            <a:off x="9780800" y="3000000"/>
            <a:ext cx="1697000" cy="1300000"/>
          </a:xfrm>
          <a:prstGeom prst="rect">
            <a:avLst/>
          </a:prstGeom>
          <a:noFill/>
        </p:spPr>
        <p:txBody>
          <a:bodyPr wrap="square" lIns="0" tIns="0" rIns="0" bIns="0" anchor="t">
            <a:spAutoFit/>
          </a:bodyPr>
          <a:lstStyle/>
          <a:p>
            <a:pPr marL="0" indent="0" algn="l">
              <a:lnSpc>
                <a:spcPct val="125000"/>
              </a:lnSpc>
              <a:buNone/>
            </a:pPr>
            <a:r>
              <a:rPr sz="1400" b="0">
                <a:solidFill>
                  <a:srgbClr val="44505F"/>
                </a:solidFill>
                <a:latin typeface="IBM Plex Sans"/>
                <a:ea typeface="IBM Plex Sans"/>
                <a:cs typeface="IBM Plex Sans"/>
              </a:rPr>
              <a:t>Better colour contrast and one consistent look</a:t>
            </a:r>
          </a:p>
        </p:txBody>
      </p:sp>
      <p:sp>
        <p:nvSpPr>
          <p:cNvPr id="41" name="Footer"/>
          <p:cNvSpPr txBox="1"/>
          <p:nvPr/>
        </p:nvSpPr>
        <p:spPr>
          <a:xfrm>
            <a:off x="812800" y="6238280"/>
            <a:ext cx="10883392" cy="238720"/>
          </a:xfrm>
          <a:prstGeom prst="rect">
            <a:avLst/>
          </a:prstGeom>
          <a:noFill/>
        </p:spPr>
        <p:txBody>
          <a:bodyPr wrap="square" lIns="0" tIns="0" rIns="0" bIns="0" anchor="t">
            <a:spAutoFit/>
          </a:bodyPr>
          <a:lstStyle/>
          <a:p>
            <a:pPr marL="0" indent="0" algn="l">
              <a:lnSpc>
                <a:spcPct val="125000"/>
              </a:lnSpc>
              <a:buNone/>
            </a:pPr>
            <a:r>
              <a:rPr sz="1200" b="0">
                <a:solidFill>
                  <a:srgbClr val="5B6573"/>
                </a:solidFill>
                <a:latin typeface="IBM Plex Sans"/>
                <a:ea typeface="IBM Plex Sans"/>
                <a:cs typeface="IBM Plex Sans"/>
              </a:rPr>
              <a:t>JOPACC · Monthly report proposal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Autofit/>
          </a:bodyPr>
          <a:lstStyle/>
          <a:p>
            <a:pPr marL="0" indent="0" algn="l">
              <a:lnSpc>
                <a:spcPts val="3960"/>
              </a:lnSpc>
              <a:buNone/>
            </a:pPr>
            <a:r>
              <a:rPr sz="3600" b="1" dirty="0">
                <a:solidFill>
                  <a:srgbClr val="172033"/>
                </a:solidFill>
                <a:latin typeface="IBM Plex Sans"/>
                <a:ea typeface="IBM Plex Sans"/>
                <a:cs typeface="IBM Plex Sans"/>
              </a:rPr>
              <a:t>All Systems: start with the overview</a:t>
            </a:r>
            <a:endParaRPr lang="en-US" sz="3600" dirty="0"/>
          </a:p>
        </p:txBody>
      </p:sp>
      <p:sp>
        <p:nvSpPr>
          <p:cNvPr id="3" name="Text 1"/>
          <p:cNvSpPr/>
          <p:nvPr/>
        </p:nvSpPr>
        <p:spPr>
          <a:xfrm>
            <a:off x="812800" y="1677640"/>
            <a:ext cx="3700000" cy="1100000"/>
          </a:xfrm>
          <a:prstGeom prst="rect">
            <a:avLst/>
          </a:prstGeom>
          <a:noFill/>
          <a:ln/>
        </p:spPr>
        <p:txBody>
          <a:bodyPr wrap="square" lIns="0" tIns="0" rIns="0" bIns="0" rtlCol="0" anchor="t">
            <a:noAutofit/>
          </a:bodyPr>
          <a:lstStyle/>
          <a:p>
            <a:pPr marL="0" indent="0" algn="l">
              <a:lnSpc>
                <a:spcPts val="2240"/>
              </a:lnSpc>
              <a:buNone/>
            </a:pPr>
            <a:r>
              <a:rPr lang="en-US" sz="1600" dirty="0">
                <a:solidFill>
                  <a:srgbClr val="44505F"/>
                </a:solidFill>
                <a:latin typeface="IBM Plex Sans" pitchFamily="34" charset="0"/>
                <a:ea typeface="IBM Plex Sans" pitchFamily="34" charset="-122"/>
                <a:cs typeface="IBM Plex Sans" pitchFamily="34" charset="-120"/>
              </a:rPr>
              <a:t>The report opens with one page that frames the whole month before any system detail.</a:t>
            </a:r>
            <a:endParaRPr lang="en-US" sz="1600" dirty="0"/>
          </a:p>
        </p:txBody>
      </p:sp>
      <p:sp>
        <p:nvSpPr>
          <p:cNvPr id="4" name="Text 2"/>
          <p:cNvSpPr/>
          <p:nvPr/>
        </p:nvSpPr>
        <p:spPr>
          <a:xfrm>
            <a:off x="812800" y="2900000"/>
            <a:ext cx="3700000" cy="2300000"/>
          </a:xfrm>
          <a:prstGeom prst="rect">
            <a:avLst/>
          </a:prstGeom>
          <a:noFill/>
          <a:ln/>
        </p:spPr>
        <p:txBody>
          <a:bodyPr wrap="square" lIns="0" tIns="0" rIns="0" bIns="0" rtlCol="0" anchor="t">
            <a:noAutofit/>
          </a:bodyPr>
          <a:lstStyle/>
          <a:p>
            <a:pPr marL="228600" indent="-228600" algn="l">
              <a:lnSpc>
                <a:spcPct val="125000"/>
              </a:lnSpc>
              <a:buSzPct val="100000"/>
              <a:buChar char="•"/>
            </a:pPr>
            <a:r>
              <a:rPr sz="1400" b="0">
                <a:solidFill>
                  <a:srgbClr val="44505F"/>
                </a:solidFill>
                <a:latin typeface="IBM Plex Sans"/>
                <a:ea typeface="IBM Plex Sans"/>
                <a:cs typeface="IBM Plex Sans"/>
              </a:rPr>
              <a:t>Transactions, value and average value, each with change vs last month</a:t>
            </a:r>
            <a:endParaRPr lang="en-US" sz="1500" dirty="0"/>
          </a:p>
          <a:p>
            <a:pPr marL="228600" indent="-228600" algn="l">
              <a:lnSpc>
                <a:spcPct val="125000"/>
              </a:lnSpc>
              <a:spcBef>
                <a:spcPts val="400"/>
              </a:spcBef>
              <a:buChar char="•"/>
            </a:pPr>
            <a:r>
              <a:rPr sz="1400" b="0">
                <a:solidFill>
                  <a:srgbClr val="44505F"/>
                </a:solidFill>
                <a:latin typeface="IBM Plex Sans"/>
                <a:ea typeface="IBM Plex Sans"/>
                <a:cs typeface="IBM Plex Sans"/>
              </a:rPr>
              <a:t>Value and volume split by system</a:t>
            </a:r>
          </a:p>
          <a:p>
            <a:pPr marL="228600" indent="-228600" algn="l">
              <a:lnSpc>
                <a:spcPct val="125000"/>
              </a:lnSpc>
              <a:spcBef>
                <a:spcPts val="400"/>
              </a:spcBef>
              <a:buChar char="•"/>
            </a:pPr>
            <a:r>
              <a:rPr sz="1400" b="0">
                <a:solidFill>
                  <a:srgbClr val="44505F"/>
                </a:solidFill>
                <a:latin typeface="IBM Plex Sans"/>
                <a:ea typeface="IBM Plex Sans"/>
                <a:cs typeface="IBM Plex Sans"/>
              </a:rPr>
              <a:t>IPS shown as one block, with CliQ and JoMoPay inside it</a:t>
            </a:r>
          </a:p>
          <a:p>
            <a:pPr marL="228600" indent="-228600" algn="l">
              <a:lnSpc>
                <a:spcPct val="125000"/>
              </a:lnSpc>
              <a:spcBef>
                <a:spcPts val="400"/>
              </a:spcBef>
              <a:buChar char="•"/>
            </a:pPr>
            <a:r>
              <a:rPr sz="1400" b="0">
                <a:solidFill>
                  <a:srgbClr val="44505F"/>
                </a:solidFill>
                <a:latin typeface="IBM Plex Sans"/>
                <a:ea typeface="IBM Plex Sans"/>
                <a:cs typeface="IBM Plex Sans"/>
              </a:rPr>
              <a:t>Active accounts and rates for relevant systems (next slide)</a:t>
            </a:r>
          </a:p>
        </p:txBody>
      </p:sp>
      <p:sp>
        <p:nvSpPr>
          <p:cNvPr id="6" name="Shape 3"/>
          <p:cNvSpPr/>
          <p:nvPr/>
        </p:nvSpPr>
        <p:spPr>
          <a:xfrm>
            <a:off x="4778375" y="1674465"/>
            <a:ext cx="6343650" cy="3562350"/>
          </a:xfrm>
          <a:prstGeom prst="roundRect">
            <a:avLst>
              <a:gd name="adj" fmla="val 2050"/>
            </a:avLst>
          </a:prstGeom>
          <a:noFill/>
          <a:ln w="6350">
            <a:solidFill>
              <a:srgbClr val="E2DFD6"/>
            </a:solidFill>
            <a:prstDash val="solid"/>
          </a:ln>
        </p:spPr>
        <p:txBody>
          <a:bodyPr/>
          <a:lstStyle/>
          <a:p>
            <a:endParaRPr/>
          </a:p>
        </p:txBody>
      </p:sp>
      <p:sp>
        <p:nvSpPr>
          <p:cNvPr id="7" name="Text 4"/>
          <p:cNvSpPr/>
          <p:nvPr/>
        </p:nvSpPr>
        <p:spPr>
          <a:xfrm>
            <a:off x="4775200" y="5341590"/>
            <a:ext cx="6540500" cy="238720"/>
          </a:xfrm>
          <a:prstGeom prst="rect">
            <a:avLst/>
          </a:prstGeom>
          <a:noFill/>
          <a:ln/>
        </p:spPr>
        <p:txBody>
          <a:bodyPr wrap="square" lIns="0" tIns="0" rIns="0" bIns="0" rtlCol="0" anchor="t">
            <a:no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Mock-up: All Systems overview</a:t>
            </a:r>
            <a:endParaRPr lang="en-US" sz="1200" dirty="0"/>
          </a:p>
        </p:txBody>
      </p:sp>
      <p:sp>
        <p:nvSpPr>
          <p:cNvPr id="9" name="Section label"/>
          <p:cNvSpPr txBox="1"/>
          <p:nvPr/>
        </p:nvSpPr>
        <p:spPr>
          <a:xfrm>
            <a:off x="812800" y="470000"/>
            <a:ext cx="8000000" cy="238720"/>
          </a:xfrm>
          <a:prstGeom prst="rect">
            <a:avLst/>
          </a:prstGeom>
          <a:noFill/>
        </p:spPr>
        <p:txBody>
          <a:bodyPr wrap="square" lIns="0" tIns="0" rIns="0" bIns="0" anchor="t">
            <a:spAutoFit/>
          </a:bodyPr>
          <a:lstStyle/>
          <a:p>
            <a:pPr marL="0" indent="0" algn="l">
              <a:lnSpc>
                <a:spcPct val="125000"/>
              </a:lnSpc>
              <a:buNone/>
            </a:pPr>
            <a:r>
              <a:rPr sz="1200" b="1" spc="100" dirty="0">
                <a:solidFill>
                  <a:srgbClr val="5B6573"/>
                </a:solidFill>
                <a:latin typeface="IBM Plex Sans"/>
                <a:ea typeface="IBM Plex Sans"/>
                <a:cs typeface="IBM Plex Sans"/>
              </a:rPr>
              <a:t>1 · ALL SYSTEMS</a:t>
            </a:r>
          </a:p>
        </p:txBody>
      </p:sp>
      <p:sp>
        <p:nvSpPr>
          <p:cNvPr id="10" name="Footer"/>
          <p:cNvSpPr txBox="1"/>
          <p:nvPr/>
        </p:nvSpPr>
        <p:spPr>
          <a:xfrm>
            <a:off x="812800" y="6238280"/>
            <a:ext cx="10883392" cy="238720"/>
          </a:xfrm>
          <a:prstGeom prst="rect">
            <a:avLst/>
          </a:prstGeom>
          <a:noFill/>
        </p:spPr>
        <p:txBody>
          <a:bodyPr wrap="square" lIns="0" tIns="0" rIns="0" bIns="0" anchor="t">
            <a:spAutoFit/>
          </a:bodyPr>
          <a:lstStyle/>
          <a:p>
            <a:pPr marL="0" indent="0" algn="l">
              <a:lnSpc>
                <a:spcPct val="125000"/>
              </a:lnSpc>
              <a:buNone/>
            </a:pPr>
            <a:r>
              <a:rPr sz="1200" b="0">
                <a:solidFill>
                  <a:srgbClr val="5B6573"/>
                </a:solidFill>
                <a:latin typeface="IBM Plex Sans"/>
                <a:ea typeface="IBM Plex Sans"/>
                <a:cs typeface="IBM Plex Sans"/>
              </a:rPr>
              <a:t>JOPACC · Monthly report proposal</a:t>
            </a:r>
          </a:p>
        </p:txBody>
      </p:sp>
      <p:pic>
        <p:nvPicPr>
          <p:cNvPr id="8" name="Picture 7">
            <a:extLst>
              <a:ext uri="{FF2B5EF4-FFF2-40B4-BE49-F238E27FC236}">
                <a16:creationId xmlns:a16="http://schemas.microsoft.com/office/drawing/2014/main" id="{018C3108-54D3-89F0-570B-0157B3F7697B}"/>
              </a:ext>
            </a:extLst>
          </p:cNvPr>
          <p:cNvPicPr>
            <a:picLocks noChangeAspect="1"/>
          </p:cNvPicPr>
          <p:nvPr/>
        </p:nvPicPr>
        <p:blipFill>
          <a:blip r:embed="rId3"/>
          <a:stretch>
            <a:fillRect/>
          </a:stretch>
        </p:blipFill>
        <p:spPr>
          <a:xfrm>
            <a:off x="4812800" y="1677640"/>
            <a:ext cx="6343651" cy="3568304"/>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BC44-3A19-C991-1272-7ED4D7152E3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CB7443D-B8EE-7A12-AA60-1A770E95F6EE}"/>
              </a:ext>
            </a:extLst>
          </p:cNvPr>
          <p:cNvSpPr>
            <a:spLocks noGrp="1"/>
          </p:cNvSpPr>
          <p:nvPr>
            <p:ph type="body" idx="101"/>
          </p:nvPr>
        </p:nvSpPr>
        <p:spPr/>
        <p:txBody>
          <a:bodyPr/>
          <a:lstStyle/>
          <a:p>
            <a:endParaRPr lang="en-US"/>
          </a:p>
        </p:txBody>
      </p:sp>
      <p:pic>
        <p:nvPicPr>
          <p:cNvPr id="5" name="Picture 4">
            <a:extLst>
              <a:ext uri="{FF2B5EF4-FFF2-40B4-BE49-F238E27FC236}">
                <a16:creationId xmlns:a16="http://schemas.microsoft.com/office/drawing/2014/main" id="{3A446B3C-CA6C-7EC5-9CE4-F1AEEDEBCF1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49865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12800" y="716672"/>
            <a:ext cx="10972800" cy="640080"/>
          </a:xfrm>
          <a:prstGeom prst="rect">
            <a:avLst/>
          </a:prstGeom>
          <a:noFill/>
          <a:ln/>
        </p:spPr>
        <p:txBody>
          <a:bodyPr wrap="square" lIns="0" tIns="0" rIns="0" bIns="0" rtlCol="0" anchor="ctr"/>
          <a:lstStyle/>
          <a:p>
            <a:r>
              <a:rPr lang="en-US" sz="3600" b="1" dirty="0"/>
              <a:t>Annual</a:t>
            </a:r>
            <a:r>
              <a:rPr lang="en-US" sz="3600" dirty="0"/>
              <a:t> </a:t>
            </a:r>
            <a:r>
              <a:rPr lang="en-US" sz="3600" b="1" dirty="0"/>
              <a:t>Comparison</a:t>
            </a:r>
            <a:r>
              <a:rPr lang="en-US" sz="3600" dirty="0"/>
              <a:t>: Same Month, Two Diff Years</a:t>
            </a:r>
            <a:endParaRPr lang="en-US" sz="3400" dirty="0"/>
          </a:p>
        </p:txBody>
      </p:sp>
      <p:sp>
        <p:nvSpPr>
          <p:cNvPr id="3" name="Text 1"/>
          <p:cNvSpPr txBox="1"/>
          <p:nvPr/>
        </p:nvSpPr>
        <p:spPr>
          <a:xfrm>
            <a:off x="812800" y="1356752"/>
            <a:ext cx="10972800" cy="365760"/>
          </a:xfrm>
          <a:prstGeom prst="rect">
            <a:avLst/>
          </a:prstGeom>
          <a:noFill/>
          <a:ln/>
        </p:spPr>
        <p:txBody>
          <a:bodyPr wrap="square" lIns="0" tIns="0" rIns="0" bIns="0" rtlCol="0" anchor="ctr"/>
          <a:lstStyle/>
          <a:p>
            <a:pPr marL="0" indent="0">
              <a:buNone/>
            </a:pPr>
            <a:r>
              <a:rPr lang="en-US" sz="1600" dirty="0">
                <a:solidFill>
                  <a:srgbClr val="687070"/>
                </a:solidFill>
                <a:latin typeface="Calibri" pitchFamily="34" charset="0"/>
                <a:ea typeface="Calibri" pitchFamily="34" charset="-122"/>
                <a:cs typeface="Calibri" pitchFamily="34" charset="-120"/>
              </a:rPr>
              <a:t>MoM = growth compared with the month before (Aug vs Jul)</a:t>
            </a:r>
            <a:endParaRPr lang="en-US" sz="1600" dirty="0"/>
          </a:p>
        </p:txBody>
      </p:sp>
      <p:sp>
        <p:nvSpPr>
          <p:cNvPr id="4" name="Text 2"/>
          <p:cNvSpPr txBox="1"/>
          <p:nvPr/>
        </p:nvSpPr>
        <p:spPr>
          <a:xfrm>
            <a:off x="812800" y="1996832"/>
            <a:ext cx="3474720" cy="411480"/>
          </a:xfrm>
          <a:prstGeom prst="rect">
            <a:avLst/>
          </a:prstGeom>
          <a:noFill/>
          <a:ln/>
        </p:spPr>
        <p:txBody>
          <a:bodyPr wrap="square" lIns="0" tIns="0" rIns="0" bIns="0" rtlCol="0" anchor="ctr"/>
          <a:lstStyle/>
          <a:p>
            <a:pPr marL="0" indent="0">
              <a:buNone/>
            </a:pPr>
            <a:r>
              <a:rPr lang="en-US" sz="2200" b="1" dirty="0">
                <a:solidFill>
                  <a:srgbClr val="2F3737"/>
                </a:solidFill>
                <a:latin typeface="Calibri" pitchFamily="34" charset="0"/>
                <a:ea typeface="Calibri" pitchFamily="34" charset="-122"/>
                <a:cs typeface="Calibri" pitchFamily="34" charset="-120"/>
              </a:rPr>
              <a:t>Transactions</a:t>
            </a:r>
            <a:endParaRPr lang="en-US" sz="2200" dirty="0"/>
          </a:p>
        </p:txBody>
      </p:sp>
      <p:sp>
        <p:nvSpPr>
          <p:cNvPr id="5" name="Text 3"/>
          <p:cNvSpPr txBox="1"/>
          <p:nvPr/>
        </p:nvSpPr>
        <p:spPr>
          <a:xfrm>
            <a:off x="812800" y="2408312"/>
            <a:ext cx="3474720" cy="365760"/>
          </a:xfrm>
          <a:prstGeom prst="rect">
            <a:avLst/>
          </a:prstGeom>
          <a:noFill/>
          <a:ln/>
        </p:spPr>
        <p:txBody>
          <a:bodyPr wrap="square" lIns="0" tIns="0" rIns="0" bIns="0" rtlCol="0" anchor="ctr"/>
          <a:lstStyle/>
          <a:p>
            <a:pPr marL="0" indent="0">
              <a:buNone/>
            </a:pPr>
            <a:r>
              <a:rPr lang="en-US" sz="1600" b="1" dirty="0">
                <a:solidFill>
                  <a:srgbClr val="9A6B10"/>
                </a:solidFill>
                <a:latin typeface="Calibri" pitchFamily="34" charset="0"/>
                <a:ea typeface="Calibri" pitchFamily="34" charset="-122"/>
                <a:cs typeface="Calibri" pitchFamily="34" charset="-120"/>
              </a:rPr>
              <a:t>+52.2%</a:t>
            </a:r>
            <a:r>
              <a:rPr lang="en-US" sz="1600" dirty="0">
                <a:solidFill>
                  <a:srgbClr val="687070"/>
                </a:solidFill>
                <a:latin typeface="Calibri" pitchFamily="34" charset="0"/>
                <a:ea typeface="Calibri" pitchFamily="34" charset="-122"/>
                <a:cs typeface="Calibri" pitchFamily="34" charset="-120"/>
              </a:rPr>
              <a:t>  vs last year</a:t>
            </a:r>
            <a:endParaRPr lang="en-US" sz="1600" dirty="0"/>
          </a:p>
        </p:txBody>
      </p:sp>
      <p:graphicFrame>
        <p:nvGraphicFramePr>
          <p:cNvPr id="6" name="Chart 0"/>
          <p:cNvGraphicFramePr/>
          <p:nvPr>
            <p:extLst>
              <p:ext uri="{D42A27DB-BD31-4B8C-83A1-F6EECF244321}">
                <p14:modId xmlns:p14="http://schemas.microsoft.com/office/powerpoint/2010/main" val="2061828974"/>
              </p:ext>
            </p:extLst>
          </p:nvPr>
        </p:nvGraphicFramePr>
        <p:xfrm>
          <a:off x="812800" y="2911232"/>
          <a:ext cx="347472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7" name="baseline-0"/>
          <p:cNvSpPr/>
          <p:nvPr/>
        </p:nvSpPr>
        <p:spPr>
          <a:xfrm>
            <a:off x="812800" y="5197232"/>
            <a:ext cx="3474720" cy="0"/>
          </a:xfrm>
          <a:prstGeom prst="line">
            <a:avLst/>
          </a:prstGeom>
          <a:noFill/>
          <a:ln w="12700">
            <a:solidFill>
              <a:srgbClr val="C5CACA"/>
            </a:solidFill>
            <a:prstDash val="solid"/>
          </a:ln>
        </p:spPr>
      </p:sp>
      <p:sp>
        <p:nvSpPr>
          <p:cNvPr id="8" name="Text 5"/>
          <p:cNvSpPr txBox="1"/>
          <p:nvPr/>
        </p:nvSpPr>
        <p:spPr>
          <a:xfrm>
            <a:off x="812800" y="5288672"/>
            <a:ext cx="1737360" cy="320040"/>
          </a:xfrm>
          <a:prstGeom prst="rect">
            <a:avLst/>
          </a:prstGeom>
          <a:noFill/>
          <a:ln/>
        </p:spPr>
        <p:txBody>
          <a:bodyPr wrap="square" lIns="0" tIns="0" rIns="0" bIns="0" rtlCol="0" anchor="ctr"/>
          <a:lstStyle/>
          <a:p>
            <a:pPr marL="0" indent="0" algn="ctr">
              <a:buNone/>
            </a:pPr>
            <a:r>
              <a:rPr lang="en-US" sz="1600" dirty="0">
                <a:solidFill>
                  <a:srgbClr val="2F3737"/>
                </a:solidFill>
                <a:latin typeface="Calibri" pitchFamily="34" charset="0"/>
                <a:ea typeface="Calibri" pitchFamily="34" charset="-122"/>
                <a:cs typeface="Calibri" pitchFamily="34" charset="-120"/>
              </a:rPr>
              <a:t>Aug 2025</a:t>
            </a:r>
            <a:endParaRPr lang="en-US" sz="1600" dirty="0"/>
          </a:p>
        </p:txBody>
      </p:sp>
      <p:sp>
        <p:nvSpPr>
          <p:cNvPr id="9" name="Text 6"/>
          <p:cNvSpPr txBox="1"/>
          <p:nvPr/>
        </p:nvSpPr>
        <p:spPr>
          <a:xfrm>
            <a:off x="812800" y="5654432"/>
            <a:ext cx="1737360" cy="365760"/>
          </a:xfrm>
          <a:prstGeom prst="rect">
            <a:avLst/>
          </a:prstGeom>
          <a:noFill/>
          <a:ln/>
        </p:spPr>
        <p:txBody>
          <a:bodyPr wrap="square" lIns="0" tIns="0" rIns="0" bIns="0" rtlCol="0" anchor="ctr"/>
          <a:lstStyle/>
          <a:p>
            <a:pPr marL="0" indent="0" algn="ctr">
              <a:buNone/>
            </a:pPr>
            <a:r>
              <a:rPr lang="en-US" sz="1600" dirty="0">
                <a:solidFill>
                  <a:srgbClr val="687070"/>
                </a:solidFill>
                <a:latin typeface="Calibri" pitchFamily="34" charset="0"/>
                <a:ea typeface="Calibri" pitchFamily="34" charset="-122"/>
                <a:cs typeface="Calibri" pitchFamily="34" charset="-120"/>
              </a:rPr>
              <a:t>MoM </a:t>
            </a:r>
            <a:r>
              <a:rPr lang="en-US" sz="1600" b="1" dirty="0">
                <a:solidFill>
                  <a:srgbClr val="9A6B10"/>
                </a:solidFill>
                <a:latin typeface="Calibri" pitchFamily="34" charset="0"/>
                <a:ea typeface="Calibri" pitchFamily="34" charset="-122"/>
                <a:cs typeface="Calibri" pitchFamily="34" charset="-120"/>
              </a:rPr>
              <a:t>+3.07%</a:t>
            </a:r>
            <a:endParaRPr lang="en-US" sz="1600" dirty="0"/>
          </a:p>
        </p:txBody>
      </p:sp>
      <p:sp>
        <p:nvSpPr>
          <p:cNvPr id="10" name="Text 7"/>
          <p:cNvSpPr txBox="1"/>
          <p:nvPr/>
        </p:nvSpPr>
        <p:spPr>
          <a:xfrm>
            <a:off x="2550160" y="5288672"/>
            <a:ext cx="1737360" cy="320040"/>
          </a:xfrm>
          <a:prstGeom prst="rect">
            <a:avLst/>
          </a:prstGeom>
          <a:noFill/>
          <a:ln/>
        </p:spPr>
        <p:txBody>
          <a:bodyPr wrap="square" lIns="0" tIns="0" rIns="0" bIns="0" rtlCol="0" anchor="ctr"/>
          <a:lstStyle/>
          <a:p>
            <a:pPr marL="0" indent="0" algn="ctr">
              <a:buNone/>
            </a:pPr>
            <a:r>
              <a:rPr lang="en-US" sz="1600" dirty="0">
                <a:solidFill>
                  <a:srgbClr val="2F3737"/>
                </a:solidFill>
                <a:latin typeface="Calibri" pitchFamily="34" charset="0"/>
                <a:ea typeface="Calibri" pitchFamily="34" charset="-122"/>
                <a:cs typeface="Calibri" pitchFamily="34" charset="-120"/>
              </a:rPr>
              <a:t>Aug 2026</a:t>
            </a:r>
            <a:endParaRPr lang="en-US" sz="1600" dirty="0"/>
          </a:p>
        </p:txBody>
      </p:sp>
      <p:sp>
        <p:nvSpPr>
          <p:cNvPr id="11" name="Text 8"/>
          <p:cNvSpPr txBox="1"/>
          <p:nvPr/>
        </p:nvSpPr>
        <p:spPr>
          <a:xfrm>
            <a:off x="2550160" y="5654432"/>
            <a:ext cx="1737360" cy="365760"/>
          </a:xfrm>
          <a:prstGeom prst="rect">
            <a:avLst/>
          </a:prstGeom>
          <a:noFill/>
          <a:ln/>
        </p:spPr>
        <p:txBody>
          <a:bodyPr wrap="square" lIns="0" tIns="0" rIns="0" bIns="0" rtlCol="0" anchor="ctr"/>
          <a:lstStyle/>
          <a:p>
            <a:pPr marL="0" indent="0" algn="ctr">
              <a:buNone/>
            </a:pPr>
            <a:r>
              <a:rPr lang="en-US" sz="1600" dirty="0">
                <a:solidFill>
                  <a:srgbClr val="687070"/>
                </a:solidFill>
                <a:latin typeface="Calibri" pitchFamily="34" charset="0"/>
                <a:ea typeface="Calibri" pitchFamily="34" charset="-122"/>
                <a:cs typeface="Calibri" pitchFamily="34" charset="-120"/>
              </a:rPr>
              <a:t>MoM </a:t>
            </a:r>
            <a:r>
              <a:rPr lang="en-US" sz="1600" b="1" dirty="0">
                <a:solidFill>
                  <a:srgbClr val="9A6B10"/>
                </a:solidFill>
                <a:latin typeface="Calibri" pitchFamily="34" charset="0"/>
                <a:ea typeface="Calibri" pitchFamily="34" charset="-122"/>
                <a:cs typeface="Calibri" pitchFamily="34" charset="-120"/>
              </a:rPr>
              <a:t>+3.58%</a:t>
            </a:r>
            <a:endParaRPr lang="en-US" sz="1600" dirty="0"/>
          </a:p>
        </p:txBody>
      </p:sp>
      <p:sp>
        <p:nvSpPr>
          <p:cNvPr id="12" name="Text 9"/>
          <p:cNvSpPr txBox="1"/>
          <p:nvPr/>
        </p:nvSpPr>
        <p:spPr>
          <a:xfrm>
            <a:off x="4621276" y="1996832"/>
            <a:ext cx="3474720" cy="411480"/>
          </a:xfrm>
          <a:prstGeom prst="rect">
            <a:avLst/>
          </a:prstGeom>
          <a:noFill/>
          <a:ln/>
        </p:spPr>
        <p:txBody>
          <a:bodyPr wrap="square" lIns="0" tIns="0" rIns="0" bIns="0" rtlCol="0" anchor="ctr"/>
          <a:lstStyle/>
          <a:p>
            <a:pPr marL="0" indent="0">
              <a:buNone/>
            </a:pPr>
            <a:r>
              <a:rPr lang="en-US" sz="2200" b="1" dirty="0">
                <a:solidFill>
                  <a:srgbClr val="2F3737"/>
                </a:solidFill>
                <a:latin typeface="Calibri" pitchFamily="34" charset="0"/>
                <a:ea typeface="Calibri" pitchFamily="34" charset="-122"/>
                <a:cs typeface="Calibri" pitchFamily="34" charset="-120"/>
              </a:rPr>
              <a:t>Users</a:t>
            </a:r>
            <a:endParaRPr lang="en-US" sz="2200" dirty="0"/>
          </a:p>
        </p:txBody>
      </p:sp>
      <p:sp>
        <p:nvSpPr>
          <p:cNvPr id="13" name="Text 10"/>
          <p:cNvSpPr txBox="1"/>
          <p:nvPr/>
        </p:nvSpPr>
        <p:spPr>
          <a:xfrm>
            <a:off x="4621276" y="2408312"/>
            <a:ext cx="3474720" cy="365760"/>
          </a:xfrm>
          <a:prstGeom prst="rect">
            <a:avLst/>
          </a:prstGeom>
          <a:noFill/>
          <a:ln/>
        </p:spPr>
        <p:txBody>
          <a:bodyPr wrap="square" lIns="0" tIns="0" rIns="0" bIns="0" rtlCol="0" anchor="ctr"/>
          <a:lstStyle/>
          <a:p>
            <a:pPr marL="0" indent="0">
              <a:buNone/>
            </a:pPr>
            <a:r>
              <a:rPr lang="en-US" sz="1600" b="1" dirty="0">
                <a:solidFill>
                  <a:srgbClr val="9A6B10"/>
                </a:solidFill>
                <a:latin typeface="Calibri" pitchFamily="34" charset="0"/>
                <a:ea typeface="Calibri" pitchFamily="34" charset="-122"/>
                <a:cs typeface="Calibri" pitchFamily="34" charset="-120"/>
              </a:rPr>
              <a:t>+21.9%</a:t>
            </a:r>
            <a:r>
              <a:rPr lang="en-US" sz="1600" dirty="0">
                <a:solidFill>
                  <a:srgbClr val="687070"/>
                </a:solidFill>
                <a:latin typeface="Calibri" pitchFamily="34" charset="0"/>
                <a:ea typeface="Calibri" pitchFamily="34" charset="-122"/>
                <a:cs typeface="Calibri" pitchFamily="34" charset="-120"/>
              </a:rPr>
              <a:t>  vs last year</a:t>
            </a:r>
            <a:endParaRPr lang="en-US" sz="1600" dirty="0"/>
          </a:p>
        </p:txBody>
      </p:sp>
      <p:graphicFrame>
        <p:nvGraphicFramePr>
          <p:cNvPr id="14" name="Chart 1"/>
          <p:cNvGraphicFramePr/>
          <p:nvPr>
            <p:extLst>
              <p:ext uri="{D42A27DB-BD31-4B8C-83A1-F6EECF244321}">
                <p14:modId xmlns:p14="http://schemas.microsoft.com/office/powerpoint/2010/main" val="4092483924"/>
              </p:ext>
            </p:extLst>
          </p:nvPr>
        </p:nvGraphicFramePr>
        <p:xfrm>
          <a:off x="4621276" y="2911232"/>
          <a:ext cx="347472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15" name="baseline-1"/>
          <p:cNvSpPr/>
          <p:nvPr/>
        </p:nvSpPr>
        <p:spPr>
          <a:xfrm>
            <a:off x="4621276" y="5197232"/>
            <a:ext cx="3474720" cy="0"/>
          </a:xfrm>
          <a:prstGeom prst="line">
            <a:avLst/>
          </a:prstGeom>
          <a:noFill/>
          <a:ln w="12700">
            <a:solidFill>
              <a:srgbClr val="C5CACA"/>
            </a:solidFill>
            <a:prstDash val="solid"/>
          </a:ln>
        </p:spPr>
      </p:sp>
      <p:sp>
        <p:nvSpPr>
          <p:cNvPr id="16" name="Text 12"/>
          <p:cNvSpPr txBox="1"/>
          <p:nvPr/>
        </p:nvSpPr>
        <p:spPr>
          <a:xfrm>
            <a:off x="4621276" y="5288672"/>
            <a:ext cx="1737360" cy="320040"/>
          </a:xfrm>
          <a:prstGeom prst="rect">
            <a:avLst/>
          </a:prstGeom>
          <a:noFill/>
          <a:ln/>
        </p:spPr>
        <p:txBody>
          <a:bodyPr wrap="square" lIns="0" tIns="0" rIns="0" bIns="0" rtlCol="0" anchor="ctr"/>
          <a:lstStyle/>
          <a:p>
            <a:pPr marL="0" indent="0" algn="ctr">
              <a:buNone/>
            </a:pPr>
            <a:r>
              <a:rPr lang="en-US" sz="1600" dirty="0">
                <a:solidFill>
                  <a:srgbClr val="2F3737"/>
                </a:solidFill>
                <a:latin typeface="Calibri" pitchFamily="34" charset="0"/>
                <a:ea typeface="Calibri" pitchFamily="34" charset="-122"/>
                <a:cs typeface="Calibri" pitchFamily="34" charset="-120"/>
              </a:rPr>
              <a:t>Aug 2025</a:t>
            </a:r>
            <a:endParaRPr lang="en-US" sz="1600" dirty="0"/>
          </a:p>
        </p:txBody>
      </p:sp>
      <p:sp>
        <p:nvSpPr>
          <p:cNvPr id="17" name="Text 13"/>
          <p:cNvSpPr txBox="1"/>
          <p:nvPr/>
        </p:nvSpPr>
        <p:spPr>
          <a:xfrm>
            <a:off x="4621276" y="5654432"/>
            <a:ext cx="1737360" cy="365760"/>
          </a:xfrm>
          <a:prstGeom prst="rect">
            <a:avLst/>
          </a:prstGeom>
          <a:noFill/>
          <a:ln/>
        </p:spPr>
        <p:txBody>
          <a:bodyPr wrap="square" lIns="0" tIns="0" rIns="0" bIns="0" rtlCol="0" anchor="ctr"/>
          <a:lstStyle/>
          <a:p>
            <a:pPr marL="0" indent="0" algn="ctr">
              <a:buNone/>
            </a:pPr>
            <a:r>
              <a:rPr lang="en-US" sz="1600" dirty="0">
                <a:solidFill>
                  <a:srgbClr val="687070"/>
                </a:solidFill>
                <a:latin typeface="Calibri" pitchFamily="34" charset="0"/>
                <a:ea typeface="Calibri" pitchFamily="34" charset="-122"/>
                <a:cs typeface="Calibri" pitchFamily="34" charset="-120"/>
              </a:rPr>
              <a:t>MoM </a:t>
            </a:r>
            <a:r>
              <a:rPr lang="en-US" sz="1600" b="1" dirty="0">
                <a:solidFill>
                  <a:srgbClr val="9A6B10"/>
                </a:solidFill>
                <a:latin typeface="Calibri" pitchFamily="34" charset="0"/>
                <a:ea typeface="Calibri" pitchFamily="34" charset="-122"/>
                <a:cs typeface="Calibri" pitchFamily="34" charset="-120"/>
              </a:rPr>
              <a:t>+2.08%</a:t>
            </a:r>
            <a:endParaRPr lang="en-US" sz="1600" dirty="0"/>
          </a:p>
        </p:txBody>
      </p:sp>
      <p:sp>
        <p:nvSpPr>
          <p:cNvPr id="18" name="Text 14"/>
          <p:cNvSpPr txBox="1"/>
          <p:nvPr/>
        </p:nvSpPr>
        <p:spPr>
          <a:xfrm>
            <a:off x="6358636" y="5288672"/>
            <a:ext cx="1737360" cy="320040"/>
          </a:xfrm>
          <a:prstGeom prst="rect">
            <a:avLst/>
          </a:prstGeom>
          <a:noFill/>
          <a:ln/>
        </p:spPr>
        <p:txBody>
          <a:bodyPr wrap="square" lIns="0" tIns="0" rIns="0" bIns="0" rtlCol="0" anchor="ctr"/>
          <a:lstStyle/>
          <a:p>
            <a:pPr marL="0" indent="0" algn="ctr">
              <a:buNone/>
            </a:pPr>
            <a:r>
              <a:rPr lang="en-US" sz="1600" dirty="0">
                <a:solidFill>
                  <a:srgbClr val="2F3737"/>
                </a:solidFill>
                <a:latin typeface="Calibri" pitchFamily="34" charset="0"/>
                <a:ea typeface="Calibri" pitchFamily="34" charset="-122"/>
                <a:cs typeface="Calibri" pitchFamily="34" charset="-120"/>
              </a:rPr>
              <a:t>Aug 2026</a:t>
            </a:r>
            <a:endParaRPr lang="en-US" sz="1600" dirty="0"/>
          </a:p>
        </p:txBody>
      </p:sp>
      <p:sp>
        <p:nvSpPr>
          <p:cNvPr id="19" name="Text 15"/>
          <p:cNvSpPr txBox="1"/>
          <p:nvPr/>
        </p:nvSpPr>
        <p:spPr>
          <a:xfrm>
            <a:off x="6358636" y="5654432"/>
            <a:ext cx="1737360" cy="365760"/>
          </a:xfrm>
          <a:prstGeom prst="rect">
            <a:avLst/>
          </a:prstGeom>
          <a:noFill/>
          <a:ln/>
        </p:spPr>
        <p:txBody>
          <a:bodyPr wrap="square" lIns="0" tIns="0" rIns="0" bIns="0" rtlCol="0" anchor="ctr"/>
          <a:lstStyle/>
          <a:p>
            <a:pPr marL="0" indent="0" algn="ctr">
              <a:buNone/>
            </a:pPr>
            <a:r>
              <a:rPr lang="en-US" sz="1600" dirty="0">
                <a:solidFill>
                  <a:srgbClr val="687070"/>
                </a:solidFill>
                <a:latin typeface="Calibri" pitchFamily="34" charset="0"/>
                <a:ea typeface="Calibri" pitchFamily="34" charset="-122"/>
                <a:cs typeface="Calibri" pitchFamily="34" charset="-120"/>
              </a:rPr>
              <a:t>MoM </a:t>
            </a:r>
            <a:r>
              <a:rPr lang="en-US" sz="1600" b="1" dirty="0">
                <a:solidFill>
                  <a:srgbClr val="9A6B10"/>
                </a:solidFill>
                <a:latin typeface="Calibri" pitchFamily="34" charset="0"/>
                <a:ea typeface="Calibri" pitchFamily="34" charset="-122"/>
                <a:cs typeface="Calibri" pitchFamily="34" charset="-120"/>
              </a:rPr>
              <a:t>+1.70%</a:t>
            </a:r>
            <a:endParaRPr lang="en-US" sz="1600" dirty="0"/>
          </a:p>
        </p:txBody>
      </p:sp>
      <p:sp>
        <p:nvSpPr>
          <p:cNvPr id="20" name="Text 16"/>
          <p:cNvSpPr txBox="1"/>
          <p:nvPr/>
        </p:nvSpPr>
        <p:spPr>
          <a:xfrm>
            <a:off x="8429752" y="1996832"/>
            <a:ext cx="3474720" cy="411480"/>
          </a:xfrm>
          <a:prstGeom prst="rect">
            <a:avLst/>
          </a:prstGeom>
          <a:noFill/>
          <a:ln/>
        </p:spPr>
        <p:txBody>
          <a:bodyPr wrap="square" lIns="0" tIns="0" rIns="0" bIns="0" rtlCol="0" anchor="ctr"/>
          <a:lstStyle/>
          <a:p>
            <a:pPr marL="0" indent="0">
              <a:buNone/>
            </a:pPr>
            <a:r>
              <a:rPr lang="en-US" sz="2200" b="1" dirty="0">
                <a:solidFill>
                  <a:srgbClr val="2F3737"/>
                </a:solidFill>
                <a:latin typeface="Calibri" pitchFamily="34" charset="0"/>
                <a:ea typeface="Calibri" pitchFamily="34" charset="-122"/>
                <a:cs typeface="Calibri" pitchFamily="34" charset="-120"/>
              </a:rPr>
              <a:t>Value of transactions</a:t>
            </a:r>
            <a:endParaRPr lang="en-US" sz="2200" dirty="0"/>
          </a:p>
        </p:txBody>
      </p:sp>
      <p:sp>
        <p:nvSpPr>
          <p:cNvPr id="21" name="Text 17"/>
          <p:cNvSpPr txBox="1"/>
          <p:nvPr/>
        </p:nvSpPr>
        <p:spPr>
          <a:xfrm>
            <a:off x="8429752" y="2408312"/>
            <a:ext cx="3474720" cy="365760"/>
          </a:xfrm>
          <a:prstGeom prst="rect">
            <a:avLst/>
          </a:prstGeom>
          <a:noFill/>
          <a:ln/>
        </p:spPr>
        <p:txBody>
          <a:bodyPr wrap="square" lIns="0" tIns="0" rIns="0" bIns="0" rtlCol="0" anchor="ctr"/>
          <a:lstStyle/>
          <a:p>
            <a:pPr marL="0" indent="0">
              <a:buNone/>
            </a:pPr>
            <a:r>
              <a:rPr lang="en-US" sz="1600" b="1" dirty="0">
                <a:solidFill>
                  <a:srgbClr val="9A6B10"/>
                </a:solidFill>
                <a:latin typeface="Calibri" pitchFamily="34" charset="0"/>
                <a:ea typeface="Calibri" pitchFamily="34" charset="-122"/>
                <a:cs typeface="Calibri" pitchFamily="34" charset="-120"/>
              </a:rPr>
              <a:t>+29.3%</a:t>
            </a:r>
            <a:r>
              <a:rPr lang="en-US" sz="1600" dirty="0">
                <a:solidFill>
                  <a:srgbClr val="687070"/>
                </a:solidFill>
                <a:latin typeface="Calibri" pitchFamily="34" charset="0"/>
                <a:ea typeface="Calibri" pitchFamily="34" charset="-122"/>
                <a:cs typeface="Calibri" pitchFamily="34" charset="-120"/>
              </a:rPr>
              <a:t>  vs last year</a:t>
            </a:r>
            <a:endParaRPr lang="en-US" sz="1600" dirty="0"/>
          </a:p>
        </p:txBody>
      </p:sp>
      <p:graphicFrame>
        <p:nvGraphicFramePr>
          <p:cNvPr id="22" name="Chart 2"/>
          <p:cNvGraphicFramePr/>
          <p:nvPr>
            <p:extLst>
              <p:ext uri="{D42A27DB-BD31-4B8C-83A1-F6EECF244321}">
                <p14:modId xmlns:p14="http://schemas.microsoft.com/office/powerpoint/2010/main" val="2972955399"/>
              </p:ext>
            </p:extLst>
          </p:nvPr>
        </p:nvGraphicFramePr>
        <p:xfrm>
          <a:off x="8429752" y="2911232"/>
          <a:ext cx="3474720" cy="2286000"/>
        </p:xfrm>
        <a:graphic>
          <a:graphicData uri="http://schemas.openxmlformats.org/drawingml/2006/chart">
            <c:chart xmlns:c="http://schemas.openxmlformats.org/drawingml/2006/chart" xmlns:r="http://schemas.openxmlformats.org/officeDocument/2006/relationships" r:id="rId5"/>
          </a:graphicData>
        </a:graphic>
      </p:graphicFrame>
      <p:sp>
        <p:nvSpPr>
          <p:cNvPr id="23" name="baseline-2"/>
          <p:cNvSpPr/>
          <p:nvPr/>
        </p:nvSpPr>
        <p:spPr>
          <a:xfrm>
            <a:off x="8429752" y="5197232"/>
            <a:ext cx="3474720" cy="0"/>
          </a:xfrm>
          <a:prstGeom prst="line">
            <a:avLst/>
          </a:prstGeom>
          <a:noFill/>
          <a:ln w="12700">
            <a:solidFill>
              <a:srgbClr val="C5CACA"/>
            </a:solidFill>
            <a:prstDash val="solid"/>
          </a:ln>
        </p:spPr>
      </p:sp>
      <p:sp>
        <p:nvSpPr>
          <p:cNvPr id="24" name="Text 19"/>
          <p:cNvSpPr txBox="1"/>
          <p:nvPr/>
        </p:nvSpPr>
        <p:spPr>
          <a:xfrm>
            <a:off x="8429752" y="5288672"/>
            <a:ext cx="1737360" cy="320040"/>
          </a:xfrm>
          <a:prstGeom prst="rect">
            <a:avLst/>
          </a:prstGeom>
          <a:noFill/>
          <a:ln/>
        </p:spPr>
        <p:txBody>
          <a:bodyPr wrap="square" lIns="0" tIns="0" rIns="0" bIns="0" rtlCol="0" anchor="ctr"/>
          <a:lstStyle/>
          <a:p>
            <a:pPr marL="0" indent="0" algn="ctr">
              <a:buNone/>
            </a:pPr>
            <a:r>
              <a:rPr lang="en-US" sz="1600" dirty="0">
                <a:solidFill>
                  <a:srgbClr val="2F3737"/>
                </a:solidFill>
                <a:latin typeface="Calibri" pitchFamily="34" charset="0"/>
                <a:ea typeface="Calibri" pitchFamily="34" charset="-122"/>
                <a:cs typeface="Calibri" pitchFamily="34" charset="-120"/>
              </a:rPr>
              <a:t>Aug 2025</a:t>
            </a:r>
            <a:endParaRPr lang="en-US" sz="1600" dirty="0"/>
          </a:p>
        </p:txBody>
      </p:sp>
      <p:sp>
        <p:nvSpPr>
          <p:cNvPr id="25" name="Text 20"/>
          <p:cNvSpPr txBox="1"/>
          <p:nvPr/>
        </p:nvSpPr>
        <p:spPr>
          <a:xfrm>
            <a:off x="8429752" y="5654432"/>
            <a:ext cx="1737360" cy="365760"/>
          </a:xfrm>
          <a:prstGeom prst="rect">
            <a:avLst/>
          </a:prstGeom>
          <a:noFill/>
          <a:ln/>
        </p:spPr>
        <p:txBody>
          <a:bodyPr wrap="square" lIns="0" tIns="0" rIns="0" bIns="0" rtlCol="0" anchor="ctr"/>
          <a:lstStyle/>
          <a:p>
            <a:pPr marL="0" indent="0" algn="ctr">
              <a:buNone/>
            </a:pPr>
            <a:r>
              <a:rPr lang="en-US" sz="1600" dirty="0">
                <a:solidFill>
                  <a:srgbClr val="687070"/>
                </a:solidFill>
                <a:latin typeface="Calibri" pitchFamily="34" charset="0"/>
                <a:ea typeface="Calibri" pitchFamily="34" charset="-122"/>
                <a:cs typeface="Calibri" pitchFamily="34" charset="-120"/>
              </a:rPr>
              <a:t>MoM </a:t>
            </a:r>
            <a:r>
              <a:rPr lang="en-US" sz="1600" b="1" dirty="0">
                <a:solidFill>
                  <a:srgbClr val="9A6B10"/>
                </a:solidFill>
                <a:latin typeface="Calibri" pitchFamily="34" charset="0"/>
                <a:ea typeface="Calibri" pitchFamily="34" charset="-122"/>
                <a:cs typeface="Calibri" pitchFamily="34" charset="-120"/>
              </a:rPr>
              <a:t>+1.08%</a:t>
            </a:r>
            <a:endParaRPr lang="en-US" sz="1600" dirty="0"/>
          </a:p>
        </p:txBody>
      </p:sp>
      <p:sp>
        <p:nvSpPr>
          <p:cNvPr id="26" name="Text 21"/>
          <p:cNvSpPr txBox="1"/>
          <p:nvPr/>
        </p:nvSpPr>
        <p:spPr>
          <a:xfrm>
            <a:off x="10167112" y="5288672"/>
            <a:ext cx="1737360" cy="320040"/>
          </a:xfrm>
          <a:prstGeom prst="rect">
            <a:avLst/>
          </a:prstGeom>
          <a:noFill/>
          <a:ln/>
        </p:spPr>
        <p:txBody>
          <a:bodyPr wrap="square" lIns="0" tIns="0" rIns="0" bIns="0" rtlCol="0" anchor="ctr"/>
          <a:lstStyle/>
          <a:p>
            <a:pPr marL="0" indent="0" algn="ctr">
              <a:buNone/>
            </a:pPr>
            <a:r>
              <a:rPr lang="en-US" sz="1600" dirty="0">
                <a:solidFill>
                  <a:srgbClr val="2F3737"/>
                </a:solidFill>
                <a:latin typeface="Calibri" pitchFamily="34" charset="0"/>
                <a:ea typeface="Calibri" pitchFamily="34" charset="-122"/>
                <a:cs typeface="Calibri" pitchFamily="34" charset="-120"/>
              </a:rPr>
              <a:t>Aug 2026</a:t>
            </a:r>
            <a:endParaRPr lang="en-US" sz="1600" dirty="0"/>
          </a:p>
        </p:txBody>
      </p:sp>
      <p:sp>
        <p:nvSpPr>
          <p:cNvPr id="27" name="Text 22"/>
          <p:cNvSpPr txBox="1"/>
          <p:nvPr/>
        </p:nvSpPr>
        <p:spPr>
          <a:xfrm>
            <a:off x="10167112" y="5654432"/>
            <a:ext cx="1737360" cy="365760"/>
          </a:xfrm>
          <a:prstGeom prst="rect">
            <a:avLst/>
          </a:prstGeom>
          <a:noFill/>
          <a:ln/>
        </p:spPr>
        <p:txBody>
          <a:bodyPr wrap="square" lIns="0" tIns="0" rIns="0" bIns="0" rtlCol="0" anchor="ctr"/>
          <a:lstStyle/>
          <a:p>
            <a:pPr marL="0" indent="0" algn="ctr">
              <a:buNone/>
            </a:pPr>
            <a:r>
              <a:rPr lang="en-US" sz="1600" dirty="0">
                <a:solidFill>
                  <a:srgbClr val="687070"/>
                </a:solidFill>
                <a:latin typeface="Calibri" pitchFamily="34" charset="0"/>
                <a:ea typeface="Calibri" pitchFamily="34" charset="-122"/>
                <a:cs typeface="Calibri" pitchFamily="34" charset="-120"/>
              </a:rPr>
              <a:t>MoM </a:t>
            </a:r>
            <a:r>
              <a:rPr lang="en-US" sz="1600" b="1" dirty="0">
                <a:solidFill>
                  <a:srgbClr val="9A6B10"/>
                </a:solidFill>
                <a:latin typeface="Calibri" pitchFamily="34" charset="0"/>
                <a:ea typeface="Calibri" pitchFamily="34" charset="-122"/>
                <a:cs typeface="Calibri" pitchFamily="34" charset="-120"/>
              </a:rPr>
              <a:t>+3.85%</a:t>
            </a:r>
            <a:endParaRPr lang="en-US" sz="1600" dirty="0"/>
          </a:p>
        </p:txBody>
      </p:sp>
      <p:sp>
        <p:nvSpPr>
          <p:cNvPr id="32" name="Section label">
            <a:extLst>
              <a:ext uri="{FF2B5EF4-FFF2-40B4-BE49-F238E27FC236}">
                <a16:creationId xmlns:a16="http://schemas.microsoft.com/office/drawing/2014/main" id="{1AA2196B-E55E-51CA-4DDC-518098995672}"/>
              </a:ext>
            </a:extLst>
          </p:cNvPr>
          <p:cNvSpPr txBox="1"/>
          <p:nvPr/>
        </p:nvSpPr>
        <p:spPr>
          <a:xfrm>
            <a:off x="812800" y="470000"/>
            <a:ext cx="8000000" cy="238720"/>
          </a:xfrm>
          <a:prstGeom prst="rect">
            <a:avLst/>
          </a:prstGeom>
          <a:noFill/>
        </p:spPr>
        <p:txBody>
          <a:bodyPr wrap="square" lIns="0" tIns="0" rIns="0" bIns="0" anchor="t">
            <a:spAutoFit/>
          </a:bodyPr>
          <a:lstStyle/>
          <a:p>
            <a:pPr marL="0" indent="0" algn="l">
              <a:lnSpc>
                <a:spcPct val="125000"/>
              </a:lnSpc>
              <a:buNone/>
            </a:pPr>
            <a:r>
              <a:rPr sz="1200" b="1" spc="100" dirty="0">
                <a:solidFill>
                  <a:srgbClr val="5B6573"/>
                </a:solidFill>
                <a:latin typeface="IBM Plex Sans"/>
                <a:ea typeface="IBM Plex Sans"/>
                <a:cs typeface="IBM Plex Sans"/>
              </a:rPr>
              <a:t>1 · ALL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Autofit/>
          </a:bodyPr>
          <a:lstStyle/>
          <a:p>
            <a:pPr marL="0" indent="0" algn="l">
              <a:lnSpc>
                <a:spcPts val="3960"/>
              </a:lnSpc>
              <a:buNone/>
            </a:pPr>
            <a:r>
              <a:rPr sz="3600" b="1" dirty="0">
                <a:solidFill>
                  <a:srgbClr val="172033"/>
                </a:solidFill>
                <a:latin typeface="IBM Plex Sans"/>
                <a:ea typeface="IBM Plex Sans"/>
                <a:cs typeface="IBM Plex Sans"/>
              </a:rPr>
              <a:t>Add active accounts and Rates</a:t>
            </a:r>
            <a:endParaRPr lang="en-US" sz="3600" dirty="0"/>
          </a:p>
        </p:txBody>
      </p:sp>
      <p:sp>
        <p:nvSpPr>
          <p:cNvPr id="3" name="Shape 1"/>
          <p:cNvSpPr/>
          <p:nvPr/>
        </p:nvSpPr>
        <p:spPr>
          <a:xfrm>
            <a:off x="815975" y="1674465"/>
            <a:ext cx="5175250" cy="2538512"/>
          </a:xfrm>
          <a:prstGeom prst="roundRect">
            <a:avLst>
              <a:gd name="adj" fmla="val 3877"/>
            </a:avLst>
          </a:prstGeom>
          <a:solidFill>
            <a:srgbClr val="FDFCFA"/>
          </a:solidFill>
          <a:ln w="6350">
            <a:solidFill>
              <a:srgbClr val="E2DFD6"/>
            </a:solidFill>
            <a:prstDash val="solid"/>
          </a:ln>
        </p:spPr>
        <p:txBody>
          <a:bodyPr/>
          <a:lstStyle/>
          <a:p>
            <a:endParaRPr/>
          </a:p>
        </p:txBody>
      </p:sp>
      <p:sp>
        <p:nvSpPr>
          <p:cNvPr id="4" name="Text 2"/>
          <p:cNvSpPr/>
          <p:nvPr/>
        </p:nvSpPr>
        <p:spPr>
          <a:xfrm>
            <a:off x="1073150" y="1931640"/>
            <a:ext cx="4675250" cy="238720"/>
          </a:xfrm>
          <a:prstGeom prst="rect">
            <a:avLst/>
          </a:prstGeom>
          <a:noFill/>
          <a:ln/>
        </p:spPr>
        <p:txBody>
          <a:bodyPr wrap="square" lIns="0" tIns="0" rIns="0" bIns="0" rtlCol="0" anchor="t">
            <a:noAutofit/>
          </a:bodyPr>
          <a:lstStyle/>
          <a:p>
            <a:pPr marL="0" indent="0" algn="l">
              <a:lnSpc>
                <a:spcPts val="1680"/>
              </a:lnSpc>
              <a:buNone/>
            </a:pPr>
            <a:r>
              <a:rPr lang="en-US" sz="1200" b="1" kern="0" spc="100" dirty="0">
                <a:solidFill>
                  <a:srgbClr val="5B6573"/>
                </a:solidFill>
                <a:latin typeface="IBM Plex Sans" pitchFamily="34" charset="0"/>
                <a:ea typeface="IBM Plex Sans" pitchFamily="34" charset="-122"/>
                <a:cs typeface="IBM Plex Sans" pitchFamily="34" charset="-120"/>
              </a:rPr>
              <a:t>NEW COUNT</a:t>
            </a:r>
            <a:endParaRPr lang="en-US" sz="1200" dirty="0"/>
          </a:p>
        </p:txBody>
      </p:sp>
      <p:sp>
        <p:nvSpPr>
          <p:cNvPr id="5" name="Text 3"/>
          <p:cNvSpPr/>
          <p:nvPr/>
        </p:nvSpPr>
        <p:spPr>
          <a:xfrm>
            <a:off x="1073150" y="2271961"/>
            <a:ext cx="4675250" cy="346670"/>
          </a:xfrm>
          <a:prstGeom prst="rect">
            <a:avLst/>
          </a:prstGeom>
          <a:noFill/>
          <a:ln/>
        </p:spPr>
        <p:txBody>
          <a:bodyPr wrap="square" lIns="0" tIns="0" rIns="0" bIns="0" rtlCol="0" anchor="t">
            <a:noAutofit/>
          </a:bodyPr>
          <a:lstStyle/>
          <a:p>
            <a:pPr marL="0" indent="0" algn="l">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Active accounts</a:t>
            </a:r>
            <a:endParaRPr lang="en-US" sz="2200" dirty="0"/>
          </a:p>
        </p:txBody>
      </p:sp>
      <p:sp>
        <p:nvSpPr>
          <p:cNvPr id="6" name="Text 4"/>
          <p:cNvSpPr/>
          <p:nvPr/>
        </p:nvSpPr>
        <p:spPr>
          <a:xfrm>
            <a:off x="1073150" y="2720231"/>
            <a:ext cx="4675250" cy="523180"/>
          </a:xfrm>
          <a:prstGeom prst="rect">
            <a:avLst/>
          </a:prstGeom>
          <a:noFill/>
          <a:ln/>
        </p:spPr>
        <p:txBody>
          <a:bodyPr wrap="square" lIns="0" tIns="0" rIns="0" bIns="0" rtlCol="0" anchor="t">
            <a:no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Shown alongside transactions and value for each relevant payment system</a:t>
            </a:r>
            <a:endParaRPr lang="en-US" sz="1400" dirty="0"/>
          </a:p>
        </p:txBody>
      </p:sp>
      <p:sp>
        <p:nvSpPr>
          <p:cNvPr id="7" name="Shape 5"/>
          <p:cNvSpPr/>
          <p:nvPr/>
        </p:nvSpPr>
        <p:spPr>
          <a:xfrm>
            <a:off x="6200775" y="1674465"/>
            <a:ext cx="5175250" cy="2538512"/>
          </a:xfrm>
          <a:prstGeom prst="roundRect">
            <a:avLst>
              <a:gd name="adj" fmla="val 3877"/>
            </a:avLst>
          </a:prstGeom>
          <a:solidFill>
            <a:srgbClr val="FDFCFA"/>
          </a:solidFill>
          <a:ln w="6350">
            <a:solidFill>
              <a:srgbClr val="E2DFD6"/>
            </a:solidFill>
            <a:prstDash val="solid"/>
          </a:ln>
        </p:spPr>
        <p:txBody>
          <a:bodyPr/>
          <a:lstStyle/>
          <a:p>
            <a:endParaRPr/>
          </a:p>
        </p:txBody>
      </p:sp>
      <p:sp>
        <p:nvSpPr>
          <p:cNvPr id="8" name="Text 6"/>
          <p:cNvSpPr/>
          <p:nvPr/>
        </p:nvSpPr>
        <p:spPr>
          <a:xfrm>
            <a:off x="6457950" y="1931640"/>
            <a:ext cx="4675250" cy="238720"/>
          </a:xfrm>
          <a:prstGeom prst="rect">
            <a:avLst/>
          </a:prstGeom>
          <a:noFill/>
          <a:ln/>
        </p:spPr>
        <p:txBody>
          <a:bodyPr wrap="square" lIns="0" tIns="0" rIns="0" bIns="0" rtlCol="0" anchor="t">
            <a:noAutofit/>
          </a:bodyPr>
          <a:lstStyle/>
          <a:p>
            <a:pPr marL="0" indent="0" algn="l">
              <a:lnSpc>
                <a:spcPts val="1680"/>
              </a:lnSpc>
              <a:buNone/>
            </a:pPr>
            <a:r>
              <a:rPr lang="en-US" sz="1200" b="1" kern="0" spc="100" dirty="0">
                <a:solidFill>
                  <a:srgbClr val="5B6573"/>
                </a:solidFill>
                <a:latin typeface="IBM Plex Sans" pitchFamily="34" charset="0"/>
                <a:ea typeface="IBM Plex Sans" pitchFamily="34" charset="-122"/>
                <a:cs typeface="IBM Plex Sans" pitchFamily="34" charset="-120"/>
              </a:rPr>
              <a:t>NEW RATE</a:t>
            </a:r>
            <a:endParaRPr lang="en-US" sz="1200" dirty="0"/>
          </a:p>
        </p:txBody>
      </p:sp>
      <p:sp>
        <p:nvSpPr>
          <p:cNvPr id="9" name="Text 7"/>
          <p:cNvSpPr/>
          <p:nvPr/>
        </p:nvSpPr>
        <p:spPr>
          <a:xfrm>
            <a:off x="6457950" y="2271961"/>
            <a:ext cx="4675250" cy="346670"/>
          </a:xfrm>
          <a:prstGeom prst="rect">
            <a:avLst/>
          </a:prstGeom>
          <a:noFill/>
          <a:ln/>
        </p:spPr>
        <p:txBody>
          <a:bodyPr wrap="square" lIns="0" tIns="0" rIns="0" bIns="0" rtlCol="0" anchor="t">
            <a:noAutofit/>
          </a:bodyPr>
          <a:lstStyle/>
          <a:p>
            <a:pPr marL="0" indent="0" algn="l">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Rate</a:t>
            </a:r>
            <a:endParaRPr lang="en-US" sz="2200" dirty="0"/>
          </a:p>
        </p:txBody>
      </p:sp>
      <p:sp>
        <p:nvSpPr>
          <p:cNvPr id="10" name="Text 8"/>
          <p:cNvSpPr/>
          <p:nvPr/>
        </p:nvSpPr>
        <p:spPr>
          <a:xfrm>
            <a:off x="6457950" y="2720231"/>
            <a:ext cx="4675250" cy="523180"/>
          </a:xfrm>
          <a:prstGeom prst="rect">
            <a:avLst/>
          </a:prstGeom>
          <a:noFill/>
          <a:ln/>
        </p:spPr>
        <p:txBody>
          <a:bodyPr wrap="square" lIns="0" tIns="0" rIns="0" bIns="0" rtlCol="0" anchor="t">
            <a:noAutofit/>
          </a:bodyPr>
          <a:lstStyle/>
          <a:p>
            <a:pPr>
              <a:lnSpc>
                <a:spcPts val="1960"/>
              </a:lnSpc>
            </a:pPr>
            <a:r>
              <a:rPr lang="en-US" sz="1400" dirty="0">
                <a:solidFill>
                  <a:srgbClr val="44505F"/>
                </a:solidFill>
                <a:latin typeface="IBM Plex Sans" pitchFamily="34" charset="0"/>
              </a:rPr>
              <a:t>Such as Active accounts, </a:t>
            </a:r>
            <a:r>
              <a:rPr lang="en-US" sz="1400" dirty="0">
                <a:solidFill>
                  <a:srgbClr val="172033"/>
                </a:solidFill>
                <a:ea typeface="IBM Plex Sans"/>
                <a:cs typeface="IBM Plex Sans"/>
              </a:rPr>
              <a:t>Successful</a:t>
            </a:r>
            <a:r>
              <a:rPr lang="en-US" sz="1400" b="1" dirty="0">
                <a:solidFill>
                  <a:srgbClr val="172033"/>
                </a:solidFill>
                <a:ea typeface="IBM Plex Sans"/>
                <a:cs typeface="IBM Plex Sans"/>
              </a:rPr>
              <a:t> </a:t>
            </a:r>
            <a:r>
              <a:rPr lang="en-US" sz="1400" dirty="0">
                <a:solidFill>
                  <a:srgbClr val="172033"/>
                </a:solidFill>
                <a:ea typeface="IBM Plex Sans"/>
                <a:cs typeface="IBM Plex Sans"/>
              </a:rPr>
              <a:t>Cheques</a:t>
            </a:r>
            <a:endParaRPr lang="en-US" sz="1400" dirty="0"/>
          </a:p>
        </p:txBody>
      </p:sp>
      <p:sp>
        <p:nvSpPr>
          <p:cNvPr id="11" name="Text 9"/>
          <p:cNvSpPr/>
          <p:nvPr/>
        </p:nvSpPr>
        <p:spPr>
          <a:xfrm>
            <a:off x="6457950" y="3345011"/>
            <a:ext cx="1905000" cy="289520"/>
          </a:xfrm>
          <a:custGeom>
            <a:avLst/>
            <a:gdLst/>
            <a:ahLst/>
            <a:cxnLst/>
            <a:rect l="l" t="t" r="r" b="b"/>
            <a:pathLst>
              <a:path w="1905000" h="289520">
                <a:moveTo>
                  <a:pt x="144760" y="0"/>
                </a:moveTo>
                <a:lnTo>
                  <a:pt x="1760240" y="0"/>
                </a:lnTo>
                <a:arcTo wR="144760" hR="144760" stAng="16200000" swAng="5400000"/>
                <a:lnTo>
                  <a:pt x="1905000" y="144760"/>
                </a:lnTo>
                <a:arcTo wR="144760" hR="144760" stAng="0" swAng="5400000"/>
                <a:lnTo>
                  <a:pt x="144760" y="289520"/>
                </a:lnTo>
                <a:arcTo wR="144760" hR="144760" stAng="5400000" swAng="5400000"/>
                <a:lnTo>
                  <a:pt x="0" y="144760"/>
                </a:lnTo>
                <a:arcTo wR="144760" hR="144760" stAng="10800000" swAng="5400000"/>
                <a:close/>
              </a:path>
            </a:pathLst>
          </a:custGeom>
          <a:solidFill>
            <a:srgbClr val="F2A922"/>
          </a:solidFill>
          <a:ln/>
        </p:spPr>
        <p:txBody>
          <a:bodyPr wrap="square" lIns="88900" tIns="38100" rIns="88900" bIns="12700" rtlCol="0" anchor="t">
            <a:noAutofit/>
          </a:bodyPr>
          <a:lstStyle/>
          <a:p>
            <a:pPr marL="0" indent="0" algn="ctr">
              <a:lnSpc>
                <a:spcPts val="1680"/>
              </a:lnSpc>
              <a:buNone/>
            </a:pPr>
            <a:r>
              <a:rPr lang="en-US" sz="1200" b="1" dirty="0">
                <a:solidFill>
                  <a:srgbClr val="172033"/>
                </a:solidFill>
                <a:latin typeface="IBM Plex Sans" pitchFamily="34" charset="0"/>
                <a:ea typeface="IBM Plex Sans" pitchFamily="34" charset="-122"/>
                <a:cs typeface="IBM Plex Sans" pitchFamily="34" charset="-120"/>
              </a:rPr>
              <a:t>Definition to confirm</a:t>
            </a:r>
            <a:endParaRPr lang="en-US" sz="1200" dirty="0"/>
          </a:p>
        </p:txBody>
      </p:sp>
      <p:sp>
        <p:nvSpPr>
          <p:cNvPr id="17" name="Text 15"/>
          <p:cNvSpPr/>
          <p:nvPr/>
        </p:nvSpPr>
        <p:spPr>
          <a:xfrm>
            <a:off x="812800" y="4450000"/>
            <a:ext cx="10560000" cy="594320"/>
          </a:xfrm>
          <a:prstGeom prst="rect">
            <a:avLst/>
          </a:prstGeom>
          <a:noFill/>
          <a:ln/>
        </p:spPr>
        <p:txBody>
          <a:bodyPr wrap="square" lIns="0" tIns="0" rIns="0" bIns="0" rtlCol="0" anchor="t">
            <a:noAutofit/>
          </a:bodyPr>
          <a:lstStyle/>
          <a:p>
            <a:pPr marL="0" indent="0" algn="l">
              <a:lnSpc>
                <a:spcPts val="2240"/>
              </a:lnSpc>
              <a:buNone/>
            </a:pPr>
            <a:r>
              <a:rPr lang="en-US" sz="1600" dirty="0">
                <a:solidFill>
                  <a:srgbClr val="44505F"/>
                </a:solidFill>
                <a:latin typeface="IBM Plex Sans" pitchFamily="34" charset="0"/>
                <a:ea typeface="IBM Plex Sans" pitchFamily="34" charset="-122"/>
                <a:cs typeface="IBM Plex Sans" pitchFamily="34" charset="-120"/>
              </a:rPr>
              <a:t>Rates make a count readable without context: in the mock-up, IPS is 38.79M transactions, or 80.3% of all transactions.</a:t>
            </a:r>
            <a:endParaRPr lang="en-US" sz="1600" dirty="0"/>
          </a:p>
        </p:txBody>
      </p:sp>
      <p:sp>
        <p:nvSpPr>
          <p:cNvPr id="19" name="Section label"/>
          <p:cNvSpPr txBox="1"/>
          <p:nvPr/>
        </p:nvSpPr>
        <p:spPr>
          <a:xfrm>
            <a:off x="812800" y="470000"/>
            <a:ext cx="8000000" cy="238720"/>
          </a:xfrm>
          <a:prstGeom prst="rect">
            <a:avLst/>
          </a:prstGeom>
          <a:noFill/>
        </p:spPr>
        <p:txBody>
          <a:bodyPr wrap="square" lIns="0" tIns="0" rIns="0" bIns="0" anchor="t">
            <a:spAutoFit/>
          </a:bodyPr>
          <a:lstStyle/>
          <a:p>
            <a:pPr marL="0" indent="0" algn="l">
              <a:lnSpc>
                <a:spcPct val="125000"/>
              </a:lnSpc>
              <a:buNone/>
            </a:pPr>
            <a:r>
              <a:rPr sz="1200" b="1" spc="100" dirty="0">
                <a:solidFill>
                  <a:srgbClr val="5B6573"/>
                </a:solidFill>
                <a:latin typeface="IBM Plex Sans"/>
                <a:ea typeface="IBM Plex Sans"/>
                <a:cs typeface="IBM Plex Sans"/>
              </a:rPr>
              <a:t>1 · ALL SYSTEMS</a:t>
            </a:r>
          </a:p>
        </p:txBody>
      </p:sp>
      <p:sp>
        <p:nvSpPr>
          <p:cNvPr id="20" name="Data requirement"/>
          <p:cNvSpPr txBox="1"/>
          <p:nvPr/>
        </p:nvSpPr>
        <p:spPr>
          <a:xfrm>
            <a:off x="812800" y="5200000"/>
            <a:ext cx="10560000" cy="700000"/>
          </a:xfrm>
          <a:prstGeom prst="rect">
            <a:avLst/>
          </a:prstGeom>
          <a:noFill/>
        </p:spPr>
        <p:txBody>
          <a:bodyPr wrap="square" lIns="0" tIns="0" rIns="0" bIns="0" anchor="t">
            <a:spAutoFit/>
          </a:bodyPr>
          <a:lstStyle/>
          <a:p>
            <a:pPr marL="0" indent="0" algn="l">
              <a:lnSpc>
                <a:spcPct val="125000"/>
              </a:lnSpc>
              <a:buNone/>
            </a:pPr>
            <a:r>
              <a:rPr sz="1400" b="1" dirty="0">
                <a:solidFill>
                  <a:srgbClr val="172033"/>
                </a:solidFill>
                <a:latin typeface="IBM Plex Sans"/>
                <a:ea typeface="IBM Plex Sans"/>
                <a:cs typeface="IBM Plex Sans"/>
              </a:rPr>
              <a:t>Data requirement: </a:t>
            </a:r>
            <a:r>
              <a:rPr sz="1400" b="0" dirty="0">
                <a:solidFill>
                  <a:srgbClr val="44505F"/>
                </a:solidFill>
                <a:latin typeface="IBM Plex Sans"/>
                <a:ea typeface="IBM Plex Sans"/>
                <a:cs typeface="IBM Plex Sans"/>
              </a:rPr>
              <a:t>active and total account counts per system, which systems they apply to, and the definition of an active account.</a:t>
            </a:r>
          </a:p>
        </p:txBody>
      </p:sp>
      <p:sp>
        <p:nvSpPr>
          <p:cNvPr id="21" name="Footer"/>
          <p:cNvSpPr txBox="1"/>
          <p:nvPr/>
        </p:nvSpPr>
        <p:spPr>
          <a:xfrm>
            <a:off x="812800" y="6238280"/>
            <a:ext cx="10883392" cy="238720"/>
          </a:xfrm>
          <a:prstGeom prst="rect">
            <a:avLst/>
          </a:prstGeom>
          <a:noFill/>
        </p:spPr>
        <p:txBody>
          <a:bodyPr wrap="square" lIns="0" tIns="0" rIns="0" bIns="0" anchor="t">
            <a:spAutoFit/>
          </a:bodyPr>
          <a:lstStyle/>
          <a:p>
            <a:pPr marL="0" indent="0" algn="l">
              <a:lnSpc>
                <a:spcPct val="125000"/>
              </a:lnSpc>
              <a:buNone/>
            </a:pPr>
            <a:r>
              <a:rPr sz="1200" b="0">
                <a:solidFill>
                  <a:srgbClr val="5B6573"/>
                </a:solidFill>
                <a:latin typeface="IBM Plex Sans"/>
                <a:ea typeface="IBM Plex Sans"/>
                <a:cs typeface="IBM Plex Sans"/>
              </a:rPr>
              <a:t>JOPACC · Monthly report proposal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Autofit/>
          </a:bodyPr>
          <a:lstStyle/>
          <a:p>
            <a:pPr marL="0" indent="0" algn="l">
              <a:lnSpc>
                <a:spcPts val="3960"/>
              </a:lnSpc>
              <a:buNone/>
            </a:pPr>
            <a:r>
              <a:rPr sz="3600" b="1" dirty="0">
                <a:solidFill>
                  <a:srgbClr val="172033"/>
                </a:solidFill>
                <a:latin typeface="IBM Plex Sans"/>
                <a:ea typeface="IBM Plex Sans"/>
                <a:cs typeface="IBM Plex Sans"/>
              </a:rPr>
              <a:t>Extend comparisons from 3 months to 6 months</a:t>
            </a:r>
            <a:endParaRPr lang="en-US" sz="3600" dirty="0"/>
          </a:p>
        </p:txBody>
      </p:sp>
      <p:sp>
        <p:nvSpPr>
          <p:cNvPr id="3" name="Shape 1"/>
          <p:cNvSpPr/>
          <p:nvPr/>
        </p:nvSpPr>
        <p:spPr>
          <a:xfrm>
            <a:off x="812800" y="1671290"/>
            <a:ext cx="6350000" cy="3568700"/>
          </a:xfrm>
          <a:prstGeom prst="roundRect">
            <a:avLst>
              <a:gd name="adj" fmla="val 2135"/>
            </a:avLst>
          </a:prstGeom>
          <a:solidFill>
            <a:srgbClr val="FFFFFF"/>
          </a:solidFill>
          <a:ln/>
        </p:spPr>
        <p:txBody>
          <a:bodyPr/>
          <a:lstStyle/>
          <a:p>
            <a:endParaRPr/>
          </a:p>
        </p:txBody>
      </p:sp>
      <p:pic>
        <p:nvPicPr>
          <p:cNvPr id="4" name="Image 0" descr="Bar chart of eFAWATEERcom transactions, Oct-25 to Mar-26, with Mar-26 up 11.8 percent"/>
          <p:cNvPicPr>
            <a:picLocks noChangeAspect="1"/>
          </p:cNvPicPr>
          <p:nvPr/>
        </p:nvPicPr>
        <p:blipFill>
          <a:blip r:embed="rId3"/>
          <a:srcRect l="-123" r="-123"/>
          <a:stretch/>
        </p:blipFill>
        <p:spPr>
          <a:xfrm>
            <a:off x="819150" y="1677640"/>
            <a:ext cx="6337300" cy="3556000"/>
          </a:xfrm>
          <a:prstGeom prst="roundRect">
            <a:avLst>
              <a:gd name="adj" fmla="val 1964"/>
            </a:avLst>
          </a:prstGeom>
        </p:spPr>
      </p:pic>
      <p:sp>
        <p:nvSpPr>
          <p:cNvPr id="5" name="Shape 2"/>
          <p:cNvSpPr/>
          <p:nvPr/>
        </p:nvSpPr>
        <p:spPr>
          <a:xfrm>
            <a:off x="815975" y="1674465"/>
            <a:ext cx="6343650" cy="3562350"/>
          </a:xfrm>
          <a:prstGeom prst="roundRect">
            <a:avLst>
              <a:gd name="adj" fmla="val 2050"/>
            </a:avLst>
          </a:prstGeom>
          <a:noFill/>
          <a:ln w="6350">
            <a:solidFill>
              <a:srgbClr val="E2DFD6"/>
            </a:solidFill>
            <a:prstDash val="solid"/>
          </a:ln>
        </p:spPr>
        <p:txBody>
          <a:bodyPr/>
          <a:lstStyle/>
          <a:p>
            <a:endParaRPr/>
          </a:p>
        </p:txBody>
      </p:sp>
      <p:sp>
        <p:nvSpPr>
          <p:cNvPr id="6" name="Text 3"/>
          <p:cNvSpPr/>
          <p:nvPr/>
        </p:nvSpPr>
        <p:spPr>
          <a:xfrm>
            <a:off x="819150" y="5365910"/>
            <a:ext cx="6540500" cy="480000"/>
          </a:xfrm>
          <a:prstGeom prst="rect">
            <a:avLst/>
          </a:prstGeom>
          <a:noFill/>
          <a:ln/>
        </p:spPr>
        <p:txBody>
          <a:bodyPr wrap="square" lIns="0" tIns="0" rIns="0" bIns="0" rtlCol="0" anchor="t">
            <a:no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Example: eFAWATEERcom transactions, Oct-25 to Mar-26. </a:t>
            </a:r>
            <a:endParaRPr lang="en-US" sz="1200" dirty="0"/>
          </a:p>
        </p:txBody>
      </p:sp>
      <p:sp>
        <p:nvSpPr>
          <p:cNvPr id="7" name="Text 4"/>
          <p:cNvSpPr/>
          <p:nvPr/>
        </p:nvSpPr>
        <p:spPr>
          <a:xfrm>
            <a:off x="7569200" y="2378670"/>
            <a:ext cx="3662680" cy="787400"/>
          </a:xfrm>
          <a:prstGeom prst="rect">
            <a:avLst/>
          </a:prstGeom>
          <a:noFill/>
          <a:ln/>
        </p:spPr>
        <p:txBody>
          <a:bodyPr wrap="square" lIns="0" tIns="0" rIns="0" bIns="0" rtlCol="0" anchor="t">
            <a:noAutofit/>
          </a:bodyPr>
          <a:lstStyle/>
          <a:p>
            <a:pPr marL="0" indent="0" algn="l">
              <a:lnSpc>
                <a:spcPts val="6000"/>
              </a:lnSpc>
              <a:buNone/>
            </a:pPr>
            <a:r>
              <a:rPr lang="en-US" sz="6000" b="1" dirty="0">
                <a:solidFill>
                  <a:srgbClr val="172033"/>
                </a:solidFill>
                <a:latin typeface="IBM Plex Sans" pitchFamily="34" charset="0"/>
                <a:ea typeface="IBM Plex Sans" pitchFamily="34" charset="-122"/>
                <a:cs typeface="IBM Plex Sans" pitchFamily="34" charset="-120"/>
              </a:rPr>
              <a:t>3 → 6</a:t>
            </a:r>
            <a:endParaRPr lang="en-US" sz="6000" dirty="0"/>
          </a:p>
        </p:txBody>
      </p:sp>
      <p:sp>
        <p:nvSpPr>
          <p:cNvPr id="8" name="Text 5"/>
          <p:cNvSpPr/>
          <p:nvPr/>
        </p:nvSpPr>
        <p:spPr>
          <a:xfrm>
            <a:off x="7569200" y="3318470"/>
            <a:ext cx="4267200" cy="373461"/>
          </a:xfrm>
          <a:prstGeom prst="rect">
            <a:avLst/>
          </a:prstGeom>
          <a:noFill/>
          <a:ln/>
        </p:spPr>
        <p:txBody>
          <a:bodyPr wrap="square" lIns="0" tIns="0" rIns="0" bIns="0" rtlCol="0" anchor="t">
            <a:noAutofit/>
          </a:bodyPr>
          <a:lstStyle/>
          <a:p>
            <a:pPr marL="0" indent="0" algn="l">
              <a:lnSpc>
                <a:spcPts val="2240"/>
              </a:lnSpc>
              <a:buNone/>
            </a:pPr>
            <a:r>
              <a:rPr lang="en-US" sz="1600" dirty="0">
                <a:solidFill>
                  <a:srgbClr val="44505F"/>
                </a:solidFill>
                <a:latin typeface="IBM Plex Sans" pitchFamily="34" charset="0"/>
                <a:ea typeface="IBM Plex Sans" pitchFamily="34" charset="-122"/>
                <a:cs typeface="IBM Plex Sans" pitchFamily="34" charset="-120"/>
              </a:rPr>
              <a:t>months of history volume and value trends</a:t>
            </a:r>
            <a:endParaRPr lang="en-US" sz="1600" dirty="0"/>
          </a:p>
        </p:txBody>
      </p:sp>
      <p:sp>
        <p:nvSpPr>
          <p:cNvPr id="9" name="Text 6"/>
          <p:cNvSpPr/>
          <p:nvPr/>
        </p:nvSpPr>
        <p:spPr>
          <a:xfrm>
            <a:off x="7640320" y="3751701"/>
            <a:ext cx="3583940" cy="1092200"/>
          </a:xfrm>
          <a:prstGeom prst="rect">
            <a:avLst/>
          </a:prstGeom>
          <a:noFill/>
          <a:ln/>
        </p:spPr>
        <p:txBody>
          <a:bodyPr wrap="square" lIns="0" tIns="0" rIns="0" bIns="0" rtlCol="0" anchor="t">
            <a:noAutofit/>
          </a:bodyPr>
          <a:lstStyle/>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A 3-month view (Jan to Mar) shows only a jump to 7.36M</a:t>
            </a:r>
            <a:endParaRPr lang="en-US" sz="1500" dirty="0"/>
          </a:p>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The 6-month view shows Dec-25 also reached 7.03M</a:t>
            </a:r>
            <a:endParaRPr lang="en-US" sz="1500" dirty="0"/>
          </a:p>
        </p:txBody>
      </p:sp>
      <p:sp>
        <p:nvSpPr>
          <p:cNvPr id="11" name="Section label"/>
          <p:cNvSpPr txBox="1"/>
          <p:nvPr/>
        </p:nvSpPr>
        <p:spPr>
          <a:xfrm>
            <a:off x="812800" y="470000"/>
            <a:ext cx="8000000" cy="212174"/>
          </a:xfrm>
          <a:prstGeom prst="rect">
            <a:avLst/>
          </a:prstGeom>
          <a:noFill/>
        </p:spPr>
        <p:txBody>
          <a:bodyPr wrap="square" lIns="0" tIns="0" rIns="0" bIns="0" anchor="t">
            <a:spAutoFit/>
          </a:bodyPr>
          <a:lstStyle/>
          <a:p>
            <a:pPr>
              <a:lnSpc>
                <a:spcPct val="125000"/>
              </a:lnSpc>
            </a:pPr>
            <a:r>
              <a:rPr lang="en-US" sz="1200" b="1" spc="100" dirty="0">
                <a:solidFill>
                  <a:srgbClr val="5B6573"/>
                </a:solidFill>
                <a:latin typeface="IBM Plex Sans"/>
                <a:ea typeface="IBM Plex Sans"/>
                <a:cs typeface="IBM Plex Sans"/>
              </a:rPr>
              <a:t>1.</a:t>
            </a:r>
            <a:r>
              <a:rPr lang="en-US" sz="1200" b="1" spc="100" dirty="0">
                <a:solidFill>
                  <a:srgbClr val="5B6573"/>
                </a:solidFill>
                <a:ea typeface="IBM Plex Sans"/>
                <a:cs typeface="IBM Plex Sans"/>
              </a:rPr>
              <a:t> ALL SYSTEMS</a:t>
            </a:r>
          </a:p>
        </p:txBody>
      </p:sp>
      <p:sp>
        <p:nvSpPr>
          <p:cNvPr id="12" name="Footer"/>
          <p:cNvSpPr txBox="1"/>
          <p:nvPr/>
        </p:nvSpPr>
        <p:spPr>
          <a:xfrm>
            <a:off x="812800" y="6238280"/>
            <a:ext cx="10883392" cy="238720"/>
          </a:xfrm>
          <a:prstGeom prst="rect">
            <a:avLst/>
          </a:prstGeom>
          <a:noFill/>
        </p:spPr>
        <p:txBody>
          <a:bodyPr wrap="square" lIns="0" tIns="0" rIns="0" bIns="0" anchor="t">
            <a:spAutoFit/>
          </a:bodyPr>
          <a:lstStyle/>
          <a:p>
            <a:pPr marL="0" indent="0" algn="l">
              <a:lnSpc>
                <a:spcPct val="125000"/>
              </a:lnSpc>
              <a:buNone/>
            </a:pPr>
            <a:r>
              <a:rPr sz="1200" b="0">
                <a:solidFill>
                  <a:srgbClr val="5B6573"/>
                </a:solidFill>
                <a:latin typeface="IBM Plex Sans"/>
                <a:ea typeface="IBM Plex Sans"/>
                <a:cs typeface="IBM Plex Sans"/>
              </a:rPr>
              <a:t>JOPACC · Monthly report proposal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BD685A6-838D-2B25-C601-A4AC42E9614F}"/>
              </a:ext>
            </a:extLst>
          </p:cNvPr>
          <p:cNvSpPr>
            <a:spLocks noGrp="1"/>
          </p:cNvSpPr>
          <p:nvPr>
            <p:ph type="title"/>
          </p:nvPr>
        </p:nvSpPr>
        <p:spPr>
          <a:xfrm>
            <a:off x="812800" y="812800"/>
            <a:ext cx="10883392" cy="528290"/>
          </a:xfrm>
        </p:spPr>
        <p:txBody>
          <a:bodyPr wrap="square" lIns="0" tIns="0" rIns="0" bIns="0" anchor="t"/>
          <a:lstStyle/>
          <a:p>
            <a:pPr marL="0" indent="0" algn="l">
              <a:lnSpc>
                <a:spcPts val="3960"/>
              </a:lnSpc>
              <a:buNone/>
            </a:pPr>
            <a:r>
              <a:rPr sz="3600" b="1" dirty="0">
                <a:solidFill>
                  <a:srgbClr val="172033"/>
                </a:solidFill>
                <a:latin typeface="IBM Plex Sans"/>
                <a:ea typeface="IBM Plex Sans"/>
                <a:cs typeface="IBM Plex Sans"/>
              </a:rPr>
              <a:t>Volume, value and ATV on one chart</a:t>
            </a:r>
            <a:endParaRPr lang="en-US" dirty="0"/>
          </a:p>
        </p:txBody>
      </p:sp>
      <p:pic>
        <p:nvPicPr>
          <p:cNvPr id="9" name="Combined chart: volume, value and ATV" descr="Combined chart, March to August 2026: transaction volume and transaction value as bars, ATV as a line on its own axis">
            <a:extLst>
              <a:ext uri="{FF2B5EF4-FFF2-40B4-BE49-F238E27FC236}">
                <a16:creationId xmlns:a16="http://schemas.microsoft.com/office/drawing/2014/main" id="{85C8F11D-0651-08B4-A948-487BE7D3C50A}"/>
              </a:ext>
            </a:extLst>
          </p:cNvPr>
          <p:cNvPicPr>
            <a:picLocks noChangeAspect="1"/>
          </p:cNvPicPr>
          <p:nvPr/>
        </p:nvPicPr>
        <p:blipFill>
          <a:blip r:embed="rId3"/>
          <a:srcRect/>
          <a:stretch>
            <a:fillRect/>
          </a:stretch>
        </p:blipFill>
        <p:spPr>
          <a:xfrm>
            <a:off x="812800" y="1463252"/>
            <a:ext cx="8300000" cy="4669917"/>
          </a:xfrm>
          <a:prstGeom prst="rect">
            <a:avLst/>
          </a:prstGeom>
        </p:spPr>
      </p:pic>
      <p:sp>
        <p:nvSpPr>
          <p:cNvPr id="11" name="Section label"/>
          <p:cNvSpPr txBox="1"/>
          <p:nvPr/>
        </p:nvSpPr>
        <p:spPr>
          <a:xfrm>
            <a:off x="812800" y="470000"/>
            <a:ext cx="8000000" cy="238720"/>
          </a:xfrm>
          <a:prstGeom prst="rect">
            <a:avLst/>
          </a:prstGeom>
          <a:noFill/>
        </p:spPr>
        <p:txBody>
          <a:bodyPr wrap="square" lIns="0" tIns="0" rIns="0" bIns="0" anchor="t">
            <a:spAutoFit/>
          </a:bodyPr>
          <a:lstStyle/>
          <a:p>
            <a:pPr marL="0" indent="0" algn="l">
              <a:lnSpc>
                <a:spcPct val="125000"/>
              </a:lnSpc>
              <a:buNone/>
            </a:pPr>
            <a:r>
              <a:rPr sz="1200" b="1" spc="100">
                <a:solidFill>
                  <a:srgbClr val="5B6573"/>
                </a:solidFill>
                <a:latin typeface="IBM Plex Sans"/>
                <a:ea typeface="IBM Plex Sans"/>
                <a:cs typeface="IBM Plex Sans"/>
              </a:rPr>
              <a:t>1 · ALL SYSTEMS</a:t>
            </a:r>
          </a:p>
        </p:txBody>
      </p:sp>
      <p:sp>
        <p:nvSpPr>
          <p:cNvPr id="12" name="Stat card 1"/>
          <p:cNvSpPr/>
          <p:nvPr/>
        </p:nvSpPr>
        <p:spPr>
          <a:xfrm>
            <a:off x="9350000" y="1450000"/>
            <a:ext cx="2340000" cy="1080000"/>
          </a:xfrm>
          <a:prstGeom prst="roundRect">
            <a:avLst>
              <a:gd name="adj" fmla="val 3880"/>
            </a:avLst>
          </a:prstGeom>
          <a:solidFill>
            <a:srgbClr val="FDFCFA"/>
          </a:solidFill>
          <a:ln w="635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tat 1"/>
          <p:cNvSpPr txBox="1"/>
          <p:nvPr/>
        </p:nvSpPr>
        <p:spPr>
          <a:xfrm>
            <a:off x="9520000" y="1550000"/>
            <a:ext cx="2050000" cy="480000"/>
          </a:xfrm>
          <a:prstGeom prst="rect">
            <a:avLst/>
          </a:prstGeom>
          <a:noFill/>
        </p:spPr>
        <p:txBody>
          <a:bodyPr wrap="square" lIns="0" tIns="0" rIns="0" bIns="0" anchor="t">
            <a:spAutoFit/>
          </a:bodyPr>
          <a:lstStyle/>
          <a:p>
            <a:pPr marL="0" indent="0" algn="l">
              <a:lnSpc>
                <a:spcPct val="125000"/>
              </a:lnSpc>
              <a:buNone/>
            </a:pPr>
            <a:r>
              <a:rPr sz="2800" b="1">
                <a:solidFill>
                  <a:srgbClr val="172033"/>
                </a:solidFill>
                <a:latin typeface="IBM Plex Sans"/>
                <a:ea typeface="IBM Plex Sans"/>
                <a:cs typeface="IBM Plex Sans"/>
              </a:rPr>
              <a:t>+26.2%</a:t>
            </a:r>
          </a:p>
        </p:txBody>
      </p:sp>
      <p:sp>
        <p:nvSpPr>
          <p:cNvPr id="14" name="Stat label 1"/>
          <p:cNvSpPr txBox="1"/>
          <p:nvPr/>
        </p:nvSpPr>
        <p:spPr>
          <a:xfrm>
            <a:off x="9520000" y="2070000"/>
            <a:ext cx="2050000" cy="400000"/>
          </a:xfrm>
          <a:prstGeom prst="rect">
            <a:avLst/>
          </a:prstGeom>
          <a:noFill/>
        </p:spPr>
        <p:txBody>
          <a:bodyPr wrap="square" lIns="0" tIns="0" rIns="0" bIns="0" anchor="t">
            <a:spAutoFit/>
          </a:bodyPr>
          <a:lstStyle/>
          <a:p>
            <a:pPr marL="0" indent="0" algn="l">
              <a:lnSpc>
                <a:spcPct val="125000"/>
              </a:lnSpc>
              <a:buNone/>
            </a:pPr>
            <a:r>
              <a:rPr sz="1200" b="0">
                <a:solidFill>
                  <a:srgbClr val="44505F"/>
                </a:solidFill>
                <a:latin typeface="IBM Plex Sans"/>
                <a:ea typeface="IBM Plex Sans"/>
                <a:cs typeface="IBM Plex Sans"/>
              </a:rPr>
              <a:t>Transaction volume</a:t>
            </a:r>
          </a:p>
        </p:txBody>
      </p:sp>
      <p:sp>
        <p:nvSpPr>
          <p:cNvPr id="15" name="Stat card 2"/>
          <p:cNvSpPr/>
          <p:nvPr/>
        </p:nvSpPr>
        <p:spPr>
          <a:xfrm>
            <a:off x="9350000" y="2630000"/>
            <a:ext cx="2340000" cy="1080000"/>
          </a:xfrm>
          <a:prstGeom prst="roundRect">
            <a:avLst>
              <a:gd name="adj" fmla="val 3880"/>
            </a:avLst>
          </a:prstGeom>
          <a:solidFill>
            <a:srgbClr val="FDFCFA"/>
          </a:solidFill>
          <a:ln w="635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tat 2"/>
          <p:cNvSpPr txBox="1"/>
          <p:nvPr/>
        </p:nvSpPr>
        <p:spPr>
          <a:xfrm>
            <a:off x="9520000" y="2730000"/>
            <a:ext cx="2050000" cy="480000"/>
          </a:xfrm>
          <a:prstGeom prst="rect">
            <a:avLst/>
          </a:prstGeom>
          <a:noFill/>
        </p:spPr>
        <p:txBody>
          <a:bodyPr wrap="square" lIns="0" tIns="0" rIns="0" bIns="0" anchor="t">
            <a:spAutoFit/>
          </a:bodyPr>
          <a:lstStyle/>
          <a:p>
            <a:pPr marL="0" indent="0" algn="l">
              <a:lnSpc>
                <a:spcPct val="125000"/>
              </a:lnSpc>
              <a:buNone/>
            </a:pPr>
            <a:r>
              <a:rPr sz="2800" b="1">
                <a:solidFill>
                  <a:srgbClr val="172033"/>
                </a:solidFill>
                <a:latin typeface="IBM Plex Sans"/>
                <a:ea typeface="IBM Plex Sans"/>
                <a:cs typeface="IBM Plex Sans"/>
              </a:rPr>
              <a:t>+20.3%</a:t>
            </a:r>
          </a:p>
        </p:txBody>
      </p:sp>
      <p:sp>
        <p:nvSpPr>
          <p:cNvPr id="17" name="Stat label 2"/>
          <p:cNvSpPr txBox="1"/>
          <p:nvPr/>
        </p:nvSpPr>
        <p:spPr>
          <a:xfrm>
            <a:off x="9520000" y="3250000"/>
            <a:ext cx="2050000" cy="400000"/>
          </a:xfrm>
          <a:prstGeom prst="rect">
            <a:avLst/>
          </a:prstGeom>
          <a:noFill/>
        </p:spPr>
        <p:txBody>
          <a:bodyPr wrap="square" lIns="0" tIns="0" rIns="0" bIns="0" anchor="t">
            <a:spAutoFit/>
          </a:bodyPr>
          <a:lstStyle/>
          <a:p>
            <a:pPr marL="0" indent="0" algn="l">
              <a:lnSpc>
                <a:spcPct val="125000"/>
              </a:lnSpc>
              <a:buNone/>
            </a:pPr>
            <a:r>
              <a:rPr sz="1200" b="0">
                <a:solidFill>
                  <a:srgbClr val="44505F"/>
                </a:solidFill>
                <a:latin typeface="IBM Plex Sans"/>
                <a:ea typeface="IBM Plex Sans"/>
                <a:cs typeface="IBM Plex Sans"/>
              </a:rPr>
              <a:t>Transaction value</a:t>
            </a:r>
          </a:p>
        </p:txBody>
      </p:sp>
      <p:sp>
        <p:nvSpPr>
          <p:cNvPr id="18" name="Stat card 3"/>
          <p:cNvSpPr/>
          <p:nvPr/>
        </p:nvSpPr>
        <p:spPr>
          <a:xfrm>
            <a:off x="9350000" y="3810000"/>
            <a:ext cx="2340000" cy="1080000"/>
          </a:xfrm>
          <a:prstGeom prst="roundRect">
            <a:avLst>
              <a:gd name="adj" fmla="val 3880"/>
            </a:avLst>
          </a:prstGeom>
          <a:solidFill>
            <a:srgbClr val="FDFCFA"/>
          </a:solidFill>
          <a:ln w="6350">
            <a:solidFill>
              <a:srgbClr val="E2D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tat 3"/>
          <p:cNvSpPr txBox="1"/>
          <p:nvPr/>
        </p:nvSpPr>
        <p:spPr>
          <a:xfrm>
            <a:off x="9520000" y="3910000"/>
            <a:ext cx="2050000" cy="480000"/>
          </a:xfrm>
          <a:prstGeom prst="rect">
            <a:avLst/>
          </a:prstGeom>
          <a:noFill/>
        </p:spPr>
        <p:txBody>
          <a:bodyPr wrap="square" lIns="0" tIns="0" rIns="0" bIns="0" anchor="t">
            <a:spAutoFit/>
          </a:bodyPr>
          <a:lstStyle/>
          <a:p>
            <a:pPr marL="0" indent="0" algn="l">
              <a:lnSpc>
                <a:spcPct val="125000"/>
              </a:lnSpc>
              <a:buNone/>
            </a:pPr>
            <a:r>
              <a:rPr sz="2800" b="1">
                <a:solidFill>
                  <a:srgbClr val="172033"/>
                </a:solidFill>
                <a:latin typeface="IBM Plex Sans"/>
                <a:ea typeface="IBM Plex Sans"/>
                <a:cs typeface="IBM Plex Sans"/>
              </a:rPr>
              <a:t>−4.7%</a:t>
            </a:r>
          </a:p>
        </p:txBody>
      </p:sp>
      <p:sp>
        <p:nvSpPr>
          <p:cNvPr id="20" name="Stat label 3"/>
          <p:cNvSpPr txBox="1"/>
          <p:nvPr/>
        </p:nvSpPr>
        <p:spPr>
          <a:xfrm>
            <a:off x="9520000" y="4430000"/>
            <a:ext cx="2050000" cy="400000"/>
          </a:xfrm>
          <a:prstGeom prst="rect">
            <a:avLst/>
          </a:prstGeom>
          <a:noFill/>
        </p:spPr>
        <p:txBody>
          <a:bodyPr wrap="square" lIns="0" tIns="0" rIns="0" bIns="0" anchor="t">
            <a:spAutoFit/>
          </a:bodyPr>
          <a:lstStyle/>
          <a:p>
            <a:pPr marL="0" indent="0" algn="l">
              <a:lnSpc>
                <a:spcPct val="125000"/>
              </a:lnSpc>
              <a:buNone/>
            </a:pPr>
            <a:r>
              <a:rPr sz="1200" b="0">
                <a:solidFill>
                  <a:srgbClr val="44505F"/>
                </a:solidFill>
                <a:latin typeface="IBM Plex Sans"/>
                <a:ea typeface="IBM Plex Sans"/>
                <a:cs typeface="IBM Plex Sans"/>
              </a:rPr>
              <a:t>Average transaction value (ATV)</a:t>
            </a:r>
          </a:p>
        </p:txBody>
      </p:sp>
      <p:sp>
        <p:nvSpPr>
          <p:cNvPr id="21" name="Reading note"/>
          <p:cNvSpPr txBox="1"/>
          <p:nvPr/>
        </p:nvSpPr>
        <p:spPr>
          <a:xfrm>
            <a:off x="9350000" y="5050000"/>
            <a:ext cx="2340000" cy="1050000"/>
          </a:xfrm>
          <a:prstGeom prst="rect">
            <a:avLst/>
          </a:prstGeom>
          <a:noFill/>
        </p:spPr>
        <p:txBody>
          <a:bodyPr wrap="square" lIns="0" tIns="0" rIns="0" bIns="0" anchor="t">
            <a:spAutoFit/>
          </a:bodyPr>
          <a:lstStyle/>
          <a:p>
            <a:pPr marL="0" indent="0" algn="l">
              <a:lnSpc>
                <a:spcPct val="125000"/>
              </a:lnSpc>
              <a:buNone/>
            </a:pPr>
            <a:r>
              <a:rPr sz="1200" b="0">
                <a:solidFill>
                  <a:srgbClr val="44505F"/>
                </a:solidFill>
                <a:latin typeface="IBM Plex Sans"/>
                <a:ea typeface="IBM Plex Sans"/>
                <a:cs typeface="IBM Plex Sans"/>
              </a:rPr>
              <a:t>Mar → Aug 2026. The ATV axis does not start at zero, so the line exaggerates the ATV change.</a:t>
            </a:r>
          </a:p>
        </p:txBody>
      </p:sp>
      <p:sp>
        <p:nvSpPr>
          <p:cNvPr id="22" name="Footer"/>
          <p:cNvSpPr txBox="1"/>
          <p:nvPr/>
        </p:nvSpPr>
        <p:spPr>
          <a:xfrm>
            <a:off x="812800" y="6238280"/>
            <a:ext cx="10883392" cy="238720"/>
          </a:xfrm>
          <a:prstGeom prst="rect">
            <a:avLst/>
          </a:prstGeom>
          <a:noFill/>
        </p:spPr>
        <p:txBody>
          <a:bodyPr wrap="square" lIns="0" tIns="0" rIns="0" bIns="0" anchor="t">
            <a:spAutoFit/>
          </a:bodyPr>
          <a:lstStyle/>
          <a:p>
            <a:pPr marL="0" indent="0" algn="l">
              <a:lnSpc>
                <a:spcPct val="125000"/>
              </a:lnSpc>
              <a:buNone/>
            </a:pPr>
            <a:r>
              <a:rPr sz="1200" b="0">
                <a:solidFill>
                  <a:srgbClr val="5B6573"/>
                </a:solidFill>
                <a:latin typeface="IBM Plex Sans"/>
                <a:ea typeface="IBM Plex Sans"/>
                <a:cs typeface="IBM Plex Sans"/>
              </a:rPr>
              <a:t>JOPACC · Monthly report proposal · Source: JOPACC Summary sheet, all systems</a:t>
            </a:r>
          </a:p>
        </p:txBody>
      </p:sp>
    </p:spTree>
    <p:extLst>
      <p:ext uri="{BB962C8B-B14F-4D97-AF65-F5344CB8AC3E}">
        <p14:creationId xmlns:p14="http://schemas.microsoft.com/office/powerpoint/2010/main" val="3580013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Autofit/>
          </a:bodyPr>
          <a:lstStyle/>
          <a:p>
            <a:pPr marL="0" indent="0" algn="l">
              <a:lnSpc>
                <a:spcPts val="3960"/>
              </a:lnSpc>
              <a:buNone/>
            </a:pPr>
            <a:r>
              <a:rPr sz="3600" b="1" dirty="0">
                <a:solidFill>
                  <a:srgbClr val="172033"/>
                </a:solidFill>
                <a:latin typeface="IBM Plex Sans"/>
                <a:ea typeface="IBM Plex Sans"/>
                <a:cs typeface="IBM Plex Sans"/>
              </a:rPr>
              <a:t>IPS: one consolidated section</a:t>
            </a:r>
            <a:endParaRPr lang="en-US" sz="3600" dirty="0"/>
          </a:p>
        </p:txBody>
      </p:sp>
      <p:sp>
        <p:nvSpPr>
          <p:cNvPr id="3" name="Shape 1"/>
          <p:cNvSpPr/>
          <p:nvPr/>
        </p:nvSpPr>
        <p:spPr>
          <a:xfrm>
            <a:off x="812800" y="1823045"/>
            <a:ext cx="2967534" cy="1851521"/>
          </a:xfrm>
          <a:prstGeom prst="roundRect">
            <a:avLst>
              <a:gd name="adj" fmla="val 5487"/>
            </a:avLst>
          </a:prstGeom>
          <a:solidFill>
            <a:srgbClr val="172033"/>
          </a:solidFill>
          <a:ln/>
        </p:spPr>
        <p:txBody>
          <a:bodyPr/>
          <a:lstStyle/>
          <a:p>
            <a:endParaRPr/>
          </a:p>
        </p:txBody>
      </p:sp>
      <p:sp>
        <p:nvSpPr>
          <p:cNvPr id="4" name="Text 2"/>
          <p:cNvSpPr/>
          <p:nvPr/>
        </p:nvSpPr>
        <p:spPr>
          <a:xfrm>
            <a:off x="1066800" y="2077045"/>
            <a:ext cx="2533320" cy="274290"/>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F2A922"/>
                </a:solidFill>
                <a:latin typeface="IBM Plex Sans" pitchFamily="34" charset="0"/>
                <a:ea typeface="IBM Plex Sans" pitchFamily="34" charset="-122"/>
                <a:cs typeface="IBM Plex Sans" pitchFamily="34" charset="-120"/>
              </a:rPr>
              <a:t>1 · OVERVIEW</a:t>
            </a:r>
            <a:endParaRPr lang="en-US" sz="1400" dirty="0"/>
          </a:p>
        </p:txBody>
      </p:sp>
      <p:sp>
        <p:nvSpPr>
          <p:cNvPr id="5" name="Text 3"/>
          <p:cNvSpPr/>
          <p:nvPr/>
        </p:nvSpPr>
        <p:spPr>
          <a:xfrm>
            <a:off x="1066800" y="2427536"/>
            <a:ext cx="2533320" cy="667941"/>
          </a:xfrm>
          <a:prstGeom prst="rect">
            <a:avLst/>
          </a:prstGeom>
          <a:noFill/>
          <a:ln/>
        </p:spPr>
        <p:txBody>
          <a:bodyPr wrap="square" lIns="0" tIns="0" rIns="0" bIns="0" rtlCol="0" anchor="t">
            <a:noAutofit/>
          </a:bodyPr>
          <a:lstStyle/>
          <a:p>
            <a:pPr marL="0" indent="0" algn="l">
              <a:lnSpc>
                <a:spcPts val="2530"/>
              </a:lnSpc>
              <a:buNone/>
            </a:pPr>
            <a:r>
              <a:rPr lang="en-US" sz="2200" b="1" dirty="0">
                <a:solidFill>
                  <a:srgbClr val="F6F5F1"/>
                </a:solidFill>
                <a:latin typeface="IBM Plex Sans" pitchFamily="34" charset="0"/>
                <a:ea typeface="IBM Plex Sans" pitchFamily="34" charset="-122"/>
                <a:cs typeface="IBM Plex Sans" pitchFamily="34" charset="-120"/>
              </a:rPr>
              <a:t>IPS overview</a:t>
            </a:r>
            <a:endParaRPr lang="en-US" sz="2200" dirty="0"/>
          </a:p>
        </p:txBody>
      </p:sp>
      <p:sp>
        <p:nvSpPr>
          <p:cNvPr id="6" name="Text 4"/>
          <p:cNvSpPr/>
          <p:nvPr/>
        </p:nvSpPr>
        <p:spPr>
          <a:xfrm>
            <a:off x="1066800" y="3171676"/>
            <a:ext cx="2713534" cy="274290"/>
          </a:xfrm>
          <a:prstGeom prst="rect">
            <a:avLst/>
          </a:prstGeom>
          <a:noFill/>
          <a:ln/>
        </p:spPr>
        <p:txBody>
          <a:bodyPr wrap="square" lIns="0" tIns="0" rIns="0" bIns="0" rtlCol="0" anchor="t">
            <a:noAutofit/>
          </a:bodyPr>
          <a:lstStyle/>
          <a:p>
            <a:pPr marL="0" indent="0" algn="l">
              <a:lnSpc>
                <a:spcPts val="1960"/>
              </a:lnSpc>
              <a:buNone/>
            </a:pPr>
            <a:r>
              <a:rPr lang="en-US" sz="1400" dirty="0">
                <a:solidFill>
                  <a:srgbClr val="C9CFD8"/>
                </a:solidFill>
                <a:latin typeface="IBM Plex Sans" pitchFamily="34" charset="0"/>
                <a:ea typeface="IBM Plex Sans" pitchFamily="34" charset="-122"/>
                <a:cs typeface="IBM Plex Sans" pitchFamily="34" charset="-120"/>
              </a:rPr>
              <a:t>All IPS activity, reported once</a:t>
            </a:r>
            <a:endParaRPr lang="en-US" sz="1400" dirty="0"/>
          </a:p>
        </p:txBody>
      </p:sp>
      <p:pic>
        <p:nvPicPr>
          <p:cNvPr id="7" name="Image 0" descr="arrow-right"/>
          <p:cNvPicPr>
            <a:picLocks noChangeAspect="1"/>
          </p:cNvPicPr>
          <p:nvPr/>
        </p:nvPicPr>
        <p:blipFill>
          <a:blip r:embed="rId3"/>
          <a:srcRect/>
          <a:stretch/>
        </p:blipFill>
        <p:spPr>
          <a:xfrm>
            <a:off x="3932734" y="2596406"/>
            <a:ext cx="508000" cy="304800"/>
          </a:xfrm>
          <a:prstGeom prst="rect">
            <a:avLst/>
          </a:prstGeom>
        </p:spPr>
      </p:pic>
      <p:sp>
        <p:nvSpPr>
          <p:cNvPr id="8" name="Shape 5"/>
          <p:cNvSpPr/>
          <p:nvPr/>
        </p:nvSpPr>
        <p:spPr>
          <a:xfrm>
            <a:off x="4599484" y="1728440"/>
            <a:ext cx="2980283" cy="2040731"/>
          </a:xfrm>
          <a:prstGeom prst="roundRect">
            <a:avLst>
              <a:gd name="adj" fmla="val 4667"/>
            </a:avLst>
          </a:prstGeom>
          <a:solidFill>
            <a:srgbClr val="FDFCFA"/>
          </a:solidFill>
          <a:ln w="12700">
            <a:solidFill>
              <a:srgbClr val="172033"/>
            </a:solidFill>
            <a:prstDash val="solid"/>
          </a:ln>
        </p:spPr>
        <p:txBody>
          <a:bodyPr/>
          <a:lstStyle/>
          <a:p>
            <a:endParaRPr/>
          </a:p>
        </p:txBody>
      </p:sp>
      <p:sp>
        <p:nvSpPr>
          <p:cNvPr id="9" name="Text 6"/>
          <p:cNvSpPr/>
          <p:nvPr/>
        </p:nvSpPr>
        <p:spPr>
          <a:xfrm>
            <a:off x="4859834" y="1988790"/>
            <a:ext cx="2533371" cy="274290"/>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5B6573"/>
                </a:solidFill>
                <a:latin typeface="IBM Plex Sans" pitchFamily="34" charset="0"/>
                <a:ea typeface="IBM Plex Sans" pitchFamily="34" charset="-122"/>
                <a:cs typeface="IBM Plex Sans" pitchFamily="34" charset="-120"/>
              </a:rPr>
              <a:t>2 · THEN</a:t>
            </a:r>
            <a:endParaRPr lang="en-US" sz="1400" dirty="0"/>
          </a:p>
        </p:txBody>
      </p:sp>
      <p:sp>
        <p:nvSpPr>
          <p:cNvPr id="10" name="Text 7"/>
          <p:cNvSpPr/>
          <p:nvPr/>
        </p:nvSpPr>
        <p:spPr>
          <a:xfrm>
            <a:off x="4859834" y="2339280"/>
            <a:ext cx="2533371" cy="346670"/>
          </a:xfrm>
          <a:prstGeom prst="rect">
            <a:avLst/>
          </a:prstGeom>
          <a:noFill/>
          <a:ln/>
        </p:spPr>
        <p:txBody>
          <a:bodyPr wrap="square" lIns="0" tIns="0" rIns="0" bIns="0" rtlCol="0" anchor="t">
            <a:noAutofit/>
          </a:bodyPr>
          <a:lstStyle/>
          <a:p>
            <a:pPr marL="0" indent="0" algn="l">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CliQ and JoMoPay</a:t>
            </a:r>
            <a:endParaRPr lang="en-US" sz="2200" dirty="0"/>
          </a:p>
        </p:txBody>
      </p:sp>
      <p:sp>
        <p:nvSpPr>
          <p:cNvPr id="11" name="Text 8"/>
          <p:cNvSpPr/>
          <p:nvPr/>
        </p:nvSpPr>
        <p:spPr>
          <a:xfrm>
            <a:off x="4859834" y="2762151"/>
            <a:ext cx="2533371" cy="1250000"/>
          </a:xfrm>
          <a:prstGeom prst="rect">
            <a:avLst/>
          </a:prstGeom>
          <a:noFill/>
          <a:ln/>
        </p:spPr>
        <p:txBody>
          <a:bodyPr wrap="square" lIns="0" tIns="0" rIns="0" bIns="0" rtlCol="0" anchor="t">
            <a:no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A separate analysis of each. Mock-up value: CliQ 2.43B, JoMoPay 0.77B JOD</a:t>
            </a:r>
            <a:endParaRPr lang="en-US" sz="1400" dirty="0"/>
          </a:p>
        </p:txBody>
      </p:sp>
      <p:pic>
        <p:nvPicPr>
          <p:cNvPr id="12" name="Image 1" descr="arrow-right"/>
          <p:cNvPicPr>
            <a:picLocks noChangeAspect="1"/>
          </p:cNvPicPr>
          <p:nvPr/>
        </p:nvPicPr>
        <p:blipFill>
          <a:blip r:embed="rId3"/>
          <a:srcRect/>
          <a:stretch/>
        </p:blipFill>
        <p:spPr>
          <a:xfrm>
            <a:off x="7738517" y="2596406"/>
            <a:ext cx="508000" cy="304800"/>
          </a:xfrm>
          <a:prstGeom prst="rect">
            <a:avLst/>
          </a:prstGeom>
        </p:spPr>
      </p:pic>
      <p:sp>
        <p:nvSpPr>
          <p:cNvPr id="13" name="Shape 9"/>
          <p:cNvSpPr/>
          <p:nvPr/>
        </p:nvSpPr>
        <p:spPr>
          <a:xfrm>
            <a:off x="8402092" y="1856036"/>
            <a:ext cx="2973933" cy="1785491"/>
          </a:xfrm>
          <a:prstGeom prst="roundRect">
            <a:avLst>
              <a:gd name="adj" fmla="val 5512"/>
            </a:avLst>
          </a:prstGeom>
          <a:solidFill>
            <a:srgbClr val="FDFCFA"/>
          </a:solidFill>
          <a:ln w="6350">
            <a:solidFill>
              <a:srgbClr val="E2DFD6"/>
            </a:solidFill>
            <a:prstDash val="solid"/>
          </a:ln>
        </p:spPr>
        <p:txBody>
          <a:bodyPr/>
          <a:lstStyle/>
          <a:p>
            <a:endParaRPr/>
          </a:p>
        </p:txBody>
      </p:sp>
      <p:sp>
        <p:nvSpPr>
          <p:cNvPr id="14" name="Text 10"/>
          <p:cNvSpPr/>
          <p:nvPr/>
        </p:nvSpPr>
        <p:spPr>
          <a:xfrm>
            <a:off x="8659267" y="2113211"/>
            <a:ext cx="2533371" cy="274290"/>
          </a:xfrm>
          <a:prstGeom prst="rect">
            <a:avLst/>
          </a:prstGeom>
          <a:noFill/>
          <a:ln/>
        </p:spPr>
        <p:txBody>
          <a:bodyPr wrap="square" lIns="0" tIns="0" rIns="0" bIns="0" rtlCol="0" anchor="t">
            <a:noAutofit/>
          </a:bodyPr>
          <a:lstStyle/>
          <a:p>
            <a:pPr marL="0" indent="0" algn="l">
              <a:lnSpc>
                <a:spcPts val="1960"/>
              </a:lnSpc>
              <a:buNone/>
            </a:pPr>
            <a:r>
              <a:rPr lang="en-US" sz="1400" b="1" dirty="0">
                <a:solidFill>
                  <a:srgbClr val="5B6573"/>
                </a:solidFill>
                <a:latin typeface="IBM Plex Sans" pitchFamily="34" charset="0"/>
                <a:ea typeface="IBM Plex Sans" pitchFamily="34" charset="-122"/>
                <a:cs typeface="IBM Plex Sans" pitchFamily="34" charset="-120"/>
              </a:rPr>
              <a:t>3 · THEN</a:t>
            </a:r>
            <a:endParaRPr lang="en-US" sz="1400" dirty="0"/>
          </a:p>
        </p:txBody>
      </p:sp>
      <p:sp>
        <p:nvSpPr>
          <p:cNvPr id="15" name="Text 11"/>
          <p:cNvSpPr/>
          <p:nvPr/>
        </p:nvSpPr>
        <p:spPr>
          <a:xfrm>
            <a:off x="8659267" y="2463701"/>
            <a:ext cx="2533371" cy="346670"/>
          </a:xfrm>
          <a:prstGeom prst="rect">
            <a:avLst/>
          </a:prstGeom>
          <a:noFill/>
          <a:ln/>
        </p:spPr>
        <p:txBody>
          <a:bodyPr wrap="square" lIns="0" tIns="0" rIns="0" bIns="0" rtlCol="0" anchor="t">
            <a:noAutofit/>
          </a:bodyPr>
          <a:lstStyle/>
          <a:p>
            <a:pPr marL="0" indent="0" algn="l">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Interoperability</a:t>
            </a:r>
            <a:endParaRPr lang="en-US" sz="2200" dirty="0"/>
          </a:p>
        </p:txBody>
      </p:sp>
      <p:sp>
        <p:nvSpPr>
          <p:cNvPr id="16" name="Text 12"/>
          <p:cNvSpPr/>
          <p:nvPr/>
        </p:nvSpPr>
        <p:spPr>
          <a:xfrm>
            <a:off x="8659267" y="2886571"/>
            <a:ext cx="2533371" cy="900000"/>
          </a:xfrm>
          <a:prstGeom prst="rect">
            <a:avLst/>
          </a:prstGeom>
          <a:noFill/>
          <a:ln/>
        </p:spPr>
        <p:txBody>
          <a:bodyPr wrap="square" lIns="0" tIns="0" rIns="0" bIns="0" rtlCol="0" anchor="t">
            <a:no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On Us vs Off Us, and bank and mPSP flows</a:t>
            </a:r>
            <a:endParaRPr lang="en-US" sz="1400" dirty="0"/>
          </a:p>
        </p:txBody>
      </p:sp>
      <p:sp>
        <p:nvSpPr>
          <p:cNvPr id="17" name="Text 13"/>
          <p:cNvSpPr/>
          <p:nvPr/>
        </p:nvSpPr>
        <p:spPr>
          <a:xfrm>
            <a:off x="812800" y="4181921"/>
            <a:ext cx="5181600" cy="904180"/>
          </a:xfrm>
          <a:prstGeom prst="roundRect">
            <a:avLst>
              <a:gd name="adj" fmla="val 11237"/>
            </a:avLst>
          </a:prstGeom>
          <a:solidFill>
            <a:srgbClr val="F2A922"/>
          </a:solidFill>
          <a:ln/>
        </p:spPr>
        <p:txBody>
          <a:bodyPr wrap="square" lIns="198842" tIns="148042" rIns="57110" bIns="122642" rtlCol="0" anchor="t">
            <a:noAutofit/>
          </a:bodyPr>
          <a:lstStyle/>
          <a:p>
            <a:r>
              <a:rPr lang="en-US" sz="1600" b="1" dirty="0"/>
              <a:t>Instant Payments</a:t>
            </a:r>
            <a:r>
              <a:rPr lang="en-US" sz="1600" dirty="0"/>
              <a:t> should be the main section, with </a:t>
            </a:r>
            <a:r>
              <a:rPr lang="en-US" sz="1600" dirty="0" err="1"/>
              <a:t>CliQ</a:t>
            </a:r>
            <a:r>
              <a:rPr lang="en-US" sz="1600" dirty="0"/>
              <a:t>, </a:t>
            </a:r>
            <a:r>
              <a:rPr lang="en-US" sz="1600" dirty="0" err="1"/>
              <a:t>JoMoPay</a:t>
            </a:r>
            <a:r>
              <a:rPr lang="en-US" sz="1600" dirty="0"/>
              <a:t>, and Interoperability as subsections under it.</a:t>
            </a:r>
          </a:p>
        </p:txBody>
      </p:sp>
      <p:sp>
        <p:nvSpPr>
          <p:cNvPr id="18" name="Text 14"/>
          <p:cNvSpPr/>
          <p:nvPr/>
        </p:nvSpPr>
        <p:spPr>
          <a:xfrm>
            <a:off x="6197600" y="4181921"/>
            <a:ext cx="5181600" cy="904180"/>
          </a:xfrm>
          <a:prstGeom prst="roundRect">
            <a:avLst>
              <a:gd name="adj" fmla="val 11237"/>
            </a:avLst>
          </a:prstGeom>
          <a:solidFill>
            <a:srgbClr val="F2A922"/>
          </a:solidFill>
          <a:ln/>
        </p:spPr>
        <p:txBody>
          <a:bodyPr wrap="square" lIns="198842" tIns="148042" rIns="57110" bIns="122642" rtlCol="0" anchor="t">
            <a:noAutofit/>
          </a:bodyPr>
          <a:lstStyle/>
          <a:p>
            <a:pPr>
              <a:lnSpc>
                <a:spcPts val="2160"/>
              </a:lnSpc>
            </a:pPr>
            <a:r>
              <a:rPr lang="en-US" sz="1600" b="1" dirty="0">
                <a:solidFill>
                  <a:srgbClr val="172033"/>
                </a:solidFill>
                <a:latin typeface="IBM Plex Sans" pitchFamily="34" charset="0"/>
                <a:ea typeface="IBM Plex Sans" pitchFamily="34" charset="-122"/>
                <a:cs typeface="IBM Plex Sans" pitchFamily="34" charset="-120"/>
              </a:rPr>
              <a:t>Reduce Redundancy and Improve Clarity</a:t>
            </a:r>
            <a:endParaRPr lang="en-US" sz="1600" dirty="0"/>
          </a:p>
        </p:txBody>
      </p:sp>
      <p:sp>
        <p:nvSpPr>
          <p:cNvPr id="20" name="Section label"/>
          <p:cNvSpPr txBox="1"/>
          <p:nvPr/>
        </p:nvSpPr>
        <p:spPr>
          <a:xfrm>
            <a:off x="812800" y="470000"/>
            <a:ext cx="8000000" cy="238720"/>
          </a:xfrm>
          <a:prstGeom prst="rect">
            <a:avLst/>
          </a:prstGeom>
          <a:noFill/>
        </p:spPr>
        <p:txBody>
          <a:bodyPr wrap="square" lIns="0" tIns="0" rIns="0" bIns="0" anchor="t">
            <a:spAutoFit/>
          </a:bodyPr>
          <a:lstStyle/>
          <a:p>
            <a:pPr marL="0" indent="0" algn="l">
              <a:lnSpc>
                <a:spcPct val="125000"/>
              </a:lnSpc>
              <a:buNone/>
            </a:pPr>
            <a:r>
              <a:rPr sz="1200" b="1" spc="100">
                <a:solidFill>
                  <a:srgbClr val="5B6573"/>
                </a:solidFill>
                <a:latin typeface="IBM Plex Sans"/>
                <a:ea typeface="IBM Plex Sans"/>
                <a:cs typeface="IBM Plex Sans"/>
              </a:rPr>
              <a:t>2 · IPS — INSTANT PAYMENTS &amp; INTEROPERABILITY</a:t>
            </a:r>
          </a:p>
        </p:txBody>
      </p:sp>
      <p:sp>
        <p:nvSpPr>
          <p:cNvPr id="21" name="Footer"/>
          <p:cNvSpPr txBox="1"/>
          <p:nvPr/>
        </p:nvSpPr>
        <p:spPr>
          <a:xfrm>
            <a:off x="812800" y="6238280"/>
            <a:ext cx="10883392" cy="238720"/>
          </a:xfrm>
          <a:prstGeom prst="rect">
            <a:avLst/>
          </a:prstGeom>
          <a:noFill/>
        </p:spPr>
        <p:txBody>
          <a:bodyPr wrap="square" lIns="0" tIns="0" rIns="0" bIns="0" anchor="t">
            <a:spAutoFit/>
          </a:bodyPr>
          <a:lstStyle/>
          <a:p>
            <a:pPr marL="0" indent="0" algn="l">
              <a:lnSpc>
                <a:spcPct val="125000"/>
              </a:lnSpc>
              <a:buNone/>
            </a:pPr>
            <a:r>
              <a:rPr sz="1200" b="0">
                <a:solidFill>
                  <a:srgbClr val="5B6573"/>
                </a:solidFill>
                <a:latin typeface="IBM Plex Sans"/>
                <a:ea typeface="IBM Plex Sans"/>
                <a:cs typeface="IBM Plex Sans"/>
              </a:rPr>
              <a:t>JOPACC · Monthly report proposal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Autofit/>
          </a:bodyPr>
          <a:lstStyle/>
          <a:p>
            <a:pPr marL="0" indent="0" algn="l">
              <a:lnSpc>
                <a:spcPts val="3960"/>
              </a:lnSpc>
              <a:buNone/>
            </a:pPr>
            <a:r>
              <a:rPr sz="3600" b="1" dirty="0">
                <a:solidFill>
                  <a:srgbClr val="172033"/>
                </a:solidFill>
                <a:latin typeface="IBM Plex Sans"/>
                <a:ea typeface="IBM Plex Sans"/>
                <a:cs typeface="IBM Plex Sans"/>
              </a:rPr>
              <a:t>Top 5 by volume, the rest in a table</a:t>
            </a:r>
            <a:endParaRPr lang="en-US" sz="3431" dirty="0"/>
          </a:p>
        </p:txBody>
      </p:sp>
      <p:sp>
        <p:nvSpPr>
          <p:cNvPr id="3" name="Text 1"/>
          <p:cNvSpPr/>
          <p:nvPr/>
        </p:nvSpPr>
        <p:spPr>
          <a:xfrm>
            <a:off x="812800" y="1677640"/>
            <a:ext cx="3150000" cy="2000000"/>
          </a:xfrm>
          <a:prstGeom prst="rect">
            <a:avLst/>
          </a:prstGeom>
          <a:noFill/>
          <a:ln/>
        </p:spPr>
        <p:txBody>
          <a:bodyPr wrap="square" lIns="0" tIns="0" rIns="0" bIns="0" rtlCol="0" anchor="t">
            <a:noAutofit/>
          </a:bodyPr>
          <a:lstStyle/>
          <a:p>
            <a:pPr marL="228600" indent="-228600" algn="l">
              <a:lnSpc>
                <a:spcPct val="125000"/>
              </a:lnSpc>
              <a:buSzPct val="100000"/>
              <a:buChar char="•"/>
            </a:pPr>
            <a:r>
              <a:rPr sz="1400" b="0" dirty="0">
                <a:solidFill>
                  <a:srgbClr val="44505F"/>
                </a:solidFill>
                <a:latin typeface="IBM Plex Sans"/>
                <a:ea typeface="IBM Plex Sans"/>
                <a:cs typeface="IBM Plex Sans"/>
              </a:rPr>
              <a:t>Bar chart shows only the Top 5 categories</a:t>
            </a:r>
            <a:endParaRPr lang="en-US" sz="1500" dirty="0"/>
          </a:p>
          <a:p>
            <a:pPr marL="228600" indent="-228600" algn="l">
              <a:lnSpc>
                <a:spcPct val="125000"/>
              </a:lnSpc>
              <a:spcBef>
                <a:spcPts val="400"/>
              </a:spcBef>
              <a:buChar char="•"/>
            </a:pPr>
            <a:r>
              <a:rPr sz="1400" b="0" dirty="0">
                <a:solidFill>
                  <a:srgbClr val="44505F"/>
                </a:solidFill>
                <a:latin typeface="IBM Plex Sans"/>
                <a:ea typeface="IBM Plex Sans"/>
                <a:cs typeface="IBM Plex Sans"/>
              </a:rPr>
              <a:t>All other categories sit in a table beside it</a:t>
            </a:r>
          </a:p>
          <a:p>
            <a:pPr marL="228600" indent="-228600" algn="l">
              <a:lnSpc>
                <a:spcPct val="125000"/>
              </a:lnSpc>
              <a:spcBef>
                <a:spcPts val="400"/>
              </a:spcBef>
              <a:buChar char="•"/>
            </a:pPr>
            <a:r>
              <a:rPr sz="1400" b="0" dirty="0">
                <a:solidFill>
                  <a:srgbClr val="44505F"/>
                </a:solidFill>
                <a:latin typeface="IBM Plex Sans"/>
                <a:ea typeface="IBM Plex Sans"/>
                <a:cs typeface="IBM Plex Sans"/>
              </a:rPr>
              <a:t>Same layout for transaction count and transaction value</a:t>
            </a:r>
          </a:p>
        </p:txBody>
      </p:sp>
      <p:sp>
        <p:nvSpPr>
          <p:cNvPr id="4" name="Text 2"/>
          <p:cNvSpPr/>
          <p:nvPr/>
        </p:nvSpPr>
        <p:spPr>
          <a:xfrm>
            <a:off x="812800" y="3900000"/>
            <a:ext cx="3150000" cy="1350000"/>
          </a:xfrm>
          <a:prstGeom prst="roundRect">
            <a:avLst>
              <a:gd name="adj" fmla="val 9663"/>
            </a:avLst>
          </a:prstGeom>
          <a:solidFill>
            <a:srgbClr val="F2A922"/>
          </a:solidFill>
          <a:ln/>
        </p:spPr>
        <p:txBody>
          <a:bodyPr wrap="square" lIns="148042" tIns="122642" rIns="44410" bIns="97242" rtlCol="0" anchor="t">
            <a:no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In the mock-up the Top 5 carry about 95% of listed volume, so the chart stays readable.</a:t>
            </a:r>
            <a:endParaRPr lang="en-US" sz="1400" dirty="0"/>
          </a:p>
        </p:txBody>
      </p:sp>
      <p:sp>
        <p:nvSpPr>
          <p:cNvPr id="10" name="Section label"/>
          <p:cNvSpPr txBox="1"/>
          <p:nvPr/>
        </p:nvSpPr>
        <p:spPr>
          <a:xfrm>
            <a:off x="812800" y="470000"/>
            <a:ext cx="8000000" cy="238720"/>
          </a:xfrm>
          <a:prstGeom prst="rect">
            <a:avLst/>
          </a:prstGeom>
          <a:noFill/>
        </p:spPr>
        <p:txBody>
          <a:bodyPr wrap="square" lIns="0" tIns="0" rIns="0" bIns="0" anchor="t">
            <a:spAutoFit/>
          </a:bodyPr>
          <a:lstStyle/>
          <a:p>
            <a:pPr marL="0" indent="0" algn="l">
              <a:lnSpc>
                <a:spcPct val="125000"/>
              </a:lnSpc>
              <a:buNone/>
            </a:pPr>
            <a:r>
              <a:rPr sz="1200" b="1" spc="100">
                <a:solidFill>
                  <a:srgbClr val="5B6573"/>
                </a:solidFill>
                <a:latin typeface="IBM Plex Sans"/>
                <a:ea typeface="IBM Plex Sans"/>
                <a:cs typeface="IBM Plex Sans"/>
              </a:rPr>
              <a:t>3 · eFAWATEERCOM</a:t>
            </a:r>
          </a:p>
        </p:txBody>
      </p:sp>
      <p:sp>
        <p:nvSpPr>
          <p:cNvPr id="11" name="TextBox 10"/>
          <p:cNvSpPr txBox="1"/>
          <p:nvPr/>
        </p:nvSpPr>
        <p:spPr>
          <a:xfrm>
            <a:off x="4250000" y="1580000"/>
            <a:ext cx="3600000" cy="300000"/>
          </a:xfrm>
          <a:prstGeom prst="rect">
            <a:avLst/>
          </a:prstGeom>
          <a:noFill/>
        </p:spPr>
        <p:txBody>
          <a:bodyPr wrap="square" lIns="0" tIns="0" rIns="0" bIns="0" anchor="t">
            <a:spAutoFit/>
          </a:bodyPr>
          <a:lstStyle/>
          <a:p>
            <a:pPr marL="0" indent="0" algn="l">
              <a:lnSpc>
                <a:spcPct val="125000"/>
              </a:lnSpc>
              <a:buNone/>
            </a:pPr>
            <a:r>
              <a:rPr sz="1600" b="1">
                <a:solidFill>
                  <a:srgbClr val="172033"/>
                </a:solidFill>
                <a:latin typeface="IBM Plex Sans"/>
                <a:ea typeface="IBM Plex Sans"/>
                <a:cs typeface="IBM Plex Sans"/>
              </a:rPr>
              <a:t>Top 5 categories</a:t>
            </a:r>
          </a:p>
        </p:txBody>
      </p:sp>
      <p:graphicFrame>
        <p:nvGraphicFramePr>
          <p:cNvPr id="12" name="Top 5 categories by transactions"/>
          <p:cNvGraphicFramePr>
            <a:graphicFrameLocks noGrp="1"/>
          </p:cNvGraphicFramePr>
          <p:nvPr/>
        </p:nvGraphicFramePr>
        <p:xfrm>
          <a:off x="4150000" y="1950000"/>
          <a:ext cx="3900000" cy="3500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8250000" y="1580000"/>
            <a:ext cx="3100000" cy="300000"/>
          </a:xfrm>
          <a:prstGeom prst="rect">
            <a:avLst/>
          </a:prstGeom>
          <a:noFill/>
        </p:spPr>
        <p:txBody>
          <a:bodyPr wrap="square" lIns="0" tIns="0" rIns="0" bIns="0" anchor="t">
            <a:spAutoFit/>
          </a:bodyPr>
          <a:lstStyle/>
          <a:p>
            <a:pPr marL="0" indent="0" algn="l">
              <a:lnSpc>
                <a:spcPct val="125000"/>
              </a:lnSpc>
              <a:buNone/>
            </a:pPr>
            <a:r>
              <a:rPr sz="1600" b="1">
                <a:solidFill>
                  <a:srgbClr val="172033"/>
                </a:solidFill>
                <a:latin typeface="IBM Plex Sans"/>
                <a:ea typeface="IBM Plex Sans"/>
                <a:cs typeface="IBM Plex Sans"/>
              </a:rPr>
              <a:t>Other categories</a:t>
            </a:r>
          </a:p>
        </p:txBody>
      </p:sp>
      <p:graphicFrame>
        <p:nvGraphicFramePr>
          <p:cNvPr id="14" name="Other categories table"/>
          <p:cNvGraphicFramePr>
            <a:graphicFrameLocks noGrp="1"/>
          </p:cNvGraphicFramePr>
          <p:nvPr/>
        </p:nvGraphicFramePr>
        <p:xfrm>
          <a:off x="8250000" y="1950000"/>
          <a:ext cx="3130000" cy="3555000"/>
        </p:xfrm>
        <a:graphic>
          <a:graphicData uri="http://schemas.openxmlformats.org/drawingml/2006/table">
            <a:tbl>
              <a:tblPr>
                <a:tableStyleId>{2D5ABB26-0587-4C30-8999-92F81FD0307C}</a:tableStyleId>
              </a:tblPr>
              <a:tblGrid>
                <a:gridCol w="2350000">
                  <a:extLst>
                    <a:ext uri="{9D8B030D-6E8A-4147-A177-3AD203B41FA5}">
                      <a16:colId xmlns:a16="http://schemas.microsoft.com/office/drawing/2014/main" val="20000"/>
                    </a:ext>
                  </a:extLst>
                </a:gridCol>
                <a:gridCol w="780000">
                  <a:extLst>
                    <a:ext uri="{9D8B030D-6E8A-4147-A177-3AD203B41FA5}">
                      <a16:colId xmlns:a16="http://schemas.microsoft.com/office/drawing/2014/main" val="20001"/>
                    </a:ext>
                  </a:extLst>
                </a:gridCol>
              </a:tblGrid>
              <a:tr h="395000">
                <a:tc>
                  <a:txBody>
                    <a:bodyPr/>
                    <a:lstStyle/>
                    <a:p>
                      <a:pPr marL="0" indent="0" algn="l">
                        <a:lnSpc>
                          <a:spcPct val="100000"/>
                        </a:lnSpc>
                        <a:buNone/>
                      </a:pPr>
                      <a:r>
                        <a:rPr sz="1200" b="1" dirty="0">
                          <a:solidFill>
                            <a:srgbClr val="F6F5F1"/>
                          </a:solidFill>
                          <a:latin typeface="IBM Plex Sans"/>
                          <a:ea typeface="IBM Plex Sans"/>
                          <a:cs typeface="IBM Plex Sans"/>
                        </a:rPr>
                        <a:t>Category</a:t>
                      </a:r>
                    </a:p>
                  </a:txBody>
                  <a:tcPr marL="90000" marR="90000" marT="45000" marB="45000" anchor="ctr">
                    <a:lnL w="6350">
                      <a:noFill/>
                    </a:lnL>
                    <a:lnR w="6350">
                      <a:noFill/>
                    </a:lnR>
                    <a:lnT w="6350">
                      <a:solidFill>
                        <a:srgbClr val="E2DFD6"/>
                      </a:solidFill>
                    </a:lnT>
                    <a:lnB w="6350">
                      <a:solidFill>
                        <a:srgbClr val="E2DFD6"/>
                      </a:solidFill>
                    </a:lnB>
                    <a:solidFill>
                      <a:srgbClr val="172033"/>
                    </a:solidFill>
                  </a:tcPr>
                </a:tc>
                <a:tc>
                  <a:txBody>
                    <a:bodyPr/>
                    <a:lstStyle/>
                    <a:p>
                      <a:pPr marL="0" indent="0" algn="r">
                        <a:lnSpc>
                          <a:spcPct val="100000"/>
                        </a:lnSpc>
                        <a:buNone/>
                      </a:pPr>
                      <a:r>
                        <a:rPr sz="1200" b="1">
                          <a:solidFill>
                            <a:srgbClr val="F6F5F1"/>
                          </a:solidFill>
                          <a:latin typeface="IBM Plex Sans"/>
                          <a:ea typeface="IBM Plex Sans"/>
                          <a:cs typeface="IBM Plex Sans"/>
                        </a:rPr>
                        <a:t>Volume</a:t>
                      </a:r>
                    </a:p>
                  </a:txBody>
                  <a:tcPr marL="90000" marR="90000" marT="45000" marB="45000" anchor="ctr">
                    <a:lnL w="6350">
                      <a:noFill/>
                    </a:lnL>
                    <a:lnR w="6350">
                      <a:noFill/>
                    </a:lnR>
                    <a:lnT w="6350">
                      <a:solidFill>
                        <a:srgbClr val="E2DFD6"/>
                      </a:solidFill>
                    </a:lnT>
                    <a:lnB w="6350">
                      <a:solidFill>
                        <a:srgbClr val="E2DFD6"/>
                      </a:solidFill>
                    </a:lnB>
                    <a:solidFill>
                      <a:srgbClr val="172033"/>
                    </a:solidFill>
                  </a:tcPr>
                </a:tc>
                <a:extLst>
                  <a:ext uri="{0D108BD9-81ED-4DB2-BD59-A6C34878D82A}">
                    <a16:rowId xmlns:a16="http://schemas.microsoft.com/office/drawing/2014/main" val="10000"/>
                  </a:ext>
                </a:extLst>
              </a:tr>
              <a:tr h="395000">
                <a:tc>
                  <a:txBody>
                    <a:bodyPr/>
                    <a:lstStyle/>
                    <a:p>
                      <a:pPr marL="0" indent="0" algn="l">
                        <a:lnSpc>
                          <a:spcPct val="100000"/>
                        </a:lnSpc>
                        <a:buNone/>
                      </a:pPr>
                      <a:r>
                        <a:rPr sz="1200" b="0">
                          <a:solidFill>
                            <a:srgbClr val="172033"/>
                          </a:solidFill>
                          <a:latin typeface="IBM Plex Sans"/>
                          <a:ea typeface="IBM Plex Sans"/>
                          <a:cs typeface="IBM Plex Sans"/>
                        </a:rPr>
                        <a:t>Education</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tc>
                  <a:txBody>
                    <a:bodyPr/>
                    <a:lstStyle/>
                    <a:p>
                      <a:pPr marL="0" indent="0" algn="r">
                        <a:lnSpc>
                          <a:spcPct val="100000"/>
                        </a:lnSpc>
                        <a:buNone/>
                      </a:pPr>
                      <a:r>
                        <a:rPr sz="1200" b="1">
                          <a:solidFill>
                            <a:srgbClr val="172033"/>
                          </a:solidFill>
                          <a:latin typeface="IBM Plex Sans"/>
                          <a:ea typeface="IBM Plex Sans"/>
                          <a:cs typeface="IBM Plex Sans"/>
                        </a:rPr>
                        <a:t>154K</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extLst>
                  <a:ext uri="{0D108BD9-81ED-4DB2-BD59-A6C34878D82A}">
                    <a16:rowId xmlns:a16="http://schemas.microsoft.com/office/drawing/2014/main" val="10001"/>
                  </a:ext>
                </a:extLst>
              </a:tr>
              <a:tr h="395000">
                <a:tc>
                  <a:txBody>
                    <a:bodyPr/>
                    <a:lstStyle/>
                    <a:p>
                      <a:pPr marL="0" indent="0" algn="l">
                        <a:lnSpc>
                          <a:spcPct val="100000"/>
                        </a:lnSpc>
                        <a:buNone/>
                      </a:pPr>
                      <a:r>
                        <a:rPr sz="1200" b="0">
                          <a:solidFill>
                            <a:srgbClr val="172033"/>
                          </a:solidFill>
                          <a:latin typeface="IBM Plex Sans"/>
                          <a:ea typeface="IBM Plex Sans"/>
                          <a:cs typeface="IBM Plex Sans"/>
                        </a:rPr>
                        <a:t>Travel &amp; Transportation</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tc>
                  <a:txBody>
                    <a:bodyPr/>
                    <a:lstStyle/>
                    <a:p>
                      <a:pPr marL="0" indent="0" algn="r">
                        <a:lnSpc>
                          <a:spcPct val="100000"/>
                        </a:lnSpc>
                        <a:buNone/>
                      </a:pPr>
                      <a:r>
                        <a:rPr sz="1200" b="1">
                          <a:solidFill>
                            <a:srgbClr val="172033"/>
                          </a:solidFill>
                          <a:latin typeface="IBM Plex Sans"/>
                          <a:ea typeface="IBM Plex Sans"/>
                          <a:cs typeface="IBM Plex Sans"/>
                        </a:rPr>
                        <a:t>69K</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extLst>
                  <a:ext uri="{0D108BD9-81ED-4DB2-BD59-A6C34878D82A}">
                    <a16:rowId xmlns:a16="http://schemas.microsoft.com/office/drawing/2014/main" val="10002"/>
                  </a:ext>
                </a:extLst>
              </a:tr>
              <a:tr h="395000">
                <a:tc>
                  <a:txBody>
                    <a:bodyPr/>
                    <a:lstStyle/>
                    <a:p>
                      <a:pPr marL="0" indent="0" algn="l">
                        <a:lnSpc>
                          <a:spcPct val="100000"/>
                        </a:lnSpc>
                        <a:buNone/>
                      </a:pPr>
                      <a:r>
                        <a:rPr sz="1200" b="0">
                          <a:solidFill>
                            <a:srgbClr val="172033"/>
                          </a:solidFill>
                          <a:latin typeface="IBM Plex Sans"/>
                          <a:ea typeface="IBM Plex Sans"/>
                          <a:cs typeface="IBM Plex Sans"/>
                        </a:rPr>
                        <a:t>Gas And Energy</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tc>
                  <a:txBody>
                    <a:bodyPr/>
                    <a:lstStyle/>
                    <a:p>
                      <a:pPr marL="0" indent="0" algn="r">
                        <a:lnSpc>
                          <a:spcPct val="100000"/>
                        </a:lnSpc>
                        <a:buNone/>
                      </a:pPr>
                      <a:r>
                        <a:rPr sz="1200" b="1">
                          <a:solidFill>
                            <a:srgbClr val="172033"/>
                          </a:solidFill>
                          <a:latin typeface="IBM Plex Sans"/>
                          <a:ea typeface="IBM Plex Sans"/>
                          <a:cs typeface="IBM Plex Sans"/>
                        </a:rPr>
                        <a:t>39K</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extLst>
                  <a:ext uri="{0D108BD9-81ED-4DB2-BD59-A6C34878D82A}">
                    <a16:rowId xmlns:a16="http://schemas.microsoft.com/office/drawing/2014/main" val="10003"/>
                  </a:ext>
                </a:extLst>
              </a:tr>
              <a:tr h="395000">
                <a:tc>
                  <a:txBody>
                    <a:bodyPr/>
                    <a:lstStyle/>
                    <a:p>
                      <a:pPr marL="0" indent="0" algn="l">
                        <a:lnSpc>
                          <a:spcPct val="100000"/>
                        </a:lnSpc>
                        <a:buNone/>
                      </a:pPr>
                      <a:r>
                        <a:rPr sz="1200" b="0">
                          <a:solidFill>
                            <a:srgbClr val="172033"/>
                          </a:solidFill>
                          <a:latin typeface="IBM Plex Sans"/>
                          <a:ea typeface="IBM Plex Sans"/>
                          <a:cs typeface="IBM Plex Sans"/>
                        </a:rPr>
                        <a:t>Associations and Organizations</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tc>
                  <a:txBody>
                    <a:bodyPr/>
                    <a:lstStyle/>
                    <a:p>
                      <a:pPr marL="0" indent="0" algn="r">
                        <a:lnSpc>
                          <a:spcPct val="100000"/>
                        </a:lnSpc>
                        <a:buNone/>
                      </a:pPr>
                      <a:r>
                        <a:rPr sz="1200" b="1">
                          <a:solidFill>
                            <a:srgbClr val="172033"/>
                          </a:solidFill>
                          <a:latin typeface="IBM Plex Sans"/>
                          <a:ea typeface="IBM Plex Sans"/>
                          <a:cs typeface="IBM Plex Sans"/>
                        </a:rPr>
                        <a:t>36K</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extLst>
                  <a:ext uri="{0D108BD9-81ED-4DB2-BD59-A6C34878D82A}">
                    <a16:rowId xmlns:a16="http://schemas.microsoft.com/office/drawing/2014/main" val="10004"/>
                  </a:ext>
                </a:extLst>
              </a:tr>
              <a:tr h="395000">
                <a:tc>
                  <a:txBody>
                    <a:bodyPr/>
                    <a:lstStyle/>
                    <a:p>
                      <a:pPr marL="0" indent="0" algn="l">
                        <a:lnSpc>
                          <a:spcPct val="100000"/>
                        </a:lnSpc>
                        <a:buNone/>
                      </a:pPr>
                      <a:r>
                        <a:rPr sz="1200" b="0">
                          <a:solidFill>
                            <a:srgbClr val="172033"/>
                          </a:solidFill>
                          <a:latin typeface="IBM Plex Sans"/>
                          <a:ea typeface="IBM Plex Sans"/>
                          <a:cs typeface="IBM Plex Sans"/>
                        </a:rPr>
                        <a:t>Trading and Services</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tc>
                  <a:txBody>
                    <a:bodyPr/>
                    <a:lstStyle/>
                    <a:p>
                      <a:pPr marL="0" indent="0" algn="r">
                        <a:lnSpc>
                          <a:spcPct val="100000"/>
                        </a:lnSpc>
                        <a:buNone/>
                      </a:pPr>
                      <a:r>
                        <a:rPr sz="1200" b="1">
                          <a:solidFill>
                            <a:srgbClr val="172033"/>
                          </a:solidFill>
                          <a:latin typeface="IBM Plex Sans"/>
                          <a:ea typeface="IBM Plex Sans"/>
                          <a:cs typeface="IBM Plex Sans"/>
                        </a:rPr>
                        <a:t>36K</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extLst>
                  <a:ext uri="{0D108BD9-81ED-4DB2-BD59-A6C34878D82A}">
                    <a16:rowId xmlns:a16="http://schemas.microsoft.com/office/drawing/2014/main" val="10005"/>
                  </a:ext>
                </a:extLst>
              </a:tr>
              <a:tr h="395000">
                <a:tc>
                  <a:txBody>
                    <a:bodyPr/>
                    <a:lstStyle/>
                    <a:p>
                      <a:pPr marL="0" indent="0" algn="l">
                        <a:lnSpc>
                          <a:spcPct val="100000"/>
                        </a:lnSpc>
                        <a:buNone/>
                      </a:pPr>
                      <a:r>
                        <a:rPr sz="1200" b="0">
                          <a:solidFill>
                            <a:srgbClr val="172033"/>
                          </a:solidFill>
                          <a:latin typeface="IBM Plex Sans"/>
                          <a:ea typeface="IBM Plex Sans"/>
                          <a:cs typeface="IBM Plex Sans"/>
                        </a:rPr>
                        <a:t>Charities</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tc>
                  <a:txBody>
                    <a:bodyPr/>
                    <a:lstStyle/>
                    <a:p>
                      <a:pPr marL="0" indent="0" algn="r">
                        <a:lnSpc>
                          <a:spcPct val="100000"/>
                        </a:lnSpc>
                        <a:buNone/>
                      </a:pPr>
                      <a:r>
                        <a:rPr sz="1200" b="1">
                          <a:solidFill>
                            <a:srgbClr val="172033"/>
                          </a:solidFill>
                          <a:latin typeface="IBM Plex Sans"/>
                          <a:ea typeface="IBM Plex Sans"/>
                          <a:cs typeface="IBM Plex Sans"/>
                        </a:rPr>
                        <a:t>16K</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extLst>
                  <a:ext uri="{0D108BD9-81ED-4DB2-BD59-A6C34878D82A}">
                    <a16:rowId xmlns:a16="http://schemas.microsoft.com/office/drawing/2014/main" val="10006"/>
                  </a:ext>
                </a:extLst>
              </a:tr>
              <a:tr h="395000">
                <a:tc>
                  <a:txBody>
                    <a:bodyPr/>
                    <a:lstStyle/>
                    <a:p>
                      <a:pPr marL="0" indent="0" algn="l">
                        <a:lnSpc>
                          <a:spcPct val="100000"/>
                        </a:lnSpc>
                        <a:buNone/>
                      </a:pPr>
                      <a:r>
                        <a:rPr sz="1200" b="0" dirty="0">
                          <a:solidFill>
                            <a:srgbClr val="172033"/>
                          </a:solidFill>
                          <a:latin typeface="IBM Plex Sans"/>
                          <a:ea typeface="IBM Plex Sans"/>
                          <a:cs typeface="IBM Plex Sans"/>
                        </a:rPr>
                        <a:t>Banks</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tc>
                  <a:txBody>
                    <a:bodyPr/>
                    <a:lstStyle/>
                    <a:p>
                      <a:pPr marL="0" indent="0" algn="r">
                        <a:lnSpc>
                          <a:spcPct val="100000"/>
                        </a:lnSpc>
                        <a:buNone/>
                      </a:pPr>
                      <a:r>
                        <a:rPr sz="1200" b="1">
                          <a:solidFill>
                            <a:srgbClr val="172033"/>
                          </a:solidFill>
                          <a:latin typeface="IBM Plex Sans"/>
                          <a:ea typeface="IBM Plex Sans"/>
                          <a:cs typeface="IBM Plex Sans"/>
                        </a:rPr>
                        <a:t>15K</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extLst>
                  <a:ext uri="{0D108BD9-81ED-4DB2-BD59-A6C34878D82A}">
                    <a16:rowId xmlns:a16="http://schemas.microsoft.com/office/drawing/2014/main" val="10007"/>
                  </a:ext>
                </a:extLst>
              </a:tr>
              <a:tr h="395000">
                <a:tc>
                  <a:txBody>
                    <a:bodyPr/>
                    <a:lstStyle/>
                    <a:p>
                      <a:pPr marL="0" indent="0" algn="l">
                        <a:lnSpc>
                          <a:spcPct val="100000"/>
                        </a:lnSpc>
                        <a:buNone/>
                      </a:pPr>
                      <a:r>
                        <a:rPr sz="1200" b="0">
                          <a:solidFill>
                            <a:srgbClr val="172033"/>
                          </a:solidFill>
                          <a:latin typeface="IBM Plex Sans"/>
                          <a:ea typeface="IBM Plex Sans"/>
                          <a:cs typeface="IBM Plex Sans"/>
                        </a:rPr>
                        <a:t>eCommerce</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tc>
                  <a:txBody>
                    <a:bodyPr/>
                    <a:lstStyle/>
                    <a:p>
                      <a:pPr marL="0" indent="0" algn="r">
                        <a:lnSpc>
                          <a:spcPct val="100000"/>
                        </a:lnSpc>
                        <a:buNone/>
                      </a:pPr>
                      <a:r>
                        <a:rPr sz="1200" b="1" dirty="0">
                          <a:solidFill>
                            <a:srgbClr val="172033"/>
                          </a:solidFill>
                          <a:latin typeface="IBM Plex Sans"/>
                          <a:ea typeface="IBM Plex Sans"/>
                          <a:cs typeface="IBM Plex Sans"/>
                        </a:rPr>
                        <a:t>12K</a:t>
                      </a:r>
                    </a:p>
                  </a:txBody>
                  <a:tcPr marL="90000" marR="90000" marT="45000" marB="45000" anchor="ctr">
                    <a:lnL w="6350">
                      <a:noFill/>
                    </a:lnL>
                    <a:lnR w="6350">
                      <a:noFill/>
                    </a:lnR>
                    <a:lnT w="6350">
                      <a:solidFill>
                        <a:srgbClr val="E2DFD6"/>
                      </a:solidFill>
                    </a:lnT>
                    <a:lnB w="6350">
                      <a:solidFill>
                        <a:srgbClr val="E2DFD6"/>
                      </a:solidFill>
                    </a:lnB>
                    <a:solidFill>
                      <a:srgbClr val="FDFCFA"/>
                    </a:solidFill>
                  </a:tcPr>
                </a:tc>
                <a:extLst>
                  <a:ext uri="{0D108BD9-81ED-4DB2-BD59-A6C34878D82A}">
                    <a16:rowId xmlns:a16="http://schemas.microsoft.com/office/drawing/2014/main" val="10008"/>
                  </a:ext>
                </a:extLst>
              </a:tr>
            </a:tbl>
          </a:graphicData>
        </a:graphic>
      </p:graphicFrame>
      <p:sp>
        <p:nvSpPr>
          <p:cNvPr id="15" name="Footer"/>
          <p:cNvSpPr txBox="1"/>
          <p:nvPr/>
        </p:nvSpPr>
        <p:spPr>
          <a:xfrm>
            <a:off x="812800" y="6238280"/>
            <a:ext cx="10883392" cy="238720"/>
          </a:xfrm>
          <a:prstGeom prst="rect">
            <a:avLst/>
          </a:prstGeom>
          <a:noFill/>
        </p:spPr>
        <p:txBody>
          <a:bodyPr wrap="square" lIns="0" tIns="0" rIns="0" bIns="0" anchor="t">
            <a:spAutoFit/>
          </a:bodyPr>
          <a:lstStyle/>
          <a:p>
            <a:pPr marL="0" indent="0" algn="l">
              <a:lnSpc>
                <a:spcPct val="125000"/>
              </a:lnSpc>
              <a:buNone/>
            </a:pPr>
            <a:r>
              <a:rPr sz="1200" b="0" dirty="0">
                <a:solidFill>
                  <a:srgbClr val="5B6573"/>
                </a:solidFill>
                <a:latin typeface="IBM Plex Sans"/>
                <a:ea typeface="IBM Plex Sans"/>
                <a:cs typeface="IBM Plex Sans"/>
              </a:rPr>
              <a:t>JOPACC · Monthly report proposal · Mock-up figures: number of transactions by category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95513" cy="528290"/>
          </a:xfrm>
          <a:prstGeom prst="rect">
            <a:avLst/>
          </a:prstGeom>
          <a:noFill/>
          <a:ln/>
        </p:spPr>
        <p:txBody>
          <a:bodyPr wrap="square" lIns="0" tIns="0" rIns="0" bIns="0" rtlCol="0" anchor="t">
            <a:noAutofit/>
          </a:bodyPr>
          <a:lstStyle/>
          <a:p>
            <a:pPr marL="0" indent="0" algn="l">
              <a:lnSpc>
                <a:spcPts val="3960"/>
              </a:lnSpc>
              <a:buNone/>
            </a:pPr>
            <a:r>
              <a:rPr sz="3200" b="1" dirty="0">
                <a:solidFill>
                  <a:srgbClr val="172033"/>
                </a:solidFill>
                <a:latin typeface="IBM Plex Sans"/>
                <a:ea typeface="IBM Plex Sans"/>
                <a:cs typeface="IBM Plex Sans"/>
              </a:rPr>
              <a:t>ECCU</a:t>
            </a:r>
            <a:endParaRPr lang="en-US" sz="3200" dirty="0"/>
          </a:p>
        </p:txBody>
      </p:sp>
      <p:sp>
        <p:nvSpPr>
          <p:cNvPr id="3" name="Text 1"/>
          <p:cNvSpPr/>
          <p:nvPr/>
        </p:nvSpPr>
        <p:spPr>
          <a:xfrm>
            <a:off x="812800" y="4094248"/>
            <a:ext cx="4155108" cy="1163241"/>
          </a:xfrm>
          <a:prstGeom prst="rect">
            <a:avLst/>
          </a:prstGeom>
          <a:noFill/>
          <a:ln/>
        </p:spPr>
        <p:txBody>
          <a:bodyPr wrap="square" lIns="0" tIns="0" rIns="0" bIns="0" rtlCol="0" anchor="t">
            <a:noAutofit/>
          </a:bodyPr>
          <a:lstStyle/>
          <a:p>
            <a:pPr marL="0" indent="0" algn="l">
              <a:lnSpc>
                <a:spcPts val="2240"/>
              </a:lnSpc>
              <a:buNone/>
            </a:pPr>
            <a:r>
              <a:rPr lang="en-US" sz="1600" dirty="0">
                <a:solidFill>
                  <a:srgbClr val="44505F"/>
                </a:solidFill>
                <a:latin typeface="IBM Plex Sans" pitchFamily="34" charset="0"/>
                <a:ea typeface="IBM Plex Sans" pitchFamily="34" charset="-122"/>
                <a:cs typeface="IBM Plex Sans" pitchFamily="34" charset="-120"/>
              </a:rPr>
              <a:t>Rank the three biggest technical reasons for returned cheques at the top of the ECCU section, so the cause is visible before the detail.</a:t>
            </a:r>
            <a:endParaRPr lang="en-US" sz="1600" dirty="0"/>
          </a:p>
        </p:txBody>
      </p:sp>
      <p:sp>
        <p:nvSpPr>
          <p:cNvPr id="5" name="Shape 3"/>
          <p:cNvSpPr/>
          <p:nvPr/>
        </p:nvSpPr>
        <p:spPr>
          <a:xfrm>
            <a:off x="5413900" y="3018835"/>
            <a:ext cx="2752035" cy="975320"/>
          </a:xfrm>
          <a:prstGeom prst="roundRect">
            <a:avLst>
              <a:gd name="adj" fmla="val 10417"/>
            </a:avLst>
          </a:prstGeom>
          <a:solidFill>
            <a:srgbClr val="172033"/>
          </a:solidFill>
          <a:ln/>
        </p:spPr>
        <p:txBody>
          <a:bodyPr/>
          <a:lstStyle/>
          <a:p>
            <a:endParaRPr/>
          </a:p>
        </p:txBody>
      </p:sp>
      <p:sp>
        <p:nvSpPr>
          <p:cNvPr id="6" name="Text 4"/>
          <p:cNvSpPr/>
          <p:nvPr/>
        </p:nvSpPr>
        <p:spPr>
          <a:xfrm>
            <a:off x="5661550" y="3234735"/>
            <a:ext cx="558800" cy="594320"/>
          </a:xfrm>
          <a:prstGeom prst="rect">
            <a:avLst/>
          </a:prstGeom>
          <a:noFill/>
          <a:ln/>
        </p:spPr>
        <p:txBody>
          <a:bodyPr wrap="square" lIns="0" tIns="0" rIns="0" bIns="0" rtlCol="0" anchor="t">
            <a:noAutofit/>
          </a:bodyPr>
          <a:lstStyle/>
          <a:p>
            <a:pPr marL="0" indent="0" algn="l">
              <a:lnSpc>
                <a:spcPts val="4480"/>
              </a:lnSpc>
              <a:buNone/>
            </a:pPr>
            <a:r>
              <a:rPr lang="en-US" sz="3200" b="1" dirty="0">
                <a:solidFill>
                  <a:srgbClr val="F2A922"/>
                </a:solidFill>
                <a:latin typeface="IBM Plex Sans" pitchFamily="34" charset="0"/>
                <a:ea typeface="IBM Plex Sans" pitchFamily="34" charset="-122"/>
                <a:cs typeface="IBM Plex Sans" pitchFamily="34" charset="-120"/>
              </a:rPr>
              <a:t>1</a:t>
            </a:r>
            <a:endParaRPr lang="en-US" sz="3200" dirty="0"/>
          </a:p>
        </p:txBody>
      </p:sp>
      <p:sp>
        <p:nvSpPr>
          <p:cNvPr id="7" name="Text 5"/>
          <p:cNvSpPr/>
          <p:nvPr/>
        </p:nvSpPr>
        <p:spPr>
          <a:xfrm>
            <a:off x="6371545" y="3354747"/>
            <a:ext cx="1146313" cy="345430"/>
          </a:xfrm>
          <a:prstGeom prst="rect">
            <a:avLst/>
          </a:prstGeom>
          <a:noFill/>
          <a:ln/>
        </p:spPr>
        <p:txBody>
          <a:bodyPr wrap="square" lIns="0" tIns="0" rIns="0" bIns="0" rtlCol="0" anchor="t">
            <a:noAutofit/>
          </a:bodyPr>
          <a:lstStyle/>
          <a:p>
            <a:pPr marL="0" indent="0" algn="l">
              <a:lnSpc>
                <a:spcPts val="2520"/>
              </a:lnSpc>
              <a:buNone/>
            </a:pPr>
            <a:r>
              <a:rPr lang="en-US" sz="1800" b="1" dirty="0">
                <a:solidFill>
                  <a:srgbClr val="F6F5F1"/>
                </a:solidFill>
                <a:latin typeface="IBM Plex Sans" pitchFamily="34" charset="0"/>
                <a:ea typeface="IBM Plex Sans" pitchFamily="34" charset="-122"/>
                <a:cs typeface="IBM Plex Sans" pitchFamily="34" charset="-120"/>
              </a:rPr>
              <a:t>[Reason 1]</a:t>
            </a:r>
            <a:endParaRPr lang="en-US" sz="1800" dirty="0"/>
          </a:p>
        </p:txBody>
      </p:sp>
      <p:sp>
        <p:nvSpPr>
          <p:cNvPr id="9" name="Shape 7"/>
          <p:cNvSpPr/>
          <p:nvPr/>
        </p:nvSpPr>
        <p:spPr>
          <a:xfrm>
            <a:off x="8498785" y="2985518"/>
            <a:ext cx="2745685" cy="988020"/>
          </a:xfrm>
          <a:prstGeom prst="roundRect">
            <a:avLst>
              <a:gd name="adj" fmla="val 9640"/>
            </a:avLst>
          </a:prstGeom>
          <a:solidFill>
            <a:srgbClr val="FDFCFA"/>
          </a:solidFill>
          <a:ln w="12700">
            <a:solidFill>
              <a:srgbClr val="172033"/>
            </a:solidFill>
            <a:prstDash val="solid"/>
          </a:ln>
        </p:spPr>
        <p:txBody>
          <a:bodyPr/>
          <a:lstStyle/>
          <a:p>
            <a:endParaRPr/>
          </a:p>
        </p:txBody>
      </p:sp>
      <p:sp>
        <p:nvSpPr>
          <p:cNvPr id="10" name="Text 8"/>
          <p:cNvSpPr/>
          <p:nvPr/>
        </p:nvSpPr>
        <p:spPr>
          <a:xfrm>
            <a:off x="8666095" y="3223638"/>
            <a:ext cx="558800" cy="594320"/>
          </a:xfrm>
          <a:prstGeom prst="rect">
            <a:avLst/>
          </a:prstGeom>
          <a:noFill/>
          <a:ln/>
        </p:spPr>
        <p:txBody>
          <a:bodyPr wrap="square" lIns="0" tIns="0" rIns="0" bIns="0" rtlCol="0" anchor="t">
            <a:noAutofit/>
          </a:bodyPr>
          <a:lstStyle/>
          <a:p>
            <a:pPr marL="0" indent="0" algn="l">
              <a:lnSpc>
                <a:spcPts val="4480"/>
              </a:lnSpc>
              <a:buNone/>
            </a:pPr>
            <a:r>
              <a:rPr lang="en-US" sz="3200" b="1" dirty="0">
                <a:solidFill>
                  <a:srgbClr val="172033"/>
                </a:solidFill>
                <a:latin typeface="IBM Plex Sans" pitchFamily="34" charset="0"/>
                <a:ea typeface="IBM Plex Sans" pitchFamily="34" charset="-122"/>
                <a:cs typeface="IBM Plex Sans" pitchFamily="34" charset="-120"/>
              </a:rPr>
              <a:t>2</a:t>
            </a:r>
            <a:endParaRPr lang="en-US" sz="3200" dirty="0"/>
          </a:p>
        </p:txBody>
      </p:sp>
      <p:sp>
        <p:nvSpPr>
          <p:cNvPr id="11" name="Text 9"/>
          <p:cNvSpPr/>
          <p:nvPr/>
        </p:nvSpPr>
        <p:spPr>
          <a:xfrm>
            <a:off x="9377295" y="3348058"/>
            <a:ext cx="3498554" cy="345430"/>
          </a:xfrm>
          <a:prstGeom prst="rect">
            <a:avLst/>
          </a:prstGeom>
          <a:noFill/>
          <a:ln/>
        </p:spPr>
        <p:txBody>
          <a:bodyPr wrap="square" lIns="0" tIns="0" rIns="0" bIns="0" rtlCol="0" anchor="t">
            <a:noAutofit/>
          </a:bodyPr>
          <a:lstStyle/>
          <a:p>
            <a:pPr marL="0" indent="0" algn="l">
              <a:lnSpc>
                <a:spcPts val="2520"/>
              </a:lnSpc>
              <a:buNone/>
            </a:pPr>
            <a:r>
              <a:rPr lang="en-US" sz="1800" b="1" dirty="0">
                <a:solidFill>
                  <a:srgbClr val="172033"/>
                </a:solidFill>
                <a:latin typeface="IBM Plex Sans" pitchFamily="34" charset="0"/>
                <a:ea typeface="IBM Plex Sans" pitchFamily="34" charset="-122"/>
                <a:cs typeface="IBM Plex Sans" pitchFamily="34" charset="-120"/>
              </a:rPr>
              <a:t>[Reason 2]</a:t>
            </a:r>
            <a:endParaRPr lang="en-US" sz="1800" dirty="0"/>
          </a:p>
        </p:txBody>
      </p:sp>
      <p:sp>
        <p:nvSpPr>
          <p:cNvPr id="13" name="Shape 11"/>
          <p:cNvSpPr/>
          <p:nvPr/>
        </p:nvSpPr>
        <p:spPr>
          <a:xfrm>
            <a:off x="5413900" y="4300623"/>
            <a:ext cx="2752035" cy="981670"/>
          </a:xfrm>
          <a:prstGeom prst="roundRect">
            <a:avLst>
              <a:gd name="adj" fmla="val 10026"/>
            </a:avLst>
          </a:prstGeom>
          <a:solidFill>
            <a:srgbClr val="FDFCFA"/>
          </a:solidFill>
          <a:ln w="6350">
            <a:solidFill>
              <a:srgbClr val="E2DFD6"/>
            </a:solidFill>
            <a:prstDash val="solid"/>
          </a:ln>
        </p:spPr>
        <p:txBody>
          <a:bodyPr/>
          <a:lstStyle/>
          <a:p>
            <a:endParaRPr/>
          </a:p>
        </p:txBody>
      </p:sp>
      <p:sp>
        <p:nvSpPr>
          <p:cNvPr id="14" name="Text 12"/>
          <p:cNvSpPr/>
          <p:nvPr/>
        </p:nvSpPr>
        <p:spPr>
          <a:xfrm>
            <a:off x="5671075" y="4506998"/>
            <a:ext cx="558800" cy="594320"/>
          </a:xfrm>
          <a:prstGeom prst="rect">
            <a:avLst/>
          </a:prstGeom>
          <a:noFill/>
          <a:ln/>
        </p:spPr>
        <p:txBody>
          <a:bodyPr wrap="square" lIns="0" tIns="0" rIns="0" bIns="0" rtlCol="0" anchor="t">
            <a:noAutofit/>
          </a:bodyPr>
          <a:lstStyle/>
          <a:p>
            <a:pPr marL="0" indent="0" algn="l">
              <a:lnSpc>
                <a:spcPts val="4480"/>
              </a:lnSpc>
              <a:buNone/>
            </a:pPr>
            <a:r>
              <a:rPr lang="en-US" sz="3200" b="1" dirty="0">
                <a:solidFill>
                  <a:srgbClr val="172033"/>
                </a:solidFill>
                <a:latin typeface="IBM Plex Sans" pitchFamily="34" charset="0"/>
                <a:ea typeface="IBM Plex Sans" pitchFamily="34" charset="-122"/>
                <a:cs typeface="IBM Plex Sans" pitchFamily="34" charset="-120"/>
              </a:rPr>
              <a:t>3</a:t>
            </a:r>
            <a:endParaRPr lang="en-US" sz="3200" dirty="0"/>
          </a:p>
        </p:txBody>
      </p:sp>
      <p:sp>
        <p:nvSpPr>
          <p:cNvPr id="15" name="Text 13"/>
          <p:cNvSpPr/>
          <p:nvPr/>
        </p:nvSpPr>
        <p:spPr>
          <a:xfrm>
            <a:off x="6220350" y="4608681"/>
            <a:ext cx="3511635" cy="345430"/>
          </a:xfrm>
          <a:prstGeom prst="rect">
            <a:avLst/>
          </a:prstGeom>
          <a:noFill/>
          <a:ln/>
        </p:spPr>
        <p:txBody>
          <a:bodyPr wrap="square" lIns="0" tIns="0" rIns="0" bIns="0" rtlCol="0" anchor="t">
            <a:noAutofit/>
          </a:bodyPr>
          <a:lstStyle/>
          <a:p>
            <a:pPr marL="0" indent="0" algn="l">
              <a:lnSpc>
                <a:spcPts val="2520"/>
              </a:lnSpc>
              <a:buNone/>
            </a:pPr>
            <a:r>
              <a:rPr lang="en-US" sz="1800" b="1" dirty="0">
                <a:solidFill>
                  <a:srgbClr val="172033"/>
                </a:solidFill>
                <a:latin typeface="IBM Plex Sans" pitchFamily="34" charset="0"/>
                <a:ea typeface="IBM Plex Sans" pitchFamily="34" charset="-122"/>
                <a:cs typeface="IBM Plex Sans" pitchFamily="34" charset="-120"/>
              </a:rPr>
              <a:t>[Reason 3]</a:t>
            </a:r>
            <a:endParaRPr lang="en-US" sz="1800" dirty="0"/>
          </a:p>
        </p:txBody>
      </p:sp>
      <p:sp>
        <p:nvSpPr>
          <p:cNvPr id="19" name="Section label"/>
          <p:cNvSpPr txBox="1"/>
          <p:nvPr/>
        </p:nvSpPr>
        <p:spPr>
          <a:xfrm>
            <a:off x="812800" y="470000"/>
            <a:ext cx="8000000" cy="238720"/>
          </a:xfrm>
          <a:prstGeom prst="rect">
            <a:avLst/>
          </a:prstGeom>
          <a:noFill/>
        </p:spPr>
        <p:txBody>
          <a:bodyPr wrap="square" lIns="0" tIns="0" rIns="0" bIns="0" anchor="t">
            <a:spAutoFit/>
          </a:bodyPr>
          <a:lstStyle/>
          <a:p>
            <a:pPr marL="0" indent="0" algn="l">
              <a:lnSpc>
                <a:spcPct val="125000"/>
              </a:lnSpc>
              <a:buNone/>
            </a:pPr>
            <a:r>
              <a:rPr sz="1200" b="1" spc="100">
                <a:solidFill>
                  <a:srgbClr val="5B6573"/>
                </a:solidFill>
                <a:latin typeface="IBM Plex Sans"/>
                <a:ea typeface="IBM Plex Sans"/>
                <a:cs typeface="IBM Plex Sans"/>
              </a:rPr>
              <a:t>4 · ECCU</a:t>
            </a:r>
          </a:p>
        </p:txBody>
      </p:sp>
      <p:sp>
        <p:nvSpPr>
          <p:cNvPr id="20" name="Footer"/>
          <p:cNvSpPr txBox="1"/>
          <p:nvPr/>
        </p:nvSpPr>
        <p:spPr>
          <a:xfrm>
            <a:off x="812800" y="6238280"/>
            <a:ext cx="10883392" cy="238720"/>
          </a:xfrm>
          <a:prstGeom prst="rect">
            <a:avLst/>
          </a:prstGeom>
          <a:noFill/>
        </p:spPr>
        <p:txBody>
          <a:bodyPr wrap="square" lIns="0" tIns="0" rIns="0" bIns="0" anchor="t">
            <a:spAutoFit/>
          </a:bodyPr>
          <a:lstStyle/>
          <a:p>
            <a:pPr marL="0" indent="0" algn="l">
              <a:lnSpc>
                <a:spcPct val="125000"/>
              </a:lnSpc>
              <a:buNone/>
            </a:pPr>
            <a:r>
              <a:rPr sz="1200" b="0">
                <a:solidFill>
                  <a:srgbClr val="5B6573"/>
                </a:solidFill>
                <a:latin typeface="IBM Plex Sans"/>
                <a:ea typeface="IBM Plex Sans"/>
                <a:cs typeface="IBM Plex Sans"/>
              </a:rPr>
              <a:t>JOPACC · Monthly report proposal</a:t>
            </a:r>
          </a:p>
        </p:txBody>
      </p:sp>
      <p:sp>
        <p:nvSpPr>
          <p:cNvPr id="21" name="TextBox 20">
            <a:extLst>
              <a:ext uri="{FF2B5EF4-FFF2-40B4-BE49-F238E27FC236}">
                <a16:creationId xmlns:a16="http://schemas.microsoft.com/office/drawing/2014/main" id="{BC2C720D-27FC-F801-7241-D2CAFE0C54D6}"/>
              </a:ext>
            </a:extLst>
          </p:cNvPr>
          <p:cNvSpPr txBox="1"/>
          <p:nvPr/>
        </p:nvSpPr>
        <p:spPr>
          <a:xfrm>
            <a:off x="662995" y="1540563"/>
            <a:ext cx="10531061" cy="954107"/>
          </a:xfrm>
          <a:prstGeom prst="rect">
            <a:avLst/>
          </a:prstGeom>
          <a:noFill/>
        </p:spPr>
        <p:txBody>
          <a:bodyPr wrap="square">
            <a:spAutoFit/>
          </a:bodyPr>
          <a:lstStyle/>
          <a:p>
            <a:r>
              <a:rPr lang="en-US" sz="2800" b="1" dirty="0"/>
              <a:t>1</a:t>
            </a:r>
            <a:r>
              <a:rPr lang="en-US" sz="2800" b="1" i="0" dirty="0">
                <a:solidFill>
                  <a:schemeClr val="tx1"/>
                </a:solidFill>
                <a:effectLst/>
                <a:latin typeface="+mn-lt"/>
              </a:rPr>
              <a:t>-Add a dedicated Successful Cheques subsection within ECCU</a:t>
            </a:r>
            <a:endParaRPr lang="en-US" sz="2800" b="1" dirty="0"/>
          </a:p>
        </p:txBody>
      </p:sp>
      <p:sp>
        <p:nvSpPr>
          <p:cNvPr id="23" name="TextBox 22">
            <a:extLst>
              <a:ext uri="{FF2B5EF4-FFF2-40B4-BE49-F238E27FC236}">
                <a16:creationId xmlns:a16="http://schemas.microsoft.com/office/drawing/2014/main" id="{DC6B2684-2041-F6A1-272F-EB3DFC2427F2}"/>
              </a:ext>
            </a:extLst>
          </p:cNvPr>
          <p:cNvSpPr txBox="1"/>
          <p:nvPr/>
        </p:nvSpPr>
        <p:spPr>
          <a:xfrm>
            <a:off x="690633" y="2871004"/>
            <a:ext cx="4599442" cy="954107"/>
          </a:xfrm>
          <a:prstGeom prst="rect">
            <a:avLst/>
          </a:prstGeom>
          <a:noFill/>
        </p:spPr>
        <p:txBody>
          <a:bodyPr wrap="square">
            <a:spAutoFit/>
          </a:bodyPr>
          <a:lstStyle/>
          <a:p>
            <a:r>
              <a:rPr lang="en-US" sz="2800" b="1" dirty="0">
                <a:solidFill>
                  <a:srgbClr val="172033"/>
                </a:solidFill>
                <a:latin typeface="IBM Plex Sans"/>
                <a:ea typeface="IBM Plex Sans"/>
                <a:cs typeface="IBM Plex Sans"/>
              </a:rPr>
              <a:t>2-Top 3 technical reasons for returned cheques</a:t>
            </a:r>
            <a:endParaRPr lang="en-US" sz="16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2800" y="812800"/>
            <a:ext cx="10883392" cy="528290"/>
          </a:xfrm>
        </p:spPr>
        <p:txBody>
          <a:bodyPr/>
          <a:lstStyle/>
          <a:p>
            <a:r>
              <a:rPr lang="en-US" b="1" dirty="0"/>
              <a:t>Visual Improvements &amp; Recommendations</a:t>
            </a:r>
          </a:p>
        </p:txBody>
      </p:sp>
      <p:sp>
        <p:nvSpPr>
          <p:cNvPr id="3" name="Section label"/>
          <p:cNvSpPr txBox="1"/>
          <p:nvPr/>
        </p:nvSpPr>
        <p:spPr>
          <a:xfrm>
            <a:off x="813816" y="466344"/>
            <a:ext cx="8001000" cy="237744"/>
          </a:xfrm>
          <a:prstGeom prst="rect">
            <a:avLst/>
          </a:prstGeom>
          <a:noFill/>
        </p:spPr>
        <p:txBody>
          <a:bodyPr wrap="square" lIns="0" tIns="0" rIns="0" bIns="0">
            <a:spAutoFit/>
          </a:bodyPr>
          <a:lstStyle/>
          <a:p>
            <a:r>
              <a:rPr sz="1200" b="1">
                <a:solidFill>
                  <a:srgbClr val="5B6573"/>
                </a:solidFill>
                <a:latin typeface="IBM Plex Sans"/>
              </a:rPr>
              <a:t>5 · VISUAL DESIGN</a:t>
            </a:r>
          </a:p>
        </p:txBody>
      </p:sp>
      <p:sp>
        <p:nvSpPr>
          <p:cNvPr id="4" name="Footer"/>
          <p:cNvSpPr txBox="1"/>
          <p:nvPr/>
        </p:nvSpPr>
        <p:spPr>
          <a:xfrm>
            <a:off x="813816" y="6236208"/>
            <a:ext cx="10881360" cy="237744"/>
          </a:xfrm>
          <a:prstGeom prst="rect">
            <a:avLst/>
          </a:prstGeom>
          <a:noFill/>
        </p:spPr>
        <p:txBody>
          <a:bodyPr wrap="square" lIns="0" tIns="0" rIns="0" bIns="0">
            <a:spAutoFit/>
          </a:bodyPr>
          <a:lstStyle/>
          <a:p>
            <a:r>
              <a:rPr sz="1200" b="0">
                <a:solidFill>
                  <a:srgbClr val="5B6573"/>
                </a:solidFill>
                <a:latin typeface="IBM Plex Sans"/>
              </a:rPr>
              <a:t>JOPACC · Monthly report proposal</a:t>
            </a:r>
          </a:p>
        </p:txBody>
      </p:sp>
      <p:sp>
        <p:nvSpPr>
          <p:cNvPr id="5" name="Point 1 card"/>
          <p:cNvSpPr/>
          <p:nvPr/>
        </p:nvSpPr>
        <p:spPr>
          <a:xfrm>
            <a:off x="813816" y="1737360"/>
            <a:ext cx="10552176" cy="1828800"/>
          </a:xfrm>
          <a:prstGeom prst="roundRect">
            <a:avLst>
              <a:gd name="adj" fmla="val 4000"/>
            </a:avLst>
          </a:prstGeom>
          <a:solidFill>
            <a:srgbClr val="FFFFFF"/>
          </a:solidFill>
          <a:ln w="9525">
            <a:solidFill>
              <a:srgbClr val="E6E4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Point 1 number"/>
          <p:cNvSpPr/>
          <p:nvPr/>
        </p:nvSpPr>
        <p:spPr>
          <a:xfrm>
            <a:off x="1097280" y="2240280"/>
            <a:ext cx="731520" cy="73152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800" b="1">
                <a:solidFill>
                  <a:srgbClr val="172033"/>
                </a:solidFill>
                <a:latin typeface="IBM Plex Sans"/>
              </a:rPr>
              <a:t>1</a:t>
            </a:r>
          </a:p>
        </p:txBody>
      </p:sp>
      <p:sp>
        <p:nvSpPr>
          <p:cNvPr id="7" name="Point 1 text"/>
          <p:cNvSpPr txBox="1"/>
          <p:nvPr/>
        </p:nvSpPr>
        <p:spPr>
          <a:xfrm>
            <a:off x="2148840" y="2011679"/>
            <a:ext cx="8869680" cy="954107"/>
          </a:xfrm>
          <a:prstGeom prst="rect">
            <a:avLst/>
          </a:prstGeom>
          <a:noFill/>
        </p:spPr>
        <p:txBody>
          <a:bodyPr wrap="square" lIns="0" tIns="0" rIns="0" bIns="0">
            <a:spAutoFit/>
          </a:bodyPr>
          <a:lstStyle/>
          <a:p>
            <a:r>
              <a:rPr sz="1200" b="1" dirty="0">
                <a:solidFill>
                  <a:srgbClr val="5B6573"/>
                </a:solidFill>
                <a:latin typeface="IBM Plex Sans"/>
              </a:rPr>
              <a:t>COLORS</a:t>
            </a:r>
          </a:p>
          <a:p>
            <a:pPr>
              <a:spcBef>
                <a:spcPts val="600"/>
              </a:spcBef>
            </a:pPr>
            <a:r>
              <a:rPr sz="2400" b="1" dirty="0">
                <a:solidFill>
                  <a:srgbClr val="172033"/>
                </a:solidFill>
                <a:latin typeface="IBM Plex Sans"/>
              </a:rPr>
              <a:t>Make</a:t>
            </a:r>
            <a:r>
              <a:rPr lang="en-US" sz="2400" b="1" dirty="0">
                <a:solidFill>
                  <a:srgbClr val="172033"/>
                </a:solidFill>
                <a:latin typeface="IBM Plex Sans"/>
              </a:rPr>
              <a:t> some</a:t>
            </a:r>
            <a:r>
              <a:rPr sz="2400" b="1" dirty="0">
                <a:solidFill>
                  <a:srgbClr val="172033"/>
                </a:solidFill>
                <a:latin typeface="IBM Plex Sans"/>
              </a:rPr>
              <a:t> colors lighter.</a:t>
            </a:r>
          </a:p>
          <a:p>
            <a:pPr>
              <a:spcBef>
                <a:spcPts val="600"/>
              </a:spcBef>
            </a:pPr>
            <a:r>
              <a:rPr sz="1600" b="0" dirty="0">
                <a:solidFill>
                  <a:srgbClr val="44505F"/>
                </a:solidFill>
                <a:latin typeface="IBM Plex Sans"/>
              </a:rPr>
              <a:t>Sample:  (page 33). The</a:t>
            </a:r>
            <a:r>
              <a:rPr lang="en-US" sz="1600" b="0" dirty="0">
                <a:solidFill>
                  <a:srgbClr val="44505F"/>
                </a:solidFill>
                <a:latin typeface="IBM Plex Sans"/>
              </a:rPr>
              <a:t> Dark</a:t>
            </a:r>
            <a:r>
              <a:rPr sz="1600" b="0" dirty="0">
                <a:solidFill>
                  <a:srgbClr val="44505F"/>
                </a:solidFill>
                <a:latin typeface="IBM Plex Sans"/>
              </a:rPr>
              <a:t> </a:t>
            </a:r>
            <a:r>
              <a:rPr lang="en-US" sz="1600" dirty="0">
                <a:solidFill>
                  <a:srgbClr val="44505F"/>
                </a:solidFill>
                <a:latin typeface="IBM Plex Sans"/>
              </a:rPr>
              <a:t>G</a:t>
            </a:r>
            <a:r>
              <a:rPr sz="1600" b="0" dirty="0">
                <a:solidFill>
                  <a:srgbClr val="44505F"/>
                </a:solidFill>
                <a:latin typeface="IBM Plex Sans"/>
              </a:rPr>
              <a:t>ray </a:t>
            </a:r>
            <a:r>
              <a:rPr lang="en-US" sz="1600" b="0" dirty="0">
                <a:solidFill>
                  <a:srgbClr val="44505F"/>
                </a:solidFill>
                <a:latin typeface="IBM Plex Sans"/>
              </a:rPr>
              <a:t>text</a:t>
            </a:r>
            <a:r>
              <a:rPr sz="1600" b="0" dirty="0">
                <a:solidFill>
                  <a:srgbClr val="44505F"/>
                </a:solidFill>
                <a:latin typeface="IBM Plex Sans"/>
              </a:rPr>
              <a:t> </a:t>
            </a:r>
            <a:r>
              <a:rPr lang="en-US" sz="1600" b="0" dirty="0">
                <a:solidFill>
                  <a:srgbClr val="44505F"/>
                </a:solidFill>
                <a:latin typeface="IBM Plex Sans"/>
              </a:rPr>
              <a:t>(cash in, cash out, etc..) with Dark Blue Background</a:t>
            </a:r>
            <a:endParaRPr sz="1600" b="0" dirty="0">
              <a:solidFill>
                <a:srgbClr val="44505F"/>
              </a:solidFill>
              <a:latin typeface="IBM Plex Sans"/>
            </a:endParaRPr>
          </a:p>
        </p:txBody>
      </p:sp>
      <p:sp>
        <p:nvSpPr>
          <p:cNvPr id="8" name="Point 2 card"/>
          <p:cNvSpPr/>
          <p:nvPr/>
        </p:nvSpPr>
        <p:spPr>
          <a:xfrm>
            <a:off x="813816" y="3794760"/>
            <a:ext cx="10552176" cy="1828800"/>
          </a:xfrm>
          <a:prstGeom prst="roundRect">
            <a:avLst>
              <a:gd name="adj" fmla="val 4000"/>
            </a:avLst>
          </a:prstGeom>
          <a:solidFill>
            <a:srgbClr val="FFFFFF"/>
          </a:solidFill>
          <a:ln w="9525">
            <a:solidFill>
              <a:srgbClr val="E6E4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oint 2 number"/>
          <p:cNvSpPr/>
          <p:nvPr/>
        </p:nvSpPr>
        <p:spPr>
          <a:xfrm>
            <a:off x="1097280" y="4297680"/>
            <a:ext cx="731520" cy="731520"/>
          </a:xfrm>
          <a:prstGeom prst="ellipse">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2800" b="1">
                <a:solidFill>
                  <a:srgbClr val="172033"/>
                </a:solidFill>
                <a:latin typeface="IBM Plex Sans"/>
              </a:rPr>
              <a:t>2</a:t>
            </a:r>
          </a:p>
        </p:txBody>
      </p:sp>
      <p:sp>
        <p:nvSpPr>
          <p:cNvPr id="10" name="Point 2 text"/>
          <p:cNvSpPr txBox="1"/>
          <p:nvPr/>
        </p:nvSpPr>
        <p:spPr>
          <a:xfrm>
            <a:off x="2148840" y="4069080"/>
            <a:ext cx="8869680" cy="1371600"/>
          </a:xfrm>
          <a:prstGeom prst="rect">
            <a:avLst/>
          </a:prstGeom>
          <a:noFill/>
        </p:spPr>
        <p:txBody>
          <a:bodyPr wrap="square" lIns="0" tIns="0" rIns="0" bIns="0">
            <a:spAutoFit/>
          </a:bodyPr>
          <a:lstStyle/>
          <a:p>
            <a:r>
              <a:rPr sz="1200" b="1" dirty="0">
                <a:solidFill>
                  <a:srgbClr val="5B6573"/>
                </a:solidFill>
                <a:latin typeface="IBM Plex Sans"/>
              </a:rPr>
              <a:t>CHARTS</a:t>
            </a:r>
          </a:p>
          <a:p>
            <a:pPr>
              <a:spcBef>
                <a:spcPts val="600"/>
              </a:spcBef>
            </a:pPr>
            <a:r>
              <a:rPr sz="2400" b="1" dirty="0">
                <a:solidFill>
                  <a:srgbClr val="172033"/>
                </a:solidFill>
                <a:latin typeface="IBM Plex Sans"/>
              </a:rPr>
              <a:t>Make the charts simpler and easier to read.</a:t>
            </a:r>
          </a:p>
          <a:p>
            <a:pPr>
              <a:spcBef>
                <a:spcPts val="600"/>
              </a:spcBef>
            </a:pPr>
            <a:r>
              <a:rPr sz="1600" b="0" dirty="0">
                <a:solidFill>
                  <a:srgbClr val="44505F"/>
                </a:solidFill>
                <a:latin typeface="IBM Plex Sans"/>
              </a:rPr>
              <a:t>Samples: </a:t>
            </a:r>
            <a:r>
              <a:rPr sz="1600" b="0" dirty="0" err="1">
                <a:solidFill>
                  <a:srgbClr val="44505F"/>
                </a:solidFill>
                <a:latin typeface="IBM Plex Sans"/>
              </a:rPr>
              <a:t>CliQ</a:t>
            </a:r>
            <a:r>
              <a:rPr sz="1600" b="0" dirty="0">
                <a:solidFill>
                  <a:srgbClr val="44505F"/>
                </a:solidFill>
                <a:latin typeface="IBM Plex Sans"/>
              </a:rPr>
              <a:t> &amp; </a:t>
            </a:r>
            <a:r>
              <a:rPr sz="1600" b="0" dirty="0" err="1">
                <a:solidFill>
                  <a:srgbClr val="44505F"/>
                </a:solidFill>
                <a:latin typeface="IBM Plex Sans"/>
              </a:rPr>
              <a:t>JoMoPay</a:t>
            </a:r>
            <a:r>
              <a:rPr sz="1600" b="0" dirty="0">
                <a:solidFill>
                  <a:srgbClr val="44505F"/>
                </a:solidFill>
                <a:latin typeface="IBM Plex Sans"/>
              </a:rPr>
              <a:t> Transactions and </a:t>
            </a:r>
            <a:r>
              <a:rPr sz="1600" b="0" dirty="0" err="1">
                <a:solidFill>
                  <a:srgbClr val="44505F"/>
                </a:solidFill>
                <a:latin typeface="IBM Plex Sans"/>
              </a:rPr>
              <a:t>JoMoPay</a:t>
            </a:r>
            <a:r>
              <a:rPr sz="1600" b="0" dirty="0">
                <a:solidFill>
                  <a:srgbClr val="44505F"/>
                </a:solidFill>
                <a:latin typeface="IBM Plex Sans"/>
              </a:rPr>
              <a:t> Value of Transactions, on the next two slides.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10972800" cy="640080"/>
          </a:xfrm>
          <a:prstGeom prst="rect">
            <a:avLst/>
          </a:prstGeom>
          <a:noFill/>
          <a:ln/>
        </p:spPr>
        <p:txBody>
          <a:bodyPr wrap="square" lIns="0" tIns="0" rIns="0" bIns="0" rtlCol="0" anchor="ctr"/>
          <a:lstStyle/>
          <a:p>
            <a:pPr marL="0" indent="0">
              <a:buNone/>
            </a:pPr>
            <a:r>
              <a:rPr lang="en-US" sz="3400" b="1" dirty="0">
                <a:solidFill>
                  <a:srgbClr val="111827"/>
                </a:solidFill>
                <a:latin typeface="Calibri" pitchFamily="34" charset="0"/>
                <a:ea typeface="Calibri" pitchFamily="34" charset="-122"/>
                <a:cs typeface="Calibri" pitchFamily="34" charset="-120"/>
              </a:rPr>
              <a:t>CliQ &amp; JoMoPay Transactions</a:t>
            </a:r>
            <a:endParaRPr lang="en-US" sz="3400" dirty="0"/>
          </a:p>
        </p:txBody>
      </p:sp>
      <p:sp>
        <p:nvSpPr>
          <p:cNvPr id="3" name="Text 1"/>
          <p:cNvSpPr txBox="1"/>
          <p:nvPr/>
        </p:nvSpPr>
        <p:spPr>
          <a:xfrm>
            <a:off x="548640" y="1005840"/>
            <a:ext cx="1097280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Total number of transactions between Banks and PSPs</a:t>
            </a:r>
            <a:endParaRPr lang="en-US" sz="1600" dirty="0"/>
          </a:p>
        </p:txBody>
      </p:sp>
      <p:graphicFrame>
        <p:nvGraphicFramePr>
          <p:cNvPr id="4" name="Chart 0"/>
          <p:cNvGraphicFramePr/>
          <p:nvPr/>
        </p:nvGraphicFramePr>
        <p:xfrm>
          <a:off x="1737360" y="1737360"/>
          <a:ext cx="768096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2468880"/>
            <a:ext cx="1097280" cy="457200"/>
          </a:xfrm>
          <a:prstGeom prst="rect">
            <a:avLst/>
          </a:prstGeom>
          <a:noFill/>
          <a:ln/>
        </p:spPr>
        <p:txBody>
          <a:bodyPr wrap="square" lIns="0" tIns="0" rIns="0" bIns="0" rtlCol="0" anchor="ctr"/>
          <a:lstStyle/>
          <a:p>
            <a:pPr marL="0" indent="0">
              <a:buNone/>
            </a:pPr>
            <a:r>
              <a:rPr lang="en-US" sz="2200" b="1" dirty="0">
                <a:solidFill>
                  <a:srgbClr val="111827"/>
                </a:solidFill>
                <a:latin typeface="Calibri" pitchFamily="34" charset="0"/>
                <a:ea typeface="Calibri" pitchFamily="34" charset="-122"/>
                <a:cs typeface="Calibri" pitchFamily="34" charset="-120"/>
              </a:rPr>
              <a:t>Banks</a:t>
            </a:r>
            <a:endParaRPr lang="en-US" sz="2200" dirty="0"/>
          </a:p>
        </p:txBody>
      </p:sp>
      <p:sp>
        <p:nvSpPr>
          <p:cNvPr id="6" name="Text 3"/>
          <p:cNvSpPr txBox="1"/>
          <p:nvPr/>
        </p:nvSpPr>
        <p:spPr>
          <a:xfrm>
            <a:off x="1737360" y="2313432"/>
            <a:ext cx="5059832" cy="76809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15.81M</a:t>
            </a:r>
            <a:endParaRPr lang="en-US" sz="1800" dirty="0"/>
          </a:p>
        </p:txBody>
      </p:sp>
      <p:sp>
        <p:nvSpPr>
          <p:cNvPr id="7" name="Text 4"/>
          <p:cNvSpPr txBox="1"/>
          <p:nvPr/>
        </p:nvSpPr>
        <p:spPr>
          <a:xfrm>
            <a:off x="3535756" y="3154680"/>
            <a:ext cx="1463040" cy="320040"/>
          </a:xfrm>
          <a:prstGeom prst="rect">
            <a:avLst/>
          </a:prstGeom>
          <a:noFill/>
          <a:ln/>
        </p:spPr>
        <p:txBody>
          <a:bodyPr wrap="square" lIns="0" tIns="0" rIns="0" bIns="0" rtlCol="0" anchor="ctr"/>
          <a:lstStyle/>
          <a:p>
            <a:pPr marL="0" indent="0" algn="ctr">
              <a:buNone/>
            </a:pPr>
            <a:r>
              <a:rPr lang="en-US" sz="1400" dirty="0">
                <a:solidFill>
                  <a:srgbClr val="6B7280"/>
                </a:solidFill>
                <a:latin typeface="Calibri" pitchFamily="34" charset="0"/>
                <a:ea typeface="Calibri" pitchFamily="34" charset="-122"/>
                <a:cs typeface="Calibri" pitchFamily="34" charset="-120"/>
              </a:rPr>
              <a:t>To Bank</a:t>
            </a:r>
            <a:endParaRPr lang="en-US" sz="1400" dirty="0"/>
          </a:p>
        </p:txBody>
      </p:sp>
      <p:sp>
        <p:nvSpPr>
          <p:cNvPr id="8" name="Text 5"/>
          <p:cNvSpPr txBox="1"/>
          <p:nvPr/>
        </p:nvSpPr>
        <p:spPr>
          <a:xfrm>
            <a:off x="6797192" y="2313432"/>
            <a:ext cx="2611526" cy="768096"/>
          </a:xfrm>
          <a:prstGeom prst="rect">
            <a:avLst/>
          </a:prstGeom>
          <a:noFill/>
          <a:ln/>
        </p:spPr>
        <p:txBody>
          <a:bodyPr wrap="square" lIns="0" tIns="0" rIns="0" bIns="0" rtlCol="0" anchor="ctr"/>
          <a:lstStyle/>
          <a:p>
            <a:pPr marL="0" indent="0" algn="ctr">
              <a:buNone/>
            </a:pPr>
            <a:r>
              <a:rPr lang="en-US" sz="1800" b="1" dirty="0">
                <a:solidFill>
                  <a:srgbClr val="111827"/>
                </a:solidFill>
                <a:latin typeface="Calibri" pitchFamily="34" charset="0"/>
                <a:ea typeface="Calibri" pitchFamily="34" charset="-122"/>
                <a:cs typeface="Calibri" pitchFamily="34" charset="-120"/>
              </a:rPr>
              <a:t>8.16M</a:t>
            </a:r>
            <a:endParaRPr lang="en-US" sz="1800" dirty="0"/>
          </a:p>
        </p:txBody>
      </p:sp>
      <p:sp>
        <p:nvSpPr>
          <p:cNvPr id="9" name="Text 6"/>
          <p:cNvSpPr txBox="1"/>
          <p:nvPr/>
        </p:nvSpPr>
        <p:spPr>
          <a:xfrm>
            <a:off x="7371436" y="3154680"/>
            <a:ext cx="1463040" cy="320040"/>
          </a:xfrm>
          <a:prstGeom prst="rect">
            <a:avLst/>
          </a:prstGeom>
          <a:noFill/>
          <a:ln/>
        </p:spPr>
        <p:txBody>
          <a:bodyPr wrap="square" lIns="0" tIns="0" rIns="0" bIns="0" rtlCol="0" anchor="ctr"/>
          <a:lstStyle/>
          <a:p>
            <a:pPr marL="0" indent="0" algn="ctr">
              <a:buNone/>
            </a:pPr>
            <a:r>
              <a:rPr lang="en-US" sz="1400" dirty="0">
                <a:solidFill>
                  <a:srgbClr val="6B7280"/>
                </a:solidFill>
                <a:latin typeface="Calibri" pitchFamily="34" charset="0"/>
                <a:ea typeface="Calibri" pitchFamily="34" charset="-122"/>
                <a:cs typeface="Calibri" pitchFamily="34" charset="-120"/>
              </a:rPr>
              <a:t>To PSP</a:t>
            </a:r>
            <a:endParaRPr lang="en-US" sz="1400" dirty="0"/>
          </a:p>
        </p:txBody>
      </p:sp>
      <p:sp>
        <p:nvSpPr>
          <p:cNvPr id="10" name="leader-Banks"/>
          <p:cNvSpPr/>
          <p:nvPr/>
        </p:nvSpPr>
        <p:spPr>
          <a:xfrm>
            <a:off x="9412535" y="3081528"/>
            <a:ext cx="0" cy="566928"/>
          </a:xfrm>
          <a:prstGeom prst="line">
            <a:avLst/>
          </a:prstGeom>
          <a:noFill/>
          <a:ln w="19050">
            <a:solidFill>
              <a:srgbClr val="2EC4B6"/>
            </a:solidFill>
            <a:prstDash val="solid"/>
          </a:ln>
        </p:spPr>
      </p:sp>
      <p:sp>
        <p:nvSpPr>
          <p:cNvPr id="11" name="Text 8"/>
          <p:cNvSpPr txBox="1"/>
          <p:nvPr/>
        </p:nvSpPr>
        <p:spPr>
          <a:xfrm>
            <a:off x="6852215" y="3429000"/>
            <a:ext cx="2468880" cy="320040"/>
          </a:xfrm>
          <a:prstGeom prst="rect">
            <a:avLst/>
          </a:prstGeom>
          <a:noFill/>
          <a:ln/>
        </p:spPr>
        <p:txBody>
          <a:bodyPr wrap="square" lIns="0" tIns="0" rIns="0" bIns="0" rtlCol="0" anchor="ctr"/>
          <a:lstStyle/>
          <a:p>
            <a:pPr marL="0" indent="0" algn="r">
              <a:buNone/>
            </a:pPr>
            <a:r>
              <a:rPr lang="en-US" sz="1400" dirty="0">
                <a:solidFill>
                  <a:srgbClr val="6B7280"/>
                </a:solidFill>
                <a:latin typeface="Calibri" pitchFamily="34" charset="0"/>
                <a:ea typeface="Calibri" pitchFamily="34" charset="-122"/>
                <a:cs typeface="Calibri" pitchFamily="34" charset="-120"/>
              </a:rPr>
              <a:t>To Acquirer  </a:t>
            </a:r>
            <a:r>
              <a:rPr lang="en-US" sz="1400" b="1" dirty="0">
                <a:solidFill>
                  <a:srgbClr val="0E8F84"/>
                </a:solidFill>
                <a:latin typeface="Calibri" pitchFamily="34" charset="0"/>
                <a:ea typeface="Calibri" pitchFamily="34" charset="-122"/>
                <a:cs typeface="Calibri" pitchFamily="34" charset="-120"/>
              </a:rPr>
              <a:t>23.85K</a:t>
            </a:r>
            <a:endParaRPr lang="en-US" sz="1400" dirty="0"/>
          </a:p>
        </p:txBody>
      </p:sp>
      <p:sp>
        <p:nvSpPr>
          <p:cNvPr id="12" name="Text 9"/>
          <p:cNvSpPr txBox="1"/>
          <p:nvPr/>
        </p:nvSpPr>
        <p:spPr>
          <a:xfrm>
            <a:off x="9644952" y="2331720"/>
            <a:ext cx="2011680" cy="502920"/>
          </a:xfrm>
          <a:prstGeom prst="rect">
            <a:avLst/>
          </a:prstGeom>
          <a:noFill/>
          <a:ln/>
        </p:spPr>
        <p:txBody>
          <a:bodyPr wrap="square" lIns="0" tIns="0" rIns="0" bIns="0" rtlCol="0" anchor="ctr"/>
          <a:lstStyle/>
          <a:p>
            <a:pPr marL="0" indent="0">
              <a:buNone/>
            </a:pPr>
            <a:r>
              <a:rPr lang="en-US" sz="3000" b="1" dirty="0">
                <a:solidFill>
                  <a:srgbClr val="111827"/>
                </a:solidFill>
                <a:latin typeface="Calibri" pitchFamily="34" charset="0"/>
                <a:ea typeface="Calibri" pitchFamily="34" charset="-122"/>
                <a:cs typeface="Calibri" pitchFamily="34" charset="-120"/>
              </a:rPr>
              <a:t>23.99M</a:t>
            </a:r>
            <a:endParaRPr lang="en-US" sz="3000" dirty="0"/>
          </a:p>
        </p:txBody>
      </p:sp>
      <p:sp>
        <p:nvSpPr>
          <p:cNvPr id="13" name="Text 10"/>
          <p:cNvSpPr txBox="1"/>
          <p:nvPr/>
        </p:nvSpPr>
        <p:spPr>
          <a:xfrm>
            <a:off x="9644952" y="2807208"/>
            <a:ext cx="2011680" cy="27432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total</a:t>
            </a:r>
            <a:endParaRPr lang="en-US" sz="1400" dirty="0"/>
          </a:p>
        </p:txBody>
      </p:sp>
      <p:sp>
        <p:nvSpPr>
          <p:cNvPr id="14" name="Text 11"/>
          <p:cNvSpPr txBox="1"/>
          <p:nvPr/>
        </p:nvSpPr>
        <p:spPr>
          <a:xfrm>
            <a:off x="548640" y="4389120"/>
            <a:ext cx="1097280" cy="457200"/>
          </a:xfrm>
          <a:prstGeom prst="rect">
            <a:avLst/>
          </a:prstGeom>
          <a:noFill/>
          <a:ln/>
        </p:spPr>
        <p:txBody>
          <a:bodyPr wrap="square" lIns="0" tIns="0" rIns="0" bIns="0" rtlCol="0" anchor="ctr"/>
          <a:lstStyle/>
          <a:p>
            <a:pPr marL="0" indent="0">
              <a:buNone/>
            </a:pPr>
            <a:r>
              <a:rPr lang="en-US" sz="2200" b="1" dirty="0">
                <a:solidFill>
                  <a:srgbClr val="111827"/>
                </a:solidFill>
                <a:latin typeface="Calibri" pitchFamily="34" charset="0"/>
                <a:ea typeface="Calibri" pitchFamily="34" charset="-122"/>
                <a:cs typeface="Calibri" pitchFamily="34" charset="-120"/>
              </a:rPr>
              <a:t>PSPs</a:t>
            </a:r>
            <a:endParaRPr lang="en-US" sz="2200" dirty="0"/>
          </a:p>
        </p:txBody>
      </p:sp>
      <p:sp>
        <p:nvSpPr>
          <p:cNvPr id="15" name="Text 12"/>
          <p:cNvSpPr txBox="1"/>
          <p:nvPr/>
        </p:nvSpPr>
        <p:spPr>
          <a:xfrm>
            <a:off x="1737360" y="4233672"/>
            <a:ext cx="1629004" cy="768096"/>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5.09M</a:t>
            </a:r>
            <a:endParaRPr lang="en-US" sz="1800" dirty="0"/>
          </a:p>
        </p:txBody>
      </p:sp>
      <p:sp>
        <p:nvSpPr>
          <p:cNvPr id="16" name="Text 13"/>
          <p:cNvSpPr txBox="1"/>
          <p:nvPr/>
        </p:nvSpPr>
        <p:spPr>
          <a:xfrm>
            <a:off x="1820342" y="5074920"/>
            <a:ext cx="1463040" cy="320040"/>
          </a:xfrm>
          <a:prstGeom prst="rect">
            <a:avLst/>
          </a:prstGeom>
          <a:noFill/>
          <a:ln/>
        </p:spPr>
        <p:txBody>
          <a:bodyPr wrap="square" lIns="0" tIns="0" rIns="0" bIns="0" rtlCol="0" anchor="ctr"/>
          <a:lstStyle/>
          <a:p>
            <a:pPr marL="0" indent="0" algn="ctr">
              <a:buNone/>
            </a:pPr>
            <a:r>
              <a:rPr lang="en-US" sz="1400" dirty="0">
                <a:solidFill>
                  <a:srgbClr val="6B7280"/>
                </a:solidFill>
                <a:latin typeface="Calibri" pitchFamily="34" charset="0"/>
                <a:ea typeface="Calibri" pitchFamily="34" charset="-122"/>
                <a:cs typeface="Calibri" pitchFamily="34" charset="-120"/>
              </a:rPr>
              <a:t>To Bank</a:t>
            </a:r>
            <a:endParaRPr lang="en-US" sz="1400" dirty="0"/>
          </a:p>
        </p:txBody>
      </p:sp>
      <p:sp>
        <p:nvSpPr>
          <p:cNvPr id="17" name="Text 14"/>
          <p:cNvSpPr txBox="1"/>
          <p:nvPr/>
        </p:nvSpPr>
        <p:spPr>
          <a:xfrm>
            <a:off x="3366364" y="4233672"/>
            <a:ext cx="3926891" cy="768096"/>
          </a:xfrm>
          <a:prstGeom prst="rect">
            <a:avLst/>
          </a:prstGeom>
          <a:noFill/>
          <a:ln/>
        </p:spPr>
        <p:txBody>
          <a:bodyPr wrap="square" lIns="0" tIns="0" rIns="0" bIns="0" rtlCol="0" anchor="ctr"/>
          <a:lstStyle/>
          <a:p>
            <a:pPr marL="0" indent="0" algn="ctr">
              <a:buNone/>
            </a:pPr>
            <a:r>
              <a:rPr lang="en-US" sz="1800" b="1" dirty="0">
                <a:solidFill>
                  <a:srgbClr val="111827"/>
                </a:solidFill>
                <a:latin typeface="Calibri" pitchFamily="34" charset="0"/>
                <a:ea typeface="Calibri" pitchFamily="34" charset="-122"/>
                <a:cs typeface="Calibri" pitchFamily="34" charset="-120"/>
              </a:rPr>
              <a:t>12.27M</a:t>
            </a:r>
            <a:endParaRPr lang="en-US" sz="1800" dirty="0"/>
          </a:p>
        </p:txBody>
      </p:sp>
      <p:sp>
        <p:nvSpPr>
          <p:cNvPr id="18" name="Text 15"/>
          <p:cNvSpPr txBox="1"/>
          <p:nvPr/>
        </p:nvSpPr>
        <p:spPr>
          <a:xfrm>
            <a:off x="4598289" y="5074920"/>
            <a:ext cx="1463040" cy="320040"/>
          </a:xfrm>
          <a:prstGeom prst="rect">
            <a:avLst/>
          </a:prstGeom>
          <a:noFill/>
          <a:ln/>
        </p:spPr>
        <p:txBody>
          <a:bodyPr wrap="square" lIns="0" tIns="0" rIns="0" bIns="0" rtlCol="0" anchor="ctr"/>
          <a:lstStyle/>
          <a:p>
            <a:pPr marL="0" indent="0" algn="ctr">
              <a:buNone/>
            </a:pPr>
            <a:r>
              <a:rPr lang="en-US" sz="1400" dirty="0">
                <a:solidFill>
                  <a:srgbClr val="6B7280"/>
                </a:solidFill>
                <a:latin typeface="Calibri" pitchFamily="34" charset="0"/>
                <a:ea typeface="Calibri" pitchFamily="34" charset="-122"/>
                <a:cs typeface="Calibri" pitchFamily="34" charset="-120"/>
              </a:rPr>
              <a:t>To PSP</a:t>
            </a:r>
            <a:endParaRPr lang="en-US" sz="1400" dirty="0"/>
          </a:p>
        </p:txBody>
      </p:sp>
      <p:sp>
        <p:nvSpPr>
          <p:cNvPr id="19" name="leader-PSPs"/>
          <p:cNvSpPr/>
          <p:nvPr/>
        </p:nvSpPr>
        <p:spPr>
          <a:xfrm>
            <a:off x="7341710" y="5001768"/>
            <a:ext cx="0" cy="566928"/>
          </a:xfrm>
          <a:prstGeom prst="line">
            <a:avLst/>
          </a:prstGeom>
          <a:noFill/>
          <a:ln w="19050">
            <a:solidFill>
              <a:srgbClr val="2EC4B6"/>
            </a:solidFill>
            <a:prstDash val="solid"/>
          </a:ln>
        </p:spPr>
      </p:sp>
      <p:sp>
        <p:nvSpPr>
          <p:cNvPr id="20" name="Text 17"/>
          <p:cNvSpPr txBox="1"/>
          <p:nvPr/>
        </p:nvSpPr>
        <p:spPr>
          <a:xfrm>
            <a:off x="4781390" y="5349240"/>
            <a:ext cx="2468880" cy="320040"/>
          </a:xfrm>
          <a:prstGeom prst="rect">
            <a:avLst/>
          </a:prstGeom>
          <a:noFill/>
          <a:ln/>
        </p:spPr>
        <p:txBody>
          <a:bodyPr wrap="square" lIns="0" tIns="0" rIns="0" bIns="0" rtlCol="0" anchor="ctr"/>
          <a:lstStyle/>
          <a:p>
            <a:pPr marL="0" indent="0" algn="r">
              <a:buNone/>
            </a:pPr>
            <a:r>
              <a:rPr lang="en-US" sz="1400" dirty="0">
                <a:solidFill>
                  <a:srgbClr val="6B7280"/>
                </a:solidFill>
                <a:latin typeface="Calibri" pitchFamily="34" charset="0"/>
                <a:ea typeface="Calibri" pitchFamily="34" charset="-122"/>
                <a:cs typeface="Calibri" pitchFamily="34" charset="-120"/>
              </a:rPr>
              <a:t>To Acquirer  </a:t>
            </a:r>
            <a:r>
              <a:rPr lang="en-US" sz="1400" b="1" dirty="0">
                <a:solidFill>
                  <a:srgbClr val="0E8F84"/>
                </a:solidFill>
                <a:latin typeface="Calibri" pitchFamily="34" charset="0"/>
                <a:ea typeface="Calibri" pitchFamily="34" charset="-122"/>
                <a:cs typeface="Calibri" pitchFamily="34" charset="-120"/>
              </a:rPr>
              <a:t>302.81K</a:t>
            </a:r>
            <a:endParaRPr lang="en-US" sz="1400" dirty="0"/>
          </a:p>
        </p:txBody>
      </p:sp>
      <p:sp>
        <p:nvSpPr>
          <p:cNvPr id="21" name="Text 18"/>
          <p:cNvSpPr txBox="1"/>
          <p:nvPr/>
        </p:nvSpPr>
        <p:spPr>
          <a:xfrm>
            <a:off x="7618766" y="4251960"/>
            <a:ext cx="2011680" cy="502920"/>
          </a:xfrm>
          <a:prstGeom prst="rect">
            <a:avLst/>
          </a:prstGeom>
          <a:noFill/>
          <a:ln/>
        </p:spPr>
        <p:txBody>
          <a:bodyPr wrap="square" lIns="0" tIns="0" rIns="0" bIns="0" rtlCol="0" anchor="ctr"/>
          <a:lstStyle/>
          <a:p>
            <a:pPr marL="0" indent="0">
              <a:buNone/>
            </a:pPr>
            <a:r>
              <a:rPr lang="en-US" sz="3000" b="1" dirty="0">
                <a:solidFill>
                  <a:srgbClr val="111827"/>
                </a:solidFill>
                <a:latin typeface="Calibri" pitchFamily="34" charset="0"/>
                <a:ea typeface="Calibri" pitchFamily="34" charset="-122"/>
                <a:cs typeface="Calibri" pitchFamily="34" charset="-120"/>
              </a:rPr>
              <a:t>17.66M</a:t>
            </a:r>
            <a:endParaRPr lang="en-US" sz="3000" dirty="0"/>
          </a:p>
        </p:txBody>
      </p:sp>
      <p:sp>
        <p:nvSpPr>
          <p:cNvPr id="22" name="Text 19"/>
          <p:cNvSpPr txBox="1"/>
          <p:nvPr/>
        </p:nvSpPr>
        <p:spPr>
          <a:xfrm>
            <a:off x="7618766" y="4727448"/>
            <a:ext cx="2011680" cy="27432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total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734800" y="-14068"/>
            <a:ext cx="457200" cy="6858000"/>
          </a:xfrm>
          <a:prstGeom prst="rect">
            <a:avLst/>
          </a:prstGeom>
          <a:solidFill>
            <a:srgbClr val="1D3647"/>
          </a:solidFill>
          <a:ln/>
        </p:spPr>
      </p:sp>
      <p:sp>
        <p:nvSpPr>
          <p:cNvPr id="3" name="Shape 1"/>
          <p:cNvSpPr/>
          <p:nvPr/>
        </p:nvSpPr>
        <p:spPr>
          <a:xfrm>
            <a:off x="11582400" y="0"/>
            <a:ext cx="152400" cy="6858000"/>
          </a:xfrm>
          <a:prstGeom prst="rect">
            <a:avLst/>
          </a:prstGeom>
          <a:solidFill>
            <a:srgbClr val="FDB100"/>
          </a:solidFill>
          <a:ln/>
        </p:spPr>
      </p:sp>
      <p:sp>
        <p:nvSpPr>
          <p:cNvPr id="4" name="Shape 2"/>
          <p:cNvSpPr/>
          <p:nvPr/>
        </p:nvSpPr>
        <p:spPr>
          <a:xfrm>
            <a:off x="11430000" y="0"/>
            <a:ext cx="152400" cy="6858000"/>
          </a:xfrm>
          <a:prstGeom prst="rect">
            <a:avLst/>
          </a:prstGeom>
          <a:solidFill>
            <a:srgbClr val="9EA3A6"/>
          </a:solidFill>
          <a:ln/>
        </p:spPr>
      </p:sp>
      <p:sp>
        <p:nvSpPr>
          <p:cNvPr id="5" name="Shape 3"/>
          <p:cNvSpPr/>
          <p:nvPr/>
        </p:nvSpPr>
        <p:spPr>
          <a:xfrm>
            <a:off x="990600" y="632420"/>
            <a:ext cx="304800" cy="457200"/>
          </a:xfrm>
          <a:prstGeom prst="roundRect">
            <a:avLst>
              <a:gd name="adj" fmla="val 25000"/>
            </a:avLst>
          </a:prstGeom>
          <a:solidFill>
            <a:srgbClr val="6B7276"/>
          </a:solidFill>
          <a:ln/>
        </p:spPr>
      </p:sp>
      <p:sp>
        <p:nvSpPr>
          <p:cNvPr id="6" name="Shape 4"/>
          <p:cNvSpPr/>
          <p:nvPr/>
        </p:nvSpPr>
        <p:spPr>
          <a:xfrm>
            <a:off x="812800" y="797520"/>
            <a:ext cx="254000" cy="279400"/>
          </a:xfrm>
          <a:prstGeom prst="roundRect">
            <a:avLst>
              <a:gd name="adj" fmla="val 25000"/>
            </a:avLst>
          </a:prstGeom>
          <a:solidFill>
            <a:srgbClr val="FDB100"/>
          </a:solidFill>
          <a:ln/>
        </p:spPr>
      </p:sp>
      <p:sp>
        <p:nvSpPr>
          <p:cNvPr id="7" name="Text 5"/>
          <p:cNvSpPr>
            <a:spLocks noGrp="1"/>
          </p:cNvSpPr>
          <p:nvPr>
            <p:ph type="title"/>
          </p:nvPr>
        </p:nvSpPr>
        <p:spPr>
          <a:xfrm>
            <a:off x="1473200" y="609600"/>
            <a:ext cx="753725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3A3F42"/>
                </a:solidFill>
                <a:latin typeface="Nunito" pitchFamily="34" charset="0"/>
                <a:ea typeface="Nunito" pitchFamily="34" charset="-122"/>
                <a:cs typeface="Nunito" pitchFamily="34" charset="-120"/>
              </a:rPr>
              <a:t>JoMoPay</a:t>
            </a:r>
            <a:r>
              <a:rPr lang="en-US" sz="3600" b="0" i="0" dirty="0">
                <a:solidFill>
                  <a:srgbClr val="1D3647"/>
                </a:solidFill>
                <a:latin typeface="Nunito" pitchFamily="34" charset="0"/>
                <a:ea typeface="Nunito" pitchFamily="34" charset="-122"/>
                <a:cs typeface="Nunito" pitchFamily="34" charset="-120"/>
              </a:rPr>
              <a:t> Value of Transactions</a:t>
            </a:r>
            <a:endParaRPr lang="en-US" sz="3600" dirty="0"/>
          </a:p>
        </p:txBody>
      </p:sp>
      <p:sp>
        <p:nvSpPr>
          <p:cNvPr id="8" name="Text 6"/>
          <p:cNvSpPr/>
          <p:nvPr/>
        </p:nvSpPr>
        <p:spPr>
          <a:xfrm>
            <a:off x="812800" y="1188641"/>
            <a:ext cx="10674096" cy="3453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6B7276"/>
                </a:solidFill>
                <a:latin typeface="Nunito" pitchFamily="34" charset="0"/>
                <a:ea typeface="Nunito" pitchFamily="34" charset="-122"/>
                <a:cs typeface="Nunito" pitchFamily="34" charset="-120"/>
              </a:rPr>
              <a:t>Percentage based on transaction type</a:t>
            </a:r>
            <a:endParaRPr lang="en-US" sz="1800" dirty="0"/>
          </a:p>
        </p:txBody>
      </p:sp>
      <p:sp>
        <p:nvSpPr>
          <p:cNvPr id="9" name="Text 7"/>
          <p:cNvSpPr/>
          <p:nvPr/>
        </p:nvSpPr>
        <p:spPr>
          <a:xfrm>
            <a:off x="812800" y="1584821"/>
            <a:ext cx="10674096"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9A6A00"/>
                </a:solidFill>
                <a:latin typeface="Nunito" pitchFamily="34" charset="0"/>
                <a:ea typeface="Nunito" pitchFamily="34" charset="-122"/>
                <a:cs typeface="Nunito" pitchFamily="34" charset="-120"/>
              </a:rPr>
              <a:t>Transfers issued by mobile wallets</a:t>
            </a:r>
            <a:endParaRPr lang="en-US" sz="1600" dirty="0"/>
          </a:p>
        </p:txBody>
      </p:sp>
      <p:pic>
        <p:nvPicPr>
          <p:cNvPr id="10" name="Image 0" descr="Donut chart: money transfers 75.6%, purchases 22.7%, cash out 1.2%, cash in 0.5% of transaction value"/>
          <p:cNvPicPr>
            <a:picLocks noChangeAspect="1"/>
          </p:cNvPicPr>
          <p:nvPr/>
        </p:nvPicPr>
        <p:blipFill>
          <a:blip r:embed="rId3"/>
          <a:srcRect/>
          <a:stretch/>
        </p:blipFill>
        <p:spPr>
          <a:xfrm>
            <a:off x="812800" y="2242741"/>
            <a:ext cx="3302000" cy="3302000"/>
          </a:xfrm>
          <a:prstGeom prst="rect">
            <a:avLst/>
          </a:prstGeom>
        </p:spPr>
      </p:pic>
      <p:sp>
        <p:nvSpPr>
          <p:cNvPr id="11" name="Text 8"/>
          <p:cNvSpPr/>
          <p:nvPr/>
        </p:nvSpPr>
        <p:spPr>
          <a:xfrm>
            <a:off x="763270" y="3423841"/>
            <a:ext cx="3401060" cy="472380"/>
          </a:xfrm>
          <a:prstGeom prst="rect">
            <a:avLst/>
          </a:prstGeom>
          <a:noFill/>
          <a:ln/>
        </p:spPr>
        <p:txBody>
          <a:bodyPr wrap="square" lIns="0" tIns="0" rIns="0" bIns="0" rtlCol="0" anchor="t">
            <a:normAutofit/>
          </a:bodyPr>
          <a:lstStyle/>
          <a:p>
            <a:pPr marL="0" indent="0" algn="ctr">
              <a:lnSpc>
                <a:spcPts val="3520"/>
              </a:lnSpc>
              <a:buNone/>
            </a:pPr>
            <a:r>
              <a:rPr lang="en-US" sz="3200" b="1" dirty="0">
                <a:solidFill>
                  <a:srgbClr val="1D3647"/>
                </a:solidFill>
                <a:latin typeface="Nunito" pitchFamily="34" charset="0"/>
                <a:ea typeface="Nunito" pitchFamily="34" charset="-122"/>
                <a:cs typeface="Nunito" pitchFamily="34" charset="-120"/>
              </a:rPr>
              <a:t>770.2M</a:t>
            </a:r>
            <a:endParaRPr lang="en-US" sz="3200" dirty="0"/>
          </a:p>
        </p:txBody>
      </p:sp>
      <p:sp>
        <p:nvSpPr>
          <p:cNvPr id="12" name="Text 9"/>
          <p:cNvSpPr/>
          <p:nvPr/>
        </p:nvSpPr>
        <p:spPr>
          <a:xfrm>
            <a:off x="763270" y="3931841"/>
            <a:ext cx="3401060"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6B7276"/>
                </a:solidFill>
                <a:latin typeface="Nunito" pitchFamily="34" charset="0"/>
                <a:ea typeface="Nunito" pitchFamily="34" charset="-122"/>
                <a:cs typeface="Nunito" pitchFamily="34" charset="-120"/>
              </a:rPr>
              <a:t>JOD total</a:t>
            </a:r>
            <a:endParaRPr lang="en-US" sz="1400" dirty="0"/>
          </a:p>
        </p:txBody>
      </p:sp>
      <p:sp>
        <p:nvSpPr>
          <p:cNvPr id="13" name="Shape 10"/>
          <p:cNvSpPr/>
          <p:nvPr/>
        </p:nvSpPr>
        <p:spPr>
          <a:xfrm>
            <a:off x="4724400" y="3026470"/>
            <a:ext cx="6451600" cy="0"/>
          </a:xfrm>
          <a:prstGeom prst="line">
            <a:avLst/>
          </a:prstGeom>
          <a:noFill/>
          <a:ln w="6350">
            <a:solidFill>
              <a:srgbClr val="E6E8EA"/>
            </a:solidFill>
            <a:prstDash val="solid"/>
          </a:ln>
        </p:spPr>
      </p:sp>
      <p:sp>
        <p:nvSpPr>
          <p:cNvPr id="14" name="Shape 11"/>
          <p:cNvSpPr/>
          <p:nvPr/>
        </p:nvSpPr>
        <p:spPr>
          <a:xfrm>
            <a:off x="4724400" y="2503884"/>
            <a:ext cx="177800" cy="177800"/>
          </a:xfrm>
          <a:prstGeom prst="roundRect">
            <a:avLst>
              <a:gd name="adj" fmla="val 50000"/>
            </a:avLst>
          </a:prstGeom>
          <a:solidFill>
            <a:srgbClr val="FDB100"/>
          </a:solidFill>
          <a:ln/>
        </p:spPr>
      </p:sp>
      <p:sp>
        <p:nvSpPr>
          <p:cNvPr id="15" name="Text 12"/>
          <p:cNvSpPr/>
          <p:nvPr/>
        </p:nvSpPr>
        <p:spPr>
          <a:xfrm>
            <a:off x="5054600" y="2302073"/>
            <a:ext cx="4886367"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3647"/>
                </a:solidFill>
                <a:latin typeface="Nunito" pitchFamily="34" charset="0"/>
                <a:ea typeface="Nunito" pitchFamily="34" charset="-122"/>
                <a:cs typeface="Nunito" pitchFamily="34" charset="-120"/>
              </a:rPr>
              <a:t>Money transfers</a:t>
            </a:r>
            <a:endParaRPr lang="en-US" sz="1800" dirty="0"/>
          </a:p>
        </p:txBody>
      </p:sp>
      <p:sp>
        <p:nvSpPr>
          <p:cNvPr id="16" name="Text 13"/>
          <p:cNvSpPr/>
          <p:nvPr/>
        </p:nvSpPr>
        <p:spPr>
          <a:xfrm>
            <a:off x="5054600" y="2634754"/>
            <a:ext cx="488636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7276"/>
                </a:solidFill>
                <a:latin typeface="Nunito" pitchFamily="34" charset="0"/>
                <a:ea typeface="Nunito" pitchFamily="34" charset="-122"/>
                <a:cs typeface="Nunito" pitchFamily="34" charset="-120"/>
              </a:rPr>
              <a:t>582.3M JOD</a:t>
            </a:r>
            <a:endParaRPr lang="en-US" sz="1400" dirty="0"/>
          </a:p>
        </p:txBody>
      </p:sp>
      <p:sp>
        <p:nvSpPr>
          <p:cNvPr id="17" name="Text 14"/>
          <p:cNvSpPr/>
          <p:nvPr/>
        </p:nvSpPr>
        <p:spPr>
          <a:xfrm>
            <a:off x="9951045" y="2308324"/>
            <a:ext cx="1275755"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D3647"/>
                </a:solidFill>
                <a:latin typeface="Nunito" pitchFamily="34" charset="0"/>
                <a:ea typeface="Nunito" pitchFamily="34" charset="-122"/>
                <a:cs typeface="Nunito" pitchFamily="34" charset="-120"/>
              </a:rPr>
              <a:t>75.6%</a:t>
            </a:r>
            <a:endParaRPr lang="en-US" sz="3200" dirty="0"/>
          </a:p>
        </p:txBody>
      </p:sp>
      <p:sp>
        <p:nvSpPr>
          <p:cNvPr id="18" name="Shape 15"/>
          <p:cNvSpPr/>
          <p:nvPr/>
        </p:nvSpPr>
        <p:spPr>
          <a:xfrm>
            <a:off x="4724400" y="3893741"/>
            <a:ext cx="6451600" cy="0"/>
          </a:xfrm>
          <a:prstGeom prst="line">
            <a:avLst/>
          </a:prstGeom>
          <a:noFill/>
          <a:ln w="6350">
            <a:solidFill>
              <a:srgbClr val="E6E8EA"/>
            </a:solidFill>
            <a:prstDash val="solid"/>
          </a:ln>
        </p:spPr>
      </p:sp>
      <p:sp>
        <p:nvSpPr>
          <p:cNvPr id="19" name="Shape 16"/>
          <p:cNvSpPr/>
          <p:nvPr/>
        </p:nvSpPr>
        <p:spPr>
          <a:xfrm>
            <a:off x="4724400" y="3371155"/>
            <a:ext cx="177800" cy="177800"/>
          </a:xfrm>
          <a:prstGeom prst="roundRect">
            <a:avLst>
              <a:gd name="adj" fmla="val 50000"/>
            </a:avLst>
          </a:prstGeom>
          <a:solidFill>
            <a:srgbClr val="9EA3A6"/>
          </a:solidFill>
          <a:ln/>
        </p:spPr>
      </p:sp>
      <p:sp>
        <p:nvSpPr>
          <p:cNvPr id="20" name="Text 17"/>
          <p:cNvSpPr/>
          <p:nvPr/>
        </p:nvSpPr>
        <p:spPr>
          <a:xfrm>
            <a:off x="5054600" y="3169345"/>
            <a:ext cx="4886367"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3647"/>
                </a:solidFill>
                <a:latin typeface="Nunito" pitchFamily="34" charset="0"/>
                <a:ea typeface="Nunito" pitchFamily="34" charset="-122"/>
                <a:cs typeface="Nunito" pitchFamily="34" charset="-120"/>
              </a:rPr>
              <a:t>Purchases</a:t>
            </a:r>
            <a:endParaRPr lang="en-US" sz="1800" dirty="0"/>
          </a:p>
        </p:txBody>
      </p:sp>
      <p:sp>
        <p:nvSpPr>
          <p:cNvPr id="21" name="Text 18"/>
          <p:cNvSpPr/>
          <p:nvPr/>
        </p:nvSpPr>
        <p:spPr>
          <a:xfrm>
            <a:off x="5054600" y="3502025"/>
            <a:ext cx="488636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7276"/>
                </a:solidFill>
                <a:latin typeface="Nunito" pitchFamily="34" charset="0"/>
                <a:ea typeface="Nunito" pitchFamily="34" charset="-122"/>
                <a:cs typeface="Nunito" pitchFamily="34" charset="-120"/>
              </a:rPr>
              <a:t>174.5M JOD</a:t>
            </a:r>
            <a:endParaRPr lang="en-US" sz="1400" dirty="0"/>
          </a:p>
        </p:txBody>
      </p:sp>
      <p:sp>
        <p:nvSpPr>
          <p:cNvPr id="22" name="Text 19"/>
          <p:cNvSpPr/>
          <p:nvPr/>
        </p:nvSpPr>
        <p:spPr>
          <a:xfrm>
            <a:off x="9951045" y="3175595"/>
            <a:ext cx="1275755"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D3647"/>
                </a:solidFill>
                <a:latin typeface="Nunito" pitchFamily="34" charset="0"/>
                <a:ea typeface="Nunito" pitchFamily="34" charset="-122"/>
                <a:cs typeface="Nunito" pitchFamily="34" charset="-120"/>
              </a:rPr>
              <a:t>22.7%</a:t>
            </a:r>
            <a:endParaRPr lang="en-US" sz="3200" dirty="0"/>
          </a:p>
        </p:txBody>
      </p:sp>
      <p:sp>
        <p:nvSpPr>
          <p:cNvPr id="23" name="Shape 20"/>
          <p:cNvSpPr/>
          <p:nvPr/>
        </p:nvSpPr>
        <p:spPr>
          <a:xfrm>
            <a:off x="4724400" y="4761012"/>
            <a:ext cx="6451600" cy="0"/>
          </a:xfrm>
          <a:prstGeom prst="line">
            <a:avLst/>
          </a:prstGeom>
          <a:noFill/>
          <a:ln w="6350">
            <a:solidFill>
              <a:srgbClr val="E6E8EA"/>
            </a:solidFill>
            <a:prstDash val="solid"/>
          </a:ln>
        </p:spPr>
      </p:sp>
      <p:sp>
        <p:nvSpPr>
          <p:cNvPr id="24" name="Shape 21"/>
          <p:cNvSpPr/>
          <p:nvPr/>
        </p:nvSpPr>
        <p:spPr>
          <a:xfrm>
            <a:off x="4724400" y="4238427"/>
            <a:ext cx="177800" cy="177800"/>
          </a:xfrm>
          <a:prstGeom prst="roundRect">
            <a:avLst>
              <a:gd name="adj" fmla="val 50000"/>
            </a:avLst>
          </a:prstGeom>
          <a:solidFill>
            <a:srgbClr val="B07D12"/>
          </a:solidFill>
          <a:ln/>
        </p:spPr>
      </p:sp>
      <p:sp>
        <p:nvSpPr>
          <p:cNvPr id="25" name="Text 22"/>
          <p:cNvSpPr/>
          <p:nvPr/>
        </p:nvSpPr>
        <p:spPr>
          <a:xfrm>
            <a:off x="5054600" y="4036616"/>
            <a:ext cx="5137563"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3647"/>
                </a:solidFill>
                <a:latin typeface="Nunito" pitchFamily="34" charset="0"/>
                <a:ea typeface="Nunito" pitchFamily="34" charset="-122"/>
                <a:cs typeface="Nunito" pitchFamily="34" charset="-120"/>
              </a:rPr>
              <a:t>Cash out</a:t>
            </a:r>
            <a:endParaRPr lang="en-US" sz="1800" dirty="0"/>
          </a:p>
        </p:txBody>
      </p:sp>
      <p:sp>
        <p:nvSpPr>
          <p:cNvPr id="26" name="Text 23"/>
          <p:cNvSpPr/>
          <p:nvPr/>
        </p:nvSpPr>
        <p:spPr>
          <a:xfrm>
            <a:off x="5054600" y="4369296"/>
            <a:ext cx="513756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7276"/>
                </a:solidFill>
                <a:latin typeface="Nunito" pitchFamily="34" charset="0"/>
                <a:ea typeface="Nunito" pitchFamily="34" charset="-122"/>
                <a:cs typeface="Nunito" pitchFamily="34" charset="-120"/>
              </a:rPr>
              <a:t>9.5M JOD</a:t>
            </a:r>
            <a:endParaRPr lang="en-US" sz="1400" dirty="0"/>
          </a:p>
        </p:txBody>
      </p:sp>
      <p:sp>
        <p:nvSpPr>
          <p:cNvPr id="27" name="Text 24"/>
          <p:cNvSpPr/>
          <p:nvPr/>
        </p:nvSpPr>
        <p:spPr>
          <a:xfrm>
            <a:off x="10194925" y="4042866"/>
            <a:ext cx="1031875"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D3647"/>
                </a:solidFill>
                <a:latin typeface="Nunito" pitchFamily="34" charset="0"/>
                <a:ea typeface="Nunito" pitchFamily="34" charset="-122"/>
                <a:cs typeface="Nunito" pitchFamily="34" charset="-120"/>
              </a:rPr>
              <a:t>1.2%</a:t>
            </a:r>
            <a:endParaRPr lang="en-US" sz="3200" dirty="0"/>
          </a:p>
        </p:txBody>
      </p:sp>
      <p:sp>
        <p:nvSpPr>
          <p:cNvPr id="28" name="Shape 25"/>
          <p:cNvSpPr/>
          <p:nvPr/>
        </p:nvSpPr>
        <p:spPr>
          <a:xfrm>
            <a:off x="4724400" y="5105698"/>
            <a:ext cx="177800" cy="177800"/>
          </a:xfrm>
          <a:prstGeom prst="roundRect">
            <a:avLst>
              <a:gd name="adj" fmla="val 50000"/>
            </a:avLst>
          </a:prstGeom>
          <a:solidFill>
            <a:srgbClr val="1D3647"/>
          </a:solidFill>
          <a:ln/>
        </p:spPr>
      </p:sp>
      <p:sp>
        <p:nvSpPr>
          <p:cNvPr id="29" name="Text 26"/>
          <p:cNvSpPr/>
          <p:nvPr/>
        </p:nvSpPr>
        <p:spPr>
          <a:xfrm>
            <a:off x="5054600" y="4903887"/>
            <a:ext cx="5137563" cy="34538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3647"/>
                </a:solidFill>
                <a:latin typeface="Nunito" pitchFamily="34" charset="0"/>
                <a:ea typeface="Nunito" pitchFamily="34" charset="-122"/>
                <a:cs typeface="Nunito" pitchFamily="34" charset="-120"/>
              </a:rPr>
              <a:t>Cash in</a:t>
            </a:r>
            <a:endParaRPr lang="en-US" sz="1800" dirty="0"/>
          </a:p>
        </p:txBody>
      </p:sp>
      <p:sp>
        <p:nvSpPr>
          <p:cNvPr id="30" name="Text 27"/>
          <p:cNvSpPr/>
          <p:nvPr/>
        </p:nvSpPr>
        <p:spPr>
          <a:xfrm>
            <a:off x="5054600" y="5236567"/>
            <a:ext cx="513756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6B7276"/>
                </a:solidFill>
                <a:latin typeface="Nunito" pitchFamily="34" charset="0"/>
                <a:ea typeface="Nunito" pitchFamily="34" charset="-122"/>
                <a:cs typeface="Nunito" pitchFamily="34" charset="-120"/>
              </a:rPr>
              <a:t>3.9M JOD</a:t>
            </a:r>
            <a:endParaRPr lang="en-US" sz="1400" dirty="0"/>
          </a:p>
        </p:txBody>
      </p:sp>
      <p:sp>
        <p:nvSpPr>
          <p:cNvPr id="31" name="Text 28"/>
          <p:cNvSpPr/>
          <p:nvPr/>
        </p:nvSpPr>
        <p:spPr>
          <a:xfrm>
            <a:off x="10194925" y="4910138"/>
            <a:ext cx="117729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D3647"/>
                </a:solidFill>
                <a:latin typeface="Nunito" pitchFamily="34" charset="0"/>
                <a:ea typeface="Nunito" pitchFamily="34" charset="-122"/>
                <a:cs typeface="Nunito" pitchFamily="34" charset="-120"/>
              </a:rPr>
              <a:t>0.5%</a:t>
            </a:r>
            <a:endParaRPr lang="en-US" sz="3200" dirty="0"/>
          </a:p>
        </p:txBody>
      </p:sp>
      <p:pic>
        <p:nvPicPr>
          <p:cNvPr id="32" name="Image 1" descr="connector"/>
          <p:cNvPicPr>
            <a:picLocks noChangeAspect="1"/>
          </p:cNvPicPr>
          <p:nvPr/>
        </p:nvPicPr>
        <p:blipFill>
          <a:blip r:embed="rId4"/>
          <a:srcRect/>
          <a:stretch/>
        </p:blipFill>
        <p:spPr>
          <a:xfrm>
            <a:off x="3162300" y="2546350"/>
            <a:ext cx="1498600" cy="101600"/>
          </a:xfrm>
          <a:prstGeom prst="rect">
            <a:avLst/>
          </a:prstGeom>
        </p:spPr>
      </p:pic>
      <p:pic>
        <p:nvPicPr>
          <p:cNvPr id="33" name="Image 2" descr="connector"/>
          <p:cNvPicPr>
            <a:picLocks noChangeAspect="1"/>
          </p:cNvPicPr>
          <p:nvPr/>
        </p:nvPicPr>
        <p:blipFill>
          <a:blip r:embed="rId5"/>
          <a:srcRect/>
          <a:stretch/>
        </p:blipFill>
        <p:spPr>
          <a:xfrm>
            <a:off x="3867150" y="3467100"/>
            <a:ext cx="749300" cy="133350"/>
          </a:xfrm>
          <a:prstGeom prst="rect">
            <a:avLst/>
          </a:prstGeom>
        </p:spPr>
      </p:pic>
      <p:pic>
        <p:nvPicPr>
          <p:cNvPr id="34" name="Image 3" descr="connector"/>
          <p:cNvPicPr>
            <a:picLocks noChangeAspect="1"/>
          </p:cNvPicPr>
          <p:nvPr/>
        </p:nvPicPr>
        <p:blipFill>
          <a:blip r:embed="rId6"/>
          <a:srcRect/>
          <a:stretch/>
        </p:blipFill>
        <p:spPr>
          <a:xfrm>
            <a:off x="3486562" y="4336951"/>
            <a:ext cx="1180687" cy="584200"/>
          </a:xfrm>
          <a:prstGeom prst="rect">
            <a:avLst/>
          </a:prstGeom>
        </p:spPr>
      </p:pic>
      <p:pic>
        <p:nvPicPr>
          <p:cNvPr id="35" name="Image 4" descr="connector"/>
          <p:cNvPicPr>
            <a:picLocks noChangeAspect="1"/>
          </p:cNvPicPr>
          <p:nvPr/>
        </p:nvPicPr>
        <p:blipFill>
          <a:blip r:embed="rId7"/>
          <a:srcRect/>
          <a:stretch/>
        </p:blipFill>
        <p:spPr>
          <a:xfrm>
            <a:off x="3454400" y="4921250"/>
            <a:ext cx="1206500" cy="330200"/>
          </a:xfrm>
          <a:prstGeom prst="rect">
            <a:avLst/>
          </a:prstGeom>
        </p:spPr>
      </p:pic>
      <p:sp>
        <p:nvSpPr>
          <p:cNvPr id="36" name="Text 29"/>
          <p:cNvSpPr/>
          <p:nvPr/>
        </p:nvSpPr>
        <p:spPr>
          <a:xfrm>
            <a:off x="812800" y="6238280"/>
            <a:ext cx="431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76"/>
                </a:solidFill>
                <a:latin typeface="Nunito" pitchFamily="34" charset="0"/>
                <a:ea typeface="Nunito" pitchFamily="34" charset="-122"/>
                <a:cs typeface="Nunito" pitchFamily="34" charset="-120"/>
              </a:rPr>
              <a:t>36</a:t>
            </a:r>
            <a:endParaRPr lang="en-US" sz="1200" dirty="0"/>
          </a:p>
        </p:txBody>
      </p:sp>
      <p:sp>
        <p:nvSpPr>
          <p:cNvPr id="37" name="Text 30"/>
          <p:cNvSpPr/>
          <p:nvPr/>
        </p:nvSpPr>
        <p:spPr>
          <a:xfrm>
            <a:off x="12700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76"/>
                </a:solidFill>
                <a:latin typeface="Nunito" pitchFamily="34" charset="0"/>
                <a:ea typeface="Nunito" pitchFamily="34" charset="-122"/>
                <a:cs typeface="Nunito" pitchFamily="34" charset="-120"/>
              </a:rPr>
              <a:t>* Some data displayed in this page is based on the data shared by the system participants.</a:t>
            </a:r>
            <a:endParaRPr lang="en-US" sz="1200" dirty="0"/>
          </a:p>
        </p:txBody>
      </p:sp>
      <p:sp>
        <p:nvSpPr>
          <p:cNvPr id="38" name="Text 31"/>
          <p:cNvSpPr/>
          <p:nvPr/>
        </p:nvSpPr>
        <p:spPr>
          <a:xfrm>
            <a:off x="96012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D3647"/>
                </a:solidFill>
                <a:latin typeface="Nunito" pitchFamily="34" charset="0"/>
                <a:ea typeface="Nunito" pitchFamily="34" charset="-122"/>
                <a:cs typeface="Nunito" pitchFamily="34" charset="-120"/>
              </a:rPr>
              <a:t>08.2026</a:t>
            </a:r>
            <a:endParaRPr lang="en-US" sz="1200" dirty="0"/>
          </a:p>
        </p:txBody>
      </p:sp>
    </p:spTree>
  </p:cSld>
  <p:clrMapOvr>
    <a:masterClrMapping/>
  </p:clrMapOvr>
</p:sld>
</file>

<file path=ppt/theme/theme1.xml><?xml version="1.0" encoding="utf-8"?>
<a:theme xmlns:a="http://schemas.openxmlformats.org/drawingml/2006/main" name="JOPACC Monthly Report: Proposed Changes">
  <a:themeElements>
    <a:clrScheme name="JOPACC Monthly Report: Proposed Changes">
      <a:dk1>
        <a:srgbClr val="172033"/>
      </a:dk1>
      <a:lt1>
        <a:srgbClr val="F6F5F1"/>
      </a:lt1>
      <a:dk2>
        <a:srgbClr val="4F5563"/>
      </a:dk2>
      <a:lt2>
        <a:srgbClr val="E0E0DE"/>
      </a:lt2>
      <a:accent1>
        <a:srgbClr val="F2A922"/>
      </a:accent1>
      <a:accent2>
        <a:srgbClr val="44505F"/>
      </a:accent2>
      <a:accent3>
        <a:srgbClr val="5B6573"/>
      </a:accent3>
      <a:accent4>
        <a:srgbClr val="C9CFD8"/>
      </a:accent4>
      <a:accent5>
        <a:srgbClr val="A0A1A2"/>
      </a:accent5>
      <a:accent6>
        <a:srgbClr val="9AA0A6"/>
      </a:accent6>
      <a:hlink>
        <a:srgbClr val="0563C1"/>
      </a:hlink>
      <a:folHlink>
        <a:srgbClr val="954F72"/>
      </a:folHlink>
    </a:clrScheme>
    <a:fontScheme name="JOPACC Monthly Report: Proposed Change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TotalTime>
  <Words>1455</Words>
  <Application>Microsoft Office PowerPoint</Application>
  <PresentationFormat>Widescreen</PresentationFormat>
  <Paragraphs>206</Paragraphs>
  <Slides>14</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IBM Plex Sans</vt:lpstr>
      <vt:lpstr>Nunito</vt:lpstr>
      <vt:lpstr>JOPACC Monthly Report: Proposed Changes</vt:lpstr>
      <vt:lpstr>Monthly report: proposed changes</vt:lpstr>
      <vt:lpstr>Five sections of change</vt:lpstr>
      <vt:lpstr>All Systems: start with the overview</vt:lpstr>
      <vt:lpstr>PowerPoint Presentation</vt:lpstr>
      <vt:lpstr>PowerPoint Presentation</vt:lpstr>
      <vt:lpstr>Add active accounts and Rates</vt:lpstr>
      <vt:lpstr>Extend comparisons from 3 months to 6 months</vt:lpstr>
      <vt:lpstr>Volume, value and ATV on one chart</vt:lpstr>
      <vt:lpstr>IPS: one consolidated section</vt:lpstr>
      <vt:lpstr>Top 5 by volume, the rest in a table</vt:lpstr>
      <vt:lpstr>ECCU</vt:lpstr>
      <vt:lpstr>Visual Improvements &amp; Recommendations</vt:lpstr>
      <vt:lpstr>PowerPoint Presentation</vt:lpstr>
      <vt:lpstr>JoMoPay Value of Transactions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JOPACC Monthly Report: Proposed Changes</dc:title>
  <dc:subject/>
  <dc:creator/>
  <cp:lastModifiedBy>Naser Al-Magarbi</cp:lastModifiedBy>
  <cp:revision>14</cp:revision>
  <dcterms:created xsi:type="dcterms:W3CDTF">2026-10-11T11:27:31Z</dcterms:created>
  <dcterms:modified xsi:type="dcterms:W3CDTF">2026-10-21T06:47:05Z</dcterms:modified>
</cp:coreProperties>
</file>