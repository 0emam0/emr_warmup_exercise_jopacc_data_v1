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16.xml" ContentType="application/vnd.openxmlformats-officedocument.presentationml.notesSlide+xml"/>
  <Override PartName="/ppt/charts/chart8.xml" ContentType="application/vnd.openxmlformats-officedocument.drawingml.chart+xml"/>
  <Override PartName="/ppt/notesSlides/notesSlide17.xml" ContentType="application/vnd.openxmlformats-officedocument.presentationml.notesSlide+xml"/>
  <Override PartName="/ppt/charts/chart9.xml" ContentType="application/vnd.openxmlformats-officedocument.drawingml.chart+xml"/>
  <Override PartName="/ppt/notesSlides/notesSlide18.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tory" id="{47F3E734-E510-4E47-2445-4D1F5352656F}">
          <p14:sldIdLst>
            <p14:sldId id="256"/>
            <p14:sldId id="257"/>
            <p14:sldId id="258"/>
          </p14:sldIdLst>
        </p14:section>
        <p14:section name="The proposal" id="{4AF70D95-1601-7E27-04E8-967B9A5FA3A9}">
          <p14:sldIdLst>
            <p14:sldId id="259"/>
            <p14:sldId id="260"/>
            <p14:sldId id="261"/>
            <p14:sldId id="262"/>
          </p14:sldIdLst>
        </p14:section>
        <p14:section name="Wrap-up" id="{E62D4248-340F-A352-A8AF-3492C26C09A6}">
          <p14:sldIdLst>
            <p14:sldId id="263"/>
            <p14:sldId id="264"/>
          </p14:sldIdLst>
        </p14:section>
        <p14:section name="Appendix" id="{379017BD-CE33-12C3-9278-1CC22F152DAF}">
          <p14:sldIdLst>
            <p14:sldId id="265"/>
            <p14:sldId id="266"/>
            <p14:sldId id="267"/>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6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3746"/>
                </a:solidFill>
                <a:latin typeface="+mn-lt"/>
              </a:defRPr>
            </a:pPr>
            <a:r>
              <a:rPr lang="en-US" sz="1400" b="0" i="0" u="none" strike="noStrike">
                <a:solidFill>
                  <a:srgbClr val="243746"/>
                </a:solidFill>
                <a:latin typeface="+mn-lt"/>
              </a:rPr>
              <a:t>Average transaction value (JOD)</a:t>
            </a:r>
          </a:p>
        </c:rich>
      </c:tx>
      <c:overlay val="0"/>
    </c:title>
    <c:autoTitleDeleted val="0"/>
    <c:plotArea>
      <c:layout/>
      <c:barChart>
        <c:barDir val="col"/>
        <c:grouping val="clustered"/>
        <c:varyColors val="0"/>
        <c:ser>
          <c:idx val="0"/>
          <c:order val="0"/>
          <c:tx>
            <c:strRef>
              <c:f>Sheet1!$B$1</c:f>
              <c:strCache>
                <c:ptCount val="1"/>
                <c:pt idx="0">
                  <c:v>Average transaction value (JOD)</c:v>
                </c:pt>
              </c:strCache>
            </c:strRef>
          </c:tx>
          <c:spPr>
            <a:solidFill>
              <a:srgbClr val="DCDFE2"/>
            </a:solidFill>
            <a:effectLst/>
          </c:spPr>
          <c:invertIfNegative val="0"/>
          <c:dPt>
            <c:idx val="0"/>
            <c:invertIfNegative val="0"/>
            <c:bubble3D val="0"/>
            <c:extLst>
              <c:ext xmlns:c16="http://schemas.microsoft.com/office/drawing/2014/chart" uri="{C3380CC4-5D6E-409C-BE32-E72D297353CC}">
                <c16:uniqueId val="{00000001-257D-454B-B4FA-894F128165E8}"/>
              </c:ext>
            </c:extLst>
          </c:dPt>
          <c:dPt>
            <c:idx val="1"/>
            <c:invertIfNegative val="0"/>
            <c:bubble3D val="0"/>
            <c:spPr>
              <a:solidFill>
                <a:srgbClr val="BFC4C8"/>
              </a:solidFill>
              <a:effectLst/>
            </c:spPr>
            <c:extLst>
              <c:ext xmlns:c16="http://schemas.microsoft.com/office/drawing/2014/chart" uri="{C3380CC4-5D6E-409C-BE32-E72D297353CC}">
                <c16:uniqueId val="{00000003-257D-454B-B4FA-894F128165E8}"/>
              </c:ext>
            </c:extLst>
          </c:dPt>
          <c:dPt>
            <c:idx val="2"/>
            <c:invertIfNegative val="0"/>
            <c:bubble3D val="0"/>
            <c:spPr>
              <a:solidFill>
                <a:srgbClr val="FFB600"/>
              </a:solidFill>
              <a:effectLst/>
            </c:spPr>
            <c:extLst>
              <c:ext xmlns:c16="http://schemas.microsoft.com/office/drawing/2014/chart" uri="{C3380CC4-5D6E-409C-BE32-E72D297353CC}">
                <c16:uniqueId val="{00000005-257D-454B-B4FA-894F128165E8}"/>
              </c:ext>
            </c:extLst>
          </c:dPt>
          <c:dLbls>
            <c:numFmt formatCode="0.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Sheet1!$B$2:$B$4</c:f>
              <c:numCache>
                <c:formatCode>General</c:formatCode>
                <c:ptCount val="3"/>
                <c:pt idx="0">
                  <c:v>546.5</c:v>
                </c:pt>
                <c:pt idx="1">
                  <c:v>355.9</c:v>
                </c:pt>
                <c:pt idx="2">
                  <c:v>256.3</c:v>
                </c:pt>
              </c:numCache>
            </c:numRef>
          </c:val>
          <c:extLst>
            <c:ext xmlns:c16="http://schemas.microsoft.com/office/drawing/2014/chart" uri="{C3380CC4-5D6E-409C-BE32-E72D297353CC}">
              <c16:uniqueId val="{00000006-257D-454B-B4FA-894F128165E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3746"/>
                </a:solidFill>
                <a:latin typeface="+mn-lt"/>
              </a:defRPr>
            </a:pPr>
            <a:r>
              <a:rPr lang="en-US" sz="1400" b="0" i="0" u="none" strike="noStrike">
                <a:solidFill>
                  <a:srgbClr val="243746"/>
                </a:solidFill>
                <a:latin typeface="+mn-lt"/>
              </a:rPr>
              <a:t>Average transaction value (JOD)</a:t>
            </a:r>
          </a:p>
        </c:rich>
      </c:tx>
      <c:overlay val="0"/>
    </c:title>
    <c:autoTitleDeleted val="0"/>
    <c:plotArea>
      <c:layout/>
      <c:barChart>
        <c:barDir val="col"/>
        <c:grouping val="clustered"/>
        <c:varyColors val="0"/>
        <c:ser>
          <c:idx val="0"/>
          <c:order val="0"/>
          <c:tx>
            <c:strRef>
              <c:f>Sheet1!$B$1</c:f>
              <c:strCache>
                <c:ptCount val="1"/>
                <c:pt idx="0">
                  <c:v>Average transaction value (JOD)</c:v>
                </c:pt>
              </c:strCache>
            </c:strRef>
          </c:tx>
          <c:spPr>
            <a:solidFill>
              <a:srgbClr val="DCDFE2"/>
            </a:solidFill>
            <a:effectLst/>
          </c:spPr>
          <c:invertIfNegative val="0"/>
          <c:dPt>
            <c:idx val="0"/>
            <c:invertIfNegative val="0"/>
            <c:bubble3D val="0"/>
            <c:extLst>
              <c:ext xmlns:c16="http://schemas.microsoft.com/office/drawing/2014/chart" uri="{C3380CC4-5D6E-409C-BE32-E72D297353CC}">
                <c16:uniqueId val="{00000001-76B2-489E-9A55-F0A0AB6A1074}"/>
              </c:ext>
            </c:extLst>
          </c:dPt>
          <c:dPt>
            <c:idx val="1"/>
            <c:invertIfNegative val="0"/>
            <c:bubble3D val="0"/>
            <c:spPr>
              <a:solidFill>
                <a:srgbClr val="BFC4C8"/>
              </a:solidFill>
              <a:effectLst/>
            </c:spPr>
            <c:extLst>
              <c:ext xmlns:c16="http://schemas.microsoft.com/office/drawing/2014/chart" uri="{C3380CC4-5D6E-409C-BE32-E72D297353CC}">
                <c16:uniqueId val="{00000003-76B2-489E-9A55-F0A0AB6A1074}"/>
              </c:ext>
            </c:extLst>
          </c:dPt>
          <c:dPt>
            <c:idx val="2"/>
            <c:invertIfNegative val="0"/>
            <c:bubble3D val="0"/>
            <c:spPr>
              <a:solidFill>
                <a:srgbClr val="FFB600"/>
              </a:solidFill>
              <a:effectLst/>
            </c:spPr>
            <c:extLst>
              <c:ext xmlns:c16="http://schemas.microsoft.com/office/drawing/2014/chart" uri="{C3380CC4-5D6E-409C-BE32-E72D297353CC}">
                <c16:uniqueId val="{00000005-76B2-489E-9A55-F0A0AB6A1074}"/>
              </c:ext>
            </c:extLst>
          </c:dPt>
          <c:dLbls>
            <c:numFmt formatCode="0.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Sheet1!$B$2:$B$4</c:f>
              <c:numCache>
                <c:formatCode>General</c:formatCode>
                <c:ptCount val="3"/>
                <c:pt idx="0">
                  <c:v>546.5</c:v>
                </c:pt>
                <c:pt idx="1">
                  <c:v>355.9</c:v>
                </c:pt>
                <c:pt idx="2">
                  <c:v>256.3</c:v>
                </c:pt>
              </c:numCache>
            </c:numRef>
          </c:val>
          <c:extLst>
            <c:ext xmlns:c16="http://schemas.microsoft.com/office/drawing/2014/chart" uri="{C3380CC4-5D6E-409C-BE32-E72D297353CC}">
              <c16:uniqueId val="{00000006-76B2-489E-9A55-F0A0AB6A107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3746"/>
                </a:solidFill>
                <a:latin typeface="+mn-lt"/>
              </a:defRPr>
            </a:pPr>
            <a:r>
              <a:rPr lang="en-US" sz="1400" b="0" i="0" u="none" strike="noStrike">
                <a:solidFill>
                  <a:srgbClr val="243746"/>
                </a:solidFill>
                <a:latin typeface="+mn-lt"/>
              </a:rPr>
              <a:t>Payments per band (%): the busiest band in gold</a:t>
            </a:r>
          </a:p>
        </c:rich>
      </c:tx>
      <c:overlay val="0"/>
    </c:title>
    <c:autoTitleDeleted val="0"/>
    <c:plotArea>
      <c:layout/>
      <c:barChart>
        <c:barDir val="col"/>
        <c:grouping val="clustered"/>
        <c:varyColors val="0"/>
        <c:ser>
          <c:idx val="0"/>
          <c:order val="0"/>
          <c:tx>
            <c:strRef>
              <c:f>Sheet1!$B$1</c:f>
              <c:strCache>
                <c:ptCount val="1"/>
                <c:pt idx="0">
                  <c:v>Share of payments (%)</c:v>
                </c:pt>
              </c:strCache>
            </c:strRef>
          </c:tx>
          <c:spPr>
            <a:solidFill>
              <a:srgbClr val="BFC4C8"/>
            </a:solidFill>
            <a:effectLst/>
          </c:spPr>
          <c:invertIfNegative val="0"/>
          <c:dPt>
            <c:idx val="0"/>
            <c:invertIfNegative val="0"/>
            <c:bubble3D val="0"/>
            <c:extLst>
              <c:ext xmlns:c16="http://schemas.microsoft.com/office/drawing/2014/chart" uri="{C3380CC4-5D6E-409C-BE32-E72D297353CC}">
                <c16:uniqueId val="{00000001-8EC0-4DC9-8AFC-4F3F972A5872}"/>
              </c:ext>
            </c:extLst>
          </c:dPt>
          <c:dPt>
            <c:idx val="1"/>
            <c:invertIfNegative val="0"/>
            <c:bubble3D val="0"/>
            <c:spPr>
              <a:solidFill>
                <a:srgbClr val="FFB600"/>
              </a:solidFill>
              <a:effectLst/>
            </c:spPr>
            <c:extLst>
              <c:ext xmlns:c16="http://schemas.microsoft.com/office/drawing/2014/chart" uri="{C3380CC4-5D6E-409C-BE32-E72D297353CC}">
                <c16:uniqueId val="{00000003-8EC0-4DC9-8AFC-4F3F972A5872}"/>
              </c:ext>
            </c:extLst>
          </c:dPt>
          <c:dPt>
            <c:idx val="2"/>
            <c:invertIfNegative val="0"/>
            <c:bubble3D val="0"/>
            <c:extLst>
              <c:ext xmlns:c16="http://schemas.microsoft.com/office/drawing/2014/chart" uri="{C3380CC4-5D6E-409C-BE32-E72D297353CC}">
                <c16:uniqueId val="{00000005-8EC0-4DC9-8AFC-4F3F972A5872}"/>
              </c:ext>
            </c:extLst>
          </c:dPt>
          <c:dPt>
            <c:idx val="3"/>
            <c:invertIfNegative val="0"/>
            <c:bubble3D val="0"/>
            <c:extLst>
              <c:ext xmlns:c16="http://schemas.microsoft.com/office/drawing/2014/chart" uri="{C3380CC4-5D6E-409C-BE32-E72D297353CC}">
                <c16:uniqueId val="{00000007-8EC0-4DC9-8AFC-4F3F972A5872}"/>
              </c:ext>
            </c:extLst>
          </c:dPt>
          <c:dPt>
            <c:idx val="4"/>
            <c:invertIfNegative val="0"/>
            <c:bubble3D val="0"/>
            <c:extLst>
              <c:ext xmlns:c16="http://schemas.microsoft.com/office/drawing/2014/chart" uri="{C3380CC4-5D6E-409C-BE32-E72D297353CC}">
                <c16:uniqueId val="{00000009-8EC0-4DC9-8AFC-4F3F972A5872}"/>
              </c:ext>
            </c:extLst>
          </c:dPt>
          <c:dPt>
            <c:idx val="5"/>
            <c:invertIfNegative val="0"/>
            <c:bubble3D val="0"/>
            <c:extLst>
              <c:ext xmlns:c16="http://schemas.microsoft.com/office/drawing/2014/chart" uri="{C3380CC4-5D6E-409C-BE32-E72D297353CC}">
                <c16:uniqueId val="{0000000B-8EC0-4DC9-8AFC-4F3F972A5872}"/>
              </c:ext>
            </c:extLst>
          </c:dPt>
          <c:dLbls>
            <c:numFmt formatCode="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1-100</c:v>
                </c:pt>
                <c:pt idx="1">
                  <c:v>101-200</c:v>
                </c:pt>
                <c:pt idx="2">
                  <c:v>201-300</c:v>
                </c:pt>
                <c:pt idx="3">
                  <c:v>301-400</c:v>
                </c:pt>
                <c:pt idx="4">
                  <c:v>401-500</c:v>
                </c:pt>
                <c:pt idx="5">
                  <c:v>500+</c:v>
                </c:pt>
              </c:strCache>
            </c:strRef>
          </c:cat>
          <c:val>
            <c:numRef>
              <c:f>Sheet1!$B$2:$B$7</c:f>
              <c:numCache>
                <c:formatCode>General</c:formatCode>
                <c:ptCount val="6"/>
                <c:pt idx="0">
                  <c:v>20</c:v>
                </c:pt>
                <c:pt idx="1">
                  <c:v>34</c:v>
                </c:pt>
                <c:pt idx="2">
                  <c:v>22</c:v>
                </c:pt>
                <c:pt idx="3">
                  <c:v>11</c:v>
                </c:pt>
                <c:pt idx="4">
                  <c:v>6</c:v>
                </c:pt>
                <c:pt idx="5">
                  <c:v>7</c:v>
                </c:pt>
              </c:numCache>
            </c:numRef>
          </c:val>
          <c:extLst>
            <c:ext xmlns:c16="http://schemas.microsoft.com/office/drawing/2014/chart" uri="{C3380CC4-5D6E-409C-BE32-E72D297353CC}">
              <c16:uniqueId val="{0000000C-8EC0-4DC9-8AFC-4F3F972A5872}"/>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max val="42"/>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2024</c:v>
                </c:pt>
              </c:strCache>
            </c:strRef>
          </c:tx>
          <c:spPr>
            <a:solidFill>
              <a:srgbClr val="BFC4C8"/>
            </a:solidFill>
            <a:effectLst/>
          </c:spPr>
          <c:invertIfNegative val="0"/>
          <c:dLbls>
            <c:numFmt formatCode="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Users (breadth)</c:v>
                </c:pt>
                <c:pt idx="1">
                  <c:v>Transactions per user (depth)</c:v>
                </c:pt>
                <c:pt idx="2">
                  <c:v>Total transactions</c:v>
                </c:pt>
              </c:strCache>
            </c:strRef>
          </c:cat>
          <c:val>
            <c:numRef>
              <c:f>Sheet1!$B$2:$B$4</c:f>
              <c:numCache>
                <c:formatCode>General</c:formatCode>
                <c:ptCount val="3"/>
                <c:pt idx="0">
                  <c:v>100</c:v>
                </c:pt>
                <c:pt idx="1">
                  <c:v>100</c:v>
                </c:pt>
                <c:pt idx="2">
                  <c:v>100</c:v>
                </c:pt>
              </c:numCache>
            </c:numRef>
          </c:val>
          <c:extLst>
            <c:ext xmlns:c16="http://schemas.microsoft.com/office/drawing/2014/chart" uri="{C3380CC4-5D6E-409C-BE32-E72D297353CC}">
              <c16:uniqueId val="{00000000-1CF1-4A0C-9996-7CA87E151EFB}"/>
            </c:ext>
          </c:extLst>
        </c:ser>
        <c:ser>
          <c:idx val="1"/>
          <c:order val="1"/>
          <c:tx>
            <c:strRef>
              <c:f>Sheet1!$C$1</c:f>
              <c:strCache>
                <c:ptCount val="1"/>
                <c:pt idx="0">
                  <c:v>2025</c:v>
                </c:pt>
              </c:strCache>
            </c:strRef>
          </c:tx>
          <c:spPr>
            <a:solidFill>
              <a:srgbClr val="FFB600"/>
            </a:solidFill>
            <a:effectLst/>
          </c:spPr>
          <c:invertIfNegative val="0"/>
          <c:dLbls>
            <c:numFmt formatCode="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Users (breadth)</c:v>
                </c:pt>
                <c:pt idx="1">
                  <c:v>Transactions per user (depth)</c:v>
                </c:pt>
                <c:pt idx="2">
                  <c:v>Total transactions</c:v>
                </c:pt>
              </c:strCache>
            </c:strRef>
          </c:cat>
          <c:val>
            <c:numRef>
              <c:f>Sheet1!$C$2:$C$4</c:f>
              <c:numCache>
                <c:formatCode>General</c:formatCode>
                <c:ptCount val="3"/>
                <c:pt idx="0">
                  <c:v>127</c:v>
                </c:pt>
                <c:pt idx="1">
                  <c:v>157</c:v>
                </c:pt>
                <c:pt idx="2">
                  <c:v>200</c:v>
                </c:pt>
              </c:numCache>
            </c:numRef>
          </c:val>
          <c:extLst>
            <c:ext xmlns:c16="http://schemas.microsoft.com/office/drawing/2014/chart" uri="{C3380CC4-5D6E-409C-BE32-E72D297353CC}">
              <c16:uniqueId val="{00000001-1CF1-4A0C-9996-7CA87E151EF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max val="230"/>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3746"/>
                </a:solidFill>
                <a:latin typeface="+mn-lt"/>
              </a:defRPr>
            </a:pPr>
            <a:r>
              <a:rPr lang="en-US" sz="1400" b="0" i="0" u="none" strike="noStrike">
                <a:solidFill>
                  <a:srgbClr val="243746"/>
                </a:solidFill>
                <a:latin typeface="+mn-lt"/>
              </a:rPr>
              <a:t>Share of transactions (%)</a:t>
            </a:r>
          </a:p>
        </c:rich>
      </c:tx>
      <c:overlay val="0"/>
    </c:title>
    <c:autoTitleDeleted val="0"/>
    <c:plotArea>
      <c:layout/>
      <c:barChart>
        <c:barDir val="col"/>
        <c:grouping val="clustered"/>
        <c:varyColors val="0"/>
        <c:ser>
          <c:idx val="0"/>
          <c:order val="0"/>
          <c:tx>
            <c:strRef>
              <c:f>Sheet1!$B$1</c:f>
              <c:strCache>
                <c:ptCount val="1"/>
                <c:pt idx="0">
                  <c:v>2024</c:v>
                </c:pt>
              </c:strCache>
            </c:strRef>
          </c:tx>
          <c:spPr>
            <a:solidFill>
              <a:srgbClr val="BFC4C8"/>
            </a:solidFill>
            <a:effectLst/>
          </c:spPr>
          <c:invertIfNegative val="0"/>
          <c:dLbls>
            <c:numFmt formatCode="0.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Cash Out</c:v>
                </c:pt>
                <c:pt idx="1">
                  <c:v>Purchases</c:v>
                </c:pt>
              </c:strCache>
            </c:strRef>
          </c:cat>
          <c:val>
            <c:numRef>
              <c:f>Sheet1!$B$2:$B$3</c:f>
              <c:numCache>
                <c:formatCode>General</c:formatCode>
                <c:ptCount val="2"/>
                <c:pt idx="0">
                  <c:v>3.6</c:v>
                </c:pt>
                <c:pt idx="1">
                  <c:v>3.9</c:v>
                </c:pt>
              </c:numCache>
            </c:numRef>
          </c:val>
          <c:extLst>
            <c:ext xmlns:c16="http://schemas.microsoft.com/office/drawing/2014/chart" uri="{C3380CC4-5D6E-409C-BE32-E72D297353CC}">
              <c16:uniqueId val="{00000000-8D41-4758-9A37-6D7067E1C350}"/>
            </c:ext>
          </c:extLst>
        </c:ser>
        <c:ser>
          <c:idx val="1"/>
          <c:order val="1"/>
          <c:tx>
            <c:strRef>
              <c:f>Sheet1!$C$1</c:f>
              <c:strCache>
                <c:ptCount val="1"/>
                <c:pt idx="0">
                  <c:v>2025</c:v>
                </c:pt>
              </c:strCache>
            </c:strRef>
          </c:tx>
          <c:spPr>
            <a:solidFill>
              <a:srgbClr val="FFB600"/>
            </a:solidFill>
            <a:effectLst/>
          </c:spPr>
          <c:invertIfNegative val="0"/>
          <c:dLbls>
            <c:numFmt formatCode="0.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Cash Out</c:v>
                </c:pt>
                <c:pt idx="1">
                  <c:v>Purchases</c:v>
                </c:pt>
              </c:strCache>
            </c:strRef>
          </c:cat>
          <c:val>
            <c:numRef>
              <c:f>Sheet1!$C$2:$C$3</c:f>
              <c:numCache>
                <c:formatCode>General</c:formatCode>
                <c:ptCount val="2"/>
                <c:pt idx="0">
                  <c:v>1.7</c:v>
                </c:pt>
                <c:pt idx="1">
                  <c:v>8.4</c:v>
                </c:pt>
              </c:numCache>
            </c:numRef>
          </c:val>
          <c:extLst>
            <c:ext xmlns:c16="http://schemas.microsoft.com/office/drawing/2014/chart" uri="{C3380CC4-5D6E-409C-BE32-E72D297353CC}">
              <c16:uniqueId val="{00000001-8D41-4758-9A37-6D7067E1C35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3746"/>
                </a:solidFill>
                <a:latin typeface="+mn-lt"/>
              </a:defRPr>
            </a:pPr>
            <a:r>
              <a:rPr lang="en-US" sz="1400" b="0" i="0" u="none" strike="noStrike">
                <a:solidFill>
                  <a:srgbClr val="243746"/>
                </a:solidFill>
                <a:latin typeface="+mn-lt"/>
              </a:rPr>
              <a:t>Female user growth (%)</a:t>
            </a:r>
          </a:p>
        </c:rich>
      </c:tx>
      <c:overlay val="0"/>
    </c:title>
    <c:autoTitleDeleted val="0"/>
    <c:plotArea>
      <c:layout/>
      <c:barChart>
        <c:barDir val="col"/>
        <c:grouping val="clustered"/>
        <c:varyColors val="0"/>
        <c:ser>
          <c:idx val="0"/>
          <c:order val="0"/>
          <c:tx>
            <c:strRef>
              <c:f>Sheet1!$B$1</c:f>
              <c:strCache>
                <c:ptCount val="1"/>
                <c:pt idx="0">
                  <c:v>Female user growth</c:v>
                </c:pt>
              </c:strCache>
            </c:strRef>
          </c:tx>
          <c:spPr>
            <a:solidFill>
              <a:srgbClr val="BFC4C8"/>
            </a:solidFill>
            <a:effectLst/>
          </c:spPr>
          <c:invertIfNegative val="0"/>
          <c:dPt>
            <c:idx val="0"/>
            <c:invertIfNegative val="0"/>
            <c:bubble3D val="0"/>
            <c:extLst>
              <c:ext xmlns:c16="http://schemas.microsoft.com/office/drawing/2014/chart" uri="{C3380CC4-5D6E-409C-BE32-E72D297353CC}">
                <c16:uniqueId val="{00000001-E402-450C-A7A8-2BB4506B6A0E}"/>
              </c:ext>
            </c:extLst>
          </c:dPt>
          <c:dPt>
            <c:idx val="1"/>
            <c:invertIfNegative val="0"/>
            <c:bubble3D val="0"/>
            <c:spPr>
              <a:solidFill>
                <a:srgbClr val="FFB600"/>
              </a:solidFill>
              <a:effectLst/>
            </c:spPr>
            <c:extLst>
              <c:ext xmlns:c16="http://schemas.microsoft.com/office/drawing/2014/chart" uri="{C3380CC4-5D6E-409C-BE32-E72D297353CC}">
                <c16:uniqueId val="{00000003-E402-450C-A7A8-2BB4506B6A0E}"/>
              </c:ext>
            </c:extLst>
          </c:dPt>
          <c:dLbls>
            <c:numFmt formatCode="0.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2024</c:v>
                </c:pt>
                <c:pt idx="1">
                  <c:v>2025</c:v>
                </c:pt>
              </c:strCache>
            </c:strRef>
          </c:cat>
          <c:val>
            <c:numRef>
              <c:f>Sheet1!$B$2:$B$3</c:f>
              <c:numCache>
                <c:formatCode>General</c:formatCode>
                <c:ptCount val="2"/>
                <c:pt idx="0">
                  <c:v>23.7</c:v>
                </c:pt>
                <c:pt idx="1">
                  <c:v>4.2</c:v>
                </c:pt>
              </c:numCache>
            </c:numRef>
          </c:val>
          <c:extLst>
            <c:ext xmlns:c16="http://schemas.microsoft.com/office/drawing/2014/chart" uri="{C3380CC4-5D6E-409C-BE32-E72D297353CC}">
              <c16:uniqueId val="{00000004-E402-450C-A7A8-2BB4506B6A0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3746"/>
                </a:solidFill>
                <a:latin typeface="+mn-lt"/>
              </a:defRPr>
            </a:pPr>
            <a:r>
              <a:rPr lang="en-US" sz="1400" b="0" i="0" u="none" strike="noStrike">
                <a:solidFill>
                  <a:srgbClr val="243746"/>
                </a:solidFill>
                <a:latin typeface="+mn-lt"/>
              </a:rPr>
              <a:t>QR as % of purchases (derived)</a:t>
            </a:r>
          </a:p>
        </c:rich>
      </c:tx>
      <c:overlay val="0"/>
    </c:title>
    <c:autoTitleDeleted val="0"/>
    <c:plotArea>
      <c:layout/>
      <c:barChart>
        <c:barDir val="col"/>
        <c:grouping val="clustered"/>
        <c:varyColors val="0"/>
        <c:ser>
          <c:idx val="0"/>
          <c:order val="0"/>
          <c:tx>
            <c:strRef>
              <c:f>Sheet1!$B$1</c:f>
              <c:strCache>
                <c:ptCount val="1"/>
                <c:pt idx="0">
                  <c:v>QR as % of purchases</c:v>
                </c:pt>
              </c:strCache>
            </c:strRef>
          </c:tx>
          <c:spPr>
            <a:solidFill>
              <a:srgbClr val="BFC4C8"/>
            </a:solidFill>
            <a:effectLst/>
          </c:spPr>
          <c:invertIfNegative val="0"/>
          <c:dPt>
            <c:idx val="0"/>
            <c:invertIfNegative val="0"/>
            <c:bubble3D val="0"/>
            <c:extLst>
              <c:ext xmlns:c16="http://schemas.microsoft.com/office/drawing/2014/chart" uri="{C3380CC4-5D6E-409C-BE32-E72D297353CC}">
                <c16:uniqueId val="{00000001-B4D1-48FB-A1A8-161E11E14876}"/>
              </c:ext>
            </c:extLst>
          </c:dPt>
          <c:dPt>
            <c:idx val="1"/>
            <c:invertIfNegative val="0"/>
            <c:bubble3D val="0"/>
            <c:spPr>
              <a:solidFill>
                <a:srgbClr val="FFB600"/>
              </a:solidFill>
              <a:effectLst/>
            </c:spPr>
            <c:extLst>
              <c:ext xmlns:c16="http://schemas.microsoft.com/office/drawing/2014/chart" uri="{C3380CC4-5D6E-409C-BE32-E72D297353CC}">
                <c16:uniqueId val="{00000003-B4D1-48FB-A1A8-161E11E14876}"/>
              </c:ext>
            </c:extLst>
          </c:dPt>
          <c:dLbls>
            <c:numFmt formatCode="0.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2024</c:v>
                </c:pt>
                <c:pt idx="1">
                  <c:v>2025</c:v>
                </c:pt>
              </c:strCache>
            </c:strRef>
          </c:cat>
          <c:val>
            <c:numRef>
              <c:f>Sheet1!$B$2:$B$3</c:f>
              <c:numCache>
                <c:formatCode>General</c:formatCode>
                <c:ptCount val="2"/>
                <c:pt idx="0">
                  <c:v>10.8</c:v>
                </c:pt>
                <c:pt idx="1">
                  <c:v>17.899999999999999</c:v>
                </c:pt>
              </c:numCache>
            </c:numRef>
          </c:val>
          <c:extLst>
            <c:ext xmlns:c16="http://schemas.microsoft.com/office/drawing/2014/chart" uri="{C3380CC4-5D6E-409C-BE32-E72D297353CC}">
              <c16:uniqueId val="{00000004-B4D1-48FB-A1A8-161E11E1487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3746"/>
                </a:solidFill>
                <a:latin typeface="+mn-lt"/>
              </a:defRPr>
            </a:pPr>
            <a:r>
              <a:rPr lang="en-US" sz="1400" b="0" i="0" u="none" strike="noStrike">
                <a:solidFill>
                  <a:srgbClr val="243746"/>
                </a:solidFill>
                <a:latin typeface="+mn-lt"/>
              </a:rPr>
              <a:t>JOD transaction volume growth (%)</a:t>
            </a:r>
          </a:p>
        </c:rich>
      </c:tx>
      <c:overlay val="0"/>
    </c:title>
    <c:autoTitleDeleted val="0"/>
    <c:plotArea>
      <c:layout/>
      <c:barChart>
        <c:barDir val="col"/>
        <c:grouping val="clustered"/>
        <c:varyColors val="0"/>
        <c:ser>
          <c:idx val="0"/>
          <c:order val="0"/>
          <c:tx>
            <c:strRef>
              <c:f>Sheet1!$B$1</c:f>
              <c:strCache>
                <c:ptCount val="1"/>
                <c:pt idx="0">
                  <c:v>Salary payments</c:v>
                </c:pt>
              </c:strCache>
            </c:strRef>
          </c:tx>
          <c:spPr>
            <a:solidFill>
              <a:srgbClr val="BFC4C8"/>
            </a:solidFill>
            <a:effectLst/>
          </c:spPr>
          <c:invertIfNegative val="0"/>
          <c:dLbls>
            <c:numFmt formatCode="0.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2024</c:v>
                </c:pt>
                <c:pt idx="1">
                  <c:v>2025</c:v>
                </c:pt>
              </c:strCache>
            </c:strRef>
          </c:cat>
          <c:val>
            <c:numRef>
              <c:f>Sheet1!$B$2:$B$3</c:f>
              <c:numCache>
                <c:formatCode>General</c:formatCode>
                <c:ptCount val="2"/>
                <c:pt idx="0">
                  <c:v>6.4</c:v>
                </c:pt>
                <c:pt idx="1">
                  <c:v>6.3</c:v>
                </c:pt>
              </c:numCache>
            </c:numRef>
          </c:val>
          <c:extLst>
            <c:ext xmlns:c16="http://schemas.microsoft.com/office/drawing/2014/chart" uri="{C3380CC4-5D6E-409C-BE32-E72D297353CC}">
              <c16:uniqueId val="{00000000-9A20-4814-8274-DFE6024C0DA3}"/>
            </c:ext>
          </c:extLst>
        </c:ser>
        <c:ser>
          <c:idx val="1"/>
          <c:order val="1"/>
          <c:tx>
            <c:strRef>
              <c:f>Sheet1!$C$1</c:f>
              <c:strCache>
                <c:ptCount val="1"/>
                <c:pt idx="0">
                  <c:v>Non-salary payments</c:v>
                </c:pt>
              </c:strCache>
            </c:strRef>
          </c:tx>
          <c:spPr>
            <a:solidFill>
              <a:srgbClr val="FFB600"/>
            </a:solidFill>
            <a:effectLst/>
          </c:spPr>
          <c:invertIfNegative val="0"/>
          <c:dLbls>
            <c:numFmt formatCode="0.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2024</c:v>
                </c:pt>
                <c:pt idx="1">
                  <c:v>2025</c:v>
                </c:pt>
              </c:strCache>
            </c:strRef>
          </c:cat>
          <c:val>
            <c:numRef>
              <c:f>Sheet1!$C$2:$C$3</c:f>
              <c:numCache>
                <c:formatCode>General</c:formatCode>
                <c:ptCount val="2"/>
                <c:pt idx="0">
                  <c:v>5</c:v>
                </c:pt>
                <c:pt idx="1">
                  <c:v>12.2</c:v>
                </c:pt>
              </c:numCache>
            </c:numRef>
          </c:val>
          <c:extLst>
            <c:ext xmlns:c16="http://schemas.microsoft.com/office/drawing/2014/chart" uri="{C3380CC4-5D6E-409C-BE32-E72D297353CC}">
              <c16:uniqueId val="{00000001-9A20-4814-8274-DFE6024C0DA3}"/>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max val="14"/>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3746"/>
                </a:solidFill>
                <a:latin typeface="+mn-lt"/>
              </a:defRPr>
            </a:pPr>
            <a:r>
              <a:rPr lang="en-US" sz="1400" b="0" i="0" u="none" strike="noStrike">
                <a:solidFill>
                  <a:srgbClr val="243746"/>
                </a:solidFill>
                <a:latin typeface="+mn-lt"/>
              </a:rPr>
              <a:t>Returned cheque value change (%)</a:t>
            </a:r>
          </a:p>
        </c:rich>
      </c:tx>
      <c:overlay val="0"/>
    </c:title>
    <c:autoTitleDeleted val="0"/>
    <c:plotArea>
      <c:layout/>
      <c:barChart>
        <c:barDir val="col"/>
        <c:grouping val="clustered"/>
        <c:varyColors val="0"/>
        <c:ser>
          <c:idx val="0"/>
          <c:order val="0"/>
          <c:tx>
            <c:strRef>
              <c:f>Sheet1!$B$1</c:f>
              <c:strCache>
                <c:ptCount val="1"/>
                <c:pt idx="0">
                  <c:v>Returned cheque value change</c:v>
                </c:pt>
              </c:strCache>
            </c:strRef>
          </c:tx>
          <c:spPr>
            <a:solidFill>
              <a:srgbClr val="BFC4C8"/>
            </a:solidFill>
            <a:effectLst/>
          </c:spPr>
          <c:invertIfNegative val="0"/>
          <c:dPt>
            <c:idx val="0"/>
            <c:invertIfNegative val="0"/>
            <c:bubble3D val="0"/>
            <c:extLst>
              <c:ext xmlns:c16="http://schemas.microsoft.com/office/drawing/2014/chart" uri="{C3380CC4-5D6E-409C-BE32-E72D297353CC}">
                <c16:uniqueId val="{00000001-A21E-43D2-94FD-1ECEC61A2F11}"/>
              </c:ext>
            </c:extLst>
          </c:dPt>
          <c:dPt>
            <c:idx val="1"/>
            <c:invertIfNegative val="0"/>
            <c:bubble3D val="0"/>
            <c:spPr>
              <a:solidFill>
                <a:srgbClr val="FFB600"/>
              </a:solidFill>
              <a:effectLst/>
            </c:spPr>
            <c:extLst>
              <c:ext xmlns:c16="http://schemas.microsoft.com/office/drawing/2014/chart" uri="{C3380CC4-5D6E-409C-BE32-E72D297353CC}">
                <c16:uniqueId val="{00000003-A21E-43D2-94FD-1ECEC61A2F11}"/>
              </c:ext>
            </c:extLst>
          </c:dPt>
          <c:dLbls>
            <c:numFmt formatCode="0.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2024</c:v>
                </c:pt>
                <c:pt idx="1">
                  <c:v>2025</c:v>
                </c:pt>
              </c:strCache>
            </c:strRef>
          </c:cat>
          <c:val>
            <c:numRef>
              <c:f>Sheet1!$B$2:$B$3</c:f>
              <c:numCache>
                <c:formatCode>General</c:formatCode>
                <c:ptCount val="2"/>
                <c:pt idx="0">
                  <c:v>10.6</c:v>
                </c:pt>
                <c:pt idx="1">
                  <c:v>-26.5</c:v>
                </c:pt>
              </c:numCache>
            </c:numRef>
          </c:val>
          <c:extLst>
            <c:ext xmlns:c16="http://schemas.microsoft.com/office/drawing/2014/chart" uri="{C3380CC4-5D6E-409C-BE32-E72D297353CC}">
              <c16:uniqueId val="{00000004-A21E-43D2-94FD-1ECEC61A2F1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3746"/>
                </a:solidFill>
                <a:latin typeface="+mn-lt"/>
              </a:defRPr>
            </a:pPr>
            <a:r>
              <a:rPr lang="en-US" sz="1400" b="0" i="0" u="none" strike="noStrike">
                <a:solidFill>
                  <a:srgbClr val="243746"/>
                </a:solidFill>
                <a:latin typeface="+mn-lt"/>
              </a:rPr>
              <a:t>Transactions per user / year (derived)</a:t>
            </a:r>
          </a:p>
        </c:rich>
      </c:tx>
      <c:overlay val="0"/>
    </c:title>
    <c:autoTitleDeleted val="0"/>
    <c:plotArea>
      <c:layout/>
      <c:barChart>
        <c:barDir val="col"/>
        <c:grouping val="clustered"/>
        <c:varyColors val="0"/>
        <c:ser>
          <c:idx val="0"/>
          <c:order val="0"/>
          <c:tx>
            <c:strRef>
              <c:f>Sheet1!$B$1</c:f>
              <c:strCache>
                <c:ptCount val="1"/>
                <c:pt idx="0">
                  <c:v>Transactions per IPS user</c:v>
                </c:pt>
              </c:strCache>
            </c:strRef>
          </c:tx>
          <c:spPr>
            <a:solidFill>
              <a:srgbClr val="BFC4C8"/>
            </a:solidFill>
            <a:effectLst/>
          </c:spPr>
          <c:invertIfNegative val="0"/>
          <c:dPt>
            <c:idx val="0"/>
            <c:invertIfNegative val="0"/>
            <c:bubble3D val="0"/>
            <c:extLst>
              <c:ext xmlns:c16="http://schemas.microsoft.com/office/drawing/2014/chart" uri="{C3380CC4-5D6E-409C-BE32-E72D297353CC}">
                <c16:uniqueId val="{00000001-CE0A-45A0-AB9C-8447AAF02241}"/>
              </c:ext>
            </c:extLst>
          </c:dPt>
          <c:dPt>
            <c:idx val="1"/>
            <c:invertIfNegative val="0"/>
            <c:bubble3D val="0"/>
            <c:spPr>
              <a:solidFill>
                <a:srgbClr val="FFB600"/>
              </a:solidFill>
              <a:effectLst/>
            </c:spPr>
            <c:extLst>
              <c:ext xmlns:c16="http://schemas.microsoft.com/office/drawing/2014/chart" uri="{C3380CC4-5D6E-409C-BE32-E72D297353CC}">
                <c16:uniqueId val="{00000003-CE0A-45A0-AB9C-8447AAF02241}"/>
              </c:ext>
            </c:extLst>
          </c:dPt>
          <c:dLbls>
            <c:numFmt formatCode="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2024</c:v>
                </c:pt>
                <c:pt idx="1">
                  <c:v>2025</c:v>
                </c:pt>
              </c:strCache>
            </c:strRef>
          </c:cat>
          <c:val>
            <c:numRef>
              <c:f>Sheet1!$B$2:$B$3</c:f>
              <c:numCache>
                <c:formatCode>General</c:formatCode>
                <c:ptCount val="2"/>
                <c:pt idx="0">
                  <c:v>40</c:v>
                </c:pt>
                <c:pt idx="1">
                  <c:v>69</c:v>
                </c:pt>
              </c:numCache>
            </c:numRef>
          </c:val>
          <c:extLst>
            <c:ext xmlns:c16="http://schemas.microsoft.com/office/drawing/2014/chart" uri="{C3380CC4-5D6E-409C-BE32-E72D297353CC}">
              <c16:uniqueId val="{00000004-CE0A-45A0-AB9C-8447AAF0224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3746"/>
                </a:solidFill>
                <a:latin typeface="+mn-lt"/>
              </a:defRPr>
            </a:pPr>
            <a:r>
              <a:rPr lang="en-US" sz="1400" b="0" i="0" u="none" strike="noStrike">
                <a:solidFill>
                  <a:srgbClr val="243746"/>
                </a:solidFill>
                <a:latin typeface="+mn-lt"/>
              </a:rPr>
              <a:t>Avg new users per month (K)</a:t>
            </a:r>
          </a:p>
        </c:rich>
      </c:tx>
      <c:overlay val="0"/>
    </c:title>
    <c:autoTitleDeleted val="0"/>
    <c:plotArea>
      <c:layout/>
      <c:barChart>
        <c:barDir val="col"/>
        <c:grouping val="clustered"/>
        <c:varyColors val="0"/>
        <c:ser>
          <c:idx val="0"/>
          <c:order val="0"/>
          <c:tx>
            <c:strRef>
              <c:f>Sheet1!$B$1</c:f>
              <c:strCache>
                <c:ptCount val="1"/>
                <c:pt idx="0">
                  <c:v>New users per month (K)</c:v>
                </c:pt>
              </c:strCache>
            </c:strRef>
          </c:tx>
          <c:spPr>
            <a:solidFill>
              <a:srgbClr val="BFC4C8"/>
            </a:solidFill>
            <a:effectLst/>
          </c:spPr>
          <c:invertIfNegative val="0"/>
          <c:dPt>
            <c:idx val="0"/>
            <c:invertIfNegative val="0"/>
            <c:bubble3D val="0"/>
            <c:extLst>
              <c:ext xmlns:c16="http://schemas.microsoft.com/office/drawing/2014/chart" uri="{C3380CC4-5D6E-409C-BE32-E72D297353CC}">
                <c16:uniqueId val="{00000001-73D2-4B73-9B78-59BF8DA2DCA2}"/>
              </c:ext>
            </c:extLst>
          </c:dPt>
          <c:dPt>
            <c:idx val="1"/>
            <c:invertIfNegative val="0"/>
            <c:bubble3D val="0"/>
            <c:spPr>
              <a:solidFill>
                <a:srgbClr val="FFB600"/>
              </a:solidFill>
              <a:effectLst/>
            </c:spPr>
            <c:extLst>
              <c:ext xmlns:c16="http://schemas.microsoft.com/office/drawing/2014/chart" uri="{C3380CC4-5D6E-409C-BE32-E72D297353CC}">
                <c16:uniqueId val="{00000003-73D2-4B73-9B78-59BF8DA2DCA2}"/>
              </c:ext>
            </c:extLst>
          </c:dPt>
          <c:dLbls>
            <c:numFmt formatCode="0.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2024</c:v>
                </c:pt>
                <c:pt idx="1">
                  <c:v>2025</c:v>
                </c:pt>
              </c:strCache>
            </c:strRef>
          </c:cat>
          <c:val>
            <c:numRef>
              <c:f>Sheet1!$B$2:$B$3</c:f>
              <c:numCache>
                <c:formatCode>General</c:formatCode>
                <c:ptCount val="2"/>
                <c:pt idx="0">
                  <c:v>51.5</c:v>
                </c:pt>
                <c:pt idx="1">
                  <c:v>37.4</c:v>
                </c:pt>
              </c:numCache>
            </c:numRef>
          </c:val>
          <c:extLst>
            <c:ext xmlns:c16="http://schemas.microsoft.com/office/drawing/2014/chart" uri="{C3380CC4-5D6E-409C-BE32-E72D297353CC}">
              <c16:uniqueId val="{00000004-73D2-4B73-9B78-59BF8DA2DCA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3746"/>
                </a:solidFill>
                <a:latin typeface="+mn-lt"/>
              </a:defRPr>
            </a:pPr>
            <a:r>
              <a:rPr lang="en-US" sz="1400" b="0" i="0" u="none" strike="noStrike">
                <a:solidFill>
                  <a:srgbClr val="243746"/>
                </a:solidFill>
                <a:latin typeface="+mn-lt"/>
              </a:rPr>
              <a:t>User change by segment (%, derived)</a:t>
            </a:r>
          </a:p>
        </c:rich>
      </c:tx>
      <c:overlay val="0"/>
    </c:title>
    <c:autoTitleDeleted val="0"/>
    <c:plotArea>
      <c:layout/>
      <c:barChart>
        <c:barDir val="col"/>
        <c:grouping val="clustered"/>
        <c:varyColors val="0"/>
        <c:ser>
          <c:idx val="0"/>
          <c:order val="0"/>
          <c:tx>
            <c:strRef>
              <c:f>Sheet1!$B$1</c:f>
              <c:strCache>
                <c:ptCount val="1"/>
                <c:pt idx="0">
                  <c:v>User segment change (%)</c:v>
                </c:pt>
              </c:strCache>
            </c:strRef>
          </c:tx>
          <c:spPr>
            <a:solidFill>
              <a:srgbClr val="BFC4C8"/>
            </a:solidFill>
            <a:effectLst/>
          </c:spPr>
          <c:invertIfNegative val="0"/>
          <c:dPt>
            <c:idx val="0"/>
            <c:invertIfNegative val="0"/>
            <c:bubble3D val="0"/>
            <c:extLst>
              <c:ext xmlns:c16="http://schemas.microsoft.com/office/drawing/2014/chart" uri="{C3380CC4-5D6E-409C-BE32-E72D297353CC}">
                <c16:uniqueId val="{00000001-4CBA-4E45-8B87-C259B91B7B6C}"/>
              </c:ext>
            </c:extLst>
          </c:dPt>
          <c:dPt>
            <c:idx val="1"/>
            <c:invertIfNegative val="0"/>
            <c:bubble3D val="0"/>
            <c:spPr>
              <a:solidFill>
                <a:srgbClr val="FFB600"/>
              </a:solidFill>
              <a:effectLst/>
            </c:spPr>
            <c:extLst>
              <c:ext xmlns:c16="http://schemas.microsoft.com/office/drawing/2014/chart" uri="{C3380CC4-5D6E-409C-BE32-E72D297353CC}">
                <c16:uniqueId val="{00000003-4CBA-4E45-8B87-C259B91B7B6C}"/>
              </c:ext>
            </c:extLst>
          </c:dPt>
          <c:dPt>
            <c:idx val="2"/>
            <c:invertIfNegative val="0"/>
            <c:bubble3D val="0"/>
            <c:extLst>
              <c:ext xmlns:c16="http://schemas.microsoft.com/office/drawing/2014/chart" uri="{C3380CC4-5D6E-409C-BE32-E72D297353CC}">
                <c16:uniqueId val="{00000005-4CBA-4E45-8B87-C259B91B7B6C}"/>
              </c:ext>
            </c:extLst>
          </c:dPt>
          <c:dLbls>
            <c:numFmt formatCode="0.0" sourceLinked="0"/>
            <c:spPr>
              <a:noFill/>
              <a:ln>
                <a:noFill/>
              </a:ln>
              <a:effectLst/>
            </c:spPr>
            <c:txPr>
              <a:bodyPr/>
              <a:lstStyle/>
              <a:p>
                <a:pPr>
                  <a:defRPr sz="12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Bank only</c:v>
                </c:pt>
                <c:pt idx="1">
                  <c:v>Bank + wallet</c:v>
                </c:pt>
                <c:pt idx="2">
                  <c:v>Wallet only</c:v>
                </c:pt>
              </c:strCache>
            </c:strRef>
          </c:cat>
          <c:val>
            <c:numRef>
              <c:f>Sheet1!$B$2:$B$4</c:f>
              <c:numCache>
                <c:formatCode>General</c:formatCode>
                <c:ptCount val="3"/>
                <c:pt idx="0">
                  <c:v>26.5</c:v>
                </c:pt>
                <c:pt idx="1">
                  <c:v>28.7</c:v>
                </c:pt>
                <c:pt idx="2">
                  <c:v>-0.6</c:v>
                </c:pt>
              </c:numCache>
            </c:numRef>
          </c:val>
          <c:extLst>
            <c:ext xmlns:c16="http://schemas.microsoft.com/office/drawing/2014/chart" uri="{C3380CC4-5D6E-409C-BE32-E72D297353CC}">
              <c16:uniqueId val="{00000006-4CBA-4E45-8B87-C259B91B7B6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6489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accurate reports that tell us what happened, but not why. Point to the marker key so nobody mistakes invented or calculated numbers for published ones.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good news: volume up 62%, value up 16.6%. Then the tension: the average payment fell 28%, and it has fallen three years running. Ask: what does that mean? We come back to this at slide 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of one pattern. CliQ: users +27% but transactions doubled, so about +57% per user (derived). ECCU: the June 2025 law change is a footnote, but a likely main driver. IPS: monthly user additions slowed (51.5K to 37.4K) while transactions per user rose from about 40 to 69 (approximate, derived).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falling average, two very different meanings. If A is true, everyday payments are getting smaller. If B is true, a few large payments faded away. The reports only give the average, so they cannot tell us which one it is. The sketches on the right are concepts, not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Hypothetical example, not JoPACC data. Year 1: nine everyday payments (20 to 95 JOD) and one of 2,000 JOD, average 253.5. Year 2: the large payment is 300 JOD, average 83.5, a 67% fall. In both years nine of ten payments sit in the 1-100 JOD band. The average says everything changed; the most frequent range shows almost nothing did. Circle sizes show relative payment size.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group payments into fixed bands, count each band, report the busiest band (the modal class) with its share. Keep the average for continuity and add the median where available. The bands and counts on this slide are illustrative. Limits: it needs transaction-level values or counts per band, depends on band width, and is not the median or the typical user.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examples (for example CliQ and ECCU) and say the rest follow the same logic. Other places: returned cheques after the June 2025 law, IPS activity per user, and cross-system comparison using the same bands. All are questions to test once distribution data exists.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in one slide: each tile shows how the report works today and how it should work. You can skim this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three open questions to invite discussion. Backup for the first question: 3.46M = 5.039M total eFAWATEERcom users minus 1.577M paying through bank accounts (2025 report p.19). The report does not say who they are. In 2024 the same gap was 3.07M (4.538M minus 1.472M). Digital share of eFAWATEERcom transactions: 79.4%, 80.0%, 81.3% (2023-2025).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x1.273, transactions x2.0, so transactions per user x1.57. The 65/35 split is a log decomposition. Values are indexed, not actual counts. The growth-rate gap is +100.02% / +27.3% = 3.7x, which replaces the ~4x in the comparison file. Transactions per user: 25.6 (2023), 50.3 (2024), 78.8 (2025), using registered year-end users.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every 10 instant-payment users, 4.5 use a wallet only, 2.7 a bank account only and 2.7 both. Add the last two groups to the first and 7 in 10 touch a wallet (45.5 + 27.1 = 72.6%). Wallet-only has slipped from 5 in 10 in 2024. Use the published shares rather than the counts: the segment counts and shares do not quite add up to the 3.93M total in either report.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Women are 3.6 of every 10 CliQ users but 4.7 of every 10 wallet users. This does not say that women prefer wallets. It says wallets reach a larger share of women than bank-linked CliQ does. The reports do not split users by gender and channel together, so we cannot say how many women use only a wallet. The navy part includes men and, on CliQ, the unlabelled 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 JoMoPay female 48.8% (2024 report p.11), CliQ female 35% (p.7), a gap of 13.8 points. 2025: 46.8% and 36%, a gap of 10.8 points. JoMoPay female users grew only 4.2% in 2025 (1.26M to 1.32M) while male users grew faster, so the female share fell from 48.8% to 46.8%. CliQ female share rose from 35% to 36%.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Salary payments (published): 8.23M, 8.76M, 9.31M transactions in 2023-2025, so +6.4% and +6.3%. Non-salary payments: 2.42M, 2.54M, 2.85M, so +5.0% and +12.2% (derived from rounded counts, about 0.5 pp). Total JOD transactions grew +6.0% then +7.7%, so the 2025 acceleration came from non-salary payments, which is why the salary share slipped from 77.5% to 76.6%. GBP: 446 transactions (430 in 2024), value +19%, so the average GBP transfer rose from about 8,070 to 9,260 (+14.8%). The reports give no reason; do not present a cause as fact.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JoPACC  |  2024-2025 report comparison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chart" Target="../charts/chart7.xml"/><Relationship Id="rId4" Type="http://schemas.openxmlformats.org/officeDocument/2006/relationships/chart" Target="../charts/chart6.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chart" Target="../charts/chart12.xml"/><Relationship Id="rId4" Type="http://schemas.openxmlformats.org/officeDocument/2006/relationships/chart" Target="../charts/char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16" name="Isosceles Triangle 15">
            <a:extLst>
              <a:ext uri="{FF2B5EF4-FFF2-40B4-BE49-F238E27FC236}">
                <a16:creationId xmlns:a16="http://schemas.microsoft.com/office/drawing/2014/main" id="{BACE2D91-5CEC-2FEB-FC2A-5692EB370F90}"/>
              </a:ext>
            </a:extLst>
          </p:cNvPr>
          <p:cNvSpPr/>
          <p:nvPr/>
        </p:nvSpPr>
        <p:spPr>
          <a:xfrm rot="14315780">
            <a:off x="9985762" y="-109079"/>
            <a:ext cx="1186434" cy="1341269"/>
          </a:xfrm>
          <a:prstGeom prst="triangle">
            <a:avLst>
              <a:gd name="adj" fmla="val 50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arallelogram 19">
            <a:extLst>
              <a:ext uri="{FF2B5EF4-FFF2-40B4-BE49-F238E27FC236}">
                <a16:creationId xmlns:a16="http://schemas.microsoft.com/office/drawing/2014/main" id="{4CB3BC56-BAE9-F981-A6B2-B2ECFF8E7151}"/>
              </a:ext>
            </a:extLst>
          </p:cNvPr>
          <p:cNvSpPr/>
          <p:nvPr/>
        </p:nvSpPr>
        <p:spPr>
          <a:xfrm rot="15058543">
            <a:off x="10506180" y="518722"/>
            <a:ext cx="1333361" cy="1696296"/>
          </a:xfrm>
          <a:prstGeom prst="parallelogram">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BC8EFF74-C763-0595-2C3A-E64AC16870A7}"/>
              </a:ext>
            </a:extLst>
          </p:cNvPr>
          <p:cNvSpPr/>
          <p:nvPr/>
        </p:nvSpPr>
        <p:spPr>
          <a:xfrm rot="5400000">
            <a:off x="9211451" y="1432485"/>
            <a:ext cx="1186434" cy="1341269"/>
          </a:xfrm>
          <a:prstGeom prst="triangle">
            <a:avLst>
              <a:gd name="adj" fmla="val 5000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Parallelogram 21">
            <a:extLst>
              <a:ext uri="{FF2B5EF4-FFF2-40B4-BE49-F238E27FC236}">
                <a16:creationId xmlns:a16="http://schemas.microsoft.com/office/drawing/2014/main" id="{5450EEC5-6B32-F7A0-29B6-57E84B34587C}"/>
              </a:ext>
            </a:extLst>
          </p:cNvPr>
          <p:cNvSpPr/>
          <p:nvPr/>
        </p:nvSpPr>
        <p:spPr>
          <a:xfrm rot="3245436">
            <a:off x="9718645" y="1940772"/>
            <a:ext cx="1333361" cy="1696296"/>
          </a:xfrm>
          <a:prstGeom prst="parallelogram">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elogram 17">
            <a:extLst>
              <a:ext uri="{FF2B5EF4-FFF2-40B4-BE49-F238E27FC236}">
                <a16:creationId xmlns:a16="http://schemas.microsoft.com/office/drawing/2014/main" id="{681D808A-8EFB-5171-B407-772A0C4C153F}"/>
              </a:ext>
            </a:extLst>
          </p:cNvPr>
          <p:cNvSpPr/>
          <p:nvPr/>
        </p:nvSpPr>
        <p:spPr>
          <a:xfrm rot="15058543">
            <a:off x="10506181" y="518723"/>
            <a:ext cx="1333361" cy="1696296"/>
          </a:xfrm>
          <a:prstGeom prst="parallelogram">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ag"/>
          <p:cNvSpPr/>
          <p:nvPr/>
        </p:nvSpPr>
        <p:spPr>
          <a:xfrm>
            <a:off x="731520" y="1188720"/>
            <a:ext cx="1554480" cy="457200"/>
          </a:xfrm>
          <a:prstGeom prst="roundRect">
            <a:avLst>
              <a:gd name="adj" fmla="val 16000"/>
            </a:avLst>
          </a:prstGeom>
          <a:solidFill>
            <a:schemeClr val="accent2"/>
          </a:solidFill>
          <a:ln w="12700">
            <a:solidFill>
              <a:schemeClr val="accent2"/>
            </a:solidFill>
            <a:prstDash val="solid"/>
          </a:ln>
        </p:spPr>
        <p:txBody>
          <a:bodyPr/>
          <a:lstStyle/>
          <a:p>
            <a:endParaRPr lang="en-US"/>
          </a:p>
        </p:txBody>
      </p:sp>
      <p:sp>
        <p:nvSpPr>
          <p:cNvPr id="5" name="Text 3"/>
          <p:cNvSpPr txBox="1"/>
          <p:nvPr/>
        </p:nvSpPr>
        <p:spPr>
          <a:xfrm>
            <a:off x="731520" y="1188720"/>
            <a:ext cx="1554480" cy="45720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JoPACC</a:t>
            </a:r>
            <a:endParaRPr lang="en-US" sz="1800" dirty="0"/>
          </a:p>
        </p:txBody>
      </p:sp>
      <p:sp>
        <p:nvSpPr>
          <p:cNvPr id="6" name="Text 4"/>
          <p:cNvSpPr txBox="1"/>
          <p:nvPr/>
        </p:nvSpPr>
        <p:spPr>
          <a:xfrm>
            <a:off x="731520" y="2103120"/>
            <a:ext cx="8229600" cy="914400"/>
          </a:xfrm>
          <a:prstGeom prst="rect">
            <a:avLst/>
          </a:prstGeom>
          <a:noFill/>
          <a:ln/>
        </p:spPr>
        <p:txBody>
          <a:bodyPr wrap="square" lIns="0" tIns="0" rIns="0" bIns="0" rtlCol="0" anchor="ctr"/>
          <a:lstStyle/>
          <a:p>
            <a:pPr marL="0" indent="0">
              <a:buNone/>
            </a:pPr>
            <a:r>
              <a:rPr lang="en-US" sz="4400" b="1" dirty="0">
                <a:solidFill>
                  <a:schemeClr val="bg1"/>
                </a:solidFill>
                <a:latin typeface="Calibri" pitchFamily="34" charset="0"/>
                <a:ea typeface="Calibri" pitchFamily="34" charset="-122"/>
                <a:cs typeface="Calibri" pitchFamily="34" charset="-120"/>
              </a:rPr>
              <a:t>2024-2025 report comparison</a:t>
            </a:r>
            <a:endParaRPr lang="en-US" sz="4400" dirty="0"/>
          </a:p>
        </p:txBody>
      </p:sp>
      <p:sp>
        <p:nvSpPr>
          <p:cNvPr id="7" name="Text 5"/>
          <p:cNvSpPr txBox="1"/>
          <p:nvPr/>
        </p:nvSpPr>
        <p:spPr>
          <a:xfrm>
            <a:off x="731520" y="3108960"/>
            <a:ext cx="8229600" cy="548640"/>
          </a:xfrm>
          <a:prstGeom prst="rect">
            <a:avLst/>
          </a:prstGeom>
          <a:noFill/>
          <a:ln/>
        </p:spPr>
        <p:txBody>
          <a:bodyPr wrap="square" lIns="0" tIns="0" rIns="0" bIns="0" rtlCol="0" anchor="t"/>
          <a:lstStyle/>
          <a:p>
            <a:pPr marL="0" indent="0">
              <a:buNone/>
            </a:pPr>
            <a:r>
              <a:rPr lang="en-US" sz="2200" dirty="0">
                <a:solidFill>
                  <a:schemeClr val="accent2"/>
                </a:solidFill>
                <a:latin typeface="Calibri" pitchFamily="34" charset="0"/>
                <a:ea typeface="Calibri" pitchFamily="34" charset="-122"/>
                <a:cs typeface="Calibri" pitchFamily="34" charset="-120"/>
              </a:rPr>
              <a:t>What the reports say vs. what the data can tell us</a:t>
            </a:r>
            <a:endParaRPr lang="en-US" sz="2200" dirty="0"/>
          </a:p>
        </p:txBody>
      </p:sp>
      <p:sp>
        <p:nvSpPr>
          <p:cNvPr id="8" name="data marker"/>
          <p:cNvSpPr/>
          <p:nvPr/>
        </p:nvSpPr>
        <p:spPr>
          <a:xfrm>
            <a:off x="731520" y="5577840"/>
            <a:ext cx="2011680" cy="347472"/>
          </a:xfrm>
          <a:prstGeom prst="roundRect">
            <a:avLst>
              <a:gd name="adj" fmla="val 21053"/>
            </a:avLst>
          </a:prstGeom>
          <a:solidFill>
            <a:schemeClr val="accent2"/>
          </a:solidFill>
          <a:ln w="12700">
            <a:solidFill>
              <a:schemeClr val="accent2"/>
            </a:solidFill>
            <a:prstDash val="solid"/>
          </a:ln>
        </p:spPr>
        <p:txBody>
          <a:bodyPr/>
          <a:lstStyle/>
          <a:p>
            <a:endParaRPr lang="en-US"/>
          </a:p>
        </p:txBody>
      </p:sp>
      <p:sp>
        <p:nvSpPr>
          <p:cNvPr id="9" name="Text 7"/>
          <p:cNvSpPr txBox="1"/>
          <p:nvPr/>
        </p:nvSpPr>
        <p:spPr>
          <a:xfrm>
            <a:off x="731520" y="5577840"/>
            <a:ext cx="201168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ILLUSTRATIVE = invented</a:t>
            </a:r>
            <a:endParaRPr lang="en-US" sz="1100" dirty="0"/>
          </a:p>
        </p:txBody>
      </p:sp>
      <p:sp>
        <p:nvSpPr>
          <p:cNvPr id="10" name="data marker"/>
          <p:cNvSpPr/>
          <p:nvPr/>
        </p:nvSpPr>
        <p:spPr>
          <a:xfrm>
            <a:off x="2926080" y="5577840"/>
            <a:ext cx="2651760" cy="347472"/>
          </a:xfrm>
          <a:prstGeom prst="roundRect">
            <a:avLst>
              <a:gd name="adj" fmla="val 21053"/>
            </a:avLst>
          </a:prstGeom>
          <a:solidFill>
            <a:schemeClr val="bg2"/>
          </a:solidFill>
          <a:ln w="12700">
            <a:solidFill>
              <a:schemeClr val="accent4"/>
            </a:solidFill>
            <a:prstDash val="solid"/>
          </a:ln>
        </p:spPr>
        <p:txBody>
          <a:bodyPr/>
          <a:lstStyle/>
          <a:p>
            <a:endParaRPr lang="en-US"/>
          </a:p>
        </p:txBody>
      </p:sp>
      <p:sp>
        <p:nvSpPr>
          <p:cNvPr id="11" name="Text 9"/>
          <p:cNvSpPr txBox="1"/>
          <p:nvPr/>
        </p:nvSpPr>
        <p:spPr>
          <a:xfrm>
            <a:off x="2926080" y="5577840"/>
            <a:ext cx="265176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DERIVED = calculated from reports</a:t>
            </a:r>
            <a:endParaRPr lang="en-US" sz="1100" dirty="0"/>
          </a:p>
        </p:txBody>
      </p:sp>
      <p:sp>
        <p:nvSpPr>
          <p:cNvPr id="12" name="Text 10"/>
          <p:cNvSpPr txBox="1"/>
          <p:nvPr/>
        </p:nvSpPr>
        <p:spPr>
          <a:xfrm>
            <a:off x="5760720" y="5577840"/>
            <a:ext cx="5486400" cy="347472"/>
          </a:xfrm>
          <a:prstGeom prst="rect">
            <a:avLst/>
          </a:prstGeom>
          <a:noFill/>
          <a:ln/>
        </p:spPr>
        <p:txBody>
          <a:bodyPr wrap="square" lIns="0" tIns="0" rIns="0" bIns="0" rtlCol="0" anchor="ctr"/>
          <a:lstStyle/>
          <a:p>
            <a:pPr marL="0" indent="0">
              <a:buNone/>
            </a:pPr>
            <a:r>
              <a:rPr lang="en-US" sz="1300" dirty="0">
                <a:solidFill>
                  <a:schemeClr val="accent4"/>
                </a:solidFill>
                <a:latin typeface="Calibri" pitchFamily="34" charset="0"/>
                <a:ea typeface="Calibri" pitchFamily="34" charset="-122"/>
                <a:cs typeface="Calibri" pitchFamily="34" charset="-120"/>
              </a:rPr>
              <a:t>Unmarked figures are published in the 2024-2025 JoPACC reports.</a:t>
            </a:r>
            <a:endParaRPr lang="en-US" sz="1300" dirty="0"/>
          </a:p>
        </p:txBody>
      </p:sp>
      <p:sp>
        <p:nvSpPr>
          <p:cNvPr id="13" name="Isosceles Triangle 12">
            <a:extLst>
              <a:ext uri="{FF2B5EF4-FFF2-40B4-BE49-F238E27FC236}">
                <a16:creationId xmlns:a16="http://schemas.microsoft.com/office/drawing/2014/main" id="{0601A1DE-6466-E158-A29E-18A7BE1FB862}"/>
              </a:ext>
            </a:extLst>
          </p:cNvPr>
          <p:cNvSpPr/>
          <p:nvPr/>
        </p:nvSpPr>
        <p:spPr>
          <a:xfrm rot="5400000">
            <a:off x="9211452" y="1432486"/>
            <a:ext cx="1186434" cy="1341269"/>
          </a:xfrm>
          <a:prstGeom prst="triangle">
            <a:avLst>
              <a:gd name="adj" fmla="val 5000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Parallelogram 13">
            <a:extLst>
              <a:ext uri="{FF2B5EF4-FFF2-40B4-BE49-F238E27FC236}">
                <a16:creationId xmlns:a16="http://schemas.microsoft.com/office/drawing/2014/main" id="{4349749C-8BF9-6082-2B7B-EB29DC1AE34A}"/>
              </a:ext>
            </a:extLst>
          </p:cNvPr>
          <p:cNvSpPr/>
          <p:nvPr/>
        </p:nvSpPr>
        <p:spPr>
          <a:xfrm rot="3245436">
            <a:off x="9718646" y="1940773"/>
            <a:ext cx="1333361" cy="1696296"/>
          </a:xfrm>
          <a:prstGeom prst="parallelogram">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Volume surged 62%, but each payment is getting smaller</a:t>
            </a:r>
            <a:endParaRPr lang="en-US" sz="2800" dirty="0"/>
          </a:p>
        </p:txBody>
      </p:sp>
      <p:sp>
        <p:nvSpPr>
          <p:cNvPr id="3" name="card"/>
          <p:cNvSpPr/>
          <p:nvPr/>
        </p:nvSpPr>
        <p:spPr>
          <a:xfrm>
            <a:off x="548640" y="1371600"/>
            <a:ext cx="3566160" cy="1417320"/>
          </a:xfrm>
          <a:prstGeom prst="roundRect">
            <a:avLst>
              <a:gd name="adj" fmla="val 7742"/>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31520" y="1508760"/>
            <a:ext cx="3200400" cy="731520"/>
          </a:xfrm>
          <a:prstGeom prst="rect">
            <a:avLst/>
          </a:prstGeom>
          <a:noFill/>
          <a:ln/>
        </p:spPr>
        <p:txBody>
          <a:bodyPr wrap="square" lIns="0" tIns="0" rIns="0" bIns="0" rtlCol="0" anchor="ctr"/>
          <a:lstStyle/>
          <a:p>
            <a:pPr marL="0" indent="0" algn="ctr">
              <a:buNone/>
            </a:pPr>
            <a:r>
              <a:rPr lang="en-US" sz="4000" b="1" dirty="0">
                <a:solidFill>
                  <a:srgbClr val="2E8B63"/>
                </a:solidFill>
                <a:latin typeface="Calibri" pitchFamily="34" charset="0"/>
                <a:ea typeface="Calibri" pitchFamily="34" charset="-122"/>
                <a:cs typeface="Calibri" pitchFamily="34" charset="-120"/>
              </a:rPr>
              <a:t>+62%</a:t>
            </a:r>
            <a:endParaRPr lang="en-US" sz="4000" dirty="0"/>
          </a:p>
        </p:txBody>
      </p:sp>
      <p:sp>
        <p:nvSpPr>
          <p:cNvPr id="5" name="Text 3"/>
          <p:cNvSpPr txBox="1"/>
          <p:nvPr/>
        </p:nvSpPr>
        <p:spPr>
          <a:xfrm>
            <a:off x="731520" y="2240280"/>
            <a:ext cx="3200400" cy="457200"/>
          </a:xfrm>
          <a:prstGeom prst="rect">
            <a:avLst/>
          </a:prstGeom>
          <a:noFill/>
          <a:ln/>
        </p:spPr>
        <p:txBody>
          <a:bodyPr wrap="square" lIns="0" tIns="0" rIns="0" bIns="0" rtlCol="0" anchor="t"/>
          <a:lstStyle/>
          <a:p>
            <a:pPr marL="0" indent="0" algn="ctr">
              <a:buNone/>
            </a:pPr>
            <a:r>
              <a:rPr lang="en-US" sz="1400" dirty="0">
                <a:solidFill>
                  <a:schemeClr val="tx2"/>
                </a:solidFill>
                <a:latin typeface="Calibri" pitchFamily="34" charset="0"/>
                <a:ea typeface="Calibri" pitchFamily="34" charset="-122"/>
                <a:cs typeface="Calibri" pitchFamily="34" charset="-120"/>
              </a:rPr>
              <a:t>Transactions</a:t>
            </a:r>
            <a:endParaRPr lang="en-US" sz="1400" dirty="0"/>
          </a:p>
        </p:txBody>
      </p:sp>
      <p:sp>
        <p:nvSpPr>
          <p:cNvPr id="6" name="card"/>
          <p:cNvSpPr/>
          <p:nvPr/>
        </p:nvSpPr>
        <p:spPr>
          <a:xfrm>
            <a:off x="4297680" y="1371600"/>
            <a:ext cx="3566160" cy="1417320"/>
          </a:xfrm>
          <a:prstGeom prst="roundRect">
            <a:avLst>
              <a:gd name="adj" fmla="val 7742"/>
            </a:avLst>
          </a:prstGeom>
          <a:solidFill>
            <a:schemeClr val="bg2"/>
          </a:solidFill>
          <a:ln w="12700">
            <a:solidFill>
              <a:schemeClr val="bg2"/>
            </a:solidFill>
            <a:prstDash val="solid"/>
          </a:ln>
        </p:spPr>
        <p:txBody>
          <a:bodyPr/>
          <a:lstStyle/>
          <a:p>
            <a:endParaRPr lang="en-US"/>
          </a:p>
        </p:txBody>
      </p:sp>
      <p:sp>
        <p:nvSpPr>
          <p:cNvPr id="7" name="Text 5"/>
          <p:cNvSpPr txBox="1"/>
          <p:nvPr/>
        </p:nvSpPr>
        <p:spPr>
          <a:xfrm>
            <a:off x="4480560" y="1508760"/>
            <a:ext cx="3200400" cy="731520"/>
          </a:xfrm>
          <a:prstGeom prst="rect">
            <a:avLst/>
          </a:prstGeom>
          <a:noFill/>
          <a:ln/>
        </p:spPr>
        <p:txBody>
          <a:bodyPr wrap="square" lIns="0" tIns="0" rIns="0" bIns="0" rtlCol="0" anchor="ctr"/>
          <a:lstStyle/>
          <a:p>
            <a:pPr marL="0" indent="0" algn="ctr">
              <a:buNone/>
            </a:pPr>
            <a:r>
              <a:rPr lang="en-US" sz="4000" b="1" dirty="0">
                <a:solidFill>
                  <a:srgbClr val="2E8B63"/>
                </a:solidFill>
                <a:latin typeface="Calibri" pitchFamily="34" charset="0"/>
                <a:ea typeface="Calibri" pitchFamily="34" charset="-122"/>
                <a:cs typeface="Calibri" pitchFamily="34" charset="-120"/>
              </a:rPr>
              <a:t>+16.6%</a:t>
            </a:r>
            <a:endParaRPr lang="en-US" sz="4000" dirty="0"/>
          </a:p>
        </p:txBody>
      </p:sp>
      <p:sp>
        <p:nvSpPr>
          <p:cNvPr id="8" name="Text 6"/>
          <p:cNvSpPr txBox="1"/>
          <p:nvPr/>
        </p:nvSpPr>
        <p:spPr>
          <a:xfrm>
            <a:off x="4480560" y="2240280"/>
            <a:ext cx="3200400" cy="457200"/>
          </a:xfrm>
          <a:prstGeom prst="rect">
            <a:avLst/>
          </a:prstGeom>
          <a:noFill/>
          <a:ln/>
        </p:spPr>
        <p:txBody>
          <a:bodyPr wrap="square" lIns="0" tIns="0" rIns="0" bIns="0" rtlCol="0" anchor="t"/>
          <a:lstStyle/>
          <a:p>
            <a:pPr marL="0" indent="0" algn="ctr">
              <a:buNone/>
            </a:pPr>
            <a:r>
              <a:rPr lang="en-US" sz="1400" dirty="0">
                <a:solidFill>
                  <a:schemeClr val="tx2"/>
                </a:solidFill>
                <a:latin typeface="Calibri" pitchFamily="34" charset="0"/>
                <a:ea typeface="Calibri" pitchFamily="34" charset="-122"/>
                <a:cs typeface="Calibri" pitchFamily="34" charset="-120"/>
              </a:rPr>
              <a:t>Value</a:t>
            </a:r>
            <a:endParaRPr lang="en-US" sz="1400" dirty="0"/>
          </a:p>
        </p:txBody>
      </p:sp>
      <p:sp>
        <p:nvSpPr>
          <p:cNvPr id="9" name="card"/>
          <p:cNvSpPr/>
          <p:nvPr/>
        </p:nvSpPr>
        <p:spPr>
          <a:xfrm>
            <a:off x="8046720" y="1371600"/>
            <a:ext cx="3566160" cy="1417320"/>
          </a:xfrm>
          <a:prstGeom prst="roundRect">
            <a:avLst>
              <a:gd name="adj" fmla="val 7742"/>
            </a:avLst>
          </a:prstGeom>
          <a:solidFill>
            <a:schemeClr val="bg2"/>
          </a:solidFill>
          <a:ln w="12700">
            <a:solidFill>
              <a:schemeClr val="bg2"/>
            </a:solidFill>
            <a:prstDash val="solid"/>
          </a:ln>
        </p:spPr>
        <p:txBody>
          <a:bodyPr/>
          <a:lstStyle/>
          <a:p>
            <a:endParaRPr lang="en-US"/>
          </a:p>
        </p:txBody>
      </p:sp>
      <p:sp>
        <p:nvSpPr>
          <p:cNvPr id="10" name="Text 8"/>
          <p:cNvSpPr txBox="1"/>
          <p:nvPr/>
        </p:nvSpPr>
        <p:spPr>
          <a:xfrm>
            <a:off x="8229600" y="1508760"/>
            <a:ext cx="3200400" cy="731520"/>
          </a:xfrm>
          <a:prstGeom prst="rect">
            <a:avLst/>
          </a:prstGeom>
          <a:noFill/>
          <a:ln/>
        </p:spPr>
        <p:txBody>
          <a:bodyPr wrap="square" lIns="0" tIns="0" rIns="0" bIns="0" rtlCol="0" anchor="ctr"/>
          <a:lstStyle/>
          <a:p>
            <a:pPr marL="0" indent="0" algn="ctr">
              <a:buNone/>
            </a:pPr>
            <a:r>
              <a:rPr lang="en-US" sz="4000" b="1" dirty="0">
                <a:solidFill>
                  <a:srgbClr val="C0463C"/>
                </a:solidFill>
                <a:latin typeface="Calibri" pitchFamily="34" charset="0"/>
                <a:ea typeface="Calibri" pitchFamily="34" charset="-122"/>
                <a:cs typeface="Calibri" pitchFamily="34" charset="-120"/>
              </a:rPr>
              <a:t>-28%</a:t>
            </a:r>
            <a:endParaRPr lang="en-US" sz="4000" dirty="0"/>
          </a:p>
        </p:txBody>
      </p:sp>
      <p:sp>
        <p:nvSpPr>
          <p:cNvPr id="11" name="Text 9"/>
          <p:cNvSpPr txBox="1"/>
          <p:nvPr/>
        </p:nvSpPr>
        <p:spPr>
          <a:xfrm>
            <a:off x="8229600" y="2240280"/>
            <a:ext cx="3200400" cy="457200"/>
          </a:xfrm>
          <a:prstGeom prst="rect">
            <a:avLst/>
          </a:prstGeom>
          <a:noFill/>
          <a:ln/>
        </p:spPr>
        <p:txBody>
          <a:bodyPr wrap="square" lIns="0" tIns="0" rIns="0" bIns="0" rtlCol="0" anchor="t"/>
          <a:lstStyle/>
          <a:p>
            <a:pPr marL="0" indent="0" algn="ctr">
              <a:buNone/>
            </a:pPr>
            <a:r>
              <a:rPr lang="en-US" sz="1400" dirty="0">
                <a:solidFill>
                  <a:schemeClr val="tx2"/>
                </a:solidFill>
                <a:latin typeface="Calibri" pitchFamily="34" charset="0"/>
                <a:ea typeface="Calibri" pitchFamily="34" charset="-122"/>
                <a:cs typeface="Calibri" pitchFamily="34" charset="-120"/>
              </a:rPr>
              <a:t>Average payment value</a:t>
            </a:r>
            <a:endParaRPr lang="en-US" sz="1400" dirty="0"/>
          </a:p>
        </p:txBody>
      </p:sp>
      <p:graphicFrame>
        <p:nvGraphicFramePr>
          <p:cNvPr id="12" name="Chart 0"/>
          <p:cNvGraphicFramePr/>
          <p:nvPr/>
        </p:nvGraphicFramePr>
        <p:xfrm>
          <a:off x="548640" y="3017520"/>
          <a:ext cx="65836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3" name="card"/>
          <p:cNvSpPr/>
          <p:nvPr/>
        </p:nvSpPr>
        <p:spPr>
          <a:xfrm>
            <a:off x="7406640" y="3200400"/>
            <a:ext cx="4206240" cy="2834640"/>
          </a:xfrm>
          <a:prstGeom prst="roundRect">
            <a:avLst>
              <a:gd name="adj" fmla="val 3871"/>
            </a:avLst>
          </a:prstGeom>
          <a:solidFill>
            <a:schemeClr val="bg2"/>
          </a:solidFill>
          <a:ln w="12700">
            <a:solidFill>
              <a:schemeClr val="bg2"/>
            </a:solidFill>
            <a:prstDash val="solid"/>
          </a:ln>
        </p:spPr>
        <p:txBody>
          <a:bodyPr/>
          <a:lstStyle/>
          <a:p>
            <a:endParaRPr lang="en-US"/>
          </a:p>
        </p:txBody>
      </p:sp>
      <p:sp>
        <p:nvSpPr>
          <p:cNvPr id="14" name="data marker"/>
          <p:cNvSpPr/>
          <p:nvPr/>
        </p:nvSpPr>
        <p:spPr>
          <a:xfrm>
            <a:off x="10378440" y="3310128"/>
            <a:ext cx="1097280" cy="347472"/>
          </a:xfrm>
          <a:prstGeom prst="roundRect">
            <a:avLst>
              <a:gd name="adj" fmla="val 21053"/>
            </a:avLst>
          </a:prstGeom>
          <a:solidFill>
            <a:schemeClr val="bg2"/>
          </a:solidFill>
          <a:ln w="12700">
            <a:solidFill>
              <a:schemeClr val="accent4"/>
            </a:solidFill>
            <a:prstDash val="solid"/>
          </a:ln>
        </p:spPr>
        <p:txBody>
          <a:bodyPr/>
          <a:lstStyle/>
          <a:p>
            <a:endParaRPr lang="en-US"/>
          </a:p>
        </p:txBody>
      </p:sp>
      <p:sp>
        <p:nvSpPr>
          <p:cNvPr id="15" name="Text 12"/>
          <p:cNvSpPr txBox="1"/>
          <p:nvPr/>
        </p:nvSpPr>
        <p:spPr>
          <a:xfrm>
            <a:off x="10378440" y="3310128"/>
            <a:ext cx="109728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DERIVED</a:t>
            </a:r>
            <a:endParaRPr lang="en-US" sz="1100" dirty="0"/>
          </a:p>
        </p:txBody>
      </p:sp>
      <p:sp>
        <p:nvSpPr>
          <p:cNvPr id="16" name="Text 13"/>
          <p:cNvSpPr txBox="1"/>
          <p:nvPr/>
        </p:nvSpPr>
        <p:spPr>
          <a:xfrm>
            <a:off x="7589520" y="3611880"/>
            <a:ext cx="3840480" cy="1005840"/>
          </a:xfrm>
          <a:prstGeom prst="rect">
            <a:avLst/>
          </a:prstGeom>
          <a:noFill/>
          <a:ln/>
        </p:spPr>
        <p:txBody>
          <a:bodyPr wrap="square" lIns="0" tIns="0" rIns="0" bIns="0" rtlCol="0" anchor="ctr"/>
          <a:lstStyle/>
          <a:p>
            <a:pPr marL="0" indent="0" algn="ctr">
              <a:buNone/>
            </a:pPr>
            <a:r>
              <a:rPr lang="en-US" sz="5400" b="1" dirty="0">
                <a:solidFill>
                  <a:srgbClr val="C0463C"/>
                </a:solidFill>
                <a:latin typeface="Calibri" pitchFamily="34" charset="0"/>
                <a:ea typeface="Calibri" pitchFamily="34" charset="-122"/>
                <a:cs typeface="Calibri" pitchFamily="34" charset="-120"/>
              </a:rPr>
              <a:t>-53%</a:t>
            </a:r>
            <a:endParaRPr lang="en-US" sz="5400" dirty="0"/>
          </a:p>
        </p:txBody>
      </p:sp>
      <p:sp>
        <p:nvSpPr>
          <p:cNvPr id="17" name="Text 14"/>
          <p:cNvSpPr txBox="1"/>
          <p:nvPr/>
        </p:nvSpPr>
        <p:spPr>
          <a:xfrm>
            <a:off x="7680960" y="4709160"/>
            <a:ext cx="3657600" cy="914400"/>
          </a:xfrm>
          <a:prstGeom prst="rect">
            <a:avLst/>
          </a:prstGeom>
          <a:noFill/>
          <a:ln/>
        </p:spPr>
        <p:txBody>
          <a:bodyPr wrap="square" lIns="0" tIns="0" rIns="0" bIns="0" rtlCol="0" anchor="t"/>
          <a:lstStyle/>
          <a:p>
            <a:pPr marL="0" indent="0" algn="ctr">
              <a:buNone/>
            </a:pPr>
            <a:r>
              <a:rPr lang="en-US" sz="1600" dirty="0">
                <a:solidFill>
                  <a:schemeClr val="tx1"/>
                </a:solidFill>
                <a:latin typeface="Calibri" pitchFamily="34" charset="0"/>
                <a:ea typeface="Calibri" pitchFamily="34" charset="-122"/>
                <a:cs typeface="Calibri" pitchFamily="34" charset="-120"/>
              </a:rPr>
              <a:t>fall in two years (2023 to 2025), and still falling</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The reports describe what happened, not why</a:t>
            </a:r>
            <a:endParaRPr lang="en-US" sz="2800" dirty="0"/>
          </a:p>
        </p:txBody>
      </p:sp>
      <p:sp>
        <p:nvSpPr>
          <p:cNvPr id="3" name="card"/>
          <p:cNvSpPr/>
          <p:nvPr/>
        </p:nvSpPr>
        <p:spPr>
          <a:xfrm>
            <a:off x="548640" y="1371600"/>
            <a:ext cx="3566160" cy="3749040"/>
          </a:xfrm>
          <a:prstGeom prst="roundRect">
            <a:avLst>
              <a:gd name="adj" fmla="val 3077"/>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554480"/>
            <a:ext cx="2011680" cy="36576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CliQ</a:t>
            </a:r>
            <a:endParaRPr lang="en-US" sz="1600" dirty="0"/>
          </a:p>
        </p:txBody>
      </p:sp>
      <p:sp>
        <p:nvSpPr>
          <p:cNvPr id="5" name="data marker"/>
          <p:cNvSpPr/>
          <p:nvPr/>
        </p:nvSpPr>
        <p:spPr>
          <a:xfrm>
            <a:off x="2834640" y="1572768"/>
            <a:ext cx="1097280" cy="347472"/>
          </a:xfrm>
          <a:prstGeom prst="roundRect">
            <a:avLst>
              <a:gd name="adj" fmla="val 21053"/>
            </a:avLst>
          </a:prstGeom>
          <a:solidFill>
            <a:schemeClr val="bg2"/>
          </a:solidFill>
          <a:ln w="12700">
            <a:solidFill>
              <a:schemeClr val="accent4"/>
            </a:solidFill>
            <a:prstDash val="solid"/>
          </a:ln>
        </p:spPr>
        <p:txBody>
          <a:bodyPr/>
          <a:lstStyle/>
          <a:p>
            <a:endParaRPr lang="en-US"/>
          </a:p>
        </p:txBody>
      </p:sp>
      <p:sp>
        <p:nvSpPr>
          <p:cNvPr id="6" name="Text 4"/>
          <p:cNvSpPr txBox="1"/>
          <p:nvPr/>
        </p:nvSpPr>
        <p:spPr>
          <a:xfrm>
            <a:off x="2834640" y="1572768"/>
            <a:ext cx="109728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DERIVED</a:t>
            </a:r>
            <a:endParaRPr lang="en-US" sz="1100" dirty="0"/>
          </a:p>
        </p:txBody>
      </p:sp>
      <p:sp>
        <p:nvSpPr>
          <p:cNvPr id="7" name="Text 5"/>
          <p:cNvSpPr txBox="1"/>
          <p:nvPr/>
        </p:nvSpPr>
        <p:spPr>
          <a:xfrm>
            <a:off x="777240" y="2011680"/>
            <a:ext cx="3108960" cy="822960"/>
          </a:xfrm>
          <a:prstGeom prst="rect">
            <a:avLst/>
          </a:prstGeom>
          <a:noFill/>
          <a:ln/>
        </p:spPr>
        <p:txBody>
          <a:bodyPr wrap="square" lIns="0" tIns="0" rIns="0" bIns="0" rtlCol="0" anchor="ctr"/>
          <a:lstStyle/>
          <a:p>
            <a:pPr marL="0" indent="0">
              <a:buNone/>
            </a:pPr>
            <a:r>
              <a:rPr lang="en-US" sz="4400" b="1" dirty="0">
                <a:solidFill>
                  <a:schemeClr val="tx1"/>
                </a:solidFill>
                <a:latin typeface="Calibri" pitchFamily="34" charset="0"/>
                <a:ea typeface="Calibri" pitchFamily="34" charset="-122"/>
                <a:cs typeface="Calibri" pitchFamily="34" charset="-120"/>
              </a:rPr>
              <a:t>+57%</a:t>
            </a:r>
            <a:endParaRPr lang="en-US" sz="4400" dirty="0"/>
          </a:p>
        </p:txBody>
      </p:sp>
      <p:sp>
        <p:nvSpPr>
          <p:cNvPr id="8" name="Text 6"/>
          <p:cNvSpPr txBox="1"/>
          <p:nvPr/>
        </p:nvSpPr>
        <p:spPr>
          <a:xfrm>
            <a:off x="777240" y="2834640"/>
            <a:ext cx="3108960" cy="36576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transactions per user</a:t>
            </a:r>
            <a:endParaRPr lang="en-US" sz="1400" dirty="0"/>
          </a:p>
        </p:txBody>
      </p:sp>
      <p:sp>
        <p:nvSpPr>
          <p:cNvPr id="9" name="Text 7"/>
          <p:cNvSpPr txBox="1"/>
          <p:nvPr/>
        </p:nvSpPr>
        <p:spPr>
          <a:xfrm>
            <a:off x="777240" y="3429000"/>
            <a:ext cx="3108960" cy="1554480"/>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marL="0" indent="0">
              <a:buNone/>
            </a:pPr>
            <a:r>
              <a:rPr lang="en-US" sz="1600" dirty="0">
                <a:solidFill>
                  <a:schemeClr val="tx1"/>
                </a:solidFill>
                <a:latin typeface="Calibri" pitchFamily="34" charset="0"/>
                <a:ea typeface="Calibri" pitchFamily="34" charset="-122"/>
                <a:cs typeface="Calibri" pitchFamily="34" charset="-120"/>
              </a:rPr>
              <a:t>Transactions doubled.</a:t>
            </a:r>
            <a:endParaRPr lang="en-US" sz="1100" dirty="0"/>
          </a:p>
          <a:p>
            <a:pPr marL="0" indent="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marL="0" indent="0">
              <a:buNone/>
            </a:pPr>
            <a:r>
              <a:rPr lang="en-US" sz="1600" b="1" dirty="0">
                <a:solidFill>
                  <a:schemeClr val="tx1"/>
                </a:solidFill>
                <a:latin typeface="Calibri" pitchFamily="34" charset="0"/>
                <a:ea typeface="Calibri" pitchFamily="34" charset="-122"/>
                <a:cs typeface="Calibri" pitchFamily="34" charset="-120"/>
              </a:rPr>
              <a:t>Existing users doing more.</a:t>
            </a:r>
            <a:endParaRPr lang="en-US" sz="1100" dirty="0"/>
          </a:p>
        </p:txBody>
      </p:sp>
      <p:sp>
        <p:nvSpPr>
          <p:cNvPr id="10" name="card"/>
          <p:cNvSpPr/>
          <p:nvPr/>
        </p:nvSpPr>
        <p:spPr>
          <a:xfrm>
            <a:off x="4297680" y="1371600"/>
            <a:ext cx="3566160" cy="3749040"/>
          </a:xfrm>
          <a:prstGeom prst="roundRect">
            <a:avLst>
              <a:gd name="adj" fmla="val 3077"/>
            </a:avLst>
          </a:prstGeom>
          <a:solidFill>
            <a:schemeClr val="bg2"/>
          </a:solidFill>
          <a:ln w="12700">
            <a:solidFill>
              <a:schemeClr val="bg2"/>
            </a:solidFill>
            <a:prstDash val="solid"/>
          </a:ln>
        </p:spPr>
        <p:txBody>
          <a:bodyPr/>
          <a:lstStyle/>
          <a:p>
            <a:endParaRPr lang="en-US"/>
          </a:p>
        </p:txBody>
      </p:sp>
      <p:sp>
        <p:nvSpPr>
          <p:cNvPr id="11" name="Text 9"/>
          <p:cNvSpPr txBox="1"/>
          <p:nvPr/>
        </p:nvSpPr>
        <p:spPr>
          <a:xfrm>
            <a:off x="4526280" y="1554480"/>
            <a:ext cx="2011680" cy="36576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ECCU cheques</a:t>
            </a:r>
            <a:endParaRPr lang="en-US" sz="1600" dirty="0"/>
          </a:p>
        </p:txBody>
      </p:sp>
      <p:sp>
        <p:nvSpPr>
          <p:cNvPr id="12" name="Text 10"/>
          <p:cNvSpPr txBox="1"/>
          <p:nvPr/>
        </p:nvSpPr>
        <p:spPr>
          <a:xfrm>
            <a:off x="4526280" y="2011680"/>
            <a:ext cx="3108960" cy="822960"/>
          </a:xfrm>
          <a:prstGeom prst="rect">
            <a:avLst/>
          </a:prstGeom>
          <a:noFill/>
          <a:ln/>
        </p:spPr>
        <p:txBody>
          <a:bodyPr wrap="square" lIns="0" tIns="0" rIns="0" bIns="0" rtlCol="0" anchor="ctr"/>
          <a:lstStyle/>
          <a:p>
            <a:pPr marL="0" indent="0">
              <a:buNone/>
            </a:pPr>
            <a:r>
              <a:rPr lang="en-US" sz="4400" b="1" dirty="0">
                <a:solidFill>
                  <a:schemeClr val="tx1"/>
                </a:solidFill>
                <a:latin typeface="Calibri" pitchFamily="34" charset="0"/>
                <a:ea typeface="Calibri" pitchFamily="34" charset="-122"/>
                <a:cs typeface="Calibri" pitchFamily="34" charset="-120"/>
              </a:rPr>
              <a:t>-26.5%</a:t>
            </a:r>
            <a:endParaRPr lang="en-US" sz="4400" dirty="0"/>
          </a:p>
        </p:txBody>
      </p:sp>
      <p:sp>
        <p:nvSpPr>
          <p:cNvPr id="13" name="Text 11"/>
          <p:cNvSpPr txBox="1"/>
          <p:nvPr/>
        </p:nvSpPr>
        <p:spPr>
          <a:xfrm>
            <a:off x="4526280" y="2834640"/>
            <a:ext cx="3108960" cy="36576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returned cheque value</a:t>
            </a:r>
            <a:endParaRPr lang="en-US" sz="1400" dirty="0"/>
          </a:p>
        </p:txBody>
      </p:sp>
      <p:sp>
        <p:nvSpPr>
          <p:cNvPr id="14" name="Text 12"/>
          <p:cNvSpPr txBox="1"/>
          <p:nvPr/>
        </p:nvSpPr>
        <p:spPr>
          <a:xfrm>
            <a:off x="4526280" y="3429000"/>
            <a:ext cx="3108960" cy="1554480"/>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marL="0" indent="0">
              <a:buNone/>
            </a:pPr>
            <a:r>
              <a:rPr lang="en-US" sz="1600" dirty="0">
                <a:solidFill>
                  <a:schemeClr val="tx1"/>
                </a:solidFill>
                <a:latin typeface="Calibri" pitchFamily="34" charset="0"/>
                <a:ea typeface="Calibri" pitchFamily="34" charset="-122"/>
                <a:cs typeface="Calibri" pitchFamily="34" charset="-120"/>
              </a:rPr>
              <a:t>Law change as a footnote.</a:t>
            </a:r>
            <a:endParaRPr lang="en-US" sz="1100" dirty="0"/>
          </a:p>
          <a:p>
            <a:pPr marL="0" indent="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marL="0" indent="0">
              <a:buNone/>
            </a:pPr>
            <a:r>
              <a:rPr lang="en-US" sz="1600" b="1" dirty="0">
                <a:solidFill>
                  <a:schemeClr val="tx1"/>
                </a:solidFill>
                <a:latin typeface="Calibri" pitchFamily="34" charset="0"/>
                <a:ea typeface="Calibri" pitchFamily="34" charset="-122"/>
                <a:cs typeface="Calibri" pitchFamily="34" charset="-120"/>
              </a:rPr>
              <a:t>It likely drove the drop.</a:t>
            </a:r>
            <a:endParaRPr lang="en-US" sz="1100" dirty="0"/>
          </a:p>
        </p:txBody>
      </p:sp>
      <p:sp>
        <p:nvSpPr>
          <p:cNvPr id="15" name="card"/>
          <p:cNvSpPr/>
          <p:nvPr/>
        </p:nvSpPr>
        <p:spPr>
          <a:xfrm>
            <a:off x="8046720" y="1371600"/>
            <a:ext cx="3566160" cy="3749040"/>
          </a:xfrm>
          <a:prstGeom prst="roundRect">
            <a:avLst>
              <a:gd name="adj" fmla="val 3077"/>
            </a:avLst>
          </a:prstGeom>
          <a:solidFill>
            <a:schemeClr val="bg2"/>
          </a:solidFill>
          <a:ln w="12700">
            <a:solidFill>
              <a:schemeClr val="bg2"/>
            </a:solidFill>
            <a:prstDash val="solid"/>
          </a:ln>
        </p:spPr>
        <p:txBody>
          <a:bodyPr/>
          <a:lstStyle/>
          <a:p>
            <a:endParaRPr lang="en-US"/>
          </a:p>
        </p:txBody>
      </p:sp>
      <p:sp>
        <p:nvSpPr>
          <p:cNvPr id="16" name="Text 14"/>
          <p:cNvSpPr txBox="1"/>
          <p:nvPr/>
        </p:nvSpPr>
        <p:spPr>
          <a:xfrm>
            <a:off x="8275320" y="1554480"/>
            <a:ext cx="2011680" cy="36576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IPS</a:t>
            </a:r>
            <a:endParaRPr lang="en-US" sz="1600" dirty="0"/>
          </a:p>
        </p:txBody>
      </p:sp>
      <p:sp>
        <p:nvSpPr>
          <p:cNvPr id="17" name="data marker"/>
          <p:cNvSpPr/>
          <p:nvPr/>
        </p:nvSpPr>
        <p:spPr>
          <a:xfrm>
            <a:off x="10332720" y="1572768"/>
            <a:ext cx="1097280" cy="347472"/>
          </a:xfrm>
          <a:prstGeom prst="roundRect">
            <a:avLst>
              <a:gd name="adj" fmla="val 21053"/>
            </a:avLst>
          </a:prstGeom>
          <a:solidFill>
            <a:schemeClr val="bg2"/>
          </a:solidFill>
          <a:ln w="12700">
            <a:solidFill>
              <a:schemeClr val="accent4"/>
            </a:solidFill>
            <a:prstDash val="solid"/>
          </a:ln>
        </p:spPr>
        <p:txBody>
          <a:bodyPr/>
          <a:lstStyle/>
          <a:p>
            <a:endParaRPr lang="en-US"/>
          </a:p>
        </p:txBody>
      </p:sp>
      <p:sp>
        <p:nvSpPr>
          <p:cNvPr id="18" name="Text 16"/>
          <p:cNvSpPr txBox="1"/>
          <p:nvPr/>
        </p:nvSpPr>
        <p:spPr>
          <a:xfrm>
            <a:off x="10332720" y="1572768"/>
            <a:ext cx="109728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DERIVED</a:t>
            </a:r>
            <a:endParaRPr lang="en-US" sz="1100" dirty="0"/>
          </a:p>
        </p:txBody>
      </p:sp>
      <p:sp>
        <p:nvSpPr>
          <p:cNvPr id="19" name="Text 17"/>
          <p:cNvSpPr txBox="1"/>
          <p:nvPr/>
        </p:nvSpPr>
        <p:spPr>
          <a:xfrm>
            <a:off x="8275320" y="2011680"/>
            <a:ext cx="3108960" cy="822960"/>
          </a:xfrm>
          <a:prstGeom prst="rect">
            <a:avLst/>
          </a:prstGeom>
          <a:noFill/>
          <a:ln/>
        </p:spPr>
        <p:txBody>
          <a:bodyPr wrap="square" lIns="0" tIns="0" rIns="0" bIns="0" rtlCol="0" anchor="ctr"/>
          <a:lstStyle/>
          <a:p>
            <a:pPr marL="0" indent="0">
              <a:buNone/>
            </a:pPr>
            <a:r>
              <a:rPr lang="en-US" sz="4400" b="1" dirty="0">
                <a:solidFill>
                  <a:schemeClr val="tx1"/>
                </a:solidFill>
                <a:latin typeface="Calibri" pitchFamily="34" charset="0"/>
                <a:ea typeface="Calibri" pitchFamily="34" charset="-122"/>
                <a:cs typeface="Calibri" pitchFamily="34" charset="-120"/>
              </a:rPr>
              <a:t>40 to 69</a:t>
            </a:r>
            <a:endParaRPr lang="en-US" sz="4400" dirty="0"/>
          </a:p>
        </p:txBody>
      </p:sp>
      <p:sp>
        <p:nvSpPr>
          <p:cNvPr id="20" name="Text 18"/>
          <p:cNvSpPr txBox="1"/>
          <p:nvPr/>
        </p:nvSpPr>
        <p:spPr>
          <a:xfrm>
            <a:off x="8275320" y="2834640"/>
            <a:ext cx="3108960" cy="36576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transactions per user (approx.)</a:t>
            </a:r>
            <a:endParaRPr lang="en-US" sz="1400" dirty="0"/>
          </a:p>
        </p:txBody>
      </p:sp>
      <p:sp>
        <p:nvSpPr>
          <p:cNvPr id="21" name="Text 19"/>
          <p:cNvSpPr txBox="1"/>
          <p:nvPr/>
        </p:nvSpPr>
        <p:spPr>
          <a:xfrm>
            <a:off x="8275320" y="3429000"/>
            <a:ext cx="3108960" cy="1554480"/>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marL="0" indent="0">
              <a:buNone/>
            </a:pPr>
            <a:r>
              <a:rPr lang="en-US" sz="1600" dirty="0">
                <a:solidFill>
                  <a:schemeClr val="tx1"/>
                </a:solidFill>
                <a:latin typeface="Calibri" pitchFamily="34" charset="0"/>
                <a:ea typeface="Calibri" pitchFamily="34" charset="-122"/>
                <a:cs typeface="Calibri" pitchFamily="34" charset="-120"/>
              </a:rPr>
              <a:t>Static user counts.</a:t>
            </a:r>
            <a:endParaRPr lang="en-US" sz="1100" dirty="0"/>
          </a:p>
          <a:p>
            <a:pPr marL="0" indent="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marL="0" indent="0">
              <a:buNone/>
            </a:pPr>
            <a:r>
              <a:rPr lang="en-US" sz="1600" b="1" dirty="0">
                <a:solidFill>
                  <a:schemeClr val="tx1"/>
                </a:solidFill>
                <a:latin typeface="Calibri" pitchFamily="34" charset="0"/>
                <a:ea typeface="Calibri" pitchFamily="34" charset="-122"/>
                <a:cs typeface="Calibri" pitchFamily="34" charset="-120"/>
              </a:rPr>
              <a:t>Fewer new users, more activity.</a:t>
            </a:r>
            <a:endParaRPr lang="en-US" sz="1100" dirty="0"/>
          </a:p>
        </p:txBody>
      </p:sp>
      <p:sp>
        <p:nvSpPr>
          <p:cNvPr id="22" name="takeaway"/>
          <p:cNvSpPr/>
          <p:nvPr/>
        </p:nvSpPr>
        <p:spPr>
          <a:xfrm>
            <a:off x="548640" y="5349240"/>
            <a:ext cx="11064240" cy="822960"/>
          </a:xfrm>
          <a:prstGeom prst="roundRect">
            <a:avLst>
              <a:gd name="adj" fmla="val 13333"/>
            </a:avLst>
          </a:prstGeom>
          <a:solidFill>
            <a:schemeClr val="bg2"/>
          </a:solidFill>
          <a:ln w="12700">
            <a:solidFill>
              <a:schemeClr val="bg2"/>
            </a:solidFill>
            <a:prstDash val="solid"/>
          </a:ln>
        </p:spPr>
        <p:txBody>
          <a:bodyPr/>
          <a:lstStyle/>
          <a:p>
            <a:endParaRPr lang="en-US"/>
          </a:p>
        </p:txBody>
      </p:sp>
      <p:sp>
        <p:nvSpPr>
          <p:cNvPr id="23" name="Text 21"/>
          <p:cNvSpPr txBox="1"/>
          <p:nvPr/>
        </p:nvSpPr>
        <p:spPr>
          <a:xfrm>
            <a:off x="777240" y="5486400"/>
            <a:ext cx="10607040" cy="54864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Why it matters:  </a:t>
            </a:r>
            <a:r>
              <a:rPr lang="en-US" sz="1600" dirty="0">
                <a:solidFill>
                  <a:schemeClr val="tx1"/>
                </a:solidFill>
                <a:latin typeface="Calibri" pitchFamily="34" charset="0"/>
                <a:ea typeface="Calibri" pitchFamily="34" charset="-122"/>
                <a:cs typeface="Calibri" pitchFamily="34" charset="-120"/>
              </a:rPr>
              <a:t>accurate numbers, no explanation. Details are in the appendix.</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The average keeps falling, but nobody can say why</a:t>
            </a:r>
            <a:endParaRPr lang="en-US" sz="2800" dirty="0"/>
          </a:p>
        </p:txBody>
      </p:sp>
      <p:graphicFrame>
        <p:nvGraphicFramePr>
          <p:cNvPr id="3" name="Chart 0"/>
          <p:cNvGraphicFramePr/>
          <p:nvPr/>
        </p:nvGraphicFramePr>
        <p:xfrm>
          <a:off x="548640" y="1371600"/>
          <a:ext cx="60350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6949440" y="1371600"/>
            <a:ext cx="4663440" cy="1920240"/>
          </a:xfrm>
          <a:prstGeom prst="roundRect">
            <a:avLst>
              <a:gd name="adj" fmla="val 5714"/>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7178040" y="1481328"/>
            <a:ext cx="4206240" cy="36576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A: everyday payments shrank</a:t>
            </a:r>
            <a:endParaRPr lang="en-US" sz="1600" dirty="0"/>
          </a:p>
        </p:txBody>
      </p:sp>
      <p:sp>
        <p:nvSpPr>
          <p:cNvPr id="6" name="sketch tile"/>
          <p:cNvSpPr/>
          <p:nvPr/>
        </p:nvSpPr>
        <p:spPr>
          <a:xfrm>
            <a:off x="7315200" y="2331720"/>
            <a:ext cx="457200" cy="822960"/>
          </a:xfrm>
          <a:prstGeom prst="roundRect">
            <a:avLst>
              <a:gd name="adj" fmla="val 12000"/>
            </a:avLst>
          </a:prstGeom>
          <a:solidFill>
            <a:schemeClr val="accent1"/>
          </a:solidFill>
          <a:ln w="6350">
            <a:solidFill>
              <a:schemeClr val="accent1"/>
            </a:solidFill>
            <a:prstDash val="solid"/>
          </a:ln>
        </p:spPr>
        <p:txBody>
          <a:bodyPr/>
          <a:lstStyle/>
          <a:p>
            <a:endParaRPr lang="en-US"/>
          </a:p>
        </p:txBody>
      </p:sp>
      <p:sp>
        <p:nvSpPr>
          <p:cNvPr id="7" name="sketch tile"/>
          <p:cNvSpPr/>
          <p:nvPr/>
        </p:nvSpPr>
        <p:spPr>
          <a:xfrm>
            <a:off x="7909560" y="2423160"/>
            <a:ext cx="457200" cy="731520"/>
          </a:xfrm>
          <a:prstGeom prst="roundRect">
            <a:avLst>
              <a:gd name="adj" fmla="val 12000"/>
            </a:avLst>
          </a:prstGeom>
          <a:solidFill>
            <a:schemeClr val="accent1"/>
          </a:solidFill>
          <a:ln w="6350">
            <a:solidFill>
              <a:schemeClr val="accent1"/>
            </a:solidFill>
            <a:prstDash val="solid"/>
          </a:ln>
        </p:spPr>
        <p:txBody>
          <a:bodyPr/>
          <a:lstStyle/>
          <a:p>
            <a:endParaRPr lang="en-US"/>
          </a:p>
        </p:txBody>
      </p:sp>
      <p:sp>
        <p:nvSpPr>
          <p:cNvPr id="8" name="sketch tile"/>
          <p:cNvSpPr/>
          <p:nvPr/>
        </p:nvSpPr>
        <p:spPr>
          <a:xfrm>
            <a:off x="8503920" y="2514600"/>
            <a:ext cx="457200" cy="640080"/>
          </a:xfrm>
          <a:prstGeom prst="roundRect">
            <a:avLst>
              <a:gd name="adj" fmla="val 12000"/>
            </a:avLst>
          </a:prstGeom>
          <a:solidFill>
            <a:schemeClr val="accent1"/>
          </a:solidFill>
          <a:ln w="6350">
            <a:solidFill>
              <a:schemeClr val="accent1"/>
            </a:solidFill>
            <a:prstDash val="solid"/>
          </a:ln>
        </p:spPr>
        <p:txBody>
          <a:bodyPr/>
          <a:lstStyle/>
          <a:p>
            <a:endParaRPr lang="en-US"/>
          </a:p>
        </p:txBody>
      </p:sp>
      <p:sp>
        <p:nvSpPr>
          <p:cNvPr id="9" name="sketch tile"/>
          <p:cNvSpPr/>
          <p:nvPr/>
        </p:nvSpPr>
        <p:spPr>
          <a:xfrm>
            <a:off x="9098280" y="2606040"/>
            <a:ext cx="457200" cy="548640"/>
          </a:xfrm>
          <a:prstGeom prst="roundRect">
            <a:avLst>
              <a:gd name="adj" fmla="val 12000"/>
            </a:avLst>
          </a:prstGeom>
          <a:solidFill>
            <a:schemeClr val="accent1"/>
          </a:solidFill>
          <a:ln w="6350">
            <a:solidFill>
              <a:schemeClr val="accent1"/>
            </a:solidFill>
            <a:prstDash val="solid"/>
          </a:ln>
        </p:spPr>
        <p:txBody>
          <a:bodyPr/>
          <a:lstStyle/>
          <a:p>
            <a:endParaRPr lang="en-US"/>
          </a:p>
        </p:txBody>
      </p:sp>
      <p:sp>
        <p:nvSpPr>
          <p:cNvPr id="10" name="sketch tile"/>
          <p:cNvSpPr/>
          <p:nvPr/>
        </p:nvSpPr>
        <p:spPr>
          <a:xfrm>
            <a:off x="9692640" y="2697480"/>
            <a:ext cx="457200" cy="457200"/>
          </a:xfrm>
          <a:prstGeom prst="roundRect">
            <a:avLst>
              <a:gd name="adj" fmla="val 12000"/>
            </a:avLst>
          </a:prstGeom>
          <a:solidFill>
            <a:schemeClr val="accent1"/>
          </a:solidFill>
          <a:ln w="6350">
            <a:solidFill>
              <a:schemeClr val="accent1"/>
            </a:solidFill>
            <a:prstDash val="solid"/>
          </a:ln>
        </p:spPr>
        <p:txBody>
          <a:bodyPr/>
          <a:lstStyle/>
          <a:p>
            <a:endParaRPr lang="en-US"/>
          </a:p>
        </p:txBody>
      </p:sp>
      <p:sp>
        <p:nvSpPr>
          <p:cNvPr id="11" name="sketch tile"/>
          <p:cNvSpPr/>
          <p:nvPr/>
        </p:nvSpPr>
        <p:spPr>
          <a:xfrm>
            <a:off x="10287000" y="2788920"/>
            <a:ext cx="457200" cy="365760"/>
          </a:xfrm>
          <a:prstGeom prst="roundRect">
            <a:avLst>
              <a:gd name="adj" fmla="val 15000"/>
            </a:avLst>
          </a:prstGeom>
          <a:solidFill>
            <a:schemeClr val="accent1"/>
          </a:solidFill>
          <a:ln w="6350">
            <a:solidFill>
              <a:schemeClr val="accent1"/>
            </a:solidFill>
            <a:prstDash val="solid"/>
          </a:ln>
        </p:spPr>
        <p:txBody>
          <a:bodyPr/>
          <a:lstStyle/>
          <a:p>
            <a:endParaRPr lang="en-US"/>
          </a:p>
        </p:txBody>
      </p:sp>
      <p:sp>
        <p:nvSpPr>
          <p:cNvPr id="12" name="card"/>
          <p:cNvSpPr/>
          <p:nvPr/>
        </p:nvSpPr>
        <p:spPr>
          <a:xfrm>
            <a:off x="6949440" y="3474720"/>
            <a:ext cx="4663440" cy="1920240"/>
          </a:xfrm>
          <a:prstGeom prst="roundRect">
            <a:avLst>
              <a:gd name="adj" fmla="val 5714"/>
            </a:avLst>
          </a:prstGeom>
          <a:solidFill>
            <a:schemeClr val="bg2"/>
          </a:solidFill>
          <a:ln w="12700">
            <a:solidFill>
              <a:schemeClr val="bg2"/>
            </a:solidFill>
            <a:prstDash val="solid"/>
          </a:ln>
        </p:spPr>
        <p:txBody>
          <a:bodyPr/>
          <a:lstStyle/>
          <a:p>
            <a:endParaRPr lang="en-US"/>
          </a:p>
        </p:txBody>
      </p:sp>
      <p:sp>
        <p:nvSpPr>
          <p:cNvPr id="13" name="Text 10"/>
          <p:cNvSpPr txBox="1"/>
          <p:nvPr/>
        </p:nvSpPr>
        <p:spPr>
          <a:xfrm>
            <a:off x="7178040" y="3584448"/>
            <a:ext cx="4206240" cy="36576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B: a few big payments faded</a:t>
            </a:r>
            <a:endParaRPr lang="en-US" sz="1600" dirty="0"/>
          </a:p>
        </p:txBody>
      </p:sp>
      <p:sp>
        <p:nvSpPr>
          <p:cNvPr id="14" name="sketch tile"/>
          <p:cNvSpPr/>
          <p:nvPr/>
        </p:nvSpPr>
        <p:spPr>
          <a:xfrm>
            <a:off x="7315200" y="4846320"/>
            <a:ext cx="457200" cy="411480"/>
          </a:xfrm>
          <a:prstGeom prst="roundRect">
            <a:avLst>
              <a:gd name="adj" fmla="val 13333"/>
            </a:avLst>
          </a:prstGeom>
          <a:solidFill>
            <a:schemeClr val="accent1"/>
          </a:solidFill>
          <a:ln w="6350">
            <a:solidFill>
              <a:schemeClr val="accent1"/>
            </a:solidFill>
            <a:prstDash val="solid"/>
          </a:ln>
        </p:spPr>
        <p:txBody>
          <a:bodyPr/>
          <a:lstStyle/>
          <a:p>
            <a:endParaRPr lang="en-US"/>
          </a:p>
        </p:txBody>
      </p:sp>
      <p:sp>
        <p:nvSpPr>
          <p:cNvPr id="15" name="sketch tile"/>
          <p:cNvSpPr/>
          <p:nvPr/>
        </p:nvSpPr>
        <p:spPr>
          <a:xfrm>
            <a:off x="7909560" y="4846320"/>
            <a:ext cx="457200" cy="411480"/>
          </a:xfrm>
          <a:prstGeom prst="roundRect">
            <a:avLst>
              <a:gd name="adj" fmla="val 13333"/>
            </a:avLst>
          </a:prstGeom>
          <a:solidFill>
            <a:schemeClr val="accent1"/>
          </a:solidFill>
          <a:ln w="6350">
            <a:solidFill>
              <a:schemeClr val="accent1"/>
            </a:solidFill>
            <a:prstDash val="solid"/>
          </a:ln>
        </p:spPr>
        <p:txBody>
          <a:bodyPr/>
          <a:lstStyle/>
          <a:p>
            <a:endParaRPr lang="en-US"/>
          </a:p>
        </p:txBody>
      </p:sp>
      <p:sp>
        <p:nvSpPr>
          <p:cNvPr id="16" name="sketch tile"/>
          <p:cNvSpPr/>
          <p:nvPr/>
        </p:nvSpPr>
        <p:spPr>
          <a:xfrm>
            <a:off x="8503920" y="4846320"/>
            <a:ext cx="457200" cy="411480"/>
          </a:xfrm>
          <a:prstGeom prst="roundRect">
            <a:avLst>
              <a:gd name="adj" fmla="val 13333"/>
            </a:avLst>
          </a:prstGeom>
          <a:solidFill>
            <a:schemeClr val="accent1"/>
          </a:solidFill>
          <a:ln w="6350">
            <a:solidFill>
              <a:schemeClr val="accent1"/>
            </a:solidFill>
            <a:prstDash val="solid"/>
          </a:ln>
        </p:spPr>
        <p:txBody>
          <a:bodyPr/>
          <a:lstStyle/>
          <a:p>
            <a:endParaRPr lang="en-US"/>
          </a:p>
        </p:txBody>
      </p:sp>
      <p:sp>
        <p:nvSpPr>
          <p:cNvPr id="17" name="sketch tile"/>
          <p:cNvSpPr/>
          <p:nvPr/>
        </p:nvSpPr>
        <p:spPr>
          <a:xfrm>
            <a:off x="9098280" y="4846320"/>
            <a:ext cx="457200" cy="411480"/>
          </a:xfrm>
          <a:prstGeom prst="roundRect">
            <a:avLst>
              <a:gd name="adj" fmla="val 13333"/>
            </a:avLst>
          </a:prstGeom>
          <a:solidFill>
            <a:schemeClr val="accent1"/>
          </a:solidFill>
          <a:ln w="6350">
            <a:solidFill>
              <a:schemeClr val="accent1"/>
            </a:solidFill>
            <a:prstDash val="solid"/>
          </a:ln>
        </p:spPr>
        <p:txBody>
          <a:bodyPr/>
          <a:lstStyle/>
          <a:p>
            <a:endParaRPr lang="en-US"/>
          </a:p>
        </p:txBody>
      </p:sp>
      <p:sp>
        <p:nvSpPr>
          <p:cNvPr id="18" name="sketch tile"/>
          <p:cNvSpPr/>
          <p:nvPr/>
        </p:nvSpPr>
        <p:spPr>
          <a:xfrm>
            <a:off x="9692640" y="4846320"/>
            <a:ext cx="457200" cy="411480"/>
          </a:xfrm>
          <a:prstGeom prst="roundRect">
            <a:avLst>
              <a:gd name="adj" fmla="val 13333"/>
            </a:avLst>
          </a:prstGeom>
          <a:solidFill>
            <a:schemeClr val="accent1"/>
          </a:solidFill>
          <a:ln w="6350">
            <a:solidFill>
              <a:schemeClr val="accent1"/>
            </a:solidFill>
            <a:prstDash val="solid"/>
          </a:ln>
        </p:spPr>
        <p:txBody>
          <a:bodyPr/>
          <a:lstStyle/>
          <a:p>
            <a:endParaRPr lang="en-US"/>
          </a:p>
        </p:txBody>
      </p:sp>
      <p:sp>
        <p:nvSpPr>
          <p:cNvPr id="19" name="sketch tile"/>
          <p:cNvSpPr/>
          <p:nvPr/>
        </p:nvSpPr>
        <p:spPr>
          <a:xfrm>
            <a:off x="10287000" y="4343400"/>
            <a:ext cx="457200" cy="914400"/>
          </a:xfrm>
          <a:prstGeom prst="roundRect">
            <a:avLst>
              <a:gd name="adj" fmla="val 12000"/>
            </a:avLst>
          </a:prstGeom>
          <a:solidFill>
            <a:schemeClr val="accent2">
              <a:alpha val="35000"/>
            </a:schemeClr>
          </a:solidFill>
          <a:ln w="19050">
            <a:solidFill>
              <a:schemeClr val="accent2"/>
            </a:solidFill>
            <a:prstDash val="dash"/>
          </a:ln>
        </p:spPr>
        <p:txBody>
          <a:bodyPr/>
          <a:lstStyle/>
          <a:p>
            <a:endParaRPr lang="en-US"/>
          </a:p>
        </p:txBody>
      </p:sp>
      <p:sp>
        <p:nvSpPr>
          <p:cNvPr id="20" name="Text 17"/>
          <p:cNvSpPr txBox="1"/>
          <p:nvPr/>
        </p:nvSpPr>
        <p:spPr>
          <a:xfrm>
            <a:off x="9784080" y="1508760"/>
            <a:ext cx="1645920" cy="274320"/>
          </a:xfrm>
          <a:prstGeom prst="rect">
            <a:avLst/>
          </a:prstGeom>
          <a:noFill/>
          <a:ln/>
        </p:spPr>
        <p:txBody>
          <a:bodyPr wrap="square" lIns="0" tIns="0" rIns="0" bIns="0" rtlCol="0" anchor="t"/>
          <a:lstStyle/>
          <a:p>
            <a:pPr marL="0" indent="0" algn="r">
              <a:buNone/>
            </a:pPr>
            <a:r>
              <a:rPr lang="en-US" sz="1000" dirty="0">
                <a:solidFill>
                  <a:schemeClr val="tx2"/>
                </a:solidFill>
                <a:latin typeface="Calibri" pitchFamily="34" charset="0"/>
                <a:ea typeface="Calibri" pitchFamily="34" charset="-122"/>
                <a:cs typeface="Calibri" pitchFamily="34" charset="-120"/>
              </a:rPr>
              <a:t>concept sketch, not data</a:t>
            </a:r>
            <a:endParaRPr lang="en-US" sz="1000" dirty="0"/>
          </a:p>
        </p:txBody>
      </p:sp>
      <p:sp>
        <p:nvSpPr>
          <p:cNvPr id="21" name="Text 18"/>
          <p:cNvSpPr txBox="1"/>
          <p:nvPr/>
        </p:nvSpPr>
        <p:spPr>
          <a:xfrm>
            <a:off x="9784080" y="3611880"/>
            <a:ext cx="1645920" cy="274320"/>
          </a:xfrm>
          <a:prstGeom prst="rect">
            <a:avLst/>
          </a:prstGeom>
          <a:noFill/>
          <a:ln/>
        </p:spPr>
        <p:txBody>
          <a:bodyPr wrap="square" lIns="0" tIns="0" rIns="0" bIns="0" rtlCol="0" anchor="t"/>
          <a:lstStyle/>
          <a:p>
            <a:pPr marL="0" indent="0" algn="r">
              <a:buNone/>
            </a:pPr>
            <a:r>
              <a:rPr lang="en-US" sz="1000" dirty="0">
                <a:solidFill>
                  <a:schemeClr val="tx2"/>
                </a:solidFill>
                <a:latin typeface="Calibri" pitchFamily="34" charset="0"/>
                <a:ea typeface="Calibri" pitchFamily="34" charset="-122"/>
                <a:cs typeface="Calibri" pitchFamily="34" charset="-120"/>
              </a:rPr>
              <a:t>concept sketch, not data</a:t>
            </a:r>
            <a:endParaRPr lang="en-US" sz="1000" dirty="0"/>
          </a:p>
        </p:txBody>
      </p:sp>
      <p:sp>
        <p:nvSpPr>
          <p:cNvPr id="22" name="takeaway"/>
          <p:cNvSpPr/>
          <p:nvPr/>
        </p:nvSpPr>
        <p:spPr>
          <a:xfrm>
            <a:off x="548640" y="5577840"/>
            <a:ext cx="11064240" cy="640080"/>
          </a:xfrm>
          <a:prstGeom prst="roundRect">
            <a:avLst>
              <a:gd name="adj" fmla="val 17143"/>
            </a:avLst>
          </a:prstGeom>
          <a:solidFill>
            <a:schemeClr val="bg2"/>
          </a:solidFill>
          <a:ln w="12700">
            <a:solidFill>
              <a:schemeClr val="bg2"/>
            </a:solidFill>
            <a:prstDash val="solid"/>
          </a:ln>
        </p:spPr>
        <p:txBody>
          <a:bodyPr/>
          <a:lstStyle/>
          <a:p>
            <a:endParaRPr lang="en-US"/>
          </a:p>
        </p:txBody>
      </p:sp>
      <p:sp>
        <p:nvSpPr>
          <p:cNvPr id="23" name="Text 20"/>
          <p:cNvSpPr txBox="1"/>
          <p:nvPr/>
        </p:nvSpPr>
        <p:spPr>
          <a:xfrm>
            <a:off x="777240" y="5715000"/>
            <a:ext cx="10607040" cy="36576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The problem:  </a:t>
            </a:r>
            <a:r>
              <a:rPr lang="en-US" sz="1600" dirty="0">
                <a:solidFill>
                  <a:schemeClr val="tx1"/>
                </a:solidFill>
                <a:latin typeface="Calibri" pitchFamily="34" charset="0"/>
                <a:ea typeface="Calibri" pitchFamily="34" charset="-122"/>
                <a:cs typeface="Calibri" pitchFamily="34" charset="-120"/>
              </a:rPr>
              <a:t>the reports cannot tell story A from story B.</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Why the average alone can mislead</a:t>
            </a:r>
            <a:endParaRPr lang="en-US" sz="2800" dirty="0"/>
          </a:p>
        </p:txBody>
      </p:sp>
      <p:sp>
        <p:nvSpPr>
          <p:cNvPr id="3" name="data marker"/>
          <p:cNvSpPr/>
          <p:nvPr/>
        </p:nvSpPr>
        <p:spPr>
          <a:xfrm>
            <a:off x="548640" y="1280160"/>
            <a:ext cx="6583680" cy="347472"/>
          </a:xfrm>
          <a:prstGeom prst="roundRect">
            <a:avLst>
              <a:gd name="adj" fmla="val 21053"/>
            </a:avLst>
          </a:prstGeom>
          <a:solidFill>
            <a:schemeClr val="accent2"/>
          </a:solidFill>
          <a:ln w="12700">
            <a:solidFill>
              <a:schemeClr val="accent2"/>
            </a:solidFill>
            <a:prstDash val="solid"/>
          </a:ln>
        </p:spPr>
        <p:txBody>
          <a:bodyPr/>
          <a:lstStyle/>
          <a:p>
            <a:endParaRPr lang="en-US"/>
          </a:p>
        </p:txBody>
      </p:sp>
      <p:sp>
        <p:nvSpPr>
          <p:cNvPr id="4" name="Text 2"/>
          <p:cNvSpPr txBox="1"/>
          <p:nvPr/>
        </p:nvSpPr>
        <p:spPr>
          <a:xfrm>
            <a:off x="548640" y="1280160"/>
            <a:ext cx="658368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ILLUSTRATIVE: 10 invented payments, not JoPACC data</a:t>
            </a:r>
            <a:endParaRPr lang="en-US" sz="1100" dirty="0"/>
          </a:p>
        </p:txBody>
      </p:sp>
      <p:sp>
        <p:nvSpPr>
          <p:cNvPr id="5" name="Text 3"/>
          <p:cNvSpPr txBox="1"/>
          <p:nvPr/>
        </p:nvSpPr>
        <p:spPr>
          <a:xfrm>
            <a:off x="548640" y="1691640"/>
            <a:ext cx="4846320" cy="365760"/>
          </a:xfrm>
          <a:prstGeom prst="rect">
            <a:avLst/>
          </a:prstGeom>
          <a:noFill/>
          <a:ln/>
        </p:spPr>
        <p:txBody>
          <a:bodyPr wrap="square" lIns="0" tIns="0" rIns="0" bIns="0" rtlCol="0" anchor="t"/>
          <a:lstStyle/>
          <a:p>
            <a:pPr marL="0" indent="0">
              <a:buNone/>
            </a:pPr>
            <a:r>
              <a:rPr lang="en-US" sz="1800" b="1" dirty="0">
                <a:solidFill>
                  <a:schemeClr val="tx1"/>
                </a:solidFill>
                <a:latin typeface="Calibri" pitchFamily="34" charset="0"/>
                <a:ea typeface="Calibri" pitchFamily="34" charset="-122"/>
                <a:cs typeface="Calibri" pitchFamily="34" charset="-120"/>
              </a:rPr>
              <a:t>Year 1</a:t>
            </a:r>
            <a:endParaRPr lang="en-US" sz="1800" dirty="0"/>
          </a:p>
        </p:txBody>
      </p:sp>
      <p:sp>
        <p:nvSpPr>
          <p:cNvPr id="6" name="small payment"/>
          <p:cNvSpPr/>
          <p:nvPr/>
        </p:nvSpPr>
        <p:spPr>
          <a:xfrm>
            <a:off x="548640"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7" name="small payment"/>
          <p:cNvSpPr/>
          <p:nvPr/>
        </p:nvSpPr>
        <p:spPr>
          <a:xfrm>
            <a:off x="923544"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8" name="small payment"/>
          <p:cNvSpPr/>
          <p:nvPr/>
        </p:nvSpPr>
        <p:spPr>
          <a:xfrm>
            <a:off x="1298448"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9" name="small payment"/>
          <p:cNvSpPr/>
          <p:nvPr/>
        </p:nvSpPr>
        <p:spPr>
          <a:xfrm>
            <a:off x="1673352"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10" name="small payment"/>
          <p:cNvSpPr/>
          <p:nvPr/>
        </p:nvSpPr>
        <p:spPr>
          <a:xfrm>
            <a:off x="2048256"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11" name="small payment"/>
          <p:cNvSpPr/>
          <p:nvPr/>
        </p:nvSpPr>
        <p:spPr>
          <a:xfrm>
            <a:off x="2423160"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12" name="small payment"/>
          <p:cNvSpPr/>
          <p:nvPr/>
        </p:nvSpPr>
        <p:spPr>
          <a:xfrm>
            <a:off x="2798064"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13" name="small payment"/>
          <p:cNvSpPr/>
          <p:nvPr/>
        </p:nvSpPr>
        <p:spPr>
          <a:xfrm>
            <a:off x="3172968"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14" name="small payment"/>
          <p:cNvSpPr/>
          <p:nvPr/>
        </p:nvSpPr>
        <p:spPr>
          <a:xfrm>
            <a:off x="3547872"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15" name="large payment"/>
          <p:cNvSpPr/>
          <p:nvPr/>
        </p:nvSpPr>
        <p:spPr>
          <a:xfrm>
            <a:off x="4206240" y="2011680"/>
            <a:ext cx="1188720" cy="1188720"/>
          </a:xfrm>
          <a:prstGeom prst="ellipse">
            <a:avLst/>
          </a:prstGeom>
          <a:solidFill>
            <a:schemeClr val="accent2"/>
          </a:solidFill>
          <a:ln w="12700">
            <a:solidFill>
              <a:schemeClr val="accent2"/>
            </a:solidFill>
            <a:prstDash val="solid"/>
          </a:ln>
        </p:spPr>
        <p:txBody>
          <a:bodyPr/>
          <a:lstStyle/>
          <a:p>
            <a:endParaRPr lang="en-US"/>
          </a:p>
        </p:txBody>
      </p:sp>
      <p:sp>
        <p:nvSpPr>
          <p:cNvPr id="16" name="Text 14"/>
          <p:cNvSpPr txBox="1"/>
          <p:nvPr/>
        </p:nvSpPr>
        <p:spPr>
          <a:xfrm>
            <a:off x="4206240" y="2011680"/>
            <a:ext cx="1188720" cy="118872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2,000</a:t>
            </a:r>
            <a:endParaRPr lang="en-US" sz="1600" dirty="0"/>
          </a:p>
        </p:txBody>
      </p:sp>
      <p:sp>
        <p:nvSpPr>
          <p:cNvPr id="17" name="Text 15"/>
          <p:cNvSpPr txBox="1"/>
          <p:nvPr/>
        </p:nvSpPr>
        <p:spPr>
          <a:xfrm>
            <a:off x="548640" y="3246120"/>
            <a:ext cx="3291840" cy="27432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9 payments: 20 to 95 JOD</a:t>
            </a:r>
            <a:endParaRPr lang="en-US" sz="1200" dirty="0"/>
          </a:p>
        </p:txBody>
      </p:sp>
      <p:sp>
        <p:nvSpPr>
          <p:cNvPr id="18" name="card"/>
          <p:cNvSpPr/>
          <p:nvPr/>
        </p:nvSpPr>
        <p:spPr>
          <a:xfrm>
            <a:off x="548640" y="3611880"/>
            <a:ext cx="4846320" cy="868680"/>
          </a:xfrm>
          <a:prstGeom prst="roundRect">
            <a:avLst>
              <a:gd name="adj" fmla="val 12632"/>
            </a:avLst>
          </a:prstGeom>
          <a:solidFill>
            <a:schemeClr val="bg2"/>
          </a:solidFill>
          <a:ln w="12700">
            <a:solidFill>
              <a:schemeClr val="bg2"/>
            </a:solidFill>
            <a:prstDash val="solid"/>
          </a:ln>
        </p:spPr>
        <p:txBody>
          <a:bodyPr/>
          <a:lstStyle/>
          <a:p>
            <a:endParaRPr lang="en-US"/>
          </a:p>
        </p:txBody>
      </p:sp>
      <p:sp>
        <p:nvSpPr>
          <p:cNvPr id="19" name="Text 17"/>
          <p:cNvSpPr txBox="1"/>
          <p:nvPr/>
        </p:nvSpPr>
        <p:spPr>
          <a:xfrm>
            <a:off x="777240" y="3657600"/>
            <a:ext cx="1828800" cy="2743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Average</a:t>
            </a:r>
            <a:endParaRPr lang="en-US" sz="1300" dirty="0"/>
          </a:p>
        </p:txBody>
      </p:sp>
      <p:sp>
        <p:nvSpPr>
          <p:cNvPr id="20" name="Text 18"/>
          <p:cNvSpPr txBox="1"/>
          <p:nvPr/>
        </p:nvSpPr>
        <p:spPr>
          <a:xfrm>
            <a:off x="777240" y="3913632"/>
            <a:ext cx="4389120" cy="502920"/>
          </a:xfrm>
          <a:prstGeom prst="rect">
            <a:avLst/>
          </a:prstGeom>
          <a:noFill/>
          <a:ln/>
        </p:spPr>
        <p:txBody>
          <a:bodyPr wrap="square" lIns="0" tIns="0" rIns="0" bIns="0" rtlCol="0" anchor="ctr"/>
          <a:lstStyle/>
          <a:p>
            <a:pPr marL="0" indent="0">
              <a:buNone/>
            </a:pPr>
            <a:r>
              <a:rPr lang="en-US" sz="2800" b="1" dirty="0">
                <a:solidFill>
                  <a:schemeClr val="tx1"/>
                </a:solidFill>
                <a:latin typeface="Calibri" pitchFamily="34" charset="0"/>
                <a:ea typeface="Calibri" pitchFamily="34" charset="-122"/>
                <a:cs typeface="Calibri" pitchFamily="34" charset="-120"/>
              </a:rPr>
              <a:t>253.5 JOD</a:t>
            </a:r>
            <a:endParaRPr lang="en-US" sz="2800" dirty="0"/>
          </a:p>
        </p:txBody>
      </p:sp>
      <p:sp>
        <p:nvSpPr>
          <p:cNvPr id="21" name="card"/>
          <p:cNvSpPr/>
          <p:nvPr/>
        </p:nvSpPr>
        <p:spPr>
          <a:xfrm>
            <a:off x="548640" y="4572000"/>
            <a:ext cx="4846320" cy="868680"/>
          </a:xfrm>
          <a:prstGeom prst="roundRect">
            <a:avLst>
              <a:gd name="adj" fmla="val 12632"/>
            </a:avLst>
          </a:prstGeom>
          <a:solidFill>
            <a:schemeClr val="bg2"/>
          </a:solidFill>
          <a:ln w="12700">
            <a:solidFill>
              <a:schemeClr val="bg2"/>
            </a:solidFill>
            <a:prstDash val="solid"/>
          </a:ln>
        </p:spPr>
        <p:txBody>
          <a:bodyPr/>
          <a:lstStyle/>
          <a:p>
            <a:endParaRPr lang="en-US"/>
          </a:p>
        </p:txBody>
      </p:sp>
      <p:sp>
        <p:nvSpPr>
          <p:cNvPr id="22" name="Text 20"/>
          <p:cNvSpPr txBox="1"/>
          <p:nvPr/>
        </p:nvSpPr>
        <p:spPr>
          <a:xfrm>
            <a:off x="777240" y="4617720"/>
            <a:ext cx="2743200" cy="2743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Most frequent range</a:t>
            </a:r>
            <a:endParaRPr lang="en-US" sz="1300" dirty="0"/>
          </a:p>
        </p:txBody>
      </p:sp>
      <p:sp>
        <p:nvSpPr>
          <p:cNvPr id="23" name="Text 21"/>
          <p:cNvSpPr txBox="1"/>
          <p:nvPr/>
        </p:nvSpPr>
        <p:spPr>
          <a:xfrm>
            <a:off x="777240" y="4873752"/>
            <a:ext cx="4389120" cy="502920"/>
          </a:xfrm>
          <a:prstGeom prst="rect">
            <a:avLst/>
          </a:prstGeom>
          <a:noFill/>
          <a:ln/>
        </p:spPr>
        <p:txBody>
          <a:bodyPr wrap="square" lIns="0" tIns="0" rIns="0" bIns="0" rtlCol="0" anchor="ctr"/>
          <a:lstStyle/>
          <a:p>
            <a:pPr marL="0" indent="0">
              <a:buNone/>
            </a:pPr>
            <a:r>
              <a:rPr lang="en-US" sz="2800" b="1" dirty="0">
                <a:solidFill>
                  <a:srgbClr val="2E8B63"/>
                </a:solidFill>
                <a:latin typeface="Calibri" pitchFamily="34" charset="0"/>
                <a:ea typeface="Calibri" pitchFamily="34" charset="-122"/>
                <a:cs typeface="Calibri" pitchFamily="34" charset="-120"/>
              </a:rPr>
              <a:t>1-100 JOD</a:t>
            </a:r>
            <a:r>
              <a:rPr lang="en-US" sz="1400" dirty="0">
                <a:solidFill>
                  <a:schemeClr val="tx2"/>
                </a:solidFill>
                <a:latin typeface="Calibri" pitchFamily="34" charset="0"/>
                <a:ea typeface="Calibri" pitchFamily="34" charset="-122"/>
                <a:cs typeface="Calibri" pitchFamily="34" charset="-120"/>
              </a:rPr>
              <a:t>   9 of 10 payments</a:t>
            </a:r>
            <a:endParaRPr lang="en-US" sz="2800" dirty="0"/>
          </a:p>
        </p:txBody>
      </p:sp>
      <p:sp>
        <p:nvSpPr>
          <p:cNvPr id="24" name="Text 22"/>
          <p:cNvSpPr txBox="1"/>
          <p:nvPr/>
        </p:nvSpPr>
        <p:spPr>
          <a:xfrm>
            <a:off x="6766560" y="1691640"/>
            <a:ext cx="4846320" cy="365760"/>
          </a:xfrm>
          <a:prstGeom prst="rect">
            <a:avLst/>
          </a:prstGeom>
          <a:noFill/>
          <a:ln/>
        </p:spPr>
        <p:txBody>
          <a:bodyPr wrap="square" lIns="0" tIns="0" rIns="0" bIns="0" rtlCol="0" anchor="t"/>
          <a:lstStyle/>
          <a:p>
            <a:pPr marL="0" indent="0">
              <a:buNone/>
            </a:pPr>
            <a:r>
              <a:rPr lang="en-US" sz="1800" b="1" dirty="0">
                <a:solidFill>
                  <a:schemeClr val="tx1"/>
                </a:solidFill>
                <a:latin typeface="Calibri" pitchFamily="34" charset="0"/>
                <a:ea typeface="Calibri" pitchFamily="34" charset="-122"/>
                <a:cs typeface="Calibri" pitchFamily="34" charset="-120"/>
              </a:rPr>
              <a:t>Year 2: the large payment shrinks</a:t>
            </a:r>
            <a:endParaRPr lang="en-US" sz="1800" dirty="0"/>
          </a:p>
        </p:txBody>
      </p:sp>
      <p:sp>
        <p:nvSpPr>
          <p:cNvPr id="25" name="small payment"/>
          <p:cNvSpPr/>
          <p:nvPr/>
        </p:nvSpPr>
        <p:spPr>
          <a:xfrm>
            <a:off x="6766560"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26" name="small payment"/>
          <p:cNvSpPr/>
          <p:nvPr/>
        </p:nvSpPr>
        <p:spPr>
          <a:xfrm>
            <a:off x="7141464"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27" name="small payment"/>
          <p:cNvSpPr/>
          <p:nvPr/>
        </p:nvSpPr>
        <p:spPr>
          <a:xfrm>
            <a:off x="7516368"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28" name="small payment"/>
          <p:cNvSpPr/>
          <p:nvPr/>
        </p:nvSpPr>
        <p:spPr>
          <a:xfrm>
            <a:off x="7891272"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29" name="small payment"/>
          <p:cNvSpPr/>
          <p:nvPr/>
        </p:nvSpPr>
        <p:spPr>
          <a:xfrm>
            <a:off x="8266176"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30" name="small payment"/>
          <p:cNvSpPr/>
          <p:nvPr/>
        </p:nvSpPr>
        <p:spPr>
          <a:xfrm>
            <a:off x="8641080"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31" name="small payment"/>
          <p:cNvSpPr/>
          <p:nvPr/>
        </p:nvSpPr>
        <p:spPr>
          <a:xfrm>
            <a:off x="9015984"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32" name="small payment"/>
          <p:cNvSpPr/>
          <p:nvPr/>
        </p:nvSpPr>
        <p:spPr>
          <a:xfrm>
            <a:off x="9390888"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33" name="small payment"/>
          <p:cNvSpPr/>
          <p:nvPr/>
        </p:nvSpPr>
        <p:spPr>
          <a:xfrm>
            <a:off x="9765792" y="2889504"/>
            <a:ext cx="310896" cy="310896"/>
          </a:xfrm>
          <a:prstGeom prst="ellipse">
            <a:avLst/>
          </a:prstGeom>
          <a:solidFill>
            <a:schemeClr val="accent1"/>
          </a:solidFill>
          <a:ln w="12700">
            <a:solidFill>
              <a:schemeClr val="accent1"/>
            </a:solidFill>
            <a:prstDash val="solid"/>
          </a:ln>
        </p:spPr>
        <p:txBody>
          <a:bodyPr/>
          <a:lstStyle/>
          <a:p>
            <a:endParaRPr lang="en-US"/>
          </a:p>
        </p:txBody>
      </p:sp>
      <p:sp>
        <p:nvSpPr>
          <p:cNvPr id="34" name="large payment"/>
          <p:cNvSpPr/>
          <p:nvPr/>
        </p:nvSpPr>
        <p:spPr>
          <a:xfrm>
            <a:off x="11109960" y="2697480"/>
            <a:ext cx="502920" cy="502920"/>
          </a:xfrm>
          <a:prstGeom prst="ellipse">
            <a:avLst/>
          </a:prstGeom>
          <a:solidFill>
            <a:schemeClr val="accent2"/>
          </a:solidFill>
          <a:ln w="12700">
            <a:solidFill>
              <a:schemeClr val="accent2"/>
            </a:solidFill>
            <a:prstDash val="solid"/>
          </a:ln>
        </p:spPr>
        <p:txBody>
          <a:bodyPr/>
          <a:lstStyle/>
          <a:p>
            <a:endParaRPr lang="en-US"/>
          </a:p>
        </p:txBody>
      </p:sp>
      <p:sp>
        <p:nvSpPr>
          <p:cNvPr id="35" name="Text 33"/>
          <p:cNvSpPr txBox="1"/>
          <p:nvPr/>
        </p:nvSpPr>
        <p:spPr>
          <a:xfrm>
            <a:off x="11109960" y="2697480"/>
            <a:ext cx="502920" cy="50292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300</a:t>
            </a:r>
            <a:endParaRPr lang="en-US" sz="1200" dirty="0"/>
          </a:p>
        </p:txBody>
      </p:sp>
      <p:sp>
        <p:nvSpPr>
          <p:cNvPr id="36" name="Text 34"/>
          <p:cNvSpPr txBox="1"/>
          <p:nvPr/>
        </p:nvSpPr>
        <p:spPr>
          <a:xfrm>
            <a:off x="6766560" y="3246120"/>
            <a:ext cx="3291840" cy="27432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9 payments: 20 to 95 JOD</a:t>
            </a:r>
            <a:endParaRPr lang="en-US" sz="1200" dirty="0"/>
          </a:p>
        </p:txBody>
      </p:sp>
      <p:sp>
        <p:nvSpPr>
          <p:cNvPr id="37" name="card"/>
          <p:cNvSpPr/>
          <p:nvPr/>
        </p:nvSpPr>
        <p:spPr>
          <a:xfrm>
            <a:off x="6766560" y="3611880"/>
            <a:ext cx="4846320" cy="868680"/>
          </a:xfrm>
          <a:prstGeom prst="roundRect">
            <a:avLst>
              <a:gd name="adj" fmla="val 12632"/>
            </a:avLst>
          </a:prstGeom>
          <a:solidFill>
            <a:schemeClr val="bg2"/>
          </a:solidFill>
          <a:ln w="12700">
            <a:solidFill>
              <a:schemeClr val="bg2"/>
            </a:solidFill>
            <a:prstDash val="solid"/>
          </a:ln>
        </p:spPr>
        <p:txBody>
          <a:bodyPr/>
          <a:lstStyle/>
          <a:p>
            <a:endParaRPr lang="en-US"/>
          </a:p>
        </p:txBody>
      </p:sp>
      <p:sp>
        <p:nvSpPr>
          <p:cNvPr id="38" name="Text 36"/>
          <p:cNvSpPr txBox="1"/>
          <p:nvPr/>
        </p:nvSpPr>
        <p:spPr>
          <a:xfrm>
            <a:off x="6995160" y="3657600"/>
            <a:ext cx="1828800" cy="2743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Average</a:t>
            </a:r>
            <a:endParaRPr lang="en-US" sz="1300" dirty="0"/>
          </a:p>
        </p:txBody>
      </p:sp>
      <p:sp>
        <p:nvSpPr>
          <p:cNvPr id="39" name="Text 37"/>
          <p:cNvSpPr txBox="1"/>
          <p:nvPr/>
        </p:nvSpPr>
        <p:spPr>
          <a:xfrm>
            <a:off x="6995160" y="3913632"/>
            <a:ext cx="4389120" cy="502920"/>
          </a:xfrm>
          <a:prstGeom prst="rect">
            <a:avLst/>
          </a:prstGeom>
          <a:noFill/>
          <a:ln/>
        </p:spPr>
        <p:txBody>
          <a:bodyPr wrap="square" lIns="0" tIns="0" rIns="0" bIns="0" rtlCol="0" anchor="ctr"/>
          <a:lstStyle/>
          <a:p>
            <a:pPr marL="0" indent="0">
              <a:buNone/>
            </a:pPr>
            <a:r>
              <a:rPr lang="en-US" sz="2800" b="1" dirty="0">
                <a:solidFill>
                  <a:srgbClr val="C0463C"/>
                </a:solidFill>
                <a:latin typeface="Calibri" pitchFamily="34" charset="0"/>
                <a:ea typeface="Calibri" pitchFamily="34" charset="-122"/>
                <a:cs typeface="Calibri" pitchFamily="34" charset="-120"/>
              </a:rPr>
              <a:t>83.5 JOD</a:t>
            </a:r>
            <a:endParaRPr lang="en-US" sz="2800" dirty="0"/>
          </a:p>
        </p:txBody>
      </p:sp>
      <p:sp>
        <p:nvSpPr>
          <p:cNvPr id="40" name="card"/>
          <p:cNvSpPr/>
          <p:nvPr/>
        </p:nvSpPr>
        <p:spPr>
          <a:xfrm>
            <a:off x="6766560" y="4572000"/>
            <a:ext cx="4846320" cy="868680"/>
          </a:xfrm>
          <a:prstGeom prst="roundRect">
            <a:avLst>
              <a:gd name="adj" fmla="val 12632"/>
            </a:avLst>
          </a:prstGeom>
          <a:solidFill>
            <a:schemeClr val="bg2"/>
          </a:solidFill>
          <a:ln w="12700">
            <a:solidFill>
              <a:schemeClr val="bg2"/>
            </a:solidFill>
            <a:prstDash val="solid"/>
          </a:ln>
        </p:spPr>
        <p:txBody>
          <a:bodyPr/>
          <a:lstStyle/>
          <a:p>
            <a:endParaRPr lang="en-US"/>
          </a:p>
        </p:txBody>
      </p:sp>
      <p:sp>
        <p:nvSpPr>
          <p:cNvPr id="41" name="Text 39"/>
          <p:cNvSpPr txBox="1"/>
          <p:nvPr/>
        </p:nvSpPr>
        <p:spPr>
          <a:xfrm>
            <a:off x="6995160" y="4617720"/>
            <a:ext cx="2743200" cy="2743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Most frequent range</a:t>
            </a:r>
            <a:endParaRPr lang="en-US" sz="1300" dirty="0"/>
          </a:p>
        </p:txBody>
      </p:sp>
      <p:sp>
        <p:nvSpPr>
          <p:cNvPr id="42" name="Text 40"/>
          <p:cNvSpPr txBox="1"/>
          <p:nvPr/>
        </p:nvSpPr>
        <p:spPr>
          <a:xfrm>
            <a:off x="6995160" y="4873752"/>
            <a:ext cx="4389120" cy="502920"/>
          </a:xfrm>
          <a:prstGeom prst="rect">
            <a:avLst/>
          </a:prstGeom>
          <a:noFill/>
          <a:ln/>
        </p:spPr>
        <p:txBody>
          <a:bodyPr wrap="square" lIns="0" tIns="0" rIns="0" bIns="0" rtlCol="0" anchor="ctr"/>
          <a:lstStyle/>
          <a:p>
            <a:pPr marL="0" indent="0">
              <a:buNone/>
            </a:pPr>
            <a:r>
              <a:rPr lang="en-US" sz="2800" b="1" dirty="0">
                <a:solidFill>
                  <a:srgbClr val="2E8B63"/>
                </a:solidFill>
                <a:latin typeface="Calibri" pitchFamily="34" charset="0"/>
                <a:ea typeface="Calibri" pitchFamily="34" charset="-122"/>
                <a:cs typeface="Calibri" pitchFamily="34" charset="-120"/>
              </a:rPr>
              <a:t>1-100 JOD</a:t>
            </a:r>
            <a:r>
              <a:rPr lang="en-US" sz="1400" dirty="0">
                <a:solidFill>
                  <a:schemeClr val="tx2"/>
                </a:solidFill>
                <a:latin typeface="Calibri" pitchFamily="34" charset="0"/>
                <a:ea typeface="Calibri" pitchFamily="34" charset="-122"/>
                <a:cs typeface="Calibri" pitchFamily="34" charset="-120"/>
              </a:rPr>
              <a:t>   9 of 10 payments</a:t>
            </a:r>
            <a:endParaRPr lang="en-US" sz="2800" dirty="0"/>
          </a:p>
        </p:txBody>
      </p:sp>
      <p:sp>
        <p:nvSpPr>
          <p:cNvPr id="43" name="arrow"/>
          <p:cNvSpPr/>
          <p:nvPr/>
        </p:nvSpPr>
        <p:spPr>
          <a:xfrm>
            <a:off x="5669280" y="2468880"/>
            <a:ext cx="822960" cy="457200"/>
          </a:xfrm>
          <a:prstGeom prst="rightArrow">
            <a:avLst/>
          </a:prstGeom>
          <a:solidFill>
            <a:schemeClr val="accent4"/>
          </a:solidFill>
          <a:ln w="12700">
            <a:solidFill>
              <a:schemeClr val="accent4"/>
            </a:solidFill>
            <a:prstDash val="solid"/>
          </a:ln>
        </p:spPr>
        <p:txBody>
          <a:bodyPr/>
          <a:lstStyle/>
          <a:p>
            <a:endParaRPr lang="en-US"/>
          </a:p>
        </p:txBody>
      </p:sp>
      <p:sp>
        <p:nvSpPr>
          <p:cNvPr id="44" name="Text 42"/>
          <p:cNvSpPr txBox="1"/>
          <p:nvPr/>
        </p:nvSpPr>
        <p:spPr>
          <a:xfrm>
            <a:off x="5394960" y="3657600"/>
            <a:ext cx="1371600" cy="777240"/>
          </a:xfrm>
          <a:prstGeom prst="rect">
            <a:avLst/>
          </a:prstGeom>
          <a:noFill/>
          <a:ln/>
        </p:spPr>
        <p:txBody>
          <a:bodyPr wrap="square" lIns="0" tIns="0" rIns="0" bIns="0" rtlCol="0" anchor="ctr"/>
          <a:lstStyle/>
          <a:p>
            <a:pPr marL="0" indent="0" algn="ctr">
              <a:buNone/>
            </a:pPr>
            <a:r>
              <a:rPr lang="en-US" sz="2800" b="1" dirty="0">
                <a:solidFill>
                  <a:srgbClr val="C0463C"/>
                </a:solidFill>
                <a:latin typeface="Calibri" pitchFamily="34" charset="0"/>
                <a:ea typeface="Calibri" pitchFamily="34" charset="-122"/>
                <a:cs typeface="Calibri" pitchFamily="34" charset="-120"/>
              </a:rPr>
              <a:t>-67%</a:t>
            </a:r>
            <a:endParaRPr lang="en-US" sz="2800" dirty="0"/>
          </a:p>
        </p:txBody>
      </p:sp>
      <p:sp>
        <p:nvSpPr>
          <p:cNvPr id="45" name="Text 43"/>
          <p:cNvSpPr txBox="1"/>
          <p:nvPr/>
        </p:nvSpPr>
        <p:spPr>
          <a:xfrm>
            <a:off x="5394960" y="4617720"/>
            <a:ext cx="1371600" cy="777240"/>
          </a:xfrm>
          <a:prstGeom prst="rect">
            <a:avLst/>
          </a:prstGeom>
          <a:noFill/>
          <a:ln/>
        </p:spPr>
        <p:txBody>
          <a:bodyPr wrap="square" lIns="0" tIns="0" rIns="0" bIns="0" rtlCol="0" anchor="ctr"/>
          <a:lstStyle/>
          <a:p>
            <a:pPr marL="0" indent="0" algn="ctr">
              <a:buNone/>
            </a:pPr>
            <a:r>
              <a:rPr lang="en-US" sz="1800" b="1" dirty="0">
                <a:solidFill>
                  <a:srgbClr val="2E8B63"/>
                </a:solidFill>
                <a:latin typeface="Calibri" pitchFamily="34" charset="0"/>
                <a:ea typeface="Calibri" pitchFamily="34" charset="-122"/>
                <a:cs typeface="Calibri" pitchFamily="34" charset="-120"/>
              </a:rPr>
              <a:t>no change</a:t>
            </a:r>
            <a:endParaRPr lang="en-US" sz="1800" dirty="0"/>
          </a:p>
        </p:txBody>
      </p:sp>
      <p:sp>
        <p:nvSpPr>
          <p:cNvPr id="46" name="takeaway"/>
          <p:cNvSpPr/>
          <p:nvPr/>
        </p:nvSpPr>
        <p:spPr>
          <a:xfrm>
            <a:off x="548640" y="5623560"/>
            <a:ext cx="11064240" cy="640080"/>
          </a:xfrm>
          <a:prstGeom prst="roundRect">
            <a:avLst>
              <a:gd name="adj" fmla="val 17143"/>
            </a:avLst>
          </a:prstGeom>
          <a:solidFill>
            <a:schemeClr val="bg2"/>
          </a:solidFill>
          <a:ln w="12700">
            <a:solidFill>
              <a:schemeClr val="bg2"/>
            </a:solidFill>
            <a:prstDash val="solid"/>
          </a:ln>
        </p:spPr>
        <p:txBody>
          <a:bodyPr/>
          <a:lstStyle/>
          <a:p>
            <a:endParaRPr lang="en-US"/>
          </a:p>
        </p:txBody>
      </p:sp>
      <p:sp>
        <p:nvSpPr>
          <p:cNvPr id="47" name="Text 45"/>
          <p:cNvSpPr txBox="1"/>
          <p:nvPr/>
        </p:nvSpPr>
        <p:spPr>
          <a:xfrm>
            <a:off x="777240" y="5760720"/>
            <a:ext cx="10607040" cy="36576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Illustrative:  </a:t>
            </a:r>
            <a:r>
              <a:rPr lang="en-US" sz="1600" dirty="0">
                <a:solidFill>
                  <a:schemeClr val="tx1"/>
                </a:solidFill>
                <a:latin typeface="Calibri" pitchFamily="34" charset="0"/>
                <a:ea typeface="Calibri" pitchFamily="34" charset="-122"/>
                <a:cs typeface="Calibri" pitchFamily="34" charset="-120"/>
              </a:rPr>
              <a:t>the average says everything changed. The most frequent range shows only one payment did.</a:t>
            </a:r>
            <a:endParaRPr lang="en-US" sz="1600" dirty="0"/>
          </a:p>
        </p:txBody>
      </p:sp>
      <p:sp>
        <p:nvSpPr>
          <p:cNvPr id="48"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The fix: show the most frequent value range too</a:t>
            </a:r>
            <a:endParaRPr lang="en-US" sz="2800" dirty="0"/>
          </a:p>
        </p:txBody>
      </p:sp>
      <p:sp>
        <p:nvSpPr>
          <p:cNvPr id="3" name="card"/>
          <p:cNvSpPr/>
          <p:nvPr/>
        </p:nvSpPr>
        <p:spPr>
          <a:xfrm>
            <a:off x="548640" y="1371600"/>
            <a:ext cx="356616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4" name="step circle"/>
          <p:cNvSpPr/>
          <p:nvPr/>
        </p:nvSpPr>
        <p:spPr>
          <a:xfrm>
            <a:off x="777240" y="1618488"/>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5" name="Text 3"/>
          <p:cNvSpPr txBox="1"/>
          <p:nvPr/>
        </p:nvSpPr>
        <p:spPr>
          <a:xfrm>
            <a:off x="777240" y="1618488"/>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371600"/>
            <a:ext cx="2560320" cy="96012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Group payments into bands</a:t>
            </a:r>
            <a:endParaRPr lang="en-US" sz="1600" dirty="0"/>
          </a:p>
        </p:txBody>
      </p:sp>
      <p:sp>
        <p:nvSpPr>
          <p:cNvPr id="7" name="card"/>
          <p:cNvSpPr/>
          <p:nvPr/>
        </p:nvSpPr>
        <p:spPr>
          <a:xfrm>
            <a:off x="4297680" y="1371600"/>
            <a:ext cx="356616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8" name="step circle"/>
          <p:cNvSpPr/>
          <p:nvPr/>
        </p:nvSpPr>
        <p:spPr>
          <a:xfrm>
            <a:off x="4526280" y="1618488"/>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9" name="Text 7"/>
          <p:cNvSpPr txBox="1"/>
          <p:nvPr/>
        </p:nvSpPr>
        <p:spPr>
          <a:xfrm>
            <a:off x="4526280" y="1618488"/>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5166360" y="1371600"/>
            <a:ext cx="2560320" cy="96012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Count each band</a:t>
            </a:r>
            <a:endParaRPr lang="en-US" sz="1600" dirty="0"/>
          </a:p>
        </p:txBody>
      </p:sp>
      <p:sp>
        <p:nvSpPr>
          <p:cNvPr id="11" name="card"/>
          <p:cNvSpPr/>
          <p:nvPr/>
        </p:nvSpPr>
        <p:spPr>
          <a:xfrm>
            <a:off x="8046720" y="1371600"/>
            <a:ext cx="356616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12" name="step circle"/>
          <p:cNvSpPr/>
          <p:nvPr/>
        </p:nvSpPr>
        <p:spPr>
          <a:xfrm>
            <a:off x="8275320" y="1618488"/>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3" name="Text 11"/>
          <p:cNvSpPr txBox="1"/>
          <p:nvPr/>
        </p:nvSpPr>
        <p:spPr>
          <a:xfrm>
            <a:off x="8275320" y="1618488"/>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8915400" y="1371600"/>
            <a:ext cx="2560320" cy="96012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Report the busiest band</a:t>
            </a:r>
            <a:endParaRPr lang="en-US" sz="1600" dirty="0"/>
          </a:p>
        </p:txBody>
      </p:sp>
      <p:sp>
        <p:nvSpPr>
          <p:cNvPr id="15" name="data marker"/>
          <p:cNvSpPr/>
          <p:nvPr/>
        </p:nvSpPr>
        <p:spPr>
          <a:xfrm>
            <a:off x="548640" y="2560320"/>
            <a:ext cx="6583680" cy="347472"/>
          </a:xfrm>
          <a:prstGeom prst="roundRect">
            <a:avLst>
              <a:gd name="adj" fmla="val 21053"/>
            </a:avLst>
          </a:prstGeom>
          <a:solidFill>
            <a:schemeClr val="accent2"/>
          </a:solidFill>
          <a:ln w="12700">
            <a:solidFill>
              <a:schemeClr val="accent2"/>
            </a:solidFill>
            <a:prstDash val="solid"/>
          </a:ln>
        </p:spPr>
        <p:txBody>
          <a:bodyPr/>
          <a:lstStyle/>
          <a:p>
            <a:endParaRPr lang="en-US"/>
          </a:p>
        </p:txBody>
      </p:sp>
      <p:sp>
        <p:nvSpPr>
          <p:cNvPr id="16" name="Text 14"/>
          <p:cNvSpPr txBox="1"/>
          <p:nvPr/>
        </p:nvSpPr>
        <p:spPr>
          <a:xfrm>
            <a:off x="548640" y="2560320"/>
            <a:ext cx="658368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ILLUSTRATIVE BANDS AND COUNTS</a:t>
            </a:r>
            <a:endParaRPr lang="en-US" sz="1100" dirty="0"/>
          </a:p>
        </p:txBody>
      </p:sp>
      <p:graphicFrame>
        <p:nvGraphicFramePr>
          <p:cNvPr id="17" name="Chart 0"/>
          <p:cNvGraphicFramePr/>
          <p:nvPr/>
        </p:nvGraphicFramePr>
        <p:xfrm>
          <a:off x="548640" y="2971800"/>
          <a:ext cx="65836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txBox="1"/>
          <p:nvPr/>
        </p:nvSpPr>
        <p:spPr>
          <a:xfrm>
            <a:off x="7406640" y="2560320"/>
            <a:ext cx="4206240" cy="36576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Report all three together</a:t>
            </a:r>
            <a:endParaRPr lang="en-US" sz="1600" dirty="0"/>
          </a:p>
        </p:txBody>
      </p:sp>
      <p:sp>
        <p:nvSpPr>
          <p:cNvPr id="19" name="report chip"/>
          <p:cNvSpPr/>
          <p:nvPr/>
        </p:nvSpPr>
        <p:spPr>
          <a:xfrm>
            <a:off x="7406640" y="3063240"/>
            <a:ext cx="4206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20" name="Text 17"/>
          <p:cNvSpPr txBox="1"/>
          <p:nvPr/>
        </p:nvSpPr>
        <p:spPr>
          <a:xfrm>
            <a:off x="7635240" y="3063240"/>
            <a:ext cx="3749040" cy="9144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Average value</a:t>
            </a:r>
            <a:endParaRPr lang="en-US" sz="1700" dirty="0"/>
          </a:p>
          <a:p>
            <a:pPr marL="0" indent="0">
              <a:buNone/>
            </a:pPr>
            <a:r>
              <a:rPr lang="en-US" sz="1300" dirty="0">
                <a:solidFill>
                  <a:schemeClr val="tx2"/>
                </a:solidFill>
                <a:latin typeface="Calibri" pitchFamily="34" charset="0"/>
                <a:ea typeface="Calibri" pitchFamily="34" charset="-122"/>
                <a:cs typeface="Calibri" pitchFamily="34" charset="-120"/>
              </a:rPr>
              <a:t>keep for continuity</a:t>
            </a:r>
            <a:endParaRPr lang="en-US" sz="1700" dirty="0"/>
          </a:p>
        </p:txBody>
      </p:sp>
      <p:sp>
        <p:nvSpPr>
          <p:cNvPr id="21" name="report chip"/>
          <p:cNvSpPr/>
          <p:nvPr/>
        </p:nvSpPr>
        <p:spPr>
          <a:xfrm>
            <a:off x="7406640" y="4114800"/>
            <a:ext cx="4206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7635240" y="4114800"/>
            <a:ext cx="3749040" cy="9144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Most frequent range + share</a:t>
            </a:r>
            <a:endParaRPr lang="en-US" sz="1700" dirty="0"/>
          </a:p>
          <a:p>
            <a:pPr marL="0" indent="0">
              <a:buNone/>
            </a:pPr>
            <a:r>
              <a:rPr lang="en-US" sz="1300" dirty="0">
                <a:solidFill>
                  <a:schemeClr val="tx1"/>
                </a:solidFill>
                <a:latin typeface="Calibri" pitchFamily="34" charset="0"/>
                <a:ea typeface="Calibri" pitchFamily="34" charset="-122"/>
                <a:cs typeface="Calibri" pitchFamily="34" charset="-120"/>
              </a:rPr>
              <a:t>the new addition</a:t>
            </a:r>
            <a:endParaRPr lang="en-US" sz="1700" dirty="0"/>
          </a:p>
        </p:txBody>
      </p:sp>
      <p:sp>
        <p:nvSpPr>
          <p:cNvPr id="23" name="report chip"/>
          <p:cNvSpPr/>
          <p:nvPr/>
        </p:nvSpPr>
        <p:spPr>
          <a:xfrm>
            <a:off x="7406640" y="5166360"/>
            <a:ext cx="4206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24" name="Text 21"/>
          <p:cNvSpPr txBox="1"/>
          <p:nvPr/>
        </p:nvSpPr>
        <p:spPr>
          <a:xfrm>
            <a:off x="7635240" y="5166360"/>
            <a:ext cx="3749040" cy="9144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Median</a:t>
            </a:r>
            <a:endParaRPr lang="en-US" sz="1700" dirty="0"/>
          </a:p>
          <a:p>
            <a:pPr marL="0" indent="0">
              <a:buNone/>
            </a:pPr>
            <a:r>
              <a:rPr lang="en-US" sz="1300" dirty="0">
                <a:solidFill>
                  <a:schemeClr val="tx2"/>
                </a:solidFill>
                <a:latin typeface="Calibri" pitchFamily="34" charset="0"/>
                <a:ea typeface="Calibri" pitchFamily="34" charset="-122"/>
                <a:cs typeface="Calibri" pitchFamily="34" charset="-120"/>
              </a:rPr>
              <a:t>where available</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Where the most frequent value range would help</a:t>
            </a:r>
            <a:endParaRPr lang="en-US" sz="2800" dirty="0"/>
          </a:p>
        </p:txBody>
      </p:sp>
      <p:sp>
        <p:nvSpPr>
          <p:cNvPr id="3" name="data marker"/>
          <p:cNvSpPr/>
          <p:nvPr/>
        </p:nvSpPr>
        <p:spPr>
          <a:xfrm>
            <a:off x="548640" y="1280160"/>
            <a:ext cx="4389120" cy="347472"/>
          </a:xfrm>
          <a:prstGeom prst="roundRect">
            <a:avLst>
              <a:gd name="adj" fmla="val 21053"/>
            </a:avLst>
          </a:prstGeom>
          <a:solidFill>
            <a:schemeClr val="accent2"/>
          </a:solidFill>
          <a:ln w="12700">
            <a:solidFill>
              <a:schemeClr val="accent2"/>
            </a:solidFill>
            <a:prstDash val="solid"/>
          </a:ln>
        </p:spPr>
        <p:txBody>
          <a:bodyPr/>
          <a:lstStyle/>
          <a:p>
            <a:endParaRPr lang="en-US"/>
          </a:p>
        </p:txBody>
      </p:sp>
      <p:sp>
        <p:nvSpPr>
          <p:cNvPr id="4" name="Text 2"/>
          <p:cNvSpPr txBox="1"/>
          <p:nvPr/>
        </p:nvSpPr>
        <p:spPr>
          <a:xfrm>
            <a:off x="548640" y="1280160"/>
            <a:ext cx="438912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QUESTIONS TO TEST, NOT FINDINGS</a:t>
            </a:r>
            <a:endParaRPr lang="en-US" sz="1100" dirty="0"/>
          </a:p>
        </p:txBody>
      </p:sp>
      <p:sp>
        <p:nvSpPr>
          <p:cNvPr id="5" name="card"/>
          <p:cNvSpPr/>
          <p:nvPr/>
        </p:nvSpPr>
        <p:spPr>
          <a:xfrm>
            <a:off x="548640" y="1783080"/>
            <a:ext cx="3566160" cy="1737360"/>
          </a:xfrm>
          <a:prstGeom prst="roundRect">
            <a:avLst>
              <a:gd name="adj" fmla="val 6316"/>
            </a:avLst>
          </a:prstGeom>
          <a:solidFill>
            <a:schemeClr val="bg2"/>
          </a:solidFill>
          <a:ln w="12700">
            <a:solidFill>
              <a:schemeClr val="bg2"/>
            </a:solidFill>
            <a:prstDash val="solid"/>
          </a:ln>
        </p:spPr>
        <p:txBody>
          <a:bodyPr/>
          <a:lstStyle/>
          <a:p>
            <a:endParaRPr lang="en-US"/>
          </a:p>
        </p:txBody>
      </p:sp>
      <p:sp>
        <p:nvSpPr>
          <p:cNvPr id="6" name="number circle"/>
          <p:cNvSpPr/>
          <p:nvPr/>
        </p:nvSpPr>
        <p:spPr>
          <a:xfrm>
            <a:off x="777240" y="201168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7" name="Text 5"/>
          <p:cNvSpPr txBox="1"/>
          <p:nvPr/>
        </p:nvSpPr>
        <p:spPr>
          <a:xfrm>
            <a:off x="777240" y="201168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417320" y="2011680"/>
            <a:ext cx="2514600" cy="45720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Overall average</a:t>
            </a:r>
            <a:endParaRPr lang="en-US" sz="1600" dirty="0"/>
          </a:p>
        </p:txBody>
      </p:sp>
      <p:sp>
        <p:nvSpPr>
          <p:cNvPr id="9" name="Text 7"/>
          <p:cNvSpPr txBox="1"/>
          <p:nvPr/>
        </p:nvSpPr>
        <p:spPr>
          <a:xfrm>
            <a:off x="777240" y="2697480"/>
            <a:ext cx="3108960" cy="7315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Few big payments, or many small?</a:t>
            </a:r>
            <a:endParaRPr lang="en-US" sz="1600" dirty="0"/>
          </a:p>
        </p:txBody>
      </p:sp>
      <p:sp>
        <p:nvSpPr>
          <p:cNvPr id="10" name="card"/>
          <p:cNvSpPr/>
          <p:nvPr/>
        </p:nvSpPr>
        <p:spPr>
          <a:xfrm>
            <a:off x="4297680" y="1783080"/>
            <a:ext cx="3566160" cy="1737360"/>
          </a:xfrm>
          <a:prstGeom prst="roundRect">
            <a:avLst>
              <a:gd name="adj" fmla="val 6316"/>
            </a:avLst>
          </a:prstGeom>
          <a:solidFill>
            <a:schemeClr val="bg2"/>
          </a:solidFill>
          <a:ln w="12700">
            <a:solidFill>
              <a:schemeClr val="bg2"/>
            </a:solidFill>
            <a:prstDash val="solid"/>
          </a:ln>
        </p:spPr>
        <p:txBody>
          <a:bodyPr/>
          <a:lstStyle/>
          <a:p>
            <a:endParaRPr lang="en-US"/>
          </a:p>
        </p:txBody>
      </p:sp>
      <p:sp>
        <p:nvSpPr>
          <p:cNvPr id="11" name="number circle"/>
          <p:cNvSpPr/>
          <p:nvPr/>
        </p:nvSpPr>
        <p:spPr>
          <a:xfrm>
            <a:off x="4526280" y="201168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2" name="Text 10"/>
          <p:cNvSpPr txBox="1"/>
          <p:nvPr/>
        </p:nvSpPr>
        <p:spPr>
          <a:xfrm>
            <a:off x="4526280" y="201168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5166360" y="2011680"/>
            <a:ext cx="2514600" cy="45720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CliQ</a:t>
            </a:r>
            <a:endParaRPr lang="en-US" sz="1600" dirty="0"/>
          </a:p>
        </p:txBody>
      </p:sp>
      <p:sp>
        <p:nvSpPr>
          <p:cNvPr id="14" name="Text 12"/>
          <p:cNvSpPr txBox="1"/>
          <p:nvPr/>
        </p:nvSpPr>
        <p:spPr>
          <a:xfrm>
            <a:off x="4526280" y="2697480"/>
            <a:ext cx="3108960" cy="7315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Are small purchases driving growth?</a:t>
            </a:r>
            <a:endParaRPr lang="en-US" sz="1600" dirty="0"/>
          </a:p>
        </p:txBody>
      </p:sp>
      <p:sp>
        <p:nvSpPr>
          <p:cNvPr id="15" name="card"/>
          <p:cNvSpPr/>
          <p:nvPr/>
        </p:nvSpPr>
        <p:spPr>
          <a:xfrm>
            <a:off x="8046720" y="1783080"/>
            <a:ext cx="3566160" cy="1737360"/>
          </a:xfrm>
          <a:prstGeom prst="roundRect">
            <a:avLst>
              <a:gd name="adj" fmla="val 6316"/>
            </a:avLst>
          </a:prstGeom>
          <a:solidFill>
            <a:schemeClr val="bg2"/>
          </a:solidFill>
          <a:ln w="12700">
            <a:solidFill>
              <a:schemeClr val="bg2"/>
            </a:solidFill>
            <a:prstDash val="solid"/>
          </a:ln>
        </p:spPr>
        <p:txBody>
          <a:bodyPr/>
          <a:lstStyle/>
          <a:p>
            <a:endParaRPr lang="en-US"/>
          </a:p>
        </p:txBody>
      </p:sp>
      <p:sp>
        <p:nvSpPr>
          <p:cNvPr id="16" name="number circle"/>
          <p:cNvSpPr/>
          <p:nvPr/>
        </p:nvSpPr>
        <p:spPr>
          <a:xfrm>
            <a:off x="8275320" y="201168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7" name="Text 15"/>
          <p:cNvSpPr txBox="1"/>
          <p:nvPr/>
        </p:nvSpPr>
        <p:spPr>
          <a:xfrm>
            <a:off x="8275320" y="201168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915400" y="2011680"/>
            <a:ext cx="2514600" cy="45720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JoMoPay</a:t>
            </a:r>
            <a:endParaRPr lang="en-US" sz="1600" dirty="0"/>
          </a:p>
        </p:txBody>
      </p:sp>
      <p:sp>
        <p:nvSpPr>
          <p:cNvPr id="19" name="Text 17"/>
          <p:cNvSpPr txBox="1"/>
          <p:nvPr/>
        </p:nvSpPr>
        <p:spPr>
          <a:xfrm>
            <a:off x="8275320" y="2697480"/>
            <a:ext cx="3108960" cy="7315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Is wallet spending small-value?</a:t>
            </a:r>
            <a:endParaRPr lang="en-US" sz="1600" dirty="0"/>
          </a:p>
        </p:txBody>
      </p:sp>
      <p:sp>
        <p:nvSpPr>
          <p:cNvPr id="20" name="card"/>
          <p:cNvSpPr/>
          <p:nvPr/>
        </p:nvSpPr>
        <p:spPr>
          <a:xfrm>
            <a:off x="548640" y="3703320"/>
            <a:ext cx="3566160" cy="1737360"/>
          </a:xfrm>
          <a:prstGeom prst="roundRect">
            <a:avLst>
              <a:gd name="adj" fmla="val 6316"/>
            </a:avLst>
          </a:prstGeom>
          <a:solidFill>
            <a:schemeClr val="bg2"/>
          </a:solidFill>
          <a:ln w="12700">
            <a:solidFill>
              <a:schemeClr val="bg2"/>
            </a:solidFill>
            <a:prstDash val="solid"/>
          </a:ln>
        </p:spPr>
        <p:txBody>
          <a:bodyPr/>
          <a:lstStyle/>
          <a:p>
            <a:endParaRPr lang="en-US"/>
          </a:p>
        </p:txBody>
      </p:sp>
      <p:sp>
        <p:nvSpPr>
          <p:cNvPr id="21" name="number circle"/>
          <p:cNvSpPr/>
          <p:nvPr/>
        </p:nvSpPr>
        <p:spPr>
          <a:xfrm>
            <a:off x="777240" y="393192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22" name="Text 20"/>
          <p:cNvSpPr txBox="1"/>
          <p:nvPr/>
        </p:nvSpPr>
        <p:spPr>
          <a:xfrm>
            <a:off x="777240" y="393192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1417320" y="3931920"/>
            <a:ext cx="2514600" cy="45720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ECCU cheques</a:t>
            </a:r>
            <a:endParaRPr lang="en-US" sz="1600" dirty="0"/>
          </a:p>
        </p:txBody>
      </p:sp>
      <p:sp>
        <p:nvSpPr>
          <p:cNvPr id="24" name="Text 22"/>
          <p:cNvSpPr txBox="1"/>
          <p:nvPr/>
        </p:nvSpPr>
        <p:spPr>
          <a:xfrm>
            <a:off x="777240" y="4617720"/>
            <a:ext cx="3108960" cy="7315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Are low-value cheques leaving?</a:t>
            </a:r>
            <a:endParaRPr lang="en-US" sz="1600" dirty="0"/>
          </a:p>
        </p:txBody>
      </p:sp>
      <p:sp>
        <p:nvSpPr>
          <p:cNvPr id="25" name="card"/>
          <p:cNvSpPr/>
          <p:nvPr/>
        </p:nvSpPr>
        <p:spPr>
          <a:xfrm>
            <a:off x="4297680" y="3703320"/>
            <a:ext cx="3566160" cy="1737360"/>
          </a:xfrm>
          <a:prstGeom prst="roundRect">
            <a:avLst>
              <a:gd name="adj" fmla="val 6316"/>
            </a:avLst>
          </a:prstGeom>
          <a:solidFill>
            <a:schemeClr val="bg2"/>
          </a:solidFill>
          <a:ln w="12700">
            <a:solidFill>
              <a:schemeClr val="bg2"/>
            </a:solidFill>
            <a:prstDash val="solid"/>
          </a:ln>
        </p:spPr>
        <p:txBody>
          <a:bodyPr/>
          <a:lstStyle/>
          <a:p>
            <a:endParaRPr lang="en-US"/>
          </a:p>
        </p:txBody>
      </p:sp>
      <p:sp>
        <p:nvSpPr>
          <p:cNvPr id="26" name="number circle"/>
          <p:cNvSpPr/>
          <p:nvPr/>
        </p:nvSpPr>
        <p:spPr>
          <a:xfrm>
            <a:off x="4526280" y="393192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27" name="Text 25"/>
          <p:cNvSpPr txBox="1"/>
          <p:nvPr/>
        </p:nvSpPr>
        <p:spPr>
          <a:xfrm>
            <a:off x="4526280" y="393192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28" name="Text 26"/>
          <p:cNvSpPr txBox="1"/>
          <p:nvPr/>
        </p:nvSpPr>
        <p:spPr>
          <a:xfrm>
            <a:off x="5166360" y="3931920"/>
            <a:ext cx="2514600" cy="45720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eFAWATEER Education</a:t>
            </a:r>
            <a:endParaRPr lang="en-US" sz="1600" dirty="0"/>
          </a:p>
        </p:txBody>
      </p:sp>
      <p:sp>
        <p:nvSpPr>
          <p:cNvPr id="29" name="Text 27"/>
          <p:cNvSpPr txBox="1"/>
          <p:nvPr/>
        </p:nvSpPr>
        <p:spPr>
          <a:xfrm>
            <a:off x="4526280" y="4617720"/>
            <a:ext cx="3108960" cy="7315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More payments, smaller each?</a:t>
            </a:r>
            <a:endParaRPr lang="en-US" sz="1600" dirty="0"/>
          </a:p>
        </p:txBody>
      </p:sp>
      <p:sp>
        <p:nvSpPr>
          <p:cNvPr id="30" name="card"/>
          <p:cNvSpPr/>
          <p:nvPr/>
        </p:nvSpPr>
        <p:spPr>
          <a:xfrm>
            <a:off x="8046720" y="3703320"/>
            <a:ext cx="3566160" cy="1737360"/>
          </a:xfrm>
          <a:prstGeom prst="roundRect">
            <a:avLst>
              <a:gd name="adj" fmla="val 6316"/>
            </a:avLst>
          </a:prstGeom>
          <a:solidFill>
            <a:schemeClr val="bg2"/>
          </a:solidFill>
          <a:ln w="12700">
            <a:solidFill>
              <a:schemeClr val="bg2"/>
            </a:solidFill>
            <a:prstDash val="solid"/>
          </a:ln>
        </p:spPr>
        <p:txBody>
          <a:bodyPr/>
          <a:lstStyle/>
          <a:p>
            <a:endParaRPr lang="en-US"/>
          </a:p>
        </p:txBody>
      </p:sp>
      <p:sp>
        <p:nvSpPr>
          <p:cNvPr id="31" name="number circle"/>
          <p:cNvSpPr/>
          <p:nvPr/>
        </p:nvSpPr>
        <p:spPr>
          <a:xfrm>
            <a:off x="8275320" y="393192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32" name="Text 30"/>
          <p:cNvSpPr txBox="1"/>
          <p:nvPr/>
        </p:nvSpPr>
        <p:spPr>
          <a:xfrm>
            <a:off x="8275320" y="393192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33" name="Text 31"/>
          <p:cNvSpPr txBox="1"/>
          <p:nvPr/>
        </p:nvSpPr>
        <p:spPr>
          <a:xfrm>
            <a:off x="8915400" y="3931920"/>
            <a:ext cx="2514600" cy="45720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ACH</a:t>
            </a:r>
            <a:endParaRPr lang="en-US" sz="1600" dirty="0"/>
          </a:p>
        </p:txBody>
      </p:sp>
      <p:sp>
        <p:nvSpPr>
          <p:cNvPr id="34" name="Text 32"/>
          <p:cNvSpPr txBox="1"/>
          <p:nvPr/>
        </p:nvSpPr>
        <p:spPr>
          <a:xfrm>
            <a:off x="8275320" y="4617720"/>
            <a:ext cx="3108960" cy="7315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Is non-salary growth small or large payments?</a:t>
            </a:r>
            <a:endParaRPr lang="en-US" sz="1600" dirty="0"/>
          </a:p>
        </p:txBody>
      </p:sp>
      <p:sp>
        <p:nvSpPr>
          <p:cNvPr id="35" name="data needed"/>
          <p:cNvSpPr/>
          <p:nvPr/>
        </p:nvSpPr>
        <p:spPr>
          <a:xfrm>
            <a:off x="548640" y="5669280"/>
            <a:ext cx="11064240" cy="594360"/>
          </a:xfrm>
          <a:prstGeom prst="roundRect">
            <a:avLst>
              <a:gd name="adj" fmla="val 18462"/>
            </a:avLst>
          </a:prstGeom>
          <a:solidFill>
            <a:schemeClr val="accent1"/>
          </a:solidFill>
          <a:ln w="12700">
            <a:solidFill>
              <a:schemeClr val="accent1"/>
            </a:solidFill>
            <a:prstDash val="solid"/>
          </a:ln>
        </p:spPr>
        <p:txBody>
          <a:bodyPr/>
          <a:lstStyle/>
          <a:p>
            <a:endParaRPr lang="en-US"/>
          </a:p>
        </p:txBody>
      </p:sp>
      <p:sp>
        <p:nvSpPr>
          <p:cNvPr id="36" name="Text 34"/>
          <p:cNvSpPr txBox="1"/>
          <p:nvPr/>
        </p:nvSpPr>
        <p:spPr>
          <a:xfrm>
            <a:off x="777240" y="5669280"/>
            <a:ext cx="10607040" cy="594360"/>
          </a:xfrm>
          <a:prstGeom prst="rect">
            <a:avLst/>
          </a:prstGeom>
          <a:noFill/>
          <a:ln/>
        </p:spPr>
        <p:txBody>
          <a:bodyPr wrap="square" lIns="0" tIns="0" rIns="0" bIns="0" rtlCol="0" anchor="ctr"/>
          <a:lstStyle/>
          <a:p>
            <a:pPr marL="0" indent="0">
              <a:buNone/>
            </a:pPr>
            <a:r>
              <a:rPr lang="en-US" sz="1600" b="1" dirty="0">
                <a:solidFill>
                  <a:schemeClr val="accent2"/>
                </a:solidFill>
                <a:latin typeface="Calibri" pitchFamily="34" charset="0"/>
                <a:ea typeface="Calibri" pitchFamily="34" charset="-122"/>
                <a:cs typeface="Calibri" pitchFamily="34" charset="-120"/>
              </a:rPr>
              <a:t>Needs: </a:t>
            </a:r>
            <a:r>
              <a:rPr lang="en-US" sz="1600" dirty="0">
                <a:solidFill>
                  <a:schemeClr val="bg1"/>
                </a:solidFill>
                <a:latin typeface="Calibri" pitchFamily="34" charset="0"/>
                <a:ea typeface="Calibri" pitchFamily="34" charset="-122"/>
                <a:cs typeface="Calibri" pitchFamily="34" charset="-120"/>
              </a:rPr>
              <a:t>transaction-level values or counts per value band</a:t>
            </a:r>
            <a:endParaRPr lang="en-US" sz="1600" dirty="0"/>
          </a:p>
        </p:txBody>
      </p:sp>
      <p:sp>
        <p:nvSpPr>
          <p:cNvPr id="37"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Nine gaps to close in future reports</a:t>
            </a:r>
            <a:endParaRPr lang="en-US" sz="2800" dirty="0"/>
          </a:p>
        </p:txBody>
      </p:sp>
      <p:sp>
        <p:nvSpPr>
          <p:cNvPr id="3" name="card"/>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4" name="number circle"/>
          <p:cNvSpPr/>
          <p:nvPr/>
        </p:nvSpPr>
        <p:spPr>
          <a:xfrm>
            <a:off x="777240" y="160020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5" name="Text 3"/>
          <p:cNvSpPr txBox="1"/>
          <p:nvPr/>
        </p:nvSpPr>
        <p:spPr>
          <a:xfrm>
            <a:off x="777240" y="160020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600200"/>
            <a:ext cx="2514600" cy="4572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Causality</a:t>
            </a:r>
            <a:endParaRPr lang="en-US" sz="1700" dirty="0"/>
          </a:p>
        </p:txBody>
      </p:sp>
      <p:sp>
        <p:nvSpPr>
          <p:cNvPr id="7" name="Text 5"/>
          <p:cNvSpPr txBox="1"/>
          <p:nvPr/>
        </p:nvSpPr>
        <p:spPr>
          <a:xfrm>
            <a:off x="777240" y="2240280"/>
            <a:ext cx="3154680" cy="502920"/>
          </a:xfrm>
          <a:prstGeom prst="rect">
            <a:avLst/>
          </a:prstGeom>
          <a:noFill/>
          <a:ln/>
        </p:spPr>
        <p:txBody>
          <a:bodyPr wrap="square" lIns="0" tIns="0" rIns="0" bIns="0" rtlCol="0" anchor="ctr"/>
          <a:lstStyle/>
          <a:p>
            <a:pPr marL="0" indent="0">
              <a:buNone/>
            </a:pPr>
            <a:r>
              <a:rPr lang="en-US" sz="1500" dirty="0">
                <a:solidFill>
                  <a:schemeClr val="tx2"/>
                </a:solidFill>
                <a:latin typeface="Calibri" pitchFamily="34" charset="0"/>
                <a:ea typeface="Calibri" pitchFamily="34" charset="-122"/>
                <a:cs typeface="Calibri" pitchFamily="34" charset="-120"/>
              </a:rPr>
              <a:t>What changed</a:t>
            </a:r>
            <a:r>
              <a:rPr lang="en-US" sz="1500" b="1" dirty="0">
                <a:solidFill>
                  <a:schemeClr val="accent3"/>
                </a:solidFill>
                <a:latin typeface="Calibri" pitchFamily="34" charset="0"/>
                <a:ea typeface="Calibri" pitchFamily="34" charset="-122"/>
                <a:cs typeface="Calibri" pitchFamily="34" charset="-120"/>
              </a:rPr>
              <a:t>  &gt;  </a:t>
            </a:r>
            <a:r>
              <a:rPr lang="en-US" sz="1500" b="1" dirty="0">
                <a:solidFill>
                  <a:schemeClr val="tx1"/>
                </a:solidFill>
                <a:latin typeface="Calibri" pitchFamily="34" charset="0"/>
                <a:ea typeface="Calibri" pitchFamily="34" charset="-122"/>
                <a:cs typeface="Calibri" pitchFamily="34" charset="-120"/>
              </a:rPr>
              <a:t>Why it changed</a:t>
            </a:r>
            <a:endParaRPr lang="en-US" sz="1500" dirty="0"/>
          </a:p>
        </p:txBody>
      </p:sp>
      <p:sp>
        <p:nvSpPr>
          <p:cNvPr id="8" name="card"/>
          <p:cNvSpPr/>
          <p:nvPr/>
        </p:nvSpPr>
        <p:spPr>
          <a:xfrm>
            <a:off x="4297680" y="1371600"/>
            <a:ext cx="356616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9" name="number circle"/>
          <p:cNvSpPr/>
          <p:nvPr/>
        </p:nvSpPr>
        <p:spPr>
          <a:xfrm>
            <a:off x="4526280" y="160020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0" name="Text 8"/>
          <p:cNvSpPr txBox="1"/>
          <p:nvPr/>
        </p:nvSpPr>
        <p:spPr>
          <a:xfrm>
            <a:off x="4526280" y="160020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5166360" y="1600200"/>
            <a:ext cx="2514600" cy="4572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Demographics</a:t>
            </a:r>
            <a:endParaRPr lang="en-US" sz="1700" dirty="0"/>
          </a:p>
        </p:txBody>
      </p:sp>
      <p:sp>
        <p:nvSpPr>
          <p:cNvPr id="12" name="Text 10"/>
          <p:cNvSpPr txBox="1"/>
          <p:nvPr/>
        </p:nvSpPr>
        <p:spPr>
          <a:xfrm>
            <a:off x="4526280" y="2240280"/>
            <a:ext cx="3154680" cy="502920"/>
          </a:xfrm>
          <a:prstGeom prst="rect">
            <a:avLst/>
          </a:prstGeom>
          <a:noFill/>
          <a:ln/>
        </p:spPr>
        <p:txBody>
          <a:bodyPr wrap="square" lIns="0" tIns="0" rIns="0" bIns="0" rtlCol="0" anchor="ctr"/>
          <a:lstStyle/>
          <a:p>
            <a:pPr marL="0" indent="0">
              <a:buNone/>
            </a:pPr>
            <a:r>
              <a:rPr lang="en-US" sz="1500" dirty="0">
                <a:solidFill>
                  <a:schemeClr val="tx2"/>
                </a:solidFill>
                <a:latin typeface="Calibri" pitchFamily="34" charset="0"/>
                <a:ea typeface="Calibri" pitchFamily="34" charset="-122"/>
                <a:cs typeface="Calibri" pitchFamily="34" charset="-120"/>
              </a:rPr>
              <a:t>Static</a:t>
            </a:r>
            <a:r>
              <a:rPr lang="en-US" sz="1500" b="1" dirty="0">
                <a:solidFill>
                  <a:schemeClr val="accent3"/>
                </a:solidFill>
                <a:latin typeface="Calibri" pitchFamily="34" charset="0"/>
                <a:ea typeface="Calibri" pitchFamily="34" charset="-122"/>
                <a:cs typeface="Calibri" pitchFamily="34" charset="-120"/>
              </a:rPr>
              <a:t>  &gt;  </a:t>
            </a:r>
            <a:r>
              <a:rPr lang="en-US" sz="1500" b="1" dirty="0">
                <a:solidFill>
                  <a:schemeClr val="tx1"/>
                </a:solidFill>
                <a:latin typeface="Calibri" pitchFamily="34" charset="0"/>
                <a:ea typeface="Calibri" pitchFamily="34" charset="-122"/>
                <a:cs typeface="Calibri" pitchFamily="34" charset="-120"/>
              </a:rPr>
              <a:t>Year over year</a:t>
            </a:r>
            <a:endParaRPr lang="en-US" sz="1500" dirty="0"/>
          </a:p>
        </p:txBody>
      </p:sp>
      <p:sp>
        <p:nvSpPr>
          <p:cNvPr id="13" name="card"/>
          <p:cNvSpPr/>
          <p:nvPr/>
        </p:nvSpPr>
        <p:spPr>
          <a:xfrm>
            <a:off x="8046720" y="1371600"/>
            <a:ext cx="356616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14" name="number circle"/>
          <p:cNvSpPr/>
          <p:nvPr/>
        </p:nvSpPr>
        <p:spPr>
          <a:xfrm>
            <a:off x="8275320" y="160020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5" name="Text 13"/>
          <p:cNvSpPr txBox="1"/>
          <p:nvPr/>
        </p:nvSpPr>
        <p:spPr>
          <a:xfrm>
            <a:off x="8275320" y="160020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8915400" y="1600200"/>
            <a:ext cx="2514600" cy="4572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Cross-system</a:t>
            </a:r>
            <a:endParaRPr lang="en-US" sz="1700" dirty="0"/>
          </a:p>
        </p:txBody>
      </p:sp>
      <p:sp>
        <p:nvSpPr>
          <p:cNvPr id="17" name="Text 15"/>
          <p:cNvSpPr txBox="1"/>
          <p:nvPr/>
        </p:nvSpPr>
        <p:spPr>
          <a:xfrm>
            <a:off x="8275320" y="2240280"/>
            <a:ext cx="3154680" cy="502920"/>
          </a:xfrm>
          <a:prstGeom prst="rect">
            <a:avLst/>
          </a:prstGeom>
          <a:noFill/>
          <a:ln/>
        </p:spPr>
        <p:txBody>
          <a:bodyPr wrap="square" lIns="0" tIns="0" rIns="0" bIns="0" rtlCol="0" anchor="ctr"/>
          <a:lstStyle/>
          <a:p>
            <a:pPr marL="0" indent="0">
              <a:buNone/>
            </a:pPr>
            <a:r>
              <a:rPr lang="en-US" sz="1500" dirty="0">
                <a:solidFill>
                  <a:schemeClr val="tx2"/>
                </a:solidFill>
                <a:latin typeface="Calibri" pitchFamily="34" charset="0"/>
                <a:ea typeface="Calibri" pitchFamily="34" charset="-122"/>
                <a:cs typeface="Calibri" pitchFamily="34" charset="-120"/>
              </a:rPr>
              <a:t>Isolated</a:t>
            </a:r>
            <a:r>
              <a:rPr lang="en-US" sz="1500" b="1" dirty="0">
                <a:solidFill>
                  <a:schemeClr val="accent3"/>
                </a:solidFill>
                <a:latin typeface="Calibri" pitchFamily="34" charset="0"/>
                <a:ea typeface="Calibri" pitchFamily="34" charset="-122"/>
                <a:cs typeface="Calibri" pitchFamily="34" charset="-120"/>
              </a:rPr>
              <a:t>  &gt;  </a:t>
            </a:r>
            <a:r>
              <a:rPr lang="en-US" sz="1500" b="1" dirty="0">
                <a:solidFill>
                  <a:schemeClr val="tx1"/>
                </a:solidFill>
                <a:latin typeface="Calibri" pitchFamily="34" charset="0"/>
                <a:ea typeface="Calibri" pitchFamily="34" charset="-122"/>
                <a:cs typeface="Calibri" pitchFamily="34" charset="-120"/>
              </a:rPr>
              <a:t>Linked</a:t>
            </a:r>
            <a:endParaRPr lang="en-US" sz="1500" dirty="0"/>
          </a:p>
        </p:txBody>
      </p:sp>
      <p:sp>
        <p:nvSpPr>
          <p:cNvPr id="18" name="card"/>
          <p:cNvSpPr/>
          <p:nvPr/>
        </p:nvSpPr>
        <p:spPr>
          <a:xfrm>
            <a:off x="548640" y="3017520"/>
            <a:ext cx="356616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19" name="number circle"/>
          <p:cNvSpPr/>
          <p:nvPr/>
        </p:nvSpPr>
        <p:spPr>
          <a:xfrm>
            <a:off x="777240" y="324612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20" name="Text 18"/>
          <p:cNvSpPr txBox="1"/>
          <p:nvPr/>
        </p:nvSpPr>
        <p:spPr>
          <a:xfrm>
            <a:off x="777240" y="324612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417320" y="3246120"/>
            <a:ext cx="2514600" cy="4572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Engagement</a:t>
            </a:r>
            <a:endParaRPr lang="en-US" sz="1700" dirty="0"/>
          </a:p>
        </p:txBody>
      </p:sp>
      <p:sp>
        <p:nvSpPr>
          <p:cNvPr id="22" name="Text 20"/>
          <p:cNvSpPr txBox="1"/>
          <p:nvPr/>
        </p:nvSpPr>
        <p:spPr>
          <a:xfrm>
            <a:off x="777240" y="3886200"/>
            <a:ext cx="3154680" cy="502920"/>
          </a:xfrm>
          <a:prstGeom prst="rect">
            <a:avLst/>
          </a:prstGeom>
          <a:noFill/>
          <a:ln/>
        </p:spPr>
        <p:txBody>
          <a:bodyPr wrap="square" lIns="0" tIns="0" rIns="0" bIns="0" rtlCol="0" anchor="ctr"/>
          <a:lstStyle/>
          <a:p>
            <a:pPr marL="0" indent="0">
              <a:buNone/>
            </a:pPr>
            <a:r>
              <a:rPr lang="en-US" sz="1500" dirty="0">
                <a:solidFill>
                  <a:schemeClr val="tx2"/>
                </a:solidFill>
                <a:latin typeface="Calibri" pitchFamily="34" charset="0"/>
                <a:ea typeface="Calibri" pitchFamily="34" charset="-122"/>
                <a:cs typeface="Calibri" pitchFamily="34" charset="-120"/>
              </a:rPr>
              <a:t>User counts</a:t>
            </a:r>
            <a:r>
              <a:rPr lang="en-US" sz="1500" b="1" dirty="0">
                <a:solidFill>
                  <a:schemeClr val="accent3"/>
                </a:solidFill>
                <a:latin typeface="Calibri" pitchFamily="34" charset="0"/>
                <a:ea typeface="Calibri" pitchFamily="34" charset="-122"/>
                <a:cs typeface="Calibri" pitchFamily="34" charset="-120"/>
              </a:rPr>
              <a:t>  &gt;  </a:t>
            </a:r>
            <a:r>
              <a:rPr lang="en-US" sz="1500" b="1" dirty="0">
                <a:solidFill>
                  <a:schemeClr val="tx1"/>
                </a:solidFill>
                <a:latin typeface="Calibri" pitchFamily="34" charset="0"/>
                <a:ea typeface="Calibri" pitchFamily="34" charset="-122"/>
                <a:cs typeface="Calibri" pitchFamily="34" charset="-120"/>
              </a:rPr>
              <a:t>Transactions per user</a:t>
            </a:r>
            <a:endParaRPr lang="en-US" sz="1500" dirty="0"/>
          </a:p>
        </p:txBody>
      </p:sp>
      <p:sp>
        <p:nvSpPr>
          <p:cNvPr id="23" name="card"/>
          <p:cNvSpPr/>
          <p:nvPr/>
        </p:nvSpPr>
        <p:spPr>
          <a:xfrm>
            <a:off x="4297680" y="3017520"/>
            <a:ext cx="356616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24" name="number circle"/>
          <p:cNvSpPr/>
          <p:nvPr/>
        </p:nvSpPr>
        <p:spPr>
          <a:xfrm>
            <a:off x="4526280" y="324612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25" name="Text 23"/>
          <p:cNvSpPr txBox="1"/>
          <p:nvPr/>
        </p:nvSpPr>
        <p:spPr>
          <a:xfrm>
            <a:off x="4526280" y="324612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5166360" y="3246120"/>
            <a:ext cx="2514600" cy="4572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Trajectory</a:t>
            </a:r>
            <a:endParaRPr lang="en-US" sz="1700" dirty="0"/>
          </a:p>
        </p:txBody>
      </p:sp>
      <p:sp>
        <p:nvSpPr>
          <p:cNvPr id="27" name="Text 25"/>
          <p:cNvSpPr txBox="1"/>
          <p:nvPr/>
        </p:nvSpPr>
        <p:spPr>
          <a:xfrm>
            <a:off x="4526280" y="3886200"/>
            <a:ext cx="3154680" cy="502920"/>
          </a:xfrm>
          <a:prstGeom prst="rect">
            <a:avLst/>
          </a:prstGeom>
          <a:noFill/>
          <a:ln/>
        </p:spPr>
        <p:txBody>
          <a:bodyPr wrap="square" lIns="0" tIns="0" rIns="0" bIns="0" rtlCol="0" anchor="ctr"/>
          <a:lstStyle/>
          <a:p>
            <a:pPr marL="0" indent="0">
              <a:buNone/>
            </a:pPr>
            <a:r>
              <a:rPr lang="en-US" sz="1500" dirty="0">
                <a:solidFill>
                  <a:schemeClr val="tx2"/>
                </a:solidFill>
                <a:latin typeface="Calibri" pitchFamily="34" charset="0"/>
                <a:ea typeface="Calibri" pitchFamily="34" charset="-122"/>
                <a:cs typeface="Calibri" pitchFamily="34" charset="-120"/>
              </a:rPr>
              <a:t>1 year</a:t>
            </a:r>
            <a:r>
              <a:rPr lang="en-US" sz="1500" b="1" dirty="0">
                <a:solidFill>
                  <a:schemeClr val="accent3"/>
                </a:solidFill>
                <a:latin typeface="Calibri" pitchFamily="34" charset="0"/>
                <a:ea typeface="Calibri" pitchFamily="34" charset="-122"/>
                <a:cs typeface="Calibri" pitchFamily="34" charset="-120"/>
              </a:rPr>
              <a:t>  &gt;  </a:t>
            </a:r>
            <a:r>
              <a:rPr lang="en-US" sz="1500" b="1" dirty="0">
                <a:solidFill>
                  <a:schemeClr val="tx1"/>
                </a:solidFill>
                <a:latin typeface="Calibri" pitchFamily="34" charset="0"/>
                <a:ea typeface="Calibri" pitchFamily="34" charset="-122"/>
                <a:cs typeface="Calibri" pitchFamily="34" charset="-120"/>
              </a:rPr>
              <a:t>3-year trend</a:t>
            </a:r>
            <a:endParaRPr lang="en-US" sz="1500" dirty="0"/>
          </a:p>
        </p:txBody>
      </p:sp>
      <p:sp>
        <p:nvSpPr>
          <p:cNvPr id="28" name="card"/>
          <p:cNvSpPr/>
          <p:nvPr/>
        </p:nvSpPr>
        <p:spPr>
          <a:xfrm>
            <a:off x="8046720" y="3017520"/>
            <a:ext cx="356616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29" name="number circle"/>
          <p:cNvSpPr/>
          <p:nvPr/>
        </p:nvSpPr>
        <p:spPr>
          <a:xfrm>
            <a:off x="8275320" y="324612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30" name="Text 28"/>
          <p:cNvSpPr txBox="1"/>
          <p:nvPr/>
        </p:nvSpPr>
        <p:spPr>
          <a:xfrm>
            <a:off x="8275320" y="324612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8915400" y="3246120"/>
            <a:ext cx="2514600" cy="4572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Averages</a:t>
            </a:r>
            <a:endParaRPr lang="en-US" sz="1700" dirty="0"/>
          </a:p>
        </p:txBody>
      </p:sp>
      <p:sp>
        <p:nvSpPr>
          <p:cNvPr id="32" name="Text 30"/>
          <p:cNvSpPr txBox="1"/>
          <p:nvPr/>
        </p:nvSpPr>
        <p:spPr>
          <a:xfrm>
            <a:off x="8275320" y="3886200"/>
            <a:ext cx="3154680" cy="502920"/>
          </a:xfrm>
          <a:prstGeom prst="rect">
            <a:avLst/>
          </a:prstGeom>
          <a:noFill/>
          <a:ln/>
        </p:spPr>
        <p:txBody>
          <a:bodyPr wrap="square" lIns="0" tIns="0" rIns="0" bIns="0" rtlCol="0" anchor="ctr"/>
          <a:lstStyle/>
          <a:p>
            <a:pPr marL="0" indent="0">
              <a:buNone/>
            </a:pPr>
            <a:r>
              <a:rPr lang="en-US" sz="1500" dirty="0">
                <a:solidFill>
                  <a:schemeClr val="tx2"/>
                </a:solidFill>
                <a:latin typeface="Calibri" pitchFamily="34" charset="0"/>
                <a:ea typeface="Calibri" pitchFamily="34" charset="-122"/>
                <a:cs typeface="Calibri" pitchFamily="34" charset="-120"/>
              </a:rPr>
              <a:t>Average only</a:t>
            </a:r>
            <a:r>
              <a:rPr lang="en-US" sz="1500" b="1" dirty="0">
                <a:solidFill>
                  <a:schemeClr val="accent3"/>
                </a:solidFill>
                <a:latin typeface="Calibri" pitchFamily="34" charset="0"/>
                <a:ea typeface="Calibri" pitchFamily="34" charset="-122"/>
                <a:cs typeface="Calibri" pitchFamily="34" charset="-120"/>
              </a:rPr>
              <a:t>  &gt;  </a:t>
            </a:r>
            <a:r>
              <a:rPr lang="en-US" sz="1500" b="1" dirty="0">
                <a:solidFill>
                  <a:schemeClr val="tx1"/>
                </a:solidFill>
                <a:latin typeface="Calibri" pitchFamily="34" charset="0"/>
                <a:ea typeface="Calibri" pitchFamily="34" charset="-122"/>
                <a:cs typeface="Calibri" pitchFamily="34" charset="-120"/>
              </a:rPr>
              <a:t>Plus most frequent range</a:t>
            </a:r>
            <a:endParaRPr lang="en-US" sz="1500" dirty="0"/>
          </a:p>
        </p:txBody>
      </p:sp>
      <p:sp>
        <p:nvSpPr>
          <p:cNvPr id="33" name="card"/>
          <p:cNvSpPr/>
          <p:nvPr/>
        </p:nvSpPr>
        <p:spPr>
          <a:xfrm>
            <a:off x="548640" y="4663440"/>
            <a:ext cx="356616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34" name="number circle"/>
          <p:cNvSpPr/>
          <p:nvPr/>
        </p:nvSpPr>
        <p:spPr>
          <a:xfrm>
            <a:off x="777240" y="489204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35" name="Text 33"/>
          <p:cNvSpPr txBox="1"/>
          <p:nvPr/>
        </p:nvSpPr>
        <p:spPr>
          <a:xfrm>
            <a:off x="777240" y="489204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7</a:t>
            </a:r>
            <a:endParaRPr lang="en-US" sz="1600" dirty="0"/>
          </a:p>
        </p:txBody>
      </p:sp>
      <p:sp>
        <p:nvSpPr>
          <p:cNvPr id="36" name="Text 34"/>
          <p:cNvSpPr txBox="1"/>
          <p:nvPr/>
        </p:nvSpPr>
        <p:spPr>
          <a:xfrm>
            <a:off x="1417320" y="4892040"/>
            <a:ext cx="2514600" cy="4572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Open questions</a:t>
            </a:r>
            <a:endParaRPr lang="en-US" sz="1700" dirty="0"/>
          </a:p>
        </p:txBody>
      </p:sp>
      <p:sp>
        <p:nvSpPr>
          <p:cNvPr id="37" name="Text 35"/>
          <p:cNvSpPr txBox="1"/>
          <p:nvPr/>
        </p:nvSpPr>
        <p:spPr>
          <a:xfrm>
            <a:off x="777240" y="5532120"/>
            <a:ext cx="3154680" cy="502920"/>
          </a:xfrm>
          <a:prstGeom prst="rect">
            <a:avLst/>
          </a:prstGeom>
          <a:noFill/>
          <a:ln/>
        </p:spPr>
        <p:txBody>
          <a:bodyPr wrap="square" lIns="0" tIns="0" rIns="0" bIns="0" rtlCol="0" anchor="ctr"/>
          <a:lstStyle/>
          <a:p>
            <a:pPr marL="0" indent="0">
              <a:buNone/>
            </a:pPr>
            <a:r>
              <a:rPr lang="en-US" sz="1500" dirty="0">
                <a:solidFill>
                  <a:schemeClr val="tx2"/>
                </a:solidFill>
                <a:latin typeface="Calibri" pitchFamily="34" charset="0"/>
                <a:ea typeface="Calibri" pitchFamily="34" charset="-122"/>
                <a:cs typeface="Calibri" pitchFamily="34" charset="-120"/>
              </a:rPr>
              <a:t>Facts only</a:t>
            </a:r>
            <a:r>
              <a:rPr lang="en-US" sz="1500" b="1" dirty="0">
                <a:solidFill>
                  <a:schemeClr val="accent3"/>
                </a:solidFill>
                <a:latin typeface="Calibri" pitchFamily="34" charset="0"/>
                <a:ea typeface="Calibri" pitchFamily="34" charset="-122"/>
                <a:cs typeface="Calibri" pitchFamily="34" charset="-120"/>
              </a:rPr>
              <a:t>  &gt;  </a:t>
            </a:r>
            <a:r>
              <a:rPr lang="en-US" sz="1500" b="1" dirty="0">
                <a:solidFill>
                  <a:schemeClr val="tx1"/>
                </a:solidFill>
                <a:latin typeface="Calibri" pitchFamily="34" charset="0"/>
                <a:ea typeface="Calibri" pitchFamily="34" charset="-122"/>
                <a:cs typeface="Calibri" pitchFamily="34" charset="-120"/>
              </a:rPr>
              <a:t>What data cannot tell</a:t>
            </a:r>
            <a:endParaRPr lang="en-US" sz="1500" dirty="0"/>
          </a:p>
        </p:txBody>
      </p:sp>
      <p:sp>
        <p:nvSpPr>
          <p:cNvPr id="38" name="card"/>
          <p:cNvSpPr/>
          <p:nvPr/>
        </p:nvSpPr>
        <p:spPr>
          <a:xfrm>
            <a:off x="4297680" y="4663440"/>
            <a:ext cx="356616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39" name="number circle"/>
          <p:cNvSpPr/>
          <p:nvPr/>
        </p:nvSpPr>
        <p:spPr>
          <a:xfrm>
            <a:off x="4526280" y="489204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40" name="Text 38"/>
          <p:cNvSpPr txBox="1"/>
          <p:nvPr/>
        </p:nvSpPr>
        <p:spPr>
          <a:xfrm>
            <a:off x="4526280" y="489204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8</a:t>
            </a:r>
            <a:endParaRPr lang="en-US" sz="1600" dirty="0"/>
          </a:p>
        </p:txBody>
      </p:sp>
      <p:sp>
        <p:nvSpPr>
          <p:cNvPr id="41" name="Text 39"/>
          <p:cNvSpPr txBox="1"/>
          <p:nvPr/>
        </p:nvSpPr>
        <p:spPr>
          <a:xfrm>
            <a:off x="5166360" y="4892040"/>
            <a:ext cx="2514600" cy="4572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Legal events</a:t>
            </a:r>
            <a:endParaRPr lang="en-US" sz="1700" dirty="0"/>
          </a:p>
        </p:txBody>
      </p:sp>
      <p:sp>
        <p:nvSpPr>
          <p:cNvPr id="42" name="Text 40"/>
          <p:cNvSpPr txBox="1"/>
          <p:nvPr/>
        </p:nvSpPr>
        <p:spPr>
          <a:xfrm>
            <a:off x="4526280" y="5532120"/>
            <a:ext cx="3154680" cy="502920"/>
          </a:xfrm>
          <a:prstGeom prst="rect">
            <a:avLst/>
          </a:prstGeom>
          <a:noFill/>
          <a:ln/>
        </p:spPr>
        <p:txBody>
          <a:bodyPr wrap="square" lIns="0" tIns="0" rIns="0" bIns="0" rtlCol="0" anchor="ctr"/>
          <a:lstStyle/>
          <a:p>
            <a:pPr marL="0" indent="0">
              <a:buNone/>
            </a:pPr>
            <a:r>
              <a:rPr lang="en-US" sz="1500" dirty="0">
                <a:solidFill>
                  <a:schemeClr val="tx2"/>
                </a:solidFill>
                <a:latin typeface="Calibri" pitchFamily="34" charset="0"/>
                <a:ea typeface="Calibri" pitchFamily="34" charset="-122"/>
                <a:cs typeface="Calibri" pitchFamily="34" charset="-120"/>
              </a:rPr>
              <a:t>Footnote</a:t>
            </a:r>
            <a:r>
              <a:rPr lang="en-US" sz="1500" b="1" dirty="0">
                <a:solidFill>
                  <a:schemeClr val="accent3"/>
                </a:solidFill>
                <a:latin typeface="Calibri" pitchFamily="34" charset="0"/>
                <a:ea typeface="Calibri" pitchFamily="34" charset="-122"/>
                <a:cs typeface="Calibri" pitchFamily="34" charset="-120"/>
              </a:rPr>
              <a:t>  &gt;  </a:t>
            </a:r>
            <a:r>
              <a:rPr lang="en-US" sz="1500" b="1" dirty="0">
                <a:solidFill>
                  <a:schemeClr val="tx1"/>
                </a:solidFill>
                <a:latin typeface="Calibri" pitchFamily="34" charset="0"/>
                <a:ea typeface="Calibri" pitchFamily="34" charset="-122"/>
                <a:cs typeface="Calibri" pitchFamily="34" charset="-120"/>
              </a:rPr>
              <a:t>Headline</a:t>
            </a:r>
            <a:endParaRPr lang="en-US" sz="1500" dirty="0"/>
          </a:p>
        </p:txBody>
      </p:sp>
      <p:sp>
        <p:nvSpPr>
          <p:cNvPr id="43" name="card"/>
          <p:cNvSpPr/>
          <p:nvPr/>
        </p:nvSpPr>
        <p:spPr>
          <a:xfrm>
            <a:off x="8046720" y="4663440"/>
            <a:ext cx="356616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44" name="number circle"/>
          <p:cNvSpPr/>
          <p:nvPr/>
        </p:nvSpPr>
        <p:spPr>
          <a:xfrm>
            <a:off x="8275320" y="489204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45" name="Text 43"/>
          <p:cNvSpPr txBox="1"/>
          <p:nvPr/>
        </p:nvSpPr>
        <p:spPr>
          <a:xfrm>
            <a:off x="8275320" y="489204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9</a:t>
            </a:r>
            <a:endParaRPr lang="en-US" sz="1600" dirty="0"/>
          </a:p>
        </p:txBody>
      </p:sp>
      <p:sp>
        <p:nvSpPr>
          <p:cNvPr id="46" name="Text 44"/>
          <p:cNvSpPr txBox="1"/>
          <p:nvPr/>
        </p:nvSpPr>
        <p:spPr>
          <a:xfrm>
            <a:off x="8915400" y="4892040"/>
            <a:ext cx="2514600" cy="45720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Segments</a:t>
            </a:r>
            <a:endParaRPr lang="en-US" sz="1700" dirty="0"/>
          </a:p>
        </p:txBody>
      </p:sp>
      <p:sp>
        <p:nvSpPr>
          <p:cNvPr id="47" name="Text 45"/>
          <p:cNvSpPr txBox="1"/>
          <p:nvPr/>
        </p:nvSpPr>
        <p:spPr>
          <a:xfrm>
            <a:off x="8275320" y="5532120"/>
            <a:ext cx="3154680" cy="502920"/>
          </a:xfrm>
          <a:prstGeom prst="rect">
            <a:avLst/>
          </a:prstGeom>
          <a:noFill/>
          <a:ln/>
        </p:spPr>
        <p:txBody>
          <a:bodyPr wrap="square" lIns="0" tIns="0" rIns="0" bIns="0" rtlCol="0" anchor="ctr"/>
          <a:lstStyle/>
          <a:p>
            <a:pPr marL="0" indent="0">
              <a:buNone/>
            </a:pPr>
            <a:r>
              <a:rPr lang="en-US" sz="1500" dirty="0">
                <a:solidFill>
                  <a:schemeClr val="tx2"/>
                </a:solidFill>
                <a:latin typeface="Calibri" pitchFamily="34" charset="0"/>
                <a:ea typeface="Calibri" pitchFamily="34" charset="-122"/>
                <a:cs typeface="Calibri" pitchFamily="34" charset="-120"/>
              </a:rPr>
              <a:t>Static counts</a:t>
            </a:r>
            <a:r>
              <a:rPr lang="en-US" sz="1500" b="1" dirty="0">
                <a:solidFill>
                  <a:schemeClr val="accent3"/>
                </a:solidFill>
                <a:latin typeface="Calibri" pitchFamily="34" charset="0"/>
                <a:ea typeface="Calibri" pitchFamily="34" charset="-122"/>
                <a:cs typeface="Calibri" pitchFamily="34" charset="-120"/>
              </a:rPr>
              <a:t>  &gt;  </a:t>
            </a:r>
            <a:r>
              <a:rPr lang="en-US" sz="1500" b="1" dirty="0">
                <a:solidFill>
                  <a:schemeClr val="tx1"/>
                </a:solidFill>
                <a:latin typeface="Calibri" pitchFamily="34" charset="0"/>
                <a:ea typeface="Calibri" pitchFamily="34" charset="-122"/>
                <a:cs typeface="Calibri" pitchFamily="34" charset="-120"/>
              </a:rPr>
              <a:t>Change by segment</a:t>
            </a:r>
            <a:endParaRPr lang="en-US" sz="1500" dirty="0"/>
          </a:p>
        </p:txBody>
      </p:sp>
      <p:sp>
        <p:nvSpPr>
          <p:cNvPr id="48"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640080"/>
            <a:ext cx="10698480" cy="914400"/>
          </a:xfrm>
          <a:prstGeom prst="rect">
            <a:avLst/>
          </a:prstGeom>
          <a:noFill/>
          <a:ln/>
        </p:spPr>
        <p:txBody>
          <a:bodyPr wrap="square" lIns="0" tIns="0" rIns="0" bIns="0" rtlCol="0" anchor="ctr"/>
          <a:lstStyle/>
          <a:p>
            <a:pPr marL="0" indent="0">
              <a:buNone/>
            </a:pPr>
            <a:r>
              <a:rPr lang="en-US" sz="4000" b="1" dirty="0">
                <a:solidFill>
                  <a:schemeClr val="bg1"/>
                </a:solidFill>
                <a:latin typeface="Calibri" pitchFamily="34" charset="0"/>
                <a:ea typeface="Calibri" pitchFamily="34" charset="-122"/>
                <a:cs typeface="Calibri" pitchFamily="34" charset="-120"/>
              </a:rPr>
              <a:t>Key takeaway</a:t>
            </a:r>
            <a:endParaRPr lang="en-US" sz="4000" dirty="0"/>
          </a:p>
        </p:txBody>
      </p:sp>
      <p:sp>
        <p:nvSpPr>
          <p:cNvPr id="3" name="Text 1"/>
          <p:cNvSpPr txBox="1"/>
          <p:nvPr/>
        </p:nvSpPr>
        <p:spPr>
          <a:xfrm>
            <a:off x="731520" y="1737360"/>
            <a:ext cx="10698480" cy="822960"/>
          </a:xfrm>
          <a:prstGeom prst="rect">
            <a:avLst/>
          </a:prstGeom>
          <a:noFill/>
          <a:ln/>
        </p:spPr>
        <p:txBody>
          <a:bodyPr wrap="square" lIns="0" tIns="0" rIns="0" bIns="0" rtlCol="0" anchor="ctr"/>
          <a:lstStyle/>
          <a:p>
            <a:pPr marL="0" indent="0">
              <a:buNone/>
            </a:pPr>
            <a:r>
              <a:rPr lang="en-US" sz="3400" b="1" dirty="0">
                <a:solidFill>
                  <a:schemeClr val="accent2"/>
                </a:solidFill>
                <a:latin typeface="Calibri" pitchFamily="34" charset="0"/>
                <a:ea typeface="Calibri" pitchFamily="34" charset="-122"/>
                <a:cs typeface="Calibri" pitchFamily="34" charset="-120"/>
              </a:rPr>
              <a:t>Turn numbers into explanations.</a:t>
            </a:r>
            <a:endParaRPr lang="en-US" sz="3400" dirty="0"/>
          </a:p>
        </p:txBody>
      </p:sp>
      <p:sp>
        <p:nvSpPr>
          <p:cNvPr id="4" name="Text 2"/>
          <p:cNvSpPr txBox="1"/>
          <p:nvPr/>
        </p:nvSpPr>
        <p:spPr>
          <a:xfrm>
            <a:off x="731520" y="2606040"/>
            <a:ext cx="10698480" cy="457200"/>
          </a:xfrm>
          <a:prstGeom prst="rect">
            <a:avLst/>
          </a:prstGeom>
          <a:noFill/>
          <a:ln/>
        </p:spPr>
        <p:txBody>
          <a:bodyPr wrap="square" lIns="0" tIns="0" rIns="0" bIns="0" rtlCol="0" anchor="t"/>
          <a:lstStyle/>
          <a:p>
            <a:pPr marL="0" indent="0">
              <a:buNone/>
            </a:pPr>
            <a:r>
              <a:rPr lang="en-US" sz="2000" dirty="0">
                <a:solidFill>
                  <a:schemeClr val="accent4"/>
                </a:solidFill>
                <a:latin typeface="Calibri" pitchFamily="34" charset="0"/>
                <a:ea typeface="Calibri" pitchFamily="34" charset="-122"/>
                <a:cs typeface="Calibri" pitchFamily="34" charset="-120"/>
              </a:rPr>
              <a:t>Trend, cause, engagement, decisions.</a:t>
            </a:r>
            <a:endParaRPr lang="en-US" sz="2000" dirty="0"/>
          </a:p>
        </p:txBody>
      </p:sp>
      <p:sp>
        <p:nvSpPr>
          <p:cNvPr id="5" name="Text 3"/>
          <p:cNvSpPr txBox="1"/>
          <p:nvPr/>
        </p:nvSpPr>
        <p:spPr>
          <a:xfrm>
            <a:off x="731520" y="3429000"/>
            <a:ext cx="7315200" cy="36576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Open questions the data cannot answer</a:t>
            </a:r>
            <a:endParaRPr lang="en-US" sz="1400" dirty="0"/>
          </a:p>
        </p:txBody>
      </p:sp>
      <p:sp>
        <p:nvSpPr>
          <p:cNvPr id="6" name="question"/>
          <p:cNvSpPr/>
          <p:nvPr/>
        </p:nvSpPr>
        <p:spPr>
          <a:xfrm>
            <a:off x="731520" y="3840480"/>
            <a:ext cx="3383280" cy="1737360"/>
          </a:xfrm>
          <a:prstGeom prst="roundRect">
            <a:avLst>
              <a:gd name="adj" fmla="val 6316"/>
            </a:avLst>
          </a:prstGeom>
          <a:solidFill>
            <a:schemeClr val="bg1">
              <a:alpha val="10000"/>
            </a:schemeClr>
          </a:solidFill>
          <a:ln w="12700">
            <a:solidFill>
              <a:schemeClr val="accent2"/>
            </a:solidFill>
            <a:prstDash val="solid"/>
          </a:ln>
        </p:spPr>
        <p:txBody>
          <a:bodyPr/>
          <a:lstStyle/>
          <a:p>
            <a:endParaRPr lang="en-US"/>
          </a:p>
        </p:txBody>
      </p:sp>
      <p:sp>
        <p:nvSpPr>
          <p:cNvPr id="7" name="Text 5"/>
          <p:cNvSpPr txBox="1"/>
          <p:nvPr/>
        </p:nvSpPr>
        <p:spPr>
          <a:xfrm>
            <a:off x="960120" y="4023360"/>
            <a:ext cx="2926080" cy="137160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Who are the 3.46M eFAWATEER users who do not pay through bank accounts?</a:t>
            </a:r>
            <a:endParaRPr lang="en-US" sz="1800" dirty="0"/>
          </a:p>
        </p:txBody>
      </p:sp>
      <p:sp>
        <p:nvSpPr>
          <p:cNvPr id="8" name="question"/>
          <p:cNvSpPr/>
          <p:nvPr/>
        </p:nvSpPr>
        <p:spPr>
          <a:xfrm>
            <a:off x="4389120" y="3840480"/>
            <a:ext cx="3383280" cy="1737360"/>
          </a:xfrm>
          <a:prstGeom prst="roundRect">
            <a:avLst>
              <a:gd name="adj" fmla="val 6316"/>
            </a:avLst>
          </a:prstGeom>
          <a:solidFill>
            <a:schemeClr val="bg1">
              <a:alpha val="10000"/>
            </a:schemeClr>
          </a:solidFill>
          <a:ln w="12700">
            <a:solidFill>
              <a:schemeClr val="accent2"/>
            </a:solidFill>
            <a:prstDash val="solid"/>
          </a:ln>
        </p:spPr>
        <p:txBody>
          <a:bodyPr/>
          <a:lstStyle/>
          <a:p>
            <a:endParaRPr lang="en-US"/>
          </a:p>
        </p:txBody>
      </p:sp>
      <p:sp>
        <p:nvSpPr>
          <p:cNvPr id="9" name="Text 7"/>
          <p:cNvSpPr txBox="1"/>
          <p:nvPr/>
        </p:nvSpPr>
        <p:spPr>
          <a:xfrm>
            <a:off x="4617720" y="4023360"/>
            <a:ext cx="2926080" cy="137160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Why does December peak?</a:t>
            </a:r>
            <a:endParaRPr lang="en-US" sz="1800" dirty="0"/>
          </a:p>
        </p:txBody>
      </p:sp>
      <p:sp>
        <p:nvSpPr>
          <p:cNvPr id="10" name="question"/>
          <p:cNvSpPr/>
          <p:nvPr/>
        </p:nvSpPr>
        <p:spPr>
          <a:xfrm>
            <a:off x="8046720" y="3840480"/>
            <a:ext cx="3383280" cy="1737360"/>
          </a:xfrm>
          <a:prstGeom prst="roundRect">
            <a:avLst>
              <a:gd name="adj" fmla="val 6316"/>
            </a:avLst>
          </a:prstGeom>
          <a:solidFill>
            <a:schemeClr val="bg1">
              <a:alpha val="10000"/>
            </a:schemeClr>
          </a:solidFill>
          <a:ln w="12700">
            <a:solidFill>
              <a:schemeClr val="accent2"/>
            </a:solidFill>
            <a:prstDash val="solid"/>
          </a:ln>
        </p:spPr>
        <p:txBody>
          <a:bodyPr/>
          <a:lstStyle/>
          <a:p>
            <a:endParaRPr lang="en-US"/>
          </a:p>
        </p:txBody>
      </p:sp>
      <p:sp>
        <p:nvSpPr>
          <p:cNvPr id="11" name="Text 9"/>
          <p:cNvSpPr txBox="1"/>
          <p:nvPr/>
        </p:nvSpPr>
        <p:spPr>
          <a:xfrm>
            <a:off x="8275320" y="4023360"/>
            <a:ext cx="2926080" cy="137160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Is a falling average sustainable?</a:t>
            </a:r>
            <a:endParaRPr lang="en-US" sz="1800" dirty="0"/>
          </a:p>
        </p:txBody>
      </p:sp>
      <p:sp>
        <p:nvSpPr>
          <p:cNvPr id="13" name="Isosceles Triangle 12">
            <a:extLst>
              <a:ext uri="{FF2B5EF4-FFF2-40B4-BE49-F238E27FC236}">
                <a16:creationId xmlns:a16="http://schemas.microsoft.com/office/drawing/2014/main" id="{77E09620-9D6B-EDD5-CC5E-261FA22EFE88}"/>
              </a:ext>
            </a:extLst>
          </p:cNvPr>
          <p:cNvSpPr/>
          <p:nvPr/>
        </p:nvSpPr>
        <p:spPr>
          <a:xfrm rot="14315780">
            <a:off x="10314515" y="-446941"/>
            <a:ext cx="1116457" cy="1336986"/>
          </a:xfrm>
          <a:prstGeom prst="triangle">
            <a:avLst>
              <a:gd name="adj" fmla="val 50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arallelogram 14">
            <a:extLst>
              <a:ext uri="{FF2B5EF4-FFF2-40B4-BE49-F238E27FC236}">
                <a16:creationId xmlns:a16="http://schemas.microsoft.com/office/drawing/2014/main" id="{188BBB3C-4F65-A6C1-2F6E-B07BBAC94127}"/>
              </a:ext>
            </a:extLst>
          </p:cNvPr>
          <p:cNvSpPr/>
          <p:nvPr/>
        </p:nvSpPr>
        <p:spPr>
          <a:xfrm rot="15058543">
            <a:off x="10833121" y="188506"/>
            <a:ext cx="1254718" cy="1690879"/>
          </a:xfrm>
          <a:prstGeom prst="parallelogram">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4F564D28-0095-945B-4D0F-FCF0F6A17F3B}"/>
              </a:ext>
            </a:extLst>
          </p:cNvPr>
          <p:cNvSpPr/>
          <p:nvPr/>
        </p:nvSpPr>
        <p:spPr>
          <a:xfrm rot="5400000">
            <a:off x="9521662" y="1098635"/>
            <a:ext cx="1116455" cy="1336986"/>
          </a:xfrm>
          <a:prstGeom prst="triangle">
            <a:avLst>
              <a:gd name="adj" fmla="val 5000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arallelogram 18">
            <a:extLst>
              <a:ext uri="{FF2B5EF4-FFF2-40B4-BE49-F238E27FC236}">
                <a16:creationId xmlns:a16="http://schemas.microsoft.com/office/drawing/2014/main" id="{929B2917-EE3C-4248-40EF-8D1A1146BDFA}"/>
              </a:ext>
            </a:extLst>
          </p:cNvPr>
          <p:cNvSpPr/>
          <p:nvPr/>
        </p:nvSpPr>
        <p:spPr>
          <a:xfrm rot="3245436">
            <a:off x="10056199" y="1605936"/>
            <a:ext cx="1254717" cy="1690879"/>
          </a:xfrm>
          <a:prstGeom prst="parallelogram">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txBox="1"/>
          <p:nvPr/>
        </p:nvSpPr>
        <p:spPr>
          <a:xfrm>
            <a:off x="731520" y="914400"/>
            <a:ext cx="8229600" cy="914400"/>
          </a:xfrm>
          <a:prstGeom prst="rect">
            <a:avLst/>
          </a:prstGeom>
          <a:noFill/>
          <a:ln/>
        </p:spPr>
        <p:txBody>
          <a:bodyPr wrap="square" lIns="0" tIns="0" rIns="0" bIns="0" rtlCol="0" anchor="ctr"/>
          <a:lstStyle/>
          <a:p>
            <a:pPr marL="0" indent="0">
              <a:buNone/>
            </a:pPr>
            <a:r>
              <a:rPr lang="en-US" sz="4400" b="1" dirty="0">
                <a:solidFill>
                  <a:schemeClr val="bg1"/>
                </a:solidFill>
                <a:latin typeface="Calibri" pitchFamily="34" charset="0"/>
                <a:ea typeface="Calibri" pitchFamily="34" charset="-122"/>
                <a:cs typeface="Calibri" pitchFamily="34" charset="-120"/>
              </a:rPr>
              <a:t>Appendix</a:t>
            </a:r>
            <a:endParaRPr lang="en-US" sz="4400" dirty="0"/>
          </a:p>
        </p:txBody>
      </p:sp>
      <p:sp>
        <p:nvSpPr>
          <p:cNvPr id="4" name="Text 2"/>
          <p:cNvSpPr txBox="1"/>
          <p:nvPr/>
        </p:nvSpPr>
        <p:spPr>
          <a:xfrm>
            <a:off x="731520" y="1828800"/>
            <a:ext cx="8229600" cy="548640"/>
          </a:xfrm>
          <a:prstGeom prst="rect">
            <a:avLst/>
          </a:prstGeom>
          <a:noFill/>
          <a:ln/>
        </p:spPr>
        <p:txBody>
          <a:bodyPr wrap="square" lIns="0" tIns="0" rIns="0" bIns="0" rtlCol="0" anchor="t"/>
          <a:lstStyle/>
          <a:p>
            <a:pPr marL="0" indent="0">
              <a:buNone/>
            </a:pPr>
            <a:r>
              <a:rPr lang="en-US" sz="2200" dirty="0">
                <a:solidFill>
                  <a:schemeClr val="accent2"/>
                </a:solidFill>
                <a:latin typeface="Calibri" pitchFamily="34" charset="0"/>
                <a:ea typeface="Calibri" pitchFamily="34" charset="-122"/>
                <a:cs typeface="Calibri" pitchFamily="34" charset="-120"/>
              </a:rPr>
              <a:t>System-by-system detail</a:t>
            </a:r>
            <a:endParaRPr lang="en-US" sz="2200" dirty="0"/>
          </a:p>
        </p:txBody>
      </p:sp>
      <p:sp>
        <p:nvSpPr>
          <p:cNvPr id="5" name="appendix number"/>
          <p:cNvSpPr/>
          <p:nvPr/>
        </p:nvSpPr>
        <p:spPr>
          <a:xfrm>
            <a:off x="731520" y="292608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6" name="Text 4"/>
          <p:cNvSpPr txBox="1"/>
          <p:nvPr/>
        </p:nvSpPr>
        <p:spPr>
          <a:xfrm>
            <a:off x="731520" y="292608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17320" y="2926080"/>
            <a:ext cx="4114800" cy="45720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CliQ: depth vs breadth</a:t>
            </a:r>
            <a:endParaRPr lang="en-US" sz="1800" dirty="0"/>
          </a:p>
        </p:txBody>
      </p:sp>
      <p:sp>
        <p:nvSpPr>
          <p:cNvPr id="8" name="appendix number"/>
          <p:cNvSpPr/>
          <p:nvPr/>
        </p:nvSpPr>
        <p:spPr>
          <a:xfrm>
            <a:off x="5852160" y="292608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9" name="Text 7"/>
          <p:cNvSpPr txBox="1"/>
          <p:nvPr/>
        </p:nvSpPr>
        <p:spPr>
          <a:xfrm>
            <a:off x="5852160" y="292608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6537960" y="2926080"/>
            <a:ext cx="4114800" cy="45720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Wallet-only users</a:t>
            </a:r>
            <a:endParaRPr lang="en-US" sz="1800" dirty="0"/>
          </a:p>
        </p:txBody>
      </p:sp>
      <p:sp>
        <p:nvSpPr>
          <p:cNvPr id="11" name="appendix number"/>
          <p:cNvSpPr/>
          <p:nvPr/>
        </p:nvSpPr>
        <p:spPr>
          <a:xfrm>
            <a:off x="731520" y="370332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2" name="Text 10"/>
          <p:cNvSpPr txBox="1"/>
          <p:nvPr/>
        </p:nvSpPr>
        <p:spPr>
          <a:xfrm>
            <a:off x="731520" y="370332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417320" y="3703320"/>
            <a:ext cx="4114800" cy="45720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Women: icons</a:t>
            </a:r>
            <a:endParaRPr lang="en-US" sz="1800" dirty="0"/>
          </a:p>
        </p:txBody>
      </p:sp>
      <p:sp>
        <p:nvSpPr>
          <p:cNvPr id="14" name="appendix number"/>
          <p:cNvSpPr/>
          <p:nvPr/>
        </p:nvSpPr>
        <p:spPr>
          <a:xfrm>
            <a:off x="5852160" y="370332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5" name="Text 13"/>
          <p:cNvSpPr txBox="1"/>
          <p:nvPr/>
        </p:nvSpPr>
        <p:spPr>
          <a:xfrm>
            <a:off x="5852160" y="370332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16" name="Text 14"/>
          <p:cNvSpPr txBox="1"/>
          <p:nvPr/>
        </p:nvSpPr>
        <p:spPr>
          <a:xfrm>
            <a:off x="6537960" y="3703320"/>
            <a:ext cx="4114800" cy="45720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Gender: the gap</a:t>
            </a:r>
            <a:endParaRPr lang="en-US" sz="1800" dirty="0"/>
          </a:p>
        </p:txBody>
      </p:sp>
      <p:sp>
        <p:nvSpPr>
          <p:cNvPr id="17" name="appendix number"/>
          <p:cNvSpPr/>
          <p:nvPr/>
        </p:nvSpPr>
        <p:spPr>
          <a:xfrm>
            <a:off x="731520" y="448056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8" name="Text 16"/>
          <p:cNvSpPr txBox="1"/>
          <p:nvPr/>
        </p:nvSpPr>
        <p:spPr>
          <a:xfrm>
            <a:off x="731520" y="448056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19" name="Text 17"/>
          <p:cNvSpPr txBox="1"/>
          <p:nvPr/>
        </p:nvSpPr>
        <p:spPr>
          <a:xfrm>
            <a:off x="1417320" y="4480560"/>
            <a:ext cx="4114800" cy="45720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JoMoPay</a:t>
            </a:r>
            <a:endParaRPr lang="en-US" sz="1800" dirty="0"/>
          </a:p>
        </p:txBody>
      </p:sp>
      <p:sp>
        <p:nvSpPr>
          <p:cNvPr id="20" name="appendix number"/>
          <p:cNvSpPr/>
          <p:nvPr/>
        </p:nvSpPr>
        <p:spPr>
          <a:xfrm>
            <a:off x="5852160" y="448056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21" name="Text 19"/>
          <p:cNvSpPr txBox="1"/>
          <p:nvPr/>
        </p:nvSpPr>
        <p:spPr>
          <a:xfrm>
            <a:off x="5852160" y="448056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22" name="Text 20"/>
          <p:cNvSpPr txBox="1"/>
          <p:nvPr/>
        </p:nvSpPr>
        <p:spPr>
          <a:xfrm>
            <a:off x="6537960" y="4480560"/>
            <a:ext cx="4114800" cy="45720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ACH</a:t>
            </a:r>
            <a:endParaRPr lang="en-US" sz="1800" dirty="0"/>
          </a:p>
        </p:txBody>
      </p:sp>
      <p:sp>
        <p:nvSpPr>
          <p:cNvPr id="23" name="appendix number"/>
          <p:cNvSpPr/>
          <p:nvPr/>
        </p:nvSpPr>
        <p:spPr>
          <a:xfrm>
            <a:off x="731520" y="525780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24" name="Text 22"/>
          <p:cNvSpPr txBox="1"/>
          <p:nvPr/>
        </p:nvSpPr>
        <p:spPr>
          <a:xfrm>
            <a:off x="731520" y="525780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7</a:t>
            </a:r>
            <a:endParaRPr lang="en-US" sz="1600" dirty="0"/>
          </a:p>
        </p:txBody>
      </p:sp>
      <p:sp>
        <p:nvSpPr>
          <p:cNvPr id="25" name="Text 23"/>
          <p:cNvSpPr txBox="1"/>
          <p:nvPr/>
        </p:nvSpPr>
        <p:spPr>
          <a:xfrm>
            <a:off x="1417320" y="5257800"/>
            <a:ext cx="4114800" cy="45720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ECCU cheques</a:t>
            </a:r>
            <a:endParaRPr lang="en-US" sz="1800" dirty="0"/>
          </a:p>
        </p:txBody>
      </p:sp>
      <p:sp>
        <p:nvSpPr>
          <p:cNvPr id="26" name="appendix number"/>
          <p:cNvSpPr/>
          <p:nvPr/>
        </p:nvSpPr>
        <p:spPr>
          <a:xfrm>
            <a:off x="5852160" y="525780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27" name="Text 25"/>
          <p:cNvSpPr txBox="1"/>
          <p:nvPr/>
        </p:nvSpPr>
        <p:spPr>
          <a:xfrm>
            <a:off x="5852160" y="525780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8</a:t>
            </a:r>
            <a:endParaRPr lang="en-US" sz="1600" dirty="0"/>
          </a:p>
        </p:txBody>
      </p:sp>
      <p:sp>
        <p:nvSpPr>
          <p:cNvPr id="28" name="Text 26"/>
          <p:cNvSpPr txBox="1"/>
          <p:nvPr/>
        </p:nvSpPr>
        <p:spPr>
          <a:xfrm>
            <a:off x="6537960" y="5257800"/>
            <a:ext cx="4114800" cy="45720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IPS</a:t>
            </a:r>
            <a:endParaRPr lang="en-US" sz="1800" dirty="0"/>
          </a:p>
        </p:txBody>
      </p:sp>
      <p:sp>
        <p:nvSpPr>
          <p:cNvPr id="30" name="Isosceles Triangle 29">
            <a:extLst>
              <a:ext uri="{FF2B5EF4-FFF2-40B4-BE49-F238E27FC236}">
                <a16:creationId xmlns:a16="http://schemas.microsoft.com/office/drawing/2014/main" id="{F9505AAD-988C-5C69-CEA8-C3917E8A1F95}"/>
              </a:ext>
            </a:extLst>
          </p:cNvPr>
          <p:cNvSpPr/>
          <p:nvPr/>
        </p:nvSpPr>
        <p:spPr>
          <a:xfrm rot="14315780">
            <a:off x="10484801" y="-488126"/>
            <a:ext cx="1186434" cy="1341269"/>
          </a:xfrm>
          <a:prstGeom prst="triangle">
            <a:avLst>
              <a:gd name="adj" fmla="val 50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72C9591-823D-3560-1300-27D5B8A281C2}"/>
              </a:ext>
            </a:extLst>
          </p:cNvPr>
          <p:cNvSpPr/>
          <p:nvPr/>
        </p:nvSpPr>
        <p:spPr>
          <a:xfrm rot="15058543">
            <a:off x="11005220" y="139676"/>
            <a:ext cx="1333361" cy="1696296"/>
          </a:xfrm>
          <a:prstGeom prst="parallelogram">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a:extLst>
              <a:ext uri="{FF2B5EF4-FFF2-40B4-BE49-F238E27FC236}">
                <a16:creationId xmlns:a16="http://schemas.microsoft.com/office/drawing/2014/main" id="{FB6A174D-4CB7-083F-06FF-97213491649B}"/>
              </a:ext>
            </a:extLst>
          </p:cNvPr>
          <p:cNvSpPr/>
          <p:nvPr/>
        </p:nvSpPr>
        <p:spPr>
          <a:xfrm rot="5400000">
            <a:off x="9710491" y="1053439"/>
            <a:ext cx="1186434" cy="1341269"/>
          </a:xfrm>
          <a:prstGeom prst="triangle">
            <a:avLst>
              <a:gd name="adj" fmla="val 5000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Parallelogram 35">
            <a:extLst>
              <a:ext uri="{FF2B5EF4-FFF2-40B4-BE49-F238E27FC236}">
                <a16:creationId xmlns:a16="http://schemas.microsoft.com/office/drawing/2014/main" id="{7E365242-F33A-8487-231C-3DC114389016}"/>
              </a:ext>
            </a:extLst>
          </p:cNvPr>
          <p:cNvSpPr/>
          <p:nvPr/>
        </p:nvSpPr>
        <p:spPr>
          <a:xfrm rot="3245436">
            <a:off x="10217685" y="1561726"/>
            <a:ext cx="1333361" cy="1696296"/>
          </a:xfrm>
          <a:prstGeom prst="parallelogram">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CliQ grew deeper, not just wider</a:t>
            </a:r>
            <a:endParaRPr lang="en-US" sz="2800" dirty="0"/>
          </a:p>
        </p:txBody>
      </p:sp>
      <p:sp>
        <p:nvSpPr>
          <p:cNvPr id="3" name="data marker"/>
          <p:cNvSpPr/>
          <p:nvPr/>
        </p:nvSpPr>
        <p:spPr>
          <a:xfrm>
            <a:off x="548640" y="1280160"/>
            <a:ext cx="6583680" cy="347472"/>
          </a:xfrm>
          <a:prstGeom prst="roundRect">
            <a:avLst>
              <a:gd name="adj" fmla="val 21053"/>
            </a:avLst>
          </a:prstGeom>
          <a:solidFill>
            <a:schemeClr val="bg2"/>
          </a:solidFill>
          <a:ln w="12700">
            <a:solidFill>
              <a:schemeClr val="accent4"/>
            </a:solidFill>
            <a:prstDash val="solid"/>
          </a:ln>
        </p:spPr>
        <p:txBody>
          <a:bodyPr/>
          <a:lstStyle/>
          <a:p>
            <a:endParaRPr lang="en-US"/>
          </a:p>
        </p:txBody>
      </p:sp>
      <p:sp>
        <p:nvSpPr>
          <p:cNvPr id="4" name="Text 2"/>
          <p:cNvSpPr txBox="1"/>
          <p:nvPr/>
        </p:nvSpPr>
        <p:spPr>
          <a:xfrm>
            <a:off x="548640" y="1280160"/>
            <a:ext cx="658368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DERIVED: indexed to 2024 = 100 from reported growth rates</a:t>
            </a:r>
            <a:endParaRPr lang="en-US" sz="1100" dirty="0"/>
          </a:p>
        </p:txBody>
      </p:sp>
      <p:graphicFrame>
        <p:nvGraphicFramePr>
          <p:cNvPr id="5" name="Chart 0"/>
          <p:cNvGraphicFramePr/>
          <p:nvPr/>
        </p:nvGraphicFramePr>
        <p:xfrm>
          <a:off x="548640" y="1691640"/>
          <a:ext cx="658368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48640" y="5623560"/>
            <a:ext cx="6583680" cy="457200"/>
          </a:xfrm>
          <a:prstGeom prst="rect">
            <a:avLst/>
          </a:prstGeom>
          <a:noFill/>
          <a:ln/>
        </p:spPr>
        <p:txBody>
          <a:bodyPr wrap="square" lIns="0" tIns="0" rIns="0" bIns="0" rtlCol="0" anchor="ctr"/>
          <a:lstStyle/>
          <a:p>
            <a:pPr marL="0" indent="0" algn="ctr">
              <a:buNone/>
            </a:pPr>
            <a:r>
              <a:rPr lang="en-US" sz="1700" b="1" dirty="0">
                <a:solidFill>
                  <a:srgbClr val="243746"/>
                </a:solidFill>
                <a:latin typeface="Calibri" pitchFamily="34" charset="0"/>
                <a:ea typeface="Calibri" pitchFamily="34" charset="-122"/>
                <a:cs typeface="Calibri" pitchFamily="34" charset="-120"/>
              </a:rPr>
              <a:t>1.27 users x 1.57 per user = 2.0 transactions</a:t>
            </a:r>
            <a:endParaRPr lang="en-US" sz="1700" dirty="0"/>
          </a:p>
        </p:txBody>
      </p:sp>
      <p:sp>
        <p:nvSpPr>
          <p:cNvPr id="7" name="card"/>
          <p:cNvSpPr/>
          <p:nvPr/>
        </p:nvSpPr>
        <p:spPr>
          <a:xfrm>
            <a:off x="7498080" y="1371600"/>
            <a:ext cx="4114800" cy="2468880"/>
          </a:xfrm>
          <a:prstGeom prst="roundRect">
            <a:avLst>
              <a:gd name="adj" fmla="val 4444"/>
            </a:avLst>
          </a:prstGeom>
          <a:solidFill>
            <a:schemeClr val="bg2"/>
          </a:solidFill>
          <a:ln w="12700">
            <a:solidFill>
              <a:schemeClr val="bg2"/>
            </a:solidFill>
            <a:prstDash val="solid"/>
          </a:ln>
        </p:spPr>
        <p:txBody>
          <a:bodyPr/>
          <a:lstStyle/>
          <a:p>
            <a:endParaRPr lang="en-US"/>
          </a:p>
        </p:txBody>
      </p:sp>
      <p:sp>
        <p:nvSpPr>
          <p:cNvPr id="8" name="Text 5"/>
          <p:cNvSpPr txBox="1"/>
          <p:nvPr/>
        </p:nvSpPr>
        <p:spPr>
          <a:xfrm>
            <a:off x="7726680" y="1508760"/>
            <a:ext cx="3657600" cy="36576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Source of the doubling (derived)</a:t>
            </a:r>
            <a:endParaRPr lang="en-US" sz="1600" dirty="0"/>
          </a:p>
        </p:txBody>
      </p:sp>
      <p:sp>
        <p:nvSpPr>
          <p:cNvPr id="9" name="depth"/>
          <p:cNvSpPr/>
          <p:nvPr/>
        </p:nvSpPr>
        <p:spPr>
          <a:xfrm>
            <a:off x="7726680" y="2103120"/>
            <a:ext cx="2377440" cy="640080"/>
          </a:xfrm>
          <a:prstGeom prst="rect">
            <a:avLst/>
          </a:prstGeom>
          <a:solidFill>
            <a:schemeClr val="accent2"/>
          </a:solidFill>
          <a:ln w="12700">
            <a:solidFill>
              <a:schemeClr val="accent2"/>
            </a:solidFill>
            <a:prstDash val="solid"/>
          </a:ln>
        </p:spPr>
        <p:txBody>
          <a:bodyPr/>
          <a:lstStyle/>
          <a:p>
            <a:endParaRPr lang="en-US"/>
          </a:p>
        </p:txBody>
      </p:sp>
      <p:sp>
        <p:nvSpPr>
          <p:cNvPr id="10" name="breadth"/>
          <p:cNvSpPr/>
          <p:nvPr/>
        </p:nvSpPr>
        <p:spPr>
          <a:xfrm>
            <a:off x="10104120" y="2103120"/>
            <a:ext cx="1280160" cy="640080"/>
          </a:xfrm>
          <a:prstGeom prst="rect">
            <a:avLst/>
          </a:prstGeom>
          <a:solidFill>
            <a:schemeClr val="accent1"/>
          </a:solidFill>
          <a:ln w="12700">
            <a:solidFill>
              <a:schemeClr val="accent1"/>
            </a:solidFill>
            <a:prstDash val="solid"/>
          </a:ln>
        </p:spPr>
        <p:txBody>
          <a:bodyPr/>
          <a:lstStyle/>
          <a:p>
            <a:endParaRPr lang="en-US"/>
          </a:p>
        </p:txBody>
      </p:sp>
      <p:sp>
        <p:nvSpPr>
          <p:cNvPr id="11" name="Text 8"/>
          <p:cNvSpPr txBox="1"/>
          <p:nvPr/>
        </p:nvSpPr>
        <p:spPr>
          <a:xfrm>
            <a:off x="7726680" y="2103120"/>
            <a:ext cx="2377440" cy="64008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Depth 65%</a:t>
            </a:r>
            <a:endParaRPr lang="en-US" sz="1600" dirty="0"/>
          </a:p>
        </p:txBody>
      </p:sp>
      <p:sp>
        <p:nvSpPr>
          <p:cNvPr id="12" name="Text 9"/>
          <p:cNvSpPr txBox="1"/>
          <p:nvPr/>
        </p:nvSpPr>
        <p:spPr>
          <a:xfrm>
            <a:off x="10104120" y="2103120"/>
            <a:ext cx="1280160" cy="64008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Breadth 35%</a:t>
            </a:r>
            <a:endParaRPr lang="en-US" sz="1400" dirty="0"/>
          </a:p>
        </p:txBody>
      </p:sp>
      <p:sp>
        <p:nvSpPr>
          <p:cNvPr id="13" name="Text 10"/>
          <p:cNvSpPr txBox="1"/>
          <p:nvPr/>
        </p:nvSpPr>
        <p:spPr>
          <a:xfrm>
            <a:off x="7726680" y="2926080"/>
            <a:ext cx="3657600" cy="73152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Depth = existing users doing more. Breadth = new users.</a:t>
            </a:r>
            <a:endParaRPr lang="en-US" sz="1400" dirty="0"/>
          </a:p>
        </p:txBody>
      </p:sp>
      <p:sp>
        <p:nvSpPr>
          <p:cNvPr id="14" name="card"/>
          <p:cNvSpPr/>
          <p:nvPr/>
        </p:nvSpPr>
        <p:spPr>
          <a:xfrm>
            <a:off x="7498080" y="4023360"/>
            <a:ext cx="411480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15" name="Text 12"/>
          <p:cNvSpPr txBox="1"/>
          <p:nvPr/>
        </p:nvSpPr>
        <p:spPr>
          <a:xfrm>
            <a:off x="7726680" y="4160520"/>
            <a:ext cx="3657600" cy="36576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Transactions per user (derived)</a:t>
            </a:r>
            <a:endParaRPr lang="en-US" sz="1600" dirty="0"/>
          </a:p>
        </p:txBody>
      </p:sp>
      <p:sp>
        <p:nvSpPr>
          <p:cNvPr id="16" name="Text 13"/>
          <p:cNvSpPr txBox="1"/>
          <p:nvPr/>
        </p:nvSpPr>
        <p:spPr>
          <a:xfrm>
            <a:off x="7726680" y="4572000"/>
            <a:ext cx="3657600" cy="640080"/>
          </a:xfrm>
          <a:prstGeom prst="rect">
            <a:avLst/>
          </a:prstGeom>
          <a:noFill/>
          <a:ln/>
        </p:spPr>
        <p:txBody>
          <a:bodyPr wrap="square" lIns="0" tIns="0" rIns="0" bIns="0" rtlCol="0" anchor="ctr"/>
          <a:lstStyle/>
          <a:p>
            <a:pPr marL="0" indent="0">
              <a:buNone/>
            </a:pPr>
            <a:r>
              <a:rPr lang="en-US" sz="3400" b="1" dirty="0">
                <a:solidFill>
                  <a:schemeClr val="accent3"/>
                </a:solidFill>
                <a:latin typeface="Calibri" pitchFamily="34" charset="0"/>
                <a:ea typeface="Calibri" pitchFamily="34" charset="-122"/>
                <a:cs typeface="Calibri" pitchFamily="34" charset="-120"/>
              </a:rPr>
              <a:t>26 &gt; 50 &gt; 79</a:t>
            </a:r>
            <a:endParaRPr lang="en-US" sz="3400" dirty="0"/>
          </a:p>
        </p:txBody>
      </p:sp>
      <p:sp>
        <p:nvSpPr>
          <p:cNvPr id="17" name="Text 14"/>
          <p:cNvSpPr txBox="1"/>
          <p:nvPr/>
        </p:nvSpPr>
        <p:spPr>
          <a:xfrm>
            <a:off x="7726680" y="5212080"/>
            <a:ext cx="3657600" cy="2743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2023, 2024, 2025</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4.5 in 10 instant-payment users use a wallet only</a:t>
            </a:r>
            <a:endParaRPr lang="en-US" sz="2800" dirty="0"/>
          </a:p>
        </p:txBody>
      </p:sp>
      <p:sp>
        <p:nvSpPr>
          <p:cNvPr id="3" name="card"/>
          <p:cNvSpPr/>
          <p:nvPr/>
        </p:nvSpPr>
        <p:spPr>
          <a:xfrm>
            <a:off x="548640" y="1508760"/>
            <a:ext cx="11064240" cy="1234440"/>
          </a:xfrm>
          <a:prstGeom prst="roundRect">
            <a:avLst>
              <a:gd name="adj" fmla="val 8889"/>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508760"/>
            <a:ext cx="2743200" cy="123444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Wallet only</a:t>
            </a:r>
            <a:endParaRPr lang="en-US" sz="2000" dirty="0"/>
          </a:p>
        </p:txBody>
      </p:sp>
      <p:pic>
        <p:nvPicPr>
          <p:cNvPr id="5" name="Image 0" descr="users"/>
          <p:cNvPicPr>
            <a:picLocks noChangeAspect="1"/>
          </p:cNvPicPr>
          <p:nvPr/>
        </p:nvPicPr>
        <p:blipFill>
          <a:blip r:embed="rId3"/>
          <a:stretch>
            <a:fillRect/>
          </a:stretch>
        </p:blipFill>
        <p:spPr>
          <a:xfrm>
            <a:off x="3566160" y="1618488"/>
            <a:ext cx="502920" cy="1005840"/>
          </a:xfrm>
          <a:prstGeom prst="rect">
            <a:avLst/>
          </a:prstGeom>
        </p:spPr>
      </p:pic>
      <p:pic>
        <p:nvPicPr>
          <p:cNvPr id="6" name="Image 1" descr="users"/>
          <p:cNvPicPr>
            <a:picLocks noChangeAspect="1"/>
          </p:cNvPicPr>
          <p:nvPr/>
        </p:nvPicPr>
        <p:blipFill>
          <a:blip r:embed="rId3"/>
          <a:stretch>
            <a:fillRect/>
          </a:stretch>
        </p:blipFill>
        <p:spPr>
          <a:xfrm>
            <a:off x="4133088" y="1618488"/>
            <a:ext cx="502920" cy="1005840"/>
          </a:xfrm>
          <a:prstGeom prst="rect">
            <a:avLst/>
          </a:prstGeom>
        </p:spPr>
      </p:pic>
      <p:pic>
        <p:nvPicPr>
          <p:cNvPr id="7" name="Image 2" descr="users"/>
          <p:cNvPicPr>
            <a:picLocks noChangeAspect="1"/>
          </p:cNvPicPr>
          <p:nvPr/>
        </p:nvPicPr>
        <p:blipFill>
          <a:blip r:embed="rId3"/>
          <a:stretch>
            <a:fillRect/>
          </a:stretch>
        </p:blipFill>
        <p:spPr>
          <a:xfrm>
            <a:off x="4700016" y="1618488"/>
            <a:ext cx="502920" cy="1005840"/>
          </a:xfrm>
          <a:prstGeom prst="rect">
            <a:avLst/>
          </a:prstGeom>
        </p:spPr>
      </p:pic>
      <p:pic>
        <p:nvPicPr>
          <p:cNvPr id="8" name="Image 3" descr="users"/>
          <p:cNvPicPr>
            <a:picLocks noChangeAspect="1"/>
          </p:cNvPicPr>
          <p:nvPr/>
        </p:nvPicPr>
        <p:blipFill>
          <a:blip r:embed="rId3"/>
          <a:stretch>
            <a:fillRect/>
          </a:stretch>
        </p:blipFill>
        <p:spPr>
          <a:xfrm>
            <a:off x="5266944" y="1618488"/>
            <a:ext cx="502920" cy="1005840"/>
          </a:xfrm>
          <a:prstGeom prst="rect">
            <a:avLst/>
          </a:prstGeom>
        </p:spPr>
      </p:pic>
      <p:pic>
        <p:nvPicPr>
          <p:cNvPr id="9" name="Image 4" descr="users"/>
          <p:cNvPicPr>
            <a:picLocks noChangeAspect="1"/>
          </p:cNvPicPr>
          <p:nvPr/>
        </p:nvPicPr>
        <p:blipFill>
          <a:blip r:embed="rId4"/>
          <a:stretch>
            <a:fillRect/>
          </a:stretch>
        </p:blipFill>
        <p:spPr>
          <a:xfrm>
            <a:off x="5833872" y="1618488"/>
            <a:ext cx="502920" cy="1005840"/>
          </a:xfrm>
          <a:prstGeom prst="rect">
            <a:avLst/>
          </a:prstGeom>
        </p:spPr>
      </p:pic>
      <p:pic>
        <p:nvPicPr>
          <p:cNvPr id="10" name="Image 5" descr="users"/>
          <p:cNvPicPr>
            <a:picLocks noChangeAspect="1"/>
          </p:cNvPicPr>
          <p:nvPr/>
        </p:nvPicPr>
        <p:blipFill>
          <a:blip r:embed="rId5"/>
          <a:stretch>
            <a:fillRect/>
          </a:stretch>
        </p:blipFill>
        <p:spPr>
          <a:xfrm>
            <a:off x="6400800" y="1618488"/>
            <a:ext cx="502920" cy="1005840"/>
          </a:xfrm>
          <a:prstGeom prst="rect">
            <a:avLst/>
          </a:prstGeom>
        </p:spPr>
      </p:pic>
      <p:pic>
        <p:nvPicPr>
          <p:cNvPr id="11" name="Image 6" descr="users"/>
          <p:cNvPicPr>
            <a:picLocks noChangeAspect="1"/>
          </p:cNvPicPr>
          <p:nvPr/>
        </p:nvPicPr>
        <p:blipFill>
          <a:blip r:embed="rId5"/>
          <a:stretch>
            <a:fillRect/>
          </a:stretch>
        </p:blipFill>
        <p:spPr>
          <a:xfrm>
            <a:off x="6967728" y="1618488"/>
            <a:ext cx="502920" cy="1005840"/>
          </a:xfrm>
          <a:prstGeom prst="rect">
            <a:avLst/>
          </a:prstGeom>
        </p:spPr>
      </p:pic>
      <p:pic>
        <p:nvPicPr>
          <p:cNvPr id="12" name="Image 7" descr="users"/>
          <p:cNvPicPr>
            <a:picLocks noChangeAspect="1"/>
          </p:cNvPicPr>
          <p:nvPr/>
        </p:nvPicPr>
        <p:blipFill>
          <a:blip r:embed="rId5"/>
          <a:stretch>
            <a:fillRect/>
          </a:stretch>
        </p:blipFill>
        <p:spPr>
          <a:xfrm>
            <a:off x="7534656" y="1618488"/>
            <a:ext cx="502920" cy="1005840"/>
          </a:xfrm>
          <a:prstGeom prst="rect">
            <a:avLst/>
          </a:prstGeom>
        </p:spPr>
      </p:pic>
      <p:pic>
        <p:nvPicPr>
          <p:cNvPr id="13" name="Image 8" descr="users"/>
          <p:cNvPicPr>
            <a:picLocks noChangeAspect="1"/>
          </p:cNvPicPr>
          <p:nvPr/>
        </p:nvPicPr>
        <p:blipFill>
          <a:blip r:embed="rId5"/>
          <a:stretch>
            <a:fillRect/>
          </a:stretch>
        </p:blipFill>
        <p:spPr>
          <a:xfrm>
            <a:off x="8101584" y="1618488"/>
            <a:ext cx="502920" cy="1005840"/>
          </a:xfrm>
          <a:prstGeom prst="rect">
            <a:avLst/>
          </a:prstGeom>
        </p:spPr>
      </p:pic>
      <p:pic>
        <p:nvPicPr>
          <p:cNvPr id="14" name="Image 9" descr="users"/>
          <p:cNvPicPr>
            <a:picLocks noChangeAspect="1"/>
          </p:cNvPicPr>
          <p:nvPr/>
        </p:nvPicPr>
        <p:blipFill>
          <a:blip r:embed="rId5"/>
          <a:stretch>
            <a:fillRect/>
          </a:stretch>
        </p:blipFill>
        <p:spPr>
          <a:xfrm>
            <a:off x="8668512" y="1618488"/>
            <a:ext cx="502920" cy="1005840"/>
          </a:xfrm>
          <a:prstGeom prst="rect">
            <a:avLst/>
          </a:prstGeom>
        </p:spPr>
      </p:pic>
      <p:sp>
        <p:nvSpPr>
          <p:cNvPr id="15" name="Text 3"/>
          <p:cNvSpPr txBox="1"/>
          <p:nvPr/>
        </p:nvSpPr>
        <p:spPr>
          <a:xfrm>
            <a:off x="9601200" y="1508760"/>
            <a:ext cx="1828800" cy="1234440"/>
          </a:xfrm>
          <a:prstGeom prst="rect">
            <a:avLst/>
          </a:prstGeom>
          <a:noFill/>
          <a:ln/>
        </p:spPr>
        <p:txBody>
          <a:bodyPr wrap="square" lIns="0" tIns="0" rIns="0" bIns="0" rtlCol="0" anchor="ctr"/>
          <a:lstStyle/>
          <a:p>
            <a:pPr marL="0" indent="0" algn="r">
              <a:buNone/>
            </a:pPr>
            <a:r>
              <a:rPr lang="en-US" sz="3000" b="1" dirty="0">
                <a:solidFill>
                  <a:schemeClr val="tx1"/>
                </a:solidFill>
                <a:latin typeface="Calibri" pitchFamily="34" charset="0"/>
                <a:ea typeface="Calibri" pitchFamily="34" charset="-122"/>
                <a:cs typeface="Calibri" pitchFamily="34" charset="-120"/>
              </a:rPr>
              <a:t>45.5%</a:t>
            </a:r>
            <a:endParaRPr lang="en-US" sz="3000" dirty="0"/>
          </a:p>
        </p:txBody>
      </p:sp>
      <p:sp>
        <p:nvSpPr>
          <p:cNvPr id="16" name="card"/>
          <p:cNvSpPr/>
          <p:nvPr/>
        </p:nvSpPr>
        <p:spPr>
          <a:xfrm>
            <a:off x="548640" y="2880360"/>
            <a:ext cx="11064240" cy="1234440"/>
          </a:xfrm>
          <a:prstGeom prst="roundRect">
            <a:avLst>
              <a:gd name="adj" fmla="val 8889"/>
            </a:avLst>
          </a:prstGeom>
          <a:solidFill>
            <a:schemeClr val="bg2"/>
          </a:solidFill>
          <a:ln w="12700">
            <a:solidFill>
              <a:schemeClr val="bg2"/>
            </a:solidFill>
            <a:prstDash val="solid"/>
          </a:ln>
        </p:spPr>
        <p:txBody>
          <a:bodyPr/>
          <a:lstStyle/>
          <a:p>
            <a:endParaRPr lang="en-US"/>
          </a:p>
        </p:txBody>
      </p:sp>
      <p:sp>
        <p:nvSpPr>
          <p:cNvPr id="17" name="Text 5"/>
          <p:cNvSpPr txBox="1"/>
          <p:nvPr/>
        </p:nvSpPr>
        <p:spPr>
          <a:xfrm>
            <a:off x="777240" y="2880360"/>
            <a:ext cx="2743200" cy="123444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Bank account only</a:t>
            </a:r>
            <a:endParaRPr lang="en-US" sz="2000" dirty="0"/>
          </a:p>
        </p:txBody>
      </p:sp>
      <p:pic>
        <p:nvPicPr>
          <p:cNvPr id="18" name="Image 10" descr="users"/>
          <p:cNvPicPr>
            <a:picLocks noChangeAspect="1"/>
          </p:cNvPicPr>
          <p:nvPr/>
        </p:nvPicPr>
        <p:blipFill>
          <a:blip r:embed="rId6"/>
          <a:stretch>
            <a:fillRect/>
          </a:stretch>
        </p:blipFill>
        <p:spPr>
          <a:xfrm>
            <a:off x="3566160" y="2990088"/>
            <a:ext cx="502920" cy="1005840"/>
          </a:xfrm>
          <a:prstGeom prst="rect">
            <a:avLst/>
          </a:prstGeom>
        </p:spPr>
      </p:pic>
      <p:pic>
        <p:nvPicPr>
          <p:cNvPr id="19" name="Image 11" descr="users"/>
          <p:cNvPicPr>
            <a:picLocks noChangeAspect="1"/>
          </p:cNvPicPr>
          <p:nvPr/>
        </p:nvPicPr>
        <p:blipFill>
          <a:blip r:embed="rId6"/>
          <a:stretch>
            <a:fillRect/>
          </a:stretch>
        </p:blipFill>
        <p:spPr>
          <a:xfrm>
            <a:off x="4133088" y="2990088"/>
            <a:ext cx="502920" cy="1005840"/>
          </a:xfrm>
          <a:prstGeom prst="rect">
            <a:avLst/>
          </a:prstGeom>
        </p:spPr>
      </p:pic>
      <p:pic>
        <p:nvPicPr>
          <p:cNvPr id="20" name="Image 12" descr="users"/>
          <p:cNvPicPr>
            <a:picLocks noChangeAspect="1"/>
          </p:cNvPicPr>
          <p:nvPr/>
        </p:nvPicPr>
        <p:blipFill>
          <a:blip r:embed="rId7"/>
          <a:stretch>
            <a:fillRect/>
          </a:stretch>
        </p:blipFill>
        <p:spPr>
          <a:xfrm>
            <a:off x="4700016" y="2990088"/>
            <a:ext cx="502920" cy="1005840"/>
          </a:xfrm>
          <a:prstGeom prst="rect">
            <a:avLst/>
          </a:prstGeom>
        </p:spPr>
      </p:pic>
      <p:pic>
        <p:nvPicPr>
          <p:cNvPr id="21" name="Image 13" descr="users"/>
          <p:cNvPicPr>
            <a:picLocks noChangeAspect="1"/>
          </p:cNvPicPr>
          <p:nvPr/>
        </p:nvPicPr>
        <p:blipFill>
          <a:blip r:embed="rId5"/>
          <a:stretch>
            <a:fillRect/>
          </a:stretch>
        </p:blipFill>
        <p:spPr>
          <a:xfrm>
            <a:off x="5266944" y="2990088"/>
            <a:ext cx="502920" cy="1005840"/>
          </a:xfrm>
          <a:prstGeom prst="rect">
            <a:avLst/>
          </a:prstGeom>
        </p:spPr>
      </p:pic>
      <p:pic>
        <p:nvPicPr>
          <p:cNvPr id="22" name="Image 14" descr="users"/>
          <p:cNvPicPr>
            <a:picLocks noChangeAspect="1"/>
          </p:cNvPicPr>
          <p:nvPr/>
        </p:nvPicPr>
        <p:blipFill>
          <a:blip r:embed="rId5"/>
          <a:stretch>
            <a:fillRect/>
          </a:stretch>
        </p:blipFill>
        <p:spPr>
          <a:xfrm>
            <a:off x="5833872" y="2990088"/>
            <a:ext cx="502920" cy="1005840"/>
          </a:xfrm>
          <a:prstGeom prst="rect">
            <a:avLst/>
          </a:prstGeom>
        </p:spPr>
      </p:pic>
      <p:pic>
        <p:nvPicPr>
          <p:cNvPr id="23" name="Image 15" descr="users"/>
          <p:cNvPicPr>
            <a:picLocks noChangeAspect="1"/>
          </p:cNvPicPr>
          <p:nvPr/>
        </p:nvPicPr>
        <p:blipFill>
          <a:blip r:embed="rId5"/>
          <a:stretch>
            <a:fillRect/>
          </a:stretch>
        </p:blipFill>
        <p:spPr>
          <a:xfrm>
            <a:off x="6400800" y="2990088"/>
            <a:ext cx="502920" cy="1005840"/>
          </a:xfrm>
          <a:prstGeom prst="rect">
            <a:avLst/>
          </a:prstGeom>
        </p:spPr>
      </p:pic>
      <p:pic>
        <p:nvPicPr>
          <p:cNvPr id="24" name="Image 16" descr="users"/>
          <p:cNvPicPr>
            <a:picLocks noChangeAspect="1"/>
          </p:cNvPicPr>
          <p:nvPr/>
        </p:nvPicPr>
        <p:blipFill>
          <a:blip r:embed="rId5"/>
          <a:stretch>
            <a:fillRect/>
          </a:stretch>
        </p:blipFill>
        <p:spPr>
          <a:xfrm>
            <a:off x="6967728" y="2990088"/>
            <a:ext cx="502920" cy="1005840"/>
          </a:xfrm>
          <a:prstGeom prst="rect">
            <a:avLst/>
          </a:prstGeom>
        </p:spPr>
      </p:pic>
      <p:pic>
        <p:nvPicPr>
          <p:cNvPr id="25" name="Image 17" descr="users"/>
          <p:cNvPicPr>
            <a:picLocks noChangeAspect="1"/>
          </p:cNvPicPr>
          <p:nvPr/>
        </p:nvPicPr>
        <p:blipFill>
          <a:blip r:embed="rId5"/>
          <a:stretch>
            <a:fillRect/>
          </a:stretch>
        </p:blipFill>
        <p:spPr>
          <a:xfrm>
            <a:off x="7534656" y="2990088"/>
            <a:ext cx="502920" cy="1005840"/>
          </a:xfrm>
          <a:prstGeom prst="rect">
            <a:avLst/>
          </a:prstGeom>
        </p:spPr>
      </p:pic>
      <p:pic>
        <p:nvPicPr>
          <p:cNvPr id="26" name="Image 18" descr="users"/>
          <p:cNvPicPr>
            <a:picLocks noChangeAspect="1"/>
          </p:cNvPicPr>
          <p:nvPr/>
        </p:nvPicPr>
        <p:blipFill>
          <a:blip r:embed="rId5"/>
          <a:stretch>
            <a:fillRect/>
          </a:stretch>
        </p:blipFill>
        <p:spPr>
          <a:xfrm>
            <a:off x="8101584" y="2990088"/>
            <a:ext cx="502920" cy="1005840"/>
          </a:xfrm>
          <a:prstGeom prst="rect">
            <a:avLst/>
          </a:prstGeom>
        </p:spPr>
      </p:pic>
      <p:pic>
        <p:nvPicPr>
          <p:cNvPr id="27" name="Image 19" descr="users"/>
          <p:cNvPicPr>
            <a:picLocks noChangeAspect="1"/>
          </p:cNvPicPr>
          <p:nvPr/>
        </p:nvPicPr>
        <p:blipFill>
          <a:blip r:embed="rId5"/>
          <a:stretch>
            <a:fillRect/>
          </a:stretch>
        </p:blipFill>
        <p:spPr>
          <a:xfrm>
            <a:off x="8668512" y="2990088"/>
            <a:ext cx="502920" cy="1005840"/>
          </a:xfrm>
          <a:prstGeom prst="rect">
            <a:avLst/>
          </a:prstGeom>
        </p:spPr>
      </p:pic>
      <p:sp>
        <p:nvSpPr>
          <p:cNvPr id="28" name="Text 6"/>
          <p:cNvSpPr txBox="1"/>
          <p:nvPr/>
        </p:nvSpPr>
        <p:spPr>
          <a:xfrm>
            <a:off x="9601200" y="2880360"/>
            <a:ext cx="1828800" cy="1234440"/>
          </a:xfrm>
          <a:prstGeom prst="rect">
            <a:avLst/>
          </a:prstGeom>
          <a:noFill/>
          <a:ln/>
        </p:spPr>
        <p:txBody>
          <a:bodyPr wrap="square" lIns="0" tIns="0" rIns="0" bIns="0" rtlCol="0" anchor="ctr"/>
          <a:lstStyle/>
          <a:p>
            <a:pPr marL="0" indent="0" algn="r">
              <a:buNone/>
            </a:pPr>
            <a:r>
              <a:rPr lang="en-US" sz="3000" b="1" dirty="0">
                <a:solidFill>
                  <a:schemeClr val="tx1"/>
                </a:solidFill>
                <a:latin typeface="Calibri" pitchFamily="34" charset="0"/>
                <a:ea typeface="Calibri" pitchFamily="34" charset="-122"/>
                <a:cs typeface="Calibri" pitchFamily="34" charset="-120"/>
              </a:rPr>
              <a:t>27.0%</a:t>
            </a:r>
            <a:endParaRPr lang="en-US" sz="3000" dirty="0"/>
          </a:p>
        </p:txBody>
      </p:sp>
      <p:sp>
        <p:nvSpPr>
          <p:cNvPr id="29" name="card"/>
          <p:cNvSpPr/>
          <p:nvPr/>
        </p:nvSpPr>
        <p:spPr>
          <a:xfrm>
            <a:off x="548640" y="4251960"/>
            <a:ext cx="11064240" cy="1234440"/>
          </a:xfrm>
          <a:prstGeom prst="roundRect">
            <a:avLst>
              <a:gd name="adj" fmla="val 8889"/>
            </a:avLst>
          </a:prstGeom>
          <a:solidFill>
            <a:schemeClr val="bg2"/>
          </a:solidFill>
          <a:ln w="12700">
            <a:solidFill>
              <a:schemeClr val="bg2"/>
            </a:solidFill>
            <a:prstDash val="solid"/>
          </a:ln>
        </p:spPr>
        <p:txBody>
          <a:bodyPr/>
          <a:lstStyle/>
          <a:p>
            <a:endParaRPr lang="en-US"/>
          </a:p>
        </p:txBody>
      </p:sp>
      <p:sp>
        <p:nvSpPr>
          <p:cNvPr id="30" name="Text 8"/>
          <p:cNvSpPr txBox="1"/>
          <p:nvPr/>
        </p:nvSpPr>
        <p:spPr>
          <a:xfrm>
            <a:off x="777240" y="4251960"/>
            <a:ext cx="2743200" cy="123444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Both bank and wallet</a:t>
            </a:r>
            <a:endParaRPr lang="en-US" sz="2000" dirty="0"/>
          </a:p>
        </p:txBody>
      </p:sp>
      <p:pic>
        <p:nvPicPr>
          <p:cNvPr id="31" name="Image 20" descr="users"/>
          <p:cNvPicPr>
            <a:picLocks noChangeAspect="1"/>
          </p:cNvPicPr>
          <p:nvPr/>
        </p:nvPicPr>
        <p:blipFill>
          <a:blip r:embed="rId8"/>
          <a:stretch>
            <a:fillRect/>
          </a:stretch>
        </p:blipFill>
        <p:spPr>
          <a:xfrm>
            <a:off x="3566160" y="4361688"/>
            <a:ext cx="502920" cy="1005840"/>
          </a:xfrm>
          <a:prstGeom prst="rect">
            <a:avLst/>
          </a:prstGeom>
        </p:spPr>
      </p:pic>
      <p:pic>
        <p:nvPicPr>
          <p:cNvPr id="32" name="Image 21" descr="users"/>
          <p:cNvPicPr>
            <a:picLocks noChangeAspect="1"/>
          </p:cNvPicPr>
          <p:nvPr/>
        </p:nvPicPr>
        <p:blipFill>
          <a:blip r:embed="rId8"/>
          <a:stretch>
            <a:fillRect/>
          </a:stretch>
        </p:blipFill>
        <p:spPr>
          <a:xfrm>
            <a:off x="4133088" y="4361688"/>
            <a:ext cx="502920" cy="1005840"/>
          </a:xfrm>
          <a:prstGeom prst="rect">
            <a:avLst/>
          </a:prstGeom>
        </p:spPr>
      </p:pic>
      <p:pic>
        <p:nvPicPr>
          <p:cNvPr id="33" name="Image 22" descr="users"/>
          <p:cNvPicPr>
            <a:picLocks noChangeAspect="1"/>
          </p:cNvPicPr>
          <p:nvPr/>
        </p:nvPicPr>
        <p:blipFill>
          <a:blip r:embed="rId9"/>
          <a:stretch>
            <a:fillRect/>
          </a:stretch>
        </p:blipFill>
        <p:spPr>
          <a:xfrm>
            <a:off x="4700016" y="4361688"/>
            <a:ext cx="502920" cy="1005840"/>
          </a:xfrm>
          <a:prstGeom prst="rect">
            <a:avLst/>
          </a:prstGeom>
        </p:spPr>
      </p:pic>
      <p:pic>
        <p:nvPicPr>
          <p:cNvPr id="34" name="Image 23" descr="users"/>
          <p:cNvPicPr>
            <a:picLocks noChangeAspect="1"/>
          </p:cNvPicPr>
          <p:nvPr/>
        </p:nvPicPr>
        <p:blipFill>
          <a:blip r:embed="rId5"/>
          <a:stretch>
            <a:fillRect/>
          </a:stretch>
        </p:blipFill>
        <p:spPr>
          <a:xfrm>
            <a:off x="5266944" y="4361688"/>
            <a:ext cx="502920" cy="1005840"/>
          </a:xfrm>
          <a:prstGeom prst="rect">
            <a:avLst/>
          </a:prstGeom>
        </p:spPr>
      </p:pic>
      <p:pic>
        <p:nvPicPr>
          <p:cNvPr id="35" name="Image 24" descr="users"/>
          <p:cNvPicPr>
            <a:picLocks noChangeAspect="1"/>
          </p:cNvPicPr>
          <p:nvPr/>
        </p:nvPicPr>
        <p:blipFill>
          <a:blip r:embed="rId5"/>
          <a:stretch>
            <a:fillRect/>
          </a:stretch>
        </p:blipFill>
        <p:spPr>
          <a:xfrm>
            <a:off x="5833872" y="4361688"/>
            <a:ext cx="502920" cy="1005840"/>
          </a:xfrm>
          <a:prstGeom prst="rect">
            <a:avLst/>
          </a:prstGeom>
        </p:spPr>
      </p:pic>
      <p:pic>
        <p:nvPicPr>
          <p:cNvPr id="36" name="Image 25" descr="users"/>
          <p:cNvPicPr>
            <a:picLocks noChangeAspect="1"/>
          </p:cNvPicPr>
          <p:nvPr/>
        </p:nvPicPr>
        <p:blipFill>
          <a:blip r:embed="rId5"/>
          <a:stretch>
            <a:fillRect/>
          </a:stretch>
        </p:blipFill>
        <p:spPr>
          <a:xfrm>
            <a:off x="6400800" y="4361688"/>
            <a:ext cx="502920" cy="1005840"/>
          </a:xfrm>
          <a:prstGeom prst="rect">
            <a:avLst/>
          </a:prstGeom>
        </p:spPr>
      </p:pic>
      <p:pic>
        <p:nvPicPr>
          <p:cNvPr id="37" name="Image 26" descr="users"/>
          <p:cNvPicPr>
            <a:picLocks noChangeAspect="1"/>
          </p:cNvPicPr>
          <p:nvPr/>
        </p:nvPicPr>
        <p:blipFill>
          <a:blip r:embed="rId5"/>
          <a:stretch>
            <a:fillRect/>
          </a:stretch>
        </p:blipFill>
        <p:spPr>
          <a:xfrm>
            <a:off x="6967728" y="4361688"/>
            <a:ext cx="502920" cy="1005840"/>
          </a:xfrm>
          <a:prstGeom prst="rect">
            <a:avLst/>
          </a:prstGeom>
        </p:spPr>
      </p:pic>
      <p:pic>
        <p:nvPicPr>
          <p:cNvPr id="38" name="Image 27" descr="users"/>
          <p:cNvPicPr>
            <a:picLocks noChangeAspect="1"/>
          </p:cNvPicPr>
          <p:nvPr/>
        </p:nvPicPr>
        <p:blipFill>
          <a:blip r:embed="rId5"/>
          <a:stretch>
            <a:fillRect/>
          </a:stretch>
        </p:blipFill>
        <p:spPr>
          <a:xfrm>
            <a:off x="7534656" y="4361688"/>
            <a:ext cx="502920" cy="1005840"/>
          </a:xfrm>
          <a:prstGeom prst="rect">
            <a:avLst/>
          </a:prstGeom>
        </p:spPr>
      </p:pic>
      <p:pic>
        <p:nvPicPr>
          <p:cNvPr id="39" name="Image 28" descr="users"/>
          <p:cNvPicPr>
            <a:picLocks noChangeAspect="1"/>
          </p:cNvPicPr>
          <p:nvPr/>
        </p:nvPicPr>
        <p:blipFill>
          <a:blip r:embed="rId5"/>
          <a:stretch>
            <a:fillRect/>
          </a:stretch>
        </p:blipFill>
        <p:spPr>
          <a:xfrm>
            <a:off x="8101584" y="4361688"/>
            <a:ext cx="502920" cy="1005840"/>
          </a:xfrm>
          <a:prstGeom prst="rect">
            <a:avLst/>
          </a:prstGeom>
        </p:spPr>
      </p:pic>
      <p:pic>
        <p:nvPicPr>
          <p:cNvPr id="40" name="Image 29" descr="users"/>
          <p:cNvPicPr>
            <a:picLocks noChangeAspect="1"/>
          </p:cNvPicPr>
          <p:nvPr/>
        </p:nvPicPr>
        <p:blipFill>
          <a:blip r:embed="rId5"/>
          <a:stretch>
            <a:fillRect/>
          </a:stretch>
        </p:blipFill>
        <p:spPr>
          <a:xfrm>
            <a:off x="8668512" y="4361688"/>
            <a:ext cx="502920" cy="1005840"/>
          </a:xfrm>
          <a:prstGeom prst="rect">
            <a:avLst/>
          </a:prstGeom>
        </p:spPr>
      </p:pic>
      <p:sp>
        <p:nvSpPr>
          <p:cNvPr id="41" name="Text 9"/>
          <p:cNvSpPr txBox="1"/>
          <p:nvPr/>
        </p:nvSpPr>
        <p:spPr>
          <a:xfrm>
            <a:off x="9601200" y="4251960"/>
            <a:ext cx="1828800" cy="1234440"/>
          </a:xfrm>
          <a:prstGeom prst="rect">
            <a:avLst/>
          </a:prstGeom>
          <a:noFill/>
          <a:ln/>
        </p:spPr>
        <p:txBody>
          <a:bodyPr wrap="square" lIns="0" tIns="0" rIns="0" bIns="0" rtlCol="0" anchor="ctr"/>
          <a:lstStyle/>
          <a:p>
            <a:pPr marL="0" indent="0" algn="r">
              <a:buNone/>
            </a:pPr>
            <a:r>
              <a:rPr lang="en-US" sz="3000" b="1" dirty="0">
                <a:solidFill>
                  <a:schemeClr val="tx1"/>
                </a:solidFill>
                <a:latin typeface="Calibri" pitchFamily="34" charset="0"/>
                <a:ea typeface="Calibri" pitchFamily="34" charset="-122"/>
                <a:cs typeface="Calibri" pitchFamily="34" charset="-120"/>
              </a:rPr>
              <a:t>27.1%</a:t>
            </a:r>
            <a:endParaRPr lang="en-US" sz="3000" dirty="0"/>
          </a:p>
        </p:txBody>
      </p:sp>
      <p:sp>
        <p:nvSpPr>
          <p:cNvPr id="42" name="data marker"/>
          <p:cNvSpPr/>
          <p:nvPr/>
        </p:nvSpPr>
        <p:spPr>
          <a:xfrm>
            <a:off x="8229600" y="457200"/>
            <a:ext cx="3383280" cy="347472"/>
          </a:xfrm>
          <a:prstGeom prst="roundRect">
            <a:avLst>
              <a:gd name="adj" fmla="val 21053"/>
            </a:avLst>
          </a:prstGeom>
          <a:solidFill>
            <a:schemeClr val="bg2"/>
          </a:solidFill>
          <a:ln w="12700">
            <a:solidFill>
              <a:schemeClr val="accent4"/>
            </a:solidFill>
            <a:prstDash val="solid"/>
          </a:ln>
        </p:spPr>
        <p:txBody>
          <a:bodyPr/>
          <a:lstStyle/>
          <a:p>
            <a:endParaRPr lang="en-US"/>
          </a:p>
        </p:txBody>
      </p:sp>
      <p:sp>
        <p:nvSpPr>
          <p:cNvPr id="43" name="Text 11"/>
          <p:cNvSpPr txBox="1"/>
          <p:nvPr/>
        </p:nvSpPr>
        <p:spPr>
          <a:xfrm>
            <a:off x="8229600" y="457200"/>
            <a:ext cx="338328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DERIVED: "7 in 10" is 45.5% + 27.1%</a:t>
            </a:r>
            <a:endParaRPr lang="en-US" sz="1100" dirty="0"/>
          </a:p>
        </p:txBody>
      </p:sp>
      <p:sp>
        <p:nvSpPr>
          <p:cNvPr id="44" name="takeaway"/>
          <p:cNvSpPr/>
          <p:nvPr/>
        </p:nvSpPr>
        <p:spPr>
          <a:xfrm>
            <a:off x="548640" y="5577840"/>
            <a:ext cx="11064240" cy="502920"/>
          </a:xfrm>
          <a:prstGeom prst="roundRect">
            <a:avLst>
              <a:gd name="adj" fmla="val 21818"/>
            </a:avLst>
          </a:prstGeom>
          <a:solidFill>
            <a:schemeClr val="bg2"/>
          </a:solidFill>
          <a:ln w="12700">
            <a:solidFill>
              <a:schemeClr val="bg2"/>
            </a:solidFill>
            <a:prstDash val="solid"/>
          </a:ln>
        </p:spPr>
        <p:txBody>
          <a:bodyPr/>
          <a:lstStyle/>
          <a:p>
            <a:endParaRPr lang="en-US"/>
          </a:p>
        </p:txBody>
      </p:sp>
      <p:sp>
        <p:nvSpPr>
          <p:cNvPr id="45" name="Text 13"/>
          <p:cNvSpPr txBox="1"/>
          <p:nvPr/>
        </p:nvSpPr>
        <p:spPr>
          <a:xfrm>
            <a:off x="777240" y="5715000"/>
            <a:ext cx="10607040" cy="22860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7 in 10 use a wallet in some form.  </a:t>
            </a:r>
            <a:r>
              <a:rPr lang="en-US" sz="1600" dirty="0">
                <a:solidFill>
                  <a:schemeClr val="tx1"/>
                </a:solidFill>
                <a:latin typeface="Calibri" pitchFamily="34" charset="0"/>
                <a:ea typeface="Calibri" pitchFamily="34" charset="-122"/>
                <a:cs typeface="Calibri" pitchFamily="34" charset="-120"/>
              </a:rPr>
              <a:t>In 2024, 5 in 10 used a wallet only (50.1%).</a:t>
            </a:r>
            <a:endParaRPr lang="en-US" sz="1600" dirty="0"/>
          </a:p>
        </p:txBody>
      </p:sp>
      <p:sp>
        <p:nvSpPr>
          <p:cNvPr id="46" name="Text 14"/>
          <p:cNvSpPr txBox="1"/>
          <p:nvPr/>
        </p:nvSpPr>
        <p:spPr>
          <a:xfrm>
            <a:off x="548640" y="6144768"/>
            <a:ext cx="11064240" cy="228600"/>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Source: 2025 report p.13 (45.5%, 27%, 27.1%); 2024 report p.13 (50.1%). The published 2025 segments add up to 99.6%.</a:t>
            </a:r>
            <a:endParaRPr lang="en-US" sz="1000" dirty="0"/>
          </a:p>
        </p:txBody>
      </p:sp>
      <p:sp>
        <p:nvSpPr>
          <p:cNvPr id="47"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Wallets reach more women: 4.7 in 10 users vs 3.6 in 10 on CliQ</a:t>
            </a:r>
            <a:endParaRPr lang="en-US" sz="2800" dirty="0"/>
          </a:p>
        </p:txBody>
      </p:sp>
      <p:sp>
        <p:nvSpPr>
          <p:cNvPr id="3" name="card"/>
          <p:cNvSpPr/>
          <p:nvPr/>
        </p:nvSpPr>
        <p:spPr>
          <a:xfrm>
            <a:off x="548640" y="1508760"/>
            <a:ext cx="11064240" cy="1691640"/>
          </a:xfrm>
          <a:prstGeom prst="roundRect">
            <a:avLst>
              <a:gd name="adj" fmla="val 6486"/>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691640"/>
            <a:ext cx="2926080" cy="411480"/>
          </a:xfrm>
          <a:prstGeom prst="rect">
            <a:avLst/>
          </a:prstGeom>
          <a:noFill/>
          <a:ln/>
        </p:spPr>
        <p:txBody>
          <a:bodyPr wrap="square" lIns="0" tIns="0" rIns="0" bIns="0" rtlCol="0" anchor="t"/>
          <a:lstStyle/>
          <a:p>
            <a:pPr marL="0" indent="0">
              <a:buNone/>
            </a:pPr>
            <a:r>
              <a:rPr lang="en-US" sz="2200" b="1" dirty="0">
                <a:solidFill>
                  <a:schemeClr val="tx1"/>
                </a:solidFill>
                <a:latin typeface="Calibri" pitchFamily="34" charset="0"/>
                <a:ea typeface="Calibri" pitchFamily="34" charset="-122"/>
                <a:cs typeface="Calibri" pitchFamily="34" charset="-120"/>
              </a:rPr>
              <a:t>CliQ</a:t>
            </a:r>
            <a:endParaRPr lang="en-US" sz="2200" dirty="0"/>
          </a:p>
        </p:txBody>
      </p:sp>
      <p:sp>
        <p:nvSpPr>
          <p:cNvPr id="5" name="Text 3"/>
          <p:cNvSpPr txBox="1"/>
          <p:nvPr/>
        </p:nvSpPr>
        <p:spPr>
          <a:xfrm>
            <a:off x="777240" y="2103120"/>
            <a:ext cx="2926080" cy="32004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bank accounts</a:t>
            </a:r>
            <a:endParaRPr lang="en-US" sz="1400" dirty="0"/>
          </a:p>
        </p:txBody>
      </p:sp>
      <p:sp>
        <p:nvSpPr>
          <p:cNvPr id="6" name="Text 4"/>
          <p:cNvSpPr txBox="1"/>
          <p:nvPr/>
        </p:nvSpPr>
        <p:spPr>
          <a:xfrm>
            <a:off x="777240" y="2468880"/>
            <a:ext cx="2926080" cy="548640"/>
          </a:xfrm>
          <a:prstGeom prst="rect">
            <a:avLst/>
          </a:prstGeom>
          <a:noFill/>
          <a:ln/>
        </p:spPr>
        <p:txBody>
          <a:bodyPr wrap="square" lIns="0" tIns="0" rIns="0" bIns="0" rtlCol="0" anchor="t"/>
          <a:lstStyle/>
          <a:p>
            <a:pPr marL="0" indent="0">
              <a:buNone/>
            </a:pPr>
            <a:r>
              <a:rPr lang="en-US" sz="3200" b="1" dirty="0">
                <a:solidFill>
                  <a:schemeClr val="accent3"/>
                </a:solidFill>
                <a:latin typeface="Calibri" pitchFamily="34" charset="0"/>
                <a:ea typeface="Calibri" pitchFamily="34" charset="-122"/>
                <a:cs typeface="Calibri" pitchFamily="34" charset="-120"/>
              </a:rPr>
              <a:t>36%</a:t>
            </a:r>
            <a:r>
              <a:rPr lang="en-US" sz="1600" dirty="0">
                <a:solidFill>
                  <a:schemeClr val="tx2"/>
                </a:solidFill>
                <a:latin typeface="Calibri" pitchFamily="34" charset="0"/>
                <a:ea typeface="Calibri" pitchFamily="34" charset="-122"/>
                <a:cs typeface="Calibri" pitchFamily="34" charset="-120"/>
              </a:rPr>
              <a:t> women</a:t>
            </a:r>
            <a:endParaRPr lang="en-US" sz="3200" dirty="0"/>
          </a:p>
        </p:txBody>
      </p:sp>
      <p:pic>
        <p:nvPicPr>
          <p:cNvPr id="7" name="Image 0" descr="users"/>
          <p:cNvPicPr>
            <a:picLocks noChangeAspect="1"/>
          </p:cNvPicPr>
          <p:nvPr/>
        </p:nvPicPr>
        <p:blipFill>
          <a:blip r:embed="rId3"/>
          <a:stretch>
            <a:fillRect/>
          </a:stretch>
        </p:blipFill>
        <p:spPr>
          <a:xfrm>
            <a:off x="3931920" y="1664208"/>
            <a:ext cx="603504" cy="1371600"/>
          </a:xfrm>
          <a:prstGeom prst="rect">
            <a:avLst/>
          </a:prstGeom>
        </p:spPr>
      </p:pic>
      <p:pic>
        <p:nvPicPr>
          <p:cNvPr id="8" name="Image 1" descr="users"/>
          <p:cNvPicPr>
            <a:picLocks noChangeAspect="1"/>
          </p:cNvPicPr>
          <p:nvPr/>
        </p:nvPicPr>
        <p:blipFill>
          <a:blip r:embed="rId3"/>
          <a:stretch>
            <a:fillRect/>
          </a:stretch>
        </p:blipFill>
        <p:spPr>
          <a:xfrm>
            <a:off x="4645152" y="1664208"/>
            <a:ext cx="603504" cy="1371600"/>
          </a:xfrm>
          <a:prstGeom prst="rect">
            <a:avLst/>
          </a:prstGeom>
        </p:spPr>
      </p:pic>
      <p:pic>
        <p:nvPicPr>
          <p:cNvPr id="9" name="Image 2" descr="users"/>
          <p:cNvPicPr>
            <a:picLocks noChangeAspect="1"/>
          </p:cNvPicPr>
          <p:nvPr/>
        </p:nvPicPr>
        <p:blipFill>
          <a:blip r:embed="rId3"/>
          <a:stretch>
            <a:fillRect/>
          </a:stretch>
        </p:blipFill>
        <p:spPr>
          <a:xfrm>
            <a:off x="5358384" y="1664208"/>
            <a:ext cx="603504" cy="1371600"/>
          </a:xfrm>
          <a:prstGeom prst="rect">
            <a:avLst/>
          </a:prstGeom>
        </p:spPr>
      </p:pic>
      <p:pic>
        <p:nvPicPr>
          <p:cNvPr id="10" name="Image 3" descr="users"/>
          <p:cNvPicPr>
            <a:picLocks noChangeAspect="1"/>
          </p:cNvPicPr>
          <p:nvPr/>
        </p:nvPicPr>
        <p:blipFill>
          <a:blip r:embed="rId4"/>
          <a:stretch>
            <a:fillRect/>
          </a:stretch>
        </p:blipFill>
        <p:spPr>
          <a:xfrm>
            <a:off x="6071616" y="1664208"/>
            <a:ext cx="603504" cy="1371600"/>
          </a:xfrm>
          <a:prstGeom prst="rect">
            <a:avLst/>
          </a:prstGeom>
        </p:spPr>
      </p:pic>
      <p:pic>
        <p:nvPicPr>
          <p:cNvPr id="11" name="Image 4" descr="users"/>
          <p:cNvPicPr>
            <a:picLocks noChangeAspect="1"/>
          </p:cNvPicPr>
          <p:nvPr/>
        </p:nvPicPr>
        <p:blipFill>
          <a:blip r:embed="rId5"/>
          <a:stretch>
            <a:fillRect/>
          </a:stretch>
        </p:blipFill>
        <p:spPr>
          <a:xfrm>
            <a:off x="6784848" y="1664208"/>
            <a:ext cx="603504" cy="1371600"/>
          </a:xfrm>
          <a:prstGeom prst="rect">
            <a:avLst/>
          </a:prstGeom>
        </p:spPr>
      </p:pic>
      <p:pic>
        <p:nvPicPr>
          <p:cNvPr id="12" name="Image 5" descr="users"/>
          <p:cNvPicPr>
            <a:picLocks noChangeAspect="1"/>
          </p:cNvPicPr>
          <p:nvPr/>
        </p:nvPicPr>
        <p:blipFill>
          <a:blip r:embed="rId5"/>
          <a:stretch>
            <a:fillRect/>
          </a:stretch>
        </p:blipFill>
        <p:spPr>
          <a:xfrm>
            <a:off x="7498080" y="1664208"/>
            <a:ext cx="603504" cy="1371600"/>
          </a:xfrm>
          <a:prstGeom prst="rect">
            <a:avLst/>
          </a:prstGeom>
        </p:spPr>
      </p:pic>
      <p:pic>
        <p:nvPicPr>
          <p:cNvPr id="13" name="Image 6" descr="users"/>
          <p:cNvPicPr>
            <a:picLocks noChangeAspect="1"/>
          </p:cNvPicPr>
          <p:nvPr/>
        </p:nvPicPr>
        <p:blipFill>
          <a:blip r:embed="rId5"/>
          <a:stretch>
            <a:fillRect/>
          </a:stretch>
        </p:blipFill>
        <p:spPr>
          <a:xfrm>
            <a:off x="8211312" y="1664208"/>
            <a:ext cx="603504" cy="1371600"/>
          </a:xfrm>
          <a:prstGeom prst="rect">
            <a:avLst/>
          </a:prstGeom>
        </p:spPr>
      </p:pic>
      <p:pic>
        <p:nvPicPr>
          <p:cNvPr id="14" name="Image 7" descr="users"/>
          <p:cNvPicPr>
            <a:picLocks noChangeAspect="1"/>
          </p:cNvPicPr>
          <p:nvPr/>
        </p:nvPicPr>
        <p:blipFill>
          <a:blip r:embed="rId5"/>
          <a:stretch>
            <a:fillRect/>
          </a:stretch>
        </p:blipFill>
        <p:spPr>
          <a:xfrm>
            <a:off x="8924544" y="1664208"/>
            <a:ext cx="603504" cy="1371600"/>
          </a:xfrm>
          <a:prstGeom prst="rect">
            <a:avLst/>
          </a:prstGeom>
        </p:spPr>
      </p:pic>
      <p:pic>
        <p:nvPicPr>
          <p:cNvPr id="15" name="Image 8" descr="users"/>
          <p:cNvPicPr>
            <a:picLocks noChangeAspect="1"/>
          </p:cNvPicPr>
          <p:nvPr/>
        </p:nvPicPr>
        <p:blipFill>
          <a:blip r:embed="rId5"/>
          <a:stretch>
            <a:fillRect/>
          </a:stretch>
        </p:blipFill>
        <p:spPr>
          <a:xfrm>
            <a:off x="9637776" y="1664208"/>
            <a:ext cx="603504" cy="1371600"/>
          </a:xfrm>
          <a:prstGeom prst="rect">
            <a:avLst/>
          </a:prstGeom>
        </p:spPr>
      </p:pic>
      <p:pic>
        <p:nvPicPr>
          <p:cNvPr id="16" name="Image 9" descr="users"/>
          <p:cNvPicPr>
            <a:picLocks noChangeAspect="1"/>
          </p:cNvPicPr>
          <p:nvPr/>
        </p:nvPicPr>
        <p:blipFill>
          <a:blip r:embed="rId5"/>
          <a:stretch>
            <a:fillRect/>
          </a:stretch>
        </p:blipFill>
        <p:spPr>
          <a:xfrm>
            <a:off x="10351008" y="1664208"/>
            <a:ext cx="603504" cy="1371600"/>
          </a:xfrm>
          <a:prstGeom prst="rect">
            <a:avLst/>
          </a:prstGeom>
        </p:spPr>
      </p:pic>
      <p:sp>
        <p:nvSpPr>
          <p:cNvPr id="17" name="card"/>
          <p:cNvSpPr/>
          <p:nvPr/>
        </p:nvSpPr>
        <p:spPr>
          <a:xfrm>
            <a:off x="548640" y="3337560"/>
            <a:ext cx="11064240" cy="1691640"/>
          </a:xfrm>
          <a:prstGeom prst="roundRect">
            <a:avLst>
              <a:gd name="adj" fmla="val 6486"/>
            </a:avLst>
          </a:prstGeom>
          <a:solidFill>
            <a:schemeClr val="bg2"/>
          </a:solidFill>
          <a:ln w="12700">
            <a:solidFill>
              <a:schemeClr val="bg2"/>
            </a:solidFill>
            <a:prstDash val="solid"/>
          </a:ln>
        </p:spPr>
        <p:txBody>
          <a:bodyPr/>
          <a:lstStyle/>
          <a:p>
            <a:endParaRPr lang="en-US"/>
          </a:p>
        </p:txBody>
      </p:sp>
      <p:sp>
        <p:nvSpPr>
          <p:cNvPr id="18" name="Text 6"/>
          <p:cNvSpPr txBox="1"/>
          <p:nvPr/>
        </p:nvSpPr>
        <p:spPr>
          <a:xfrm>
            <a:off x="777240" y="3520440"/>
            <a:ext cx="2926080" cy="411480"/>
          </a:xfrm>
          <a:prstGeom prst="rect">
            <a:avLst/>
          </a:prstGeom>
          <a:noFill/>
          <a:ln/>
        </p:spPr>
        <p:txBody>
          <a:bodyPr wrap="square" lIns="0" tIns="0" rIns="0" bIns="0" rtlCol="0" anchor="t"/>
          <a:lstStyle/>
          <a:p>
            <a:pPr marL="0" indent="0">
              <a:buNone/>
            </a:pPr>
            <a:r>
              <a:rPr lang="en-US" sz="2200" b="1" dirty="0">
                <a:solidFill>
                  <a:schemeClr val="tx1"/>
                </a:solidFill>
                <a:latin typeface="Calibri" pitchFamily="34" charset="0"/>
                <a:ea typeface="Calibri" pitchFamily="34" charset="-122"/>
                <a:cs typeface="Calibri" pitchFamily="34" charset="-120"/>
              </a:rPr>
              <a:t>JoMoPay</a:t>
            </a:r>
            <a:endParaRPr lang="en-US" sz="2200" dirty="0"/>
          </a:p>
        </p:txBody>
      </p:sp>
      <p:sp>
        <p:nvSpPr>
          <p:cNvPr id="19" name="Text 7"/>
          <p:cNvSpPr txBox="1"/>
          <p:nvPr/>
        </p:nvSpPr>
        <p:spPr>
          <a:xfrm>
            <a:off x="777240" y="3931920"/>
            <a:ext cx="2926080" cy="32004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mobile wallets</a:t>
            </a:r>
            <a:endParaRPr lang="en-US" sz="1400" dirty="0"/>
          </a:p>
        </p:txBody>
      </p:sp>
      <p:sp>
        <p:nvSpPr>
          <p:cNvPr id="20" name="Text 8"/>
          <p:cNvSpPr txBox="1"/>
          <p:nvPr/>
        </p:nvSpPr>
        <p:spPr>
          <a:xfrm>
            <a:off x="777240" y="4297680"/>
            <a:ext cx="2926080" cy="548640"/>
          </a:xfrm>
          <a:prstGeom prst="rect">
            <a:avLst/>
          </a:prstGeom>
          <a:noFill/>
          <a:ln/>
        </p:spPr>
        <p:txBody>
          <a:bodyPr wrap="square" lIns="0" tIns="0" rIns="0" bIns="0" rtlCol="0" anchor="t"/>
          <a:lstStyle/>
          <a:p>
            <a:pPr marL="0" indent="0">
              <a:buNone/>
            </a:pPr>
            <a:r>
              <a:rPr lang="en-US" sz="3200" b="1" dirty="0">
                <a:solidFill>
                  <a:schemeClr val="accent3"/>
                </a:solidFill>
                <a:latin typeface="Calibri" pitchFamily="34" charset="0"/>
                <a:ea typeface="Calibri" pitchFamily="34" charset="-122"/>
                <a:cs typeface="Calibri" pitchFamily="34" charset="-120"/>
              </a:rPr>
              <a:t>46.8%</a:t>
            </a:r>
            <a:r>
              <a:rPr lang="en-US" sz="1600" dirty="0">
                <a:solidFill>
                  <a:schemeClr val="tx2"/>
                </a:solidFill>
                <a:latin typeface="Calibri" pitchFamily="34" charset="0"/>
                <a:ea typeface="Calibri" pitchFamily="34" charset="-122"/>
                <a:cs typeface="Calibri" pitchFamily="34" charset="-120"/>
              </a:rPr>
              <a:t> women</a:t>
            </a:r>
            <a:endParaRPr lang="en-US" sz="3200" dirty="0"/>
          </a:p>
        </p:txBody>
      </p:sp>
      <p:pic>
        <p:nvPicPr>
          <p:cNvPr id="21" name="Image 10" descr="users"/>
          <p:cNvPicPr>
            <a:picLocks noChangeAspect="1"/>
          </p:cNvPicPr>
          <p:nvPr/>
        </p:nvPicPr>
        <p:blipFill>
          <a:blip r:embed="rId3"/>
          <a:stretch>
            <a:fillRect/>
          </a:stretch>
        </p:blipFill>
        <p:spPr>
          <a:xfrm>
            <a:off x="3931920" y="3493008"/>
            <a:ext cx="603504" cy="1371600"/>
          </a:xfrm>
          <a:prstGeom prst="rect">
            <a:avLst/>
          </a:prstGeom>
        </p:spPr>
      </p:pic>
      <p:pic>
        <p:nvPicPr>
          <p:cNvPr id="22" name="Image 11" descr="users"/>
          <p:cNvPicPr>
            <a:picLocks noChangeAspect="1"/>
          </p:cNvPicPr>
          <p:nvPr/>
        </p:nvPicPr>
        <p:blipFill>
          <a:blip r:embed="rId3"/>
          <a:stretch>
            <a:fillRect/>
          </a:stretch>
        </p:blipFill>
        <p:spPr>
          <a:xfrm>
            <a:off x="4645152" y="3493008"/>
            <a:ext cx="603504" cy="1371600"/>
          </a:xfrm>
          <a:prstGeom prst="rect">
            <a:avLst/>
          </a:prstGeom>
        </p:spPr>
      </p:pic>
      <p:pic>
        <p:nvPicPr>
          <p:cNvPr id="23" name="Image 12" descr="users"/>
          <p:cNvPicPr>
            <a:picLocks noChangeAspect="1"/>
          </p:cNvPicPr>
          <p:nvPr/>
        </p:nvPicPr>
        <p:blipFill>
          <a:blip r:embed="rId3"/>
          <a:stretch>
            <a:fillRect/>
          </a:stretch>
        </p:blipFill>
        <p:spPr>
          <a:xfrm>
            <a:off x="5358384" y="3493008"/>
            <a:ext cx="603504" cy="1371600"/>
          </a:xfrm>
          <a:prstGeom prst="rect">
            <a:avLst/>
          </a:prstGeom>
        </p:spPr>
      </p:pic>
      <p:pic>
        <p:nvPicPr>
          <p:cNvPr id="24" name="Image 13" descr="users"/>
          <p:cNvPicPr>
            <a:picLocks noChangeAspect="1"/>
          </p:cNvPicPr>
          <p:nvPr/>
        </p:nvPicPr>
        <p:blipFill>
          <a:blip r:embed="rId3"/>
          <a:stretch>
            <a:fillRect/>
          </a:stretch>
        </p:blipFill>
        <p:spPr>
          <a:xfrm>
            <a:off x="6071616" y="3493008"/>
            <a:ext cx="603504" cy="1371600"/>
          </a:xfrm>
          <a:prstGeom prst="rect">
            <a:avLst/>
          </a:prstGeom>
        </p:spPr>
      </p:pic>
      <p:pic>
        <p:nvPicPr>
          <p:cNvPr id="25" name="Image 14" descr="users"/>
          <p:cNvPicPr>
            <a:picLocks noChangeAspect="1"/>
          </p:cNvPicPr>
          <p:nvPr/>
        </p:nvPicPr>
        <p:blipFill>
          <a:blip r:embed="rId6"/>
          <a:stretch>
            <a:fillRect/>
          </a:stretch>
        </p:blipFill>
        <p:spPr>
          <a:xfrm>
            <a:off x="6784848" y="3493008"/>
            <a:ext cx="603504" cy="1371600"/>
          </a:xfrm>
          <a:prstGeom prst="rect">
            <a:avLst/>
          </a:prstGeom>
        </p:spPr>
      </p:pic>
      <p:pic>
        <p:nvPicPr>
          <p:cNvPr id="26" name="Image 15" descr="users"/>
          <p:cNvPicPr>
            <a:picLocks noChangeAspect="1"/>
          </p:cNvPicPr>
          <p:nvPr/>
        </p:nvPicPr>
        <p:blipFill>
          <a:blip r:embed="rId5"/>
          <a:stretch>
            <a:fillRect/>
          </a:stretch>
        </p:blipFill>
        <p:spPr>
          <a:xfrm>
            <a:off x="7498080" y="3493008"/>
            <a:ext cx="603504" cy="1371600"/>
          </a:xfrm>
          <a:prstGeom prst="rect">
            <a:avLst/>
          </a:prstGeom>
        </p:spPr>
      </p:pic>
      <p:pic>
        <p:nvPicPr>
          <p:cNvPr id="27" name="Image 16" descr="users"/>
          <p:cNvPicPr>
            <a:picLocks noChangeAspect="1"/>
          </p:cNvPicPr>
          <p:nvPr/>
        </p:nvPicPr>
        <p:blipFill>
          <a:blip r:embed="rId5"/>
          <a:stretch>
            <a:fillRect/>
          </a:stretch>
        </p:blipFill>
        <p:spPr>
          <a:xfrm>
            <a:off x="8211312" y="3493008"/>
            <a:ext cx="603504" cy="1371600"/>
          </a:xfrm>
          <a:prstGeom prst="rect">
            <a:avLst/>
          </a:prstGeom>
        </p:spPr>
      </p:pic>
      <p:pic>
        <p:nvPicPr>
          <p:cNvPr id="28" name="Image 17" descr="users"/>
          <p:cNvPicPr>
            <a:picLocks noChangeAspect="1"/>
          </p:cNvPicPr>
          <p:nvPr/>
        </p:nvPicPr>
        <p:blipFill>
          <a:blip r:embed="rId5"/>
          <a:stretch>
            <a:fillRect/>
          </a:stretch>
        </p:blipFill>
        <p:spPr>
          <a:xfrm>
            <a:off x="8924544" y="3493008"/>
            <a:ext cx="603504" cy="1371600"/>
          </a:xfrm>
          <a:prstGeom prst="rect">
            <a:avLst/>
          </a:prstGeom>
        </p:spPr>
      </p:pic>
      <p:pic>
        <p:nvPicPr>
          <p:cNvPr id="29" name="Image 18" descr="users"/>
          <p:cNvPicPr>
            <a:picLocks noChangeAspect="1"/>
          </p:cNvPicPr>
          <p:nvPr/>
        </p:nvPicPr>
        <p:blipFill>
          <a:blip r:embed="rId5"/>
          <a:stretch>
            <a:fillRect/>
          </a:stretch>
        </p:blipFill>
        <p:spPr>
          <a:xfrm>
            <a:off x="9637776" y="3493008"/>
            <a:ext cx="603504" cy="1371600"/>
          </a:xfrm>
          <a:prstGeom prst="rect">
            <a:avLst/>
          </a:prstGeom>
        </p:spPr>
      </p:pic>
      <p:pic>
        <p:nvPicPr>
          <p:cNvPr id="30" name="Image 19" descr="users"/>
          <p:cNvPicPr>
            <a:picLocks noChangeAspect="1"/>
          </p:cNvPicPr>
          <p:nvPr/>
        </p:nvPicPr>
        <p:blipFill>
          <a:blip r:embed="rId5"/>
          <a:stretch>
            <a:fillRect/>
          </a:stretch>
        </p:blipFill>
        <p:spPr>
          <a:xfrm>
            <a:off x="10351008" y="3493008"/>
            <a:ext cx="603504" cy="1371600"/>
          </a:xfrm>
          <a:prstGeom prst="rect">
            <a:avLst/>
          </a:prstGeom>
        </p:spPr>
      </p:pic>
      <p:sp>
        <p:nvSpPr>
          <p:cNvPr id="31" name="takeaway"/>
          <p:cNvSpPr/>
          <p:nvPr/>
        </p:nvSpPr>
        <p:spPr>
          <a:xfrm>
            <a:off x="548640" y="5212080"/>
            <a:ext cx="11064240" cy="548640"/>
          </a:xfrm>
          <a:prstGeom prst="roundRect">
            <a:avLst>
              <a:gd name="adj" fmla="val 20000"/>
            </a:avLst>
          </a:prstGeom>
          <a:solidFill>
            <a:schemeClr val="bg2"/>
          </a:solidFill>
          <a:ln w="12700">
            <a:solidFill>
              <a:schemeClr val="bg2"/>
            </a:solidFill>
            <a:prstDash val="solid"/>
          </a:ln>
        </p:spPr>
        <p:txBody>
          <a:bodyPr/>
          <a:lstStyle/>
          <a:p>
            <a:endParaRPr lang="en-US"/>
          </a:p>
        </p:txBody>
      </p:sp>
      <p:sp>
        <p:nvSpPr>
          <p:cNvPr id="32" name="Text 10"/>
          <p:cNvSpPr txBox="1"/>
          <p:nvPr/>
        </p:nvSpPr>
        <p:spPr>
          <a:xfrm>
            <a:off x="777240" y="5349240"/>
            <a:ext cx="10607040" cy="2743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Who is present:  </a:t>
            </a:r>
            <a:r>
              <a:rPr lang="en-US" sz="1600" dirty="0">
                <a:solidFill>
                  <a:schemeClr val="tx1"/>
                </a:solidFill>
                <a:latin typeface="Calibri" pitchFamily="34" charset="0"/>
                <a:ea typeface="Calibri" pitchFamily="34" charset="-122"/>
                <a:cs typeface="Calibri" pitchFamily="34" charset="-120"/>
              </a:rPr>
              <a:t>wallets reach a larger share of women than CliQ (gold = women).</a:t>
            </a:r>
            <a:endParaRPr lang="en-US" sz="1600" dirty="0"/>
          </a:p>
        </p:txBody>
      </p:sp>
      <p:sp>
        <p:nvSpPr>
          <p:cNvPr id="33" name="Text 11"/>
          <p:cNvSpPr txBox="1"/>
          <p:nvPr/>
        </p:nvSpPr>
        <p:spPr>
          <a:xfrm>
            <a:off x="548640" y="5989320"/>
            <a:ext cx="11064240" cy="228600"/>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Source: 2025 report, CliQ users p.7 (36% female, 61% male, 3% unlabelled); JoMoPay users p.11 (46.8% female). Shown to the nearest tenth of a person.</a:t>
            </a:r>
            <a:endParaRPr lang="en-US" sz="1000" dirty="0"/>
          </a:p>
        </p:txBody>
      </p:sp>
      <p:sp>
        <p:nvSpPr>
          <p:cNvPr id="34"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Wallets still reach more women, but the gap is narrowing</a:t>
            </a:r>
            <a:endParaRPr lang="en-US" sz="2800" dirty="0"/>
          </a:p>
        </p:txBody>
      </p:sp>
      <p:sp>
        <p:nvSpPr>
          <p:cNvPr id="3" name="data marker"/>
          <p:cNvSpPr/>
          <p:nvPr/>
        </p:nvSpPr>
        <p:spPr>
          <a:xfrm>
            <a:off x="7680960" y="73152"/>
            <a:ext cx="3931920" cy="347472"/>
          </a:xfrm>
          <a:prstGeom prst="roundRect">
            <a:avLst>
              <a:gd name="adj" fmla="val 21053"/>
            </a:avLst>
          </a:prstGeom>
          <a:solidFill>
            <a:schemeClr val="bg2"/>
          </a:solidFill>
          <a:ln w="12700">
            <a:solidFill>
              <a:schemeClr val="accent4"/>
            </a:solidFill>
            <a:prstDash val="solid"/>
          </a:ln>
        </p:spPr>
        <p:txBody>
          <a:bodyPr/>
          <a:lstStyle/>
          <a:p>
            <a:endParaRPr lang="en-US"/>
          </a:p>
        </p:txBody>
      </p:sp>
      <p:sp>
        <p:nvSpPr>
          <p:cNvPr id="4" name="Text 2"/>
          <p:cNvSpPr txBox="1"/>
          <p:nvPr/>
        </p:nvSpPr>
        <p:spPr>
          <a:xfrm>
            <a:off x="7680960" y="73152"/>
            <a:ext cx="393192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DERIVED: the gap in points</a:t>
            </a:r>
            <a:endParaRPr lang="en-US" sz="1100" dirty="0"/>
          </a:p>
        </p:txBody>
      </p:sp>
      <p:sp>
        <p:nvSpPr>
          <p:cNvPr id="5" name="card"/>
          <p:cNvSpPr/>
          <p:nvPr/>
        </p:nvSpPr>
        <p:spPr>
          <a:xfrm>
            <a:off x="548640" y="1371600"/>
            <a:ext cx="5394960" cy="4069080"/>
          </a:xfrm>
          <a:prstGeom prst="roundRect">
            <a:avLst>
              <a:gd name="adj" fmla="val 2697"/>
            </a:avLst>
          </a:prstGeom>
          <a:solidFill>
            <a:schemeClr val="bg2"/>
          </a:solidFill>
          <a:ln w="12700">
            <a:solidFill>
              <a:schemeClr val="bg2"/>
            </a:solidFill>
            <a:prstDash val="solid"/>
          </a:ln>
        </p:spPr>
        <p:txBody>
          <a:bodyPr/>
          <a:lstStyle/>
          <a:p>
            <a:endParaRPr lang="en-US"/>
          </a:p>
        </p:txBody>
      </p:sp>
      <p:sp>
        <p:nvSpPr>
          <p:cNvPr id="6" name="Text 4"/>
          <p:cNvSpPr txBox="1"/>
          <p:nvPr/>
        </p:nvSpPr>
        <p:spPr>
          <a:xfrm>
            <a:off x="822960" y="1481328"/>
            <a:ext cx="4846320" cy="41148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CliQ</a:t>
            </a:r>
            <a:endParaRPr lang="en-US" sz="2000" dirty="0"/>
          </a:p>
        </p:txBody>
      </p:sp>
      <p:pic>
        <p:nvPicPr>
          <p:cNvPr id="7" name="Image 0" descr="CliQ male share 61%"/>
          <p:cNvPicPr>
            <a:picLocks noChangeAspect="1"/>
          </p:cNvPicPr>
          <p:nvPr/>
        </p:nvPicPr>
        <p:blipFill>
          <a:blip r:embed="rId3"/>
          <a:stretch>
            <a:fillRect/>
          </a:stretch>
        </p:blipFill>
        <p:spPr>
          <a:xfrm>
            <a:off x="1554480" y="1920240"/>
            <a:ext cx="1188720" cy="2377440"/>
          </a:xfrm>
          <a:prstGeom prst="rect">
            <a:avLst/>
          </a:prstGeom>
        </p:spPr>
      </p:pic>
      <p:pic>
        <p:nvPicPr>
          <p:cNvPr id="8" name="Image 1" descr="CliQ female share 36%"/>
          <p:cNvPicPr>
            <a:picLocks noChangeAspect="1"/>
          </p:cNvPicPr>
          <p:nvPr/>
        </p:nvPicPr>
        <p:blipFill>
          <a:blip r:embed="rId4"/>
          <a:stretch>
            <a:fillRect/>
          </a:stretch>
        </p:blipFill>
        <p:spPr>
          <a:xfrm>
            <a:off x="3749040" y="1920240"/>
            <a:ext cx="1188720" cy="2377440"/>
          </a:xfrm>
          <a:prstGeom prst="rect">
            <a:avLst/>
          </a:prstGeom>
        </p:spPr>
      </p:pic>
      <p:sp>
        <p:nvSpPr>
          <p:cNvPr id="9" name="Text 5"/>
          <p:cNvSpPr txBox="1"/>
          <p:nvPr/>
        </p:nvSpPr>
        <p:spPr>
          <a:xfrm>
            <a:off x="1234440" y="4343400"/>
            <a:ext cx="1828800" cy="502920"/>
          </a:xfrm>
          <a:prstGeom prst="rect">
            <a:avLst/>
          </a:prstGeom>
          <a:noFill/>
          <a:ln/>
        </p:spPr>
        <p:txBody>
          <a:bodyPr wrap="square" lIns="0" tIns="0" rIns="0" bIns="0" rtlCol="0" anchor="ctr"/>
          <a:lstStyle/>
          <a:p>
            <a:pPr marL="0" indent="0" algn="ctr">
              <a:buNone/>
            </a:pPr>
            <a:r>
              <a:rPr lang="en-US" sz="3000" b="1" dirty="0">
                <a:solidFill>
                  <a:schemeClr val="tx1"/>
                </a:solidFill>
                <a:latin typeface="Calibri" pitchFamily="34" charset="0"/>
                <a:ea typeface="Calibri" pitchFamily="34" charset="-122"/>
                <a:cs typeface="Calibri" pitchFamily="34" charset="-120"/>
              </a:rPr>
              <a:t>61%</a:t>
            </a:r>
            <a:endParaRPr lang="en-US" sz="3000" dirty="0"/>
          </a:p>
        </p:txBody>
      </p:sp>
      <p:sp>
        <p:nvSpPr>
          <p:cNvPr id="10" name="Text 6"/>
          <p:cNvSpPr txBox="1"/>
          <p:nvPr/>
        </p:nvSpPr>
        <p:spPr>
          <a:xfrm>
            <a:off x="3429000" y="4343400"/>
            <a:ext cx="1828800" cy="502920"/>
          </a:xfrm>
          <a:prstGeom prst="rect">
            <a:avLst/>
          </a:prstGeom>
          <a:noFill/>
          <a:ln/>
        </p:spPr>
        <p:txBody>
          <a:bodyPr wrap="square" lIns="0" tIns="0" rIns="0" bIns="0" rtlCol="0" anchor="ctr"/>
          <a:lstStyle/>
          <a:p>
            <a:pPr marL="0" indent="0" algn="ctr">
              <a:buNone/>
            </a:pPr>
            <a:r>
              <a:rPr lang="en-US" sz="3000" b="1" dirty="0">
                <a:solidFill>
                  <a:schemeClr val="tx1"/>
                </a:solidFill>
                <a:latin typeface="Calibri" pitchFamily="34" charset="0"/>
                <a:ea typeface="Calibri" pitchFamily="34" charset="-122"/>
                <a:cs typeface="Calibri" pitchFamily="34" charset="-120"/>
              </a:rPr>
              <a:t>36%</a:t>
            </a:r>
            <a:endParaRPr lang="en-US" sz="3000" dirty="0"/>
          </a:p>
        </p:txBody>
      </p:sp>
      <p:sp>
        <p:nvSpPr>
          <p:cNvPr id="11" name="Text 7"/>
          <p:cNvSpPr txBox="1"/>
          <p:nvPr/>
        </p:nvSpPr>
        <p:spPr>
          <a:xfrm>
            <a:off x="1234440" y="4846320"/>
            <a:ext cx="1828800" cy="274320"/>
          </a:xfrm>
          <a:prstGeom prst="rect">
            <a:avLst/>
          </a:prstGeom>
          <a:noFill/>
          <a:ln/>
        </p:spPr>
        <p:txBody>
          <a:bodyPr wrap="square" lIns="0" tIns="0" rIns="0" bIns="0" rtlCol="0" anchor="t"/>
          <a:lstStyle/>
          <a:p>
            <a:pPr marL="0" indent="0" algn="ctr">
              <a:buNone/>
            </a:pPr>
            <a:r>
              <a:rPr lang="en-US" sz="1400" dirty="0">
                <a:solidFill>
                  <a:schemeClr val="tx2"/>
                </a:solidFill>
                <a:latin typeface="Calibri" pitchFamily="34" charset="0"/>
                <a:ea typeface="Calibri" pitchFamily="34" charset="-122"/>
                <a:cs typeface="Calibri" pitchFamily="34" charset="-120"/>
              </a:rPr>
              <a:t>Male</a:t>
            </a:r>
            <a:endParaRPr lang="en-US" sz="1400" dirty="0"/>
          </a:p>
        </p:txBody>
      </p:sp>
      <p:sp>
        <p:nvSpPr>
          <p:cNvPr id="12" name="Text 8"/>
          <p:cNvSpPr txBox="1"/>
          <p:nvPr/>
        </p:nvSpPr>
        <p:spPr>
          <a:xfrm>
            <a:off x="3429000" y="4846320"/>
            <a:ext cx="1828800" cy="274320"/>
          </a:xfrm>
          <a:prstGeom prst="rect">
            <a:avLst/>
          </a:prstGeom>
          <a:noFill/>
          <a:ln/>
        </p:spPr>
        <p:txBody>
          <a:bodyPr wrap="square" lIns="0" tIns="0" rIns="0" bIns="0" rtlCol="0" anchor="t"/>
          <a:lstStyle/>
          <a:p>
            <a:pPr marL="0" indent="0" algn="ctr">
              <a:buNone/>
            </a:pPr>
            <a:r>
              <a:rPr lang="en-US" sz="1400" dirty="0">
                <a:solidFill>
                  <a:schemeClr val="tx2"/>
                </a:solidFill>
                <a:latin typeface="Calibri" pitchFamily="34" charset="0"/>
                <a:ea typeface="Calibri" pitchFamily="34" charset="-122"/>
                <a:cs typeface="Calibri" pitchFamily="34" charset="-120"/>
              </a:rPr>
              <a:t>Female</a:t>
            </a:r>
            <a:endParaRPr lang="en-US" sz="1400" dirty="0"/>
          </a:p>
        </p:txBody>
      </p:sp>
      <p:sp>
        <p:nvSpPr>
          <p:cNvPr id="13" name="Text 9"/>
          <p:cNvSpPr txBox="1"/>
          <p:nvPr/>
        </p:nvSpPr>
        <p:spPr>
          <a:xfrm>
            <a:off x="822960" y="5138928"/>
            <a:ext cx="4846320" cy="256032"/>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Remaining 3% is unlabelled in the report</a:t>
            </a:r>
            <a:endParaRPr lang="en-US" sz="1000" dirty="0"/>
          </a:p>
        </p:txBody>
      </p:sp>
      <p:sp>
        <p:nvSpPr>
          <p:cNvPr id="14" name="card"/>
          <p:cNvSpPr/>
          <p:nvPr/>
        </p:nvSpPr>
        <p:spPr>
          <a:xfrm>
            <a:off x="6217920" y="1371600"/>
            <a:ext cx="5394960" cy="4069080"/>
          </a:xfrm>
          <a:prstGeom prst="roundRect">
            <a:avLst>
              <a:gd name="adj" fmla="val 2697"/>
            </a:avLst>
          </a:prstGeom>
          <a:solidFill>
            <a:schemeClr val="bg2"/>
          </a:solidFill>
          <a:ln w="12700">
            <a:solidFill>
              <a:schemeClr val="bg2"/>
            </a:solidFill>
            <a:prstDash val="solid"/>
          </a:ln>
        </p:spPr>
        <p:txBody>
          <a:bodyPr/>
          <a:lstStyle/>
          <a:p>
            <a:endParaRPr lang="en-US"/>
          </a:p>
        </p:txBody>
      </p:sp>
      <p:sp>
        <p:nvSpPr>
          <p:cNvPr id="15" name="Text 11"/>
          <p:cNvSpPr txBox="1"/>
          <p:nvPr/>
        </p:nvSpPr>
        <p:spPr>
          <a:xfrm>
            <a:off x="6492240" y="1481328"/>
            <a:ext cx="4846320" cy="41148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JoMoPay</a:t>
            </a:r>
            <a:endParaRPr lang="en-US" sz="2000" dirty="0"/>
          </a:p>
        </p:txBody>
      </p:sp>
      <p:pic>
        <p:nvPicPr>
          <p:cNvPr id="16" name="Image 2" descr="JoMoPay male share 52.8%"/>
          <p:cNvPicPr>
            <a:picLocks noChangeAspect="1"/>
          </p:cNvPicPr>
          <p:nvPr/>
        </p:nvPicPr>
        <p:blipFill>
          <a:blip r:embed="rId5"/>
          <a:stretch>
            <a:fillRect/>
          </a:stretch>
        </p:blipFill>
        <p:spPr>
          <a:xfrm>
            <a:off x="7223760" y="1920240"/>
            <a:ext cx="1188720" cy="2377440"/>
          </a:xfrm>
          <a:prstGeom prst="rect">
            <a:avLst/>
          </a:prstGeom>
        </p:spPr>
      </p:pic>
      <p:pic>
        <p:nvPicPr>
          <p:cNvPr id="17" name="Image 3" descr="JoMoPay female share 46.8%"/>
          <p:cNvPicPr>
            <a:picLocks noChangeAspect="1"/>
          </p:cNvPicPr>
          <p:nvPr/>
        </p:nvPicPr>
        <p:blipFill>
          <a:blip r:embed="rId6"/>
          <a:stretch>
            <a:fillRect/>
          </a:stretch>
        </p:blipFill>
        <p:spPr>
          <a:xfrm>
            <a:off x="9418320" y="1920240"/>
            <a:ext cx="1188720" cy="2377440"/>
          </a:xfrm>
          <a:prstGeom prst="rect">
            <a:avLst/>
          </a:prstGeom>
        </p:spPr>
      </p:pic>
      <p:sp>
        <p:nvSpPr>
          <p:cNvPr id="18" name="Text 12"/>
          <p:cNvSpPr txBox="1"/>
          <p:nvPr/>
        </p:nvSpPr>
        <p:spPr>
          <a:xfrm>
            <a:off x="6903720" y="4343400"/>
            <a:ext cx="1828800" cy="502920"/>
          </a:xfrm>
          <a:prstGeom prst="rect">
            <a:avLst/>
          </a:prstGeom>
          <a:noFill/>
          <a:ln/>
        </p:spPr>
        <p:txBody>
          <a:bodyPr wrap="square" lIns="0" tIns="0" rIns="0" bIns="0" rtlCol="0" anchor="ctr"/>
          <a:lstStyle/>
          <a:p>
            <a:pPr marL="0" indent="0" algn="ctr">
              <a:buNone/>
            </a:pPr>
            <a:r>
              <a:rPr lang="en-US" sz="3000" b="1" dirty="0">
                <a:solidFill>
                  <a:schemeClr val="tx1"/>
                </a:solidFill>
                <a:latin typeface="Calibri" pitchFamily="34" charset="0"/>
                <a:ea typeface="Calibri" pitchFamily="34" charset="-122"/>
                <a:cs typeface="Calibri" pitchFamily="34" charset="-120"/>
              </a:rPr>
              <a:t>52.8%</a:t>
            </a:r>
            <a:endParaRPr lang="en-US" sz="3000" dirty="0"/>
          </a:p>
        </p:txBody>
      </p:sp>
      <p:sp>
        <p:nvSpPr>
          <p:cNvPr id="19" name="Text 13"/>
          <p:cNvSpPr txBox="1"/>
          <p:nvPr/>
        </p:nvSpPr>
        <p:spPr>
          <a:xfrm>
            <a:off x="9098280" y="4343400"/>
            <a:ext cx="1828800" cy="502920"/>
          </a:xfrm>
          <a:prstGeom prst="rect">
            <a:avLst/>
          </a:prstGeom>
          <a:noFill/>
          <a:ln/>
        </p:spPr>
        <p:txBody>
          <a:bodyPr wrap="square" lIns="0" tIns="0" rIns="0" bIns="0" rtlCol="0" anchor="ctr"/>
          <a:lstStyle/>
          <a:p>
            <a:pPr marL="0" indent="0" algn="ctr">
              <a:buNone/>
            </a:pPr>
            <a:r>
              <a:rPr lang="en-US" sz="3000" b="1" dirty="0">
                <a:solidFill>
                  <a:schemeClr val="tx1"/>
                </a:solidFill>
                <a:latin typeface="Calibri" pitchFamily="34" charset="0"/>
                <a:ea typeface="Calibri" pitchFamily="34" charset="-122"/>
                <a:cs typeface="Calibri" pitchFamily="34" charset="-120"/>
              </a:rPr>
              <a:t>46.8%</a:t>
            </a:r>
            <a:endParaRPr lang="en-US" sz="3000" dirty="0"/>
          </a:p>
        </p:txBody>
      </p:sp>
      <p:sp>
        <p:nvSpPr>
          <p:cNvPr id="20" name="Text 14"/>
          <p:cNvSpPr txBox="1"/>
          <p:nvPr/>
        </p:nvSpPr>
        <p:spPr>
          <a:xfrm>
            <a:off x="6903720" y="4846320"/>
            <a:ext cx="1828800" cy="274320"/>
          </a:xfrm>
          <a:prstGeom prst="rect">
            <a:avLst/>
          </a:prstGeom>
          <a:noFill/>
          <a:ln/>
        </p:spPr>
        <p:txBody>
          <a:bodyPr wrap="square" lIns="0" tIns="0" rIns="0" bIns="0" rtlCol="0" anchor="t"/>
          <a:lstStyle/>
          <a:p>
            <a:pPr marL="0" indent="0" algn="ctr">
              <a:buNone/>
            </a:pPr>
            <a:r>
              <a:rPr lang="en-US" sz="1400" dirty="0">
                <a:solidFill>
                  <a:schemeClr val="tx2"/>
                </a:solidFill>
                <a:latin typeface="Calibri" pitchFamily="34" charset="0"/>
                <a:ea typeface="Calibri" pitchFamily="34" charset="-122"/>
                <a:cs typeface="Calibri" pitchFamily="34" charset="-120"/>
              </a:rPr>
              <a:t>Male</a:t>
            </a:r>
            <a:endParaRPr lang="en-US" sz="1400" dirty="0"/>
          </a:p>
        </p:txBody>
      </p:sp>
      <p:sp>
        <p:nvSpPr>
          <p:cNvPr id="21" name="Text 15"/>
          <p:cNvSpPr txBox="1"/>
          <p:nvPr/>
        </p:nvSpPr>
        <p:spPr>
          <a:xfrm>
            <a:off x="9098280" y="4846320"/>
            <a:ext cx="1828800" cy="274320"/>
          </a:xfrm>
          <a:prstGeom prst="rect">
            <a:avLst/>
          </a:prstGeom>
          <a:noFill/>
          <a:ln/>
        </p:spPr>
        <p:txBody>
          <a:bodyPr wrap="square" lIns="0" tIns="0" rIns="0" bIns="0" rtlCol="0" anchor="t"/>
          <a:lstStyle/>
          <a:p>
            <a:pPr marL="0" indent="0" algn="ctr">
              <a:buNone/>
            </a:pPr>
            <a:r>
              <a:rPr lang="en-US" sz="1400" dirty="0">
                <a:solidFill>
                  <a:schemeClr val="tx2"/>
                </a:solidFill>
                <a:latin typeface="Calibri" pitchFamily="34" charset="0"/>
                <a:ea typeface="Calibri" pitchFamily="34" charset="-122"/>
                <a:cs typeface="Calibri" pitchFamily="34" charset="-120"/>
              </a:rPr>
              <a:t>Female</a:t>
            </a:r>
            <a:endParaRPr lang="en-US" sz="1400" dirty="0"/>
          </a:p>
        </p:txBody>
      </p:sp>
      <p:sp>
        <p:nvSpPr>
          <p:cNvPr id="22" name="Text 16"/>
          <p:cNvSpPr txBox="1"/>
          <p:nvPr/>
        </p:nvSpPr>
        <p:spPr>
          <a:xfrm>
            <a:off x="6492240" y="5138928"/>
            <a:ext cx="4846320" cy="256032"/>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Remaining 0.4% is unlabelled in the report</a:t>
            </a:r>
            <a:endParaRPr lang="en-US" sz="1000" dirty="0"/>
          </a:p>
        </p:txBody>
      </p:sp>
      <p:sp>
        <p:nvSpPr>
          <p:cNvPr id="23" name="Text 17"/>
          <p:cNvSpPr txBox="1"/>
          <p:nvPr/>
        </p:nvSpPr>
        <p:spPr>
          <a:xfrm>
            <a:off x="3291840" y="1527048"/>
            <a:ext cx="2377440" cy="320040"/>
          </a:xfrm>
          <a:prstGeom prst="rect">
            <a:avLst/>
          </a:prstGeom>
          <a:noFill/>
          <a:ln/>
        </p:spPr>
        <p:txBody>
          <a:bodyPr wrap="square" lIns="0" tIns="0" rIns="0" bIns="0" rtlCol="0" anchor="t"/>
          <a:lstStyle/>
          <a:p>
            <a:pPr marL="0" indent="0" algn="r">
              <a:buNone/>
            </a:pPr>
            <a:r>
              <a:rPr lang="en-US" sz="1300" dirty="0">
                <a:solidFill>
                  <a:schemeClr val="tx2"/>
                </a:solidFill>
                <a:latin typeface="Calibri" pitchFamily="34" charset="0"/>
                <a:ea typeface="Calibri" pitchFamily="34" charset="-122"/>
                <a:cs typeface="Calibri" pitchFamily="34" charset="-120"/>
              </a:rPr>
              <a:t>Women in 2024: 35%</a:t>
            </a:r>
            <a:endParaRPr lang="en-US" sz="1300" dirty="0"/>
          </a:p>
        </p:txBody>
      </p:sp>
      <p:sp>
        <p:nvSpPr>
          <p:cNvPr id="24" name="Text 18"/>
          <p:cNvSpPr txBox="1"/>
          <p:nvPr/>
        </p:nvSpPr>
        <p:spPr>
          <a:xfrm>
            <a:off x="8961120" y="1527048"/>
            <a:ext cx="2377440" cy="320040"/>
          </a:xfrm>
          <a:prstGeom prst="rect">
            <a:avLst/>
          </a:prstGeom>
          <a:noFill/>
          <a:ln/>
        </p:spPr>
        <p:txBody>
          <a:bodyPr wrap="square" lIns="0" tIns="0" rIns="0" bIns="0" rtlCol="0" anchor="t"/>
          <a:lstStyle/>
          <a:p>
            <a:pPr marL="0" indent="0" algn="r">
              <a:buNone/>
            </a:pPr>
            <a:r>
              <a:rPr lang="en-US" sz="1300" dirty="0">
                <a:solidFill>
                  <a:schemeClr val="tx2"/>
                </a:solidFill>
                <a:latin typeface="Calibri" pitchFamily="34" charset="0"/>
                <a:ea typeface="Calibri" pitchFamily="34" charset="-122"/>
                <a:cs typeface="Calibri" pitchFamily="34" charset="-120"/>
              </a:rPr>
              <a:t>Women in 2024: 48.8%</a:t>
            </a:r>
            <a:endParaRPr lang="en-US" sz="1300" dirty="0"/>
          </a:p>
        </p:txBody>
      </p:sp>
      <p:sp>
        <p:nvSpPr>
          <p:cNvPr id="25" name="takeaway"/>
          <p:cNvSpPr/>
          <p:nvPr/>
        </p:nvSpPr>
        <p:spPr>
          <a:xfrm>
            <a:off x="548640" y="5577840"/>
            <a:ext cx="11064240" cy="685800"/>
          </a:xfrm>
          <a:prstGeom prst="roundRect">
            <a:avLst>
              <a:gd name="adj" fmla="val 16000"/>
            </a:avLst>
          </a:prstGeom>
          <a:solidFill>
            <a:schemeClr val="bg2"/>
          </a:solidFill>
          <a:ln w="12700">
            <a:solidFill>
              <a:schemeClr val="bg2"/>
            </a:solidFill>
            <a:prstDash val="solid"/>
          </a:ln>
        </p:spPr>
        <p:txBody>
          <a:bodyPr/>
          <a:lstStyle/>
          <a:p>
            <a:endParaRPr lang="en-US"/>
          </a:p>
        </p:txBody>
      </p:sp>
      <p:sp>
        <p:nvSpPr>
          <p:cNvPr id="26" name="Text 20"/>
          <p:cNvSpPr txBox="1"/>
          <p:nvPr/>
        </p:nvSpPr>
        <p:spPr>
          <a:xfrm>
            <a:off x="777240" y="5715000"/>
            <a:ext cx="10607040" cy="41148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The gap is narrowing:  </a:t>
            </a:r>
            <a:r>
              <a:rPr lang="en-US" sz="1600" dirty="0">
                <a:solidFill>
                  <a:schemeClr val="tx1"/>
                </a:solidFill>
                <a:latin typeface="Calibri" pitchFamily="34" charset="0"/>
                <a:ea typeface="Calibri" pitchFamily="34" charset="-122"/>
                <a:cs typeface="Calibri" pitchFamily="34" charset="-120"/>
              </a:rPr>
              <a:t>13.8 points in 2024, 10.8 in 2025 (derived).</a:t>
            </a:r>
            <a:endParaRPr lang="en-US" sz="1600" dirty="0"/>
          </a:p>
        </p:txBody>
      </p:sp>
      <p:sp>
        <p:nvSpPr>
          <p:cNvPr id="27"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JoMoPay is shifting from cash corridor to spending wallet</a:t>
            </a:r>
            <a:endParaRPr lang="en-US" sz="2800" dirty="0"/>
          </a:p>
        </p:txBody>
      </p:sp>
      <p:graphicFrame>
        <p:nvGraphicFramePr>
          <p:cNvPr id="3" name="Chart 0"/>
          <p:cNvGraphicFramePr/>
          <p:nvPr/>
        </p:nvGraphicFramePr>
        <p:xfrm>
          <a:off x="548640" y="1371600"/>
          <a:ext cx="5120640" cy="3383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5852160" y="1371600"/>
          <a:ext cx="2743200" cy="33832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2"/>
          <p:cNvGraphicFramePr/>
          <p:nvPr/>
        </p:nvGraphicFramePr>
        <p:xfrm>
          <a:off x="8778240" y="1371600"/>
          <a:ext cx="2834640" cy="3383280"/>
        </p:xfrm>
        <a:graphic>
          <a:graphicData uri="http://schemas.openxmlformats.org/drawingml/2006/chart">
            <c:chart xmlns:c="http://schemas.openxmlformats.org/drawingml/2006/chart" xmlns:r="http://schemas.openxmlformats.org/officeDocument/2006/relationships" r:id="rId5"/>
          </a:graphicData>
        </a:graphic>
      </p:graphicFrame>
      <p:sp>
        <p:nvSpPr>
          <p:cNvPr id="6" name="takeaway"/>
          <p:cNvSpPr/>
          <p:nvPr/>
        </p:nvSpPr>
        <p:spPr>
          <a:xfrm>
            <a:off x="548640" y="5029200"/>
            <a:ext cx="11064240" cy="1005840"/>
          </a:xfrm>
          <a:prstGeom prst="roundRect">
            <a:avLst>
              <a:gd name="adj" fmla="val 10909"/>
            </a:avLst>
          </a:prstGeom>
          <a:solidFill>
            <a:schemeClr val="bg2"/>
          </a:solidFill>
          <a:ln w="12700">
            <a:solidFill>
              <a:schemeClr val="bg2"/>
            </a:solidFill>
            <a:prstDash val="solid"/>
          </a:ln>
        </p:spPr>
        <p:txBody>
          <a:bodyPr/>
          <a:lstStyle/>
          <a:p>
            <a:endParaRPr lang="en-US"/>
          </a:p>
        </p:txBody>
      </p:sp>
      <p:sp>
        <p:nvSpPr>
          <p:cNvPr id="7" name="Text 2"/>
          <p:cNvSpPr txBox="1"/>
          <p:nvPr/>
        </p:nvSpPr>
        <p:spPr>
          <a:xfrm>
            <a:off x="777240" y="5166360"/>
            <a:ext cx="1060704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Missed:  </a:t>
            </a:r>
            <a:r>
              <a:rPr lang="en-US" sz="1600" dirty="0">
                <a:solidFill>
                  <a:schemeClr val="tx1"/>
                </a:solidFill>
                <a:latin typeface="Calibri" pitchFamily="34" charset="0"/>
                <a:ea typeface="Calibri" pitchFamily="34" charset="-122"/>
                <a:cs typeface="Calibri" pitchFamily="34" charset="-120"/>
              </a:rPr>
              <a:t>Cash Out -1.9 pp, Purchases +4.5 pp (derived from the reported shares): a spending wallet.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ACH: growth is speeding up, but only outside salaries</a:t>
            </a:r>
            <a:endParaRPr lang="en-US" sz="2800" dirty="0"/>
          </a:p>
        </p:txBody>
      </p:sp>
      <p:sp>
        <p:nvSpPr>
          <p:cNvPr id="3" name="data marker"/>
          <p:cNvSpPr/>
          <p:nvPr/>
        </p:nvSpPr>
        <p:spPr>
          <a:xfrm>
            <a:off x="548640" y="1280160"/>
            <a:ext cx="6400800" cy="347472"/>
          </a:xfrm>
          <a:prstGeom prst="roundRect">
            <a:avLst>
              <a:gd name="adj" fmla="val 21053"/>
            </a:avLst>
          </a:prstGeom>
          <a:solidFill>
            <a:schemeClr val="bg2"/>
          </a:solidFill>
          <a:ln w="12700">
            <a:solidFill>
              <a:schemeClr val="accent4"/>
            </a:solidFill>
            <a:prstDash val="solid"/>
          </a:ln>
        </p:spPr>
        <p:txBody>
          <a:bodyPr/>
          <a:lstStyle/>
          <a:p>
            <a:endParaRPr lang="en-US"/>
          </a:p>
        </p:txBody>
      </p:sp>
      <p:sp>
        <p:nvSpPr>
          <p:cNvPr id="4" name="Text 2"/>
          <p:cNvSpPr txBox="1"/>
          <p:nvPr/>
        </p:nvSpPr>
        <p:spPr>
          <a:xfrm>
            <a:off x="548640" y="1280160"/>
            <a:ext cx="6400800" cy="347472"/>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DERIVED: non-salary growth calculated from the reported counts</a:t>
            </a:r>
            <a:endParaRPr lang="en-US" sz="1100" dirty="0"/>
          </a:p>
        </p:txBody>
      </p:sp>
      <p:graphicFrame>
        <p:nvGraphicFramePr>
          <p:cNvPr id="5" name="Chart 0"/>
          <p:cNvGraphicFramePr/>
          <p:nvPr/>
        </p:nvGraphicFramePr>
        <p:xfrm>
          <a:off x="548640" y="1691640"/>
          <a:ext cx="640080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7223760" y="1371600"/>
            <a:ext cx="4389120" cy="1417320"/>
          </a:xfrm>
          <a:prstGeom prst="roundRect">
            <a:avLst>
              <a:gd name="adj" fmla="val 7742"/>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7406640" y="1508760"/>
            <a:ext cx="4023360" cy="731520"/>
          </a:xfrm>
          <a:prstGeom prst="rect">
            <a:avLst/>
          </a:prstGeom>
          <a:noFill/>
          <a:ln/>
        </p:spPr>
        <p:txBody>
          <a:bodyPr wrap="square" lIns="0" tIns="0" rIns="0" bIns="0" rtlCol="0" anchor="ctr"/>
          <a:lstStyle/>
          <a:p>
            <a:pPr marL="0" indent="0" algn="ctr">
              <a:buNone/>
            </a:pPr>
            <a:r>
              <a:rPr lang="en-US" sz="4000" b="1" dirty="0">
                <a:solidFill>
                  <a:schemeClr val="accent3"/>
                </a:solidFill>
                <a:latin typeface="Calibri" pitchFamily="34" charset="0"/>
                <a:ea typeface="Calibri" pitchFamily="34" charset="-122"/>
                <a:cs typeface="Calibri" pitchFamily="34" charset="-120"/>
              </a:rPr>
              <a:t>+12.2%</a:t>
            </a:r>
            <a:endParaRPr lang="en-US" sz="4000" dirty="0"/>
          </a:p>
        </p:txBody>
      </p:sp>
      <p:sp>
        <p:nvSpPr>
          <p:cNvPr id="8" name="Text 5"/>
          <p:cNvSpPr txBox="1"/>
          <p:nvPr/>
        </p:nvSpPr>
        <p:spPr>
          <a:xfrm>
            <a:off x="7406640" y="2240280"/>
            <a:ext cx="4023360" cy="457200"/>
          </a:xfrm>
          <a:prstGeom prst="rect">
            <a:avLst/>
          </a:prstGeom>
          <a:noFill/>
          <a:ln/>
        </p:spPr>
        <p:txBody>
          <a:bodyPr wrap="square" lIns="0" tIns="0" rIns="0" bIns="0" rtlCol="0" anchor="t"/>
          <a:lstStyle/>
          <a:p>
            <a:pPr marL="0" indent="0" algn="ctr">
              <a:buNone/>
            </a:pPr>
            <a:r>
              <a:rPr lang="en-US" sz="1400" dirty="0">
                <a:solidFill>
                  <a:schemeClr val="tx2"/>
                </a:solidFill>
                <a:latin typeface="Calibri" pitchFamily="34" charset="0"/>
                <a:ea typeface="Calibri" pitchFamily="34" charset="-122"/>
                <a:cs typeface="Calibri" pitchFamily="34" charset="-120"/>
              </a:rPr>
              <a:t>Non-salary payments in 2025 (derived)</a:t>
            </a:r>
            <a:endParaRPr lang="en-US" sz="1400" dirty="0"/>
          </a:p>
        </p:txBody>
      </p:sp>
      <p:sp>
        <p:nvSpPr>
          <p:cNvPr id="9" name="card"/>
          <p:cNvSpPr/>
          <p:nvPr/>
        </p:nvSpPr>
        <p:spPr>
          <a:xfrm>
            <a:off x="7223760" y="2926080"/>
            <a:ext cx="4389120" cy="1417320"/>
          </a:xfrm>
          <a:prstGeom prst="roundRect">
            <a:avLst>
              <a:gd name="adj" fmla="val 7742"/>
            </a:avLst>
          </a:prstGeom>
          <a:solidFill>
            <a:schemeClr val="bg2"/>
          </a:solidFill>
          <a:ln w="12700">
            <a:solidFill>
              <a:schemeClr val="bg2"/>
            </a:solidFill>
            <a:prstDash val="solid"/>
          </a:ln>
        </p:spPr>
        <p:txBody>
          <a:bodyPr/>
          <a:lstStyle/>
          <a:p>
            <a:endParaRPr lang="en-US"/>
          </a:p>
        </p:txBody>
      </p:sp>
      <p:sp>
        <p:nvSpPr>
          <p:cNvPr id="10" name="Text 7"/>
          <p:cNvSpPr txBox="1"/>
          <p:nvPr/>
        </p:nvSpPr>
        <p:spPr>
          <a:xfrm>
            <a:off x="7406640" y="3063240"/>
            <a:ext cx="4023360" cy="731520"/>
          </a:xfrm>
          <a:prstGeom prst="rect">
            <a:avLst/>
          </a:prstGeom>
          <a:noFill/>
          <a:ln/>
        </p:spPr>
        <p:txBody>
          <a:bodyPr wrap="square" lIns="0" tIns="0" rIns="0" bIns="0" rtlCol="0" anchor="ctr"/>
          <a:lstStyle/>
          <a:p>
            <a:pPr marL="0" indent="0" algn="ctr">
              <a:buNone/>
            </a:pPr>
            <a:r>
              <a:rPr lang="en-US" sz="4000" b="1" dirty="0">
                <a:solidFill>
                  <a:srgbClr val="C0463C"/>
                </a:solidFill>
                <a:latin typeface="Calibri" pitchFamily="34" charset="0"/>
                <a:ea typeface="Calibri" pitchFamily="34" charset="-122"/>
                <a:cs typeface="Calibri" pitchFamily="34" charset="-120"/>
              </a:rPr>
              <a:t>-0.9 pp</a:t>
            </a:r>
            <a:endParaRPr lang="en-US" sz="4000" dirty="0"/>
          </a:p>
        </p:txBody>
      </p:sp>
      <p:sp>
        <p:nvSpPr>
          <p:cNvPr id="11" name="Text 8"/>
          <p:cNvSpPr txBox="1"/>
          <p:nvPr/>
        </p:nvSpPr>
        <p:spPr>
          <a:xfrm>
            <a:off x="7406640" y="3794760"/>
            <a:ext cx="4023360" cy="457200"/>
          </a:xfrm>
          <a:prstGeom prst="rect">
            <a:avLst/>
          </a:prstGeom>
          <a:noFill/>
          <a:ln/>
        </p:spPr>
        <p:txBody>
          <a:bodyPr wrap="square" lIns="0" tIns="0" rIns="0" bIns="0" rtlCol="0" anchor="t"/>
          <a:lstStyle/>
          <a:p>
            <a:pPr marL="0" indent="0" algn="ctr">
              <a:buNone/>
            </a:pPr>
            <a:r>
              <a:rPr lang="en-US" sz="1400" dirty="0">
                <a:solidFill>
                  <a:schemeClr val="tx2"/>
                </a:solidFill>
                <a:latin typeface="Calibri" pitchFamily="34" charset="0"/>
                <a:ea typeface="Calibri" pitchFamily="34" charset="-122"/>
                <a:cs typeface="Calibri" pitchFamily="34" charset="-120"/>
              </a:rPr>
              <a:t>Salary share of volume, 77.5% to 76.6% (derived)</a:t>
            </a:r>
            <a:endParaRPr lang="en-US" sz="1400" dirty="0"/>
          </a:p>
        </p:txBody>
      </p:sp>
      <p:sp>
        <p:nvSpPr>
          <p:cNvPr id="12" name="takeaway"/>
          <p:cNvSpPr/>
          <p:nvPr/>
        </p:nvSpPr>
        <p:spPr>
          <a:xfrm>
            <a:off x="7223760" y="4480560"/>
            <a:ext cx="4389120" cy="1005840"/>
          </a:xfrm>
          <a:prstGeom prst="roundRect">
            <a:avLst>
              <a:gd name="adj" fmla="val 10909"/>
            </a:avLst>
          </a:prstGeom>
          <a:solidFill>
            <a:schemeClr val="bg2"/>
          </a:solidFill>
          <a:ln w="12700">
            <a:solidFill>
              <a:schemeClr val="bg2"/>
            </a:solidFill>
            <a:prstDash val="solid"/>
          </a:ln>
        </p:spPr>
        <p:txBody>
          <a:bodyPr/>
          <a:lstStyle/>
          <a:p>
            <a:endParaRPr lang="en-US"/>
          </a:p>
        </p:txBody>
      </p:sp>
      <p:sp>
        <p:nvSpPr>
          <p:cNvPr id="13" name="Text 10"/>
          <p:cNvSpPr txBox="1"/>
          <p:nvPr/>
        </p:nvSpPr>
        <p:spPr>
          <a:xfrm>
            <a:off x="7452360" y="4617720"/>
            <a:ext cx="393192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Small base:  </a:t>
            </a:r>
            <a:r>
              <a:rPr lang="en-US" sz="1600" dirty="0">
                <a:solidFill>
                  <a:schemeClr val="tx1"/>
                </a:solidFill>
                <a:latin typeface="Calibri" pitchFamily="34" charset="0"/>
                <a:ea typeface="Calibri" pitchFamily="34" charset="-122"/>
                <a:cs typeface="Calibri" pitchFamily="34" charset="-120"/>
              </a:rPr>
              <a:t>GBP is 446 transactions, +19% value.</a:t>
            </a:r>
            <a:endParaRPr lang="en-US" sz="1600" dirty="0"/>
          </a:p>
        </p:txBody>
      </p:sp>
      <p:sp>
        <p:nvSpPr>
          <p:cNvPr id="14" name="takeaway"/>
          <p:cNvSpPr/>
          <p:nvPr/>
        </p:nvSpPr>
        <p:spPr>
          <a:xfrm>
            <a:off x="548640" y="5623560"/>
            <a:ext cx="11064240" cy="640080"/>
          </a:xfrm>
          <a:prstGeom prst="roundRect">
            <a:avLst>
              <a:gd name="adj" fmla="val 17143"/>
            </a:avLst>
          </a:prstGeom>
          <a:solidFill>
            <a:schemeClr val="bg2"/>
          </a:solidFill>
          <a:ln w="12700">
            <a:solidFill>
              <a:schemeClr val="bg2"/>
            </a:solidFill>
            <a:prstDash val="solid"/>
          </a:ln>
        </p:spPr>
        <p:txBody>
          <a:bodyPr/>
          <a:lstStyle/>
          <a:p>
            <a:endParaRPr lang="en-US"/>
          </a:p>
        </p:txBody>
      </p:sp>
      <p:sp>
        <p:nvSpPr>
          <p:cNvPr id="15" name="Text 12"/>
          <p:cNvSpPr txBox="1"/>
          <p:nvPr/>
        </p:nvSpPr>
        <p:spPr>
          <a:xfrm>
            <a:off x="777240" y="5760720"/>
            <a:ext cx="10607040" cy="36576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Missed:  </a:t>
            </a:r>
            <a:r>
              <a:rPr lang="en-US" sz="1600" dirty="0">
                <a:solidFill>
                  <a:schemeClr val="tx1"/>
                </a:solidFill>
                <a:latin typeface="Calibri" pitchFamily="34" charset="0"/>
                <a:ea typeface="Calibri" pitchFamily="34" charset="-122"/>
                <a:cs typeface="Calibri" pitchFamily="34" charset="-120"/>
              </a:rPr>
              <a:t>salary growth is steady at 6.3%, while non-salary jumped from 5.0% to 12.2%.</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ECCU: a legal change explains the drop in returned cheques</a:t>
            </a:r>
            <a:endParaRPr lang="en-US" sz="2800" dirty="0"/>
          </a:p>
        </p:txBody>
      </p:sp>
      <p:graphicFrame>
        <p:nvGraphicFramePr>
          <p:cNvPr id="3" name="Chart 0"/>
          <p:cNvGraphicFramePr/>
          <p:nvPr/>
        </p:nvGraphicFramePr>
        <p:xfrm>
          <a:off x="548640" y="1371600"/>
          <a:ext cx="49377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5760720" y="1371600"/>
            <a:ext cx="2834640" cy="1417320"/>
          </a:xfrm>
          <a:prstGeom prst="roundRect">
            <a:avLst>
              <a:gd name="adj" fmla="val 7742"/>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5943600" y="1508760"/>
            <a:ext cx="2468880" cy="731520"/>
          </a:xfrm>
          <a:prstGeom prst="rect">
            <a:avLst/>
          </a:prstGeom>
          <a:noFill/>
          <a:ln/>
        </p:spPr>
        <p:txBody>
          <a:bodyPr wrap="square" lIns="0" tIns="0" rIns="0" bIns="0" rtlCol="0" anchor="ctr"/>
          <a:lstStyle/>
          <a:p>
            <a:pPr marL="0" indent="0" algn="ctr">
              <a:buNone/>
            </a:pPr>
            <a:r>
              <a:rPr lang="en-US" sz="4000" b="1" dirty="0">
                <a:solidFill>
                  <a:schemeClr val="tx1"/>
                </a:solidFill>
                <a:latin typeface="Calibri" pitchFamily="34" charset="0"/>
                <a:ea typeface="Calibri" pitchFamily="34" charset="-122"/>
                <a:cs typeface="Calibri" pitchFamily="34" charset="-120"/>
              </a:rPr>
              <a:t>44%</a:t>
            </a:r>
            <a:endParaRPr lang="en-US" sz="4000" dirty="0"/>
          </a:p>
        </p:txBody>
      </p:sp>
      <p:sp>
        <p:nvSpPr>
          <p:cNvPr id="6" name="Text 3"/>
          <p:cNvSpPr txBox="1"/>
          <p:nvPr/>
        </p:nvSpPr>
        <p:spPr>
          <a:xfrm>
            <a:off x="5943600" y="2240280"/>
            <a:ext cx="2468880" cy="457200"/>
          </a:xfrm>
          <a:prstGeom prst="rect">
            <a:avLst/>
          </a:prstGeom>
          <a:noFill/>
          <a:ln/>
        </p:spPr>
        <p:txBody>
          <a:bodyPr wrap="square" lIns="0" tIns="0" rIns="0" bIns="0" rtlCol="0" anchor="t"/>
          <a:lstStyle/>
          <a:p>
            <a:pPr marL="0" indent="0" algn="ctr">
              <a:buNone/>
            </a:pPr>
            <a:r>
              <a:rPr lang="en-US" sz="1400" dirty="0">
                <a:solidFill>
                  <a:schemeClr val="tx2"/>
                </a:solidFill>
                <a:latin typeface="Calibri" pitchFamily="34" charset="0"/>
                <a:ea typeface="Calibri" pitchFamily="34" charset="-122"/>
                <a:cs typeface="Calibri" pitchFamily="34" charset="-120"/>
              </a:rPr>
              <a:t>of all JoPACC system value (derived)</a:t>
            </a:r>
            <a:endParaRPr lang="en-US" sz="1400" dirty="0"/>
          </a:p>
        </p:txBody>
      </p:sp>
      <p:sp>
        <p:nvSpPr>
          <p:cNvPr id="7" name="card"/>
          <p:cNvSpPr/>
          <p:nvPr/>
        </p:nvSpPr>
        <p:spPr>
          <a:xfrm>
            <a:off x="8778240" y="1371600"/>
            <a:ext cx="2834640" cy="1417320"/>
          </a:xfrm>
          <a:prstGeom prst="roundRect">
            <a:avLst>
              <a:gd name="adj" fmla="val 7742"/>
            </a:avLst>
          </a:prstGeom>
          <a:solidFill>
            <a:schemeClr val="bg2"/>
          </a:solidFill>
          <a:ln w="12700">
            <a:solidFill>
              <a:schemeClr val="bg2"/>
            </a:solidFill>
            <a:prstDash val="solid"/>
          </a:ln>
        </p:spPr>
        <p:txBody>
          <a:bodyPr/>
          <a:lstStyle/>
          <a:p>
            <a:endParaRPr lang="en-US"/>
          </a:p>
        </p:txBody>
      </p:sp>
      <p:sp>
        <p:nvSpPr>
          <p:cNvPr id="8" name="Text 5"/>
          <p:cNvSpPr txBox="1"/>
          <p:nvPr/>
        </p:nvSpPr>
        <p:spPr>
          <a:xfrm>
            <a:off x="8961120" y="1508760"/>
            <a:ext cx="2468880" cy="731520"/>
          </a:xfrm>
          <a:prstGeom prst="rect">
            <a:avLst/>
          </a:prstGeom>
          <a:noFill/>
          <a:ln/>
        </p:spPr>
        <p:txBody>
          <a:bodyPr wrap="square" lIns="0" tIns="0" rIns="0" bIns="0" rtlCol="0" anchor="ctr"/>
          <a:lstStyle/>
          <a:p>
            <a:pPr marL="0" indent="0" algn="ctr">
              <a:buNone/>
            </a:pPr>
            <a:r>
              <a:rPr lang="en-US" sz="4000" b="1" dirty="0">
                <a:solidFill>
                  <a:schemeClr val="tx1"/>
                </a:solidFill>
                <a:latin typeface="Calibri" pitchFamily="34" charset="0"/>
                <a:ea typeface="Calibri" pitchFamily="34" charset="-122"/>
                <a:cs typeface="Calibri" pitchFamily="34" charset="-120"/>
              </a:rPr>
              <a:t>-3.4%</a:t>
            </a:r>
            <a:endParaRPr lang="en-US" sz="4000" dirty="0"/>
          </a:p>
        </p:txBody>
      </p:sp>
      <p:sp>
        <p:nvSpPr>
          <p:cNvPr id="9" name="Text 6"/>
          <p:cNvSpPr txBox="1"/>
          <p:nvPr/>
        </p:nvSpPr>
        <p:spPr>
          <a:xfrm>
            <a:off x="8961120" y="2240280"/>
            <a:ext cx="2468880" cy="457200"/>
          </a:xfrm>
          <a:prstGeom prst="rect">
            <a:avLst/>
          </a:prstGeom>
          <a:noFill/>
          <a:ln/>
        </p:spPr>
        <p:txBody>
          <a:bodyPr wrap="square" lIns="0" tIns="0" rIns="0" bIns="0" rtlCol="0" anchor="t"/>
          <a:lstStyle/>
          <a:p>
            <a:pPr marL="0" indent="0" algn="ctr">
              <a:buNone/>
            </a:pPr>
            <a:r>
              <a:rPr lang="en-US" sz="1400" dirty="0">
                <a:solidFill>
                  <a:schemeClr val="tx2"/>
                </a:solidFill>
                <a:latin typeface="Calibri" pitchFamily="34" charset="0"/>
                <a:ea typeface="Calibri" pitchFamily="34" charset="-122"/>
                <a:cs typeface="Calibri" pitchFamily="34" charset="-120"/>
              </a:rPr>
              <a:t>Cheque volume, while value rose 1.6%</a:t>
            </a:r>
            <a:endParaRPr lang="en-US" sz="1400" dirty="0"/>
          </a:p>
        </p:txBody>
      </p:sp>
      <p:sp>
        <p:nvSpPr>
          <p:cNvPr id="10" name="takeaway"/>
          <p:cNvSpPr/>
          <p:nvPr/>
        </p:nvSpPr>
        <p:spPr>
          <a:xfrm>
            <a:off x="5760720" y="3108960"/>
            <a:ext cx="5852160" cy="2011680"/>
          </a:xfrm>
          <a:prstGeom prst="roundRect">
            <a:avLst>
              <a:gd name="adj" fmla="val 5455"/>
            </a:avLst>
          </a:prstGeom>
          <a:solidFill>
            <a:schemeClr val="bg2"/>
          </a:solidFill>
          <a:ln w="12700">
            <a:solidFill>
              <a:schemeClr val="bg2"/>
            </a:solidFill>
            <a:prstDash val="solid"/>
          </a:ln>
        </p:spPr>
        <p:txBody>
          <a:bodyPr/>
          <a:lstStyle/>
          <a:p>
            <a:endParaRPr lang="en-US"/>
          </a:p>
        </p:txBody>
      </p:sp>
      <p:sp>
        <p:nvSpPr>
          <p:cNvPr id="11" name="Text 8"/>
          <p:cNvSpPr txBox="1"/>
          <p:nvPr/>
        </p:nvSpPr>
        <p:spPr>
          <a:xfrm>
            <a:off x="5989320" y="3246120"/>
            <a:ext cx="5394960" cy="173736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Lead with it:  </a:t>
            </a:r>
            <a:r>
              <a:rPr lang="en-US" sz="1600" dirty="0">
                <a:solidFill>
                  <a:schemeClr val="tx1"/>
                </a:solidFill>
                <a:latin typeface="Calibri" pitchFamily="34" charset="0"/>
                <a:ea typeface="Calibri" pitchFamily="34" charset="-122"/>
                <a:cs typeface="Calibri" pitchFamily="34" charset="-120"/>
              </a:rPr>
              <a:t>imprisonment for debt was abolished in June 2025, a likely main driver of the drop.</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2800" b="1" dirty="0">
                <a:solidFill>
                  <a:schemeClr val="tx1"/>
                </a:solidFill>
              </a:rPr>
              <a:t>IPS: fewer new users, far more activity</a:t>
            </a:r>
            <a:endParaRPr lang="en-US" sz="2800" dirty="0"/>
          </a:p>
        </p:txBody>
      </p:sp>
      <p:graphicFrame>
        <p:nvGraphicFramePr>
          <p:cNvPr id="3" name="Chart 0"/>
          <p:cNvGraphicFramePr/>
          <p:nvPr/>
        </p:nvGraphicFramePr>
        <p:xfrm>
          <a:off x="548640" y="1371600"/>
          <a:ext cx="3566160" cy="3474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4297680" y="1371600"/>
          <a:ext cx="3566160" cy="34747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2"/>
          <p:cNvGraphicFramePr/>
          <p:nvPr/>
        </p:nvGraphicFramePr>
        <p:xfrm>
          <a:off x="8046720" y="1371600"/>
          <a:ext cx="3566160" cy="3474720"/>
        </p:xfrm>
        <a:graphic>
          <a:graphicData uri="http://schemas.openxmlformats.org/drawingml/2006/chart">
            <c:chart xmlns:c="http://schemas.openxmlformats.org/drawingml/2006/chart" xmlns:r="http://schemas.openxmlformats.org/officeDocument/2006/relationships" r:id="rId5"/>
          </a:graphicData>
        </a:graphic>
      </p:graphicFrame>
      <p:sp>
        <p:nvSpPr>
          <p:cNvPr id="6" name="takeaway"/>
          <p:cNvSpPr/>
          <p:nvPr/>
        </p:nvSpPr>
        <p:spPr>
          <a:xfrm>
            <a:off x="548640" y="5074920"/>
            <a:ext cx="11064240" cy="1005840"/>
          </a:xfrm>
          <a:prstGeom prst="roundRect">
            <a:avLst>
              <a:gd name="adj" fmla="val 10909"/>
            </a:avLst>
          </a:prstGeom>
          <a:solidFill>
            <a:schemeClr val="bg2"/>
          </a:solidFill>
          <a:ln w="12700">
            <a:solidFill>
              <a:schemeClr val="bg2"/>
            </a:solidFill>
            <a:prstDash val="solid"/>
          </a:ln>
        </p:spPr>
        <p:txBody>
          <a:bodyPr/>
          <a:lstStyle/>
          <a:p>
            <a:endParaRPr lang="en-US"/>
          </a:p>
        </p:txBody>
      </p:sp>
      <p:sp>
        <p:nvSpPr>
          <p:cNvPr id="7" name="Text 2"/>
          <p:cNvSpPr txBox="1"/>
          <p:nvPr/>
        </p:nvSpPr>
        <p:spPr>
          <a:xfrm>
            <a:off x="777240" y="5212080"/>
            <a:ext cx="1060704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Missed:  </a:t>
            </a:r>
            <a:r>
              <a:rPr lang="en-US" sz="1600" dirty="0">
                <a:solidFill>
                  <a:schemeClr val="tx1"/>
                </a:solidFill>
                <a:latin typeface="Calibri" pitchFamily="34" charset="0"/>
                <a:ea typeface="Calibri" pitchFamily="34" charset="-122"/>
                <a:cs typeface="Calibri" pitchFamily="34" charset="-120"/>
              </a:rPr>
              <a:t>new users slowed, activity per user jumped, and all net user growth came from bank-linked users.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theme/theme1.xml><?xml version="1.0" encoding="utf-8"?>
<a:theme xmlns:a="http://schemas.openxmlformats.org/drawingml/2006/main" name="JoPACC">
  <a:themeElements>
    <a:clrScheme name="JoPACC">
      <a:dk1>
        <a:srgbClr val="243746"/>
      </a:dk1>
      <a:lt1>
        <a:srgbClr val="FFFFFF"/>
      </a:lt1>
      <a:dk2>
        <a:srgbClr val="6F7271"/>
      </a:dk2>
      <a:lt2>
        <a:srgbClr val="F4F5F6"/>
      </a:lt2>
      <a:accent1>
        <a:srgbClr val="243746"/>
      </a:accent1>
      <a:accent2>
        <a:srgbClr val="FFB600"/>
      </a:accent2>
      <a:accent3>
        <a:srgbClr val="AE841F"/>
      </a:accent3>
      <a:accent4>
        <a:srgbClr val="9EA1A2"/>
      </a:accent4>
      <a:accent5>
        <a:srgbClr val="6F7271"/>
      </a:accent5>
      <a:accent6>
        <a:srgbClr val="2E8B63"/>
      </a:accent6>
      <a:hlink>
        <a:srgbClr val="AE841F"/>
      </a:hlink>
      <a:folHlink>
        <a:srgbClr val="6F7271"/>
      </a:folHlink>
    </a:clrScheme>
    <a:fontScheme name="JoPAC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2139</Words>
  <Application>Microsoft Office PowerPoint</Application>
  <PresentationFormat>Widescreen</PresentationFormat>
  <Paragraphs>280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JoPACC</vt:lpstr>
      <vt:lpstr>PowerPoint Presentation</vt:lpstr>
      <vt:lpstr>Volume surged 62%, but each payment is getting smaller</vt:lpstr>
      <vt:lpstr>The reports describe what happened, not why</vt:lpstr>
      <vt:lpstr>The average keeps falling, but nobody can say why</vt:lpstr>
      <vt:lpstr>Why the average alone can mislead</vt:lpstr>
      <vt:lpstr>The fix: show the most frequent value range too</vt:lpstr>
      <vt:lpstr>Where the most frequent value range would help</vt:lpstr>
      <vt:lpstr>Nine gaps to close in future reports</vt:lpstr>
      <vt:lpstr>PowerPoint Presentation</vt:lpstr>
      <vt:lpstr>PowerPoint Presentation</vt:lpstr>
      <vt:lpstr>CliQ grew deeper, not just wider</vt:lpstr>
      <vt:lpstr>4.5 in 10 instant-payment users use a wallet only</vt:lpstr>
      <vt:lpstr>Wallets reach more women: 4.7 in 10 users vs 3.6 in 10 on CliQ</vt:lpstr>
      <vt:lpstr>Wallets still reach more women, but the gap is narrowing</vt:lpstr>
      <vt:lpstr>JoMoPay is shifting from cash corridor to spending wallet</vt:lpstr>
      <vt:lpstr>ACH: growth is speeding up, but only outside salaries</vt:lpstr>
      <vt:lpstr>ECCU: a legal change explains the drop in returned cheques</vt:lpstr>
      <vt:lpstr>IPS: fewer new users, far more activity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JoPACC 2024-2025 Report Comparison</dc:title>
  <dc:subject>PptxGenJS Presentation</dc:subject>
  <dc:creator>PptxGenJS</dc:creator>
  <cp:lastModifiedBy>Emam Abu Haifa</cp:lastModifiedBy>
  <cp:revision>2</cp:revision>
  <dcterms:created xsi:type="dcterms:W3CDTF">2026-10-14T07:25:05Z</dcterms:created>
  <dcterms:modified xsi:type="dcterms:W3CDTF">2026-10-14T07:44:08Z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20068ec-f488-44fa-9845-3815947d7973_Enabled">
    <vt:lpwstr>true</vt:lpwstr>
  </property>
  <property fmtid="{D5CDD505-2E9C-101B-9397-08002B2CF9AE}" pid="3" name="MSIP_Label_420068ec-f488-44fa-9845-3815947d7973_SetDate">
    <vt:lpwstr>2026-10-14T07:28:43Z</vt:lpwstr>
  </property>
  <property fmtid="{D5CDD505-2E9C-101B-9397-08002B2CF9AE}" pid="4" name="MSIP_Label_420068ec-f488-44fa-9845-3815947d7973_Method">
    <vt:lpwstr>Privileged</vt:lpwstr>
  </property>
  <property fmtid="{D5CDD505-2E9C-101B-9397-08002B2CF9AE}" pid="5" name="MSIP_Label_420068ec-f488-44fa-9845-3815947d7973_Name">
    <vt:lpwstr>Public</vt:lpwstr>
  </property>
  <property fmtid="{D5CDD505-2E9C-101B-9397-08002B2CF9AE}" pid="6" name="MSIP_Label_420068ec-f488-44fa-9845-3815947d7973_SiteId">
    <vt:lpwstr>ee7a994a-cae3-4e00-85bc-52fb0c8c1542</vt:lpwstr>
  </property>
  <property fmtid="{D5CDD505-2E9C-101B-9397-08002B2CF9AE}" pid="7" name="MSIP_Label_420068ec-f488-44fa-9845-3815947d7973_ActionId">
    <vt:lpwstr>b9eb7164-e11e-4dd8-94a8-7058979539cf</vt:lpwstr>
  </property>
  <property fmtid="{D5CDD505-2E9C-101B-9397-08002B2CF9AE}" pid="8" name="MSIP_Label_420068ec-f488-44fa-9845-3815947d7973_ContentBits">
    <vt:lpwstr>0</vt:lpwstr>
  </property>
  <property fmtid="{D5CDD505-2E9C-101B-9397-08002B2CF9AE}" pid="9" name="MSIP_Label_420068ec-f488-44fa-9845-3815947d7973_Tag">
    <vt:lpwstr>10, 0, 1, 1</vt:lpwstr>
  </property>
</Properties>
</file>