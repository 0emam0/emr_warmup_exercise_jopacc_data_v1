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8.xml" ContentType="application/vnd.openxmlformats-officedocument.presentationml.slide+xml"/>
  <Override PartName="/ppt/slides/slide9.xml" ContentType="application/vnd.openxmlformats-officedocument.presentationml.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8" r:id="rId14"/>
    <p:sldId id="269" r:id="rId15"/>
    <p:sldId id="267"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7ED83E4-709F-8F4A-7FB3-25526DD26DD0}">
          <p14:sldIdLst>
            <p14:sldId id="256"/>
          </p14:sldIdLst>
        </p14:section>
        <p14:section name="Part One: Gaps identified" id="{A6AD2144-CF89-451A-70EB-BBF264845AD2}">
          <p14:sldIdLst>
            <p14:sldId id="257"/>
          </p14:sldIdLst>
        </p14:section>
        <p14:section name="Part Two: Recommendations" id="{627C1D02-90D0-CAB8-F497-08971A394E2C}">
          <p14:sldIdLst>
            <p14:sldId id="258"/>
            <p14:sldId id="259"/>
            <p14:sldId id="260"/>
            <p14:sldId id="261"/>
          </p14:sldIdLst>
        </p14:section>
        <p14:section name="Closing" id="{2487A2DE-4512-082B-DD07-5768F64DDFDA}">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6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  <Relationship Id="rId14" Type="http://schemas.openxmlformats.org/officeDocument/2006/relationships/slide" Target="slides/slide8.xml"/>
  <Relationship Id="rId15" Type="http://schemas.openxmlformats.org/officeDocument/2006/relationships/slide" Target="slides/slide9.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612179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the reports are accurate and consistent, but they tell us what happened, not why. Point to the marker key: derived figures were calculated from the published reports.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significant gap is limited analytical depth. Example: eFAWATEERcom's total transaction value fell 12.0% in Q1 2026, and the report gives no sign of what drove it, such as a biller category or a seasonal effect. Researchers cannot validate trends; investors cannot judge whether growth is sustainable. The reports themselves are consistent and well structured.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on one slide: each tile shows how reporting works today and how it should work. All of it uses only data already available in JoPACC's dataset. Recommendation 1 comes first because the others build on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apply the hierarchy to the IPS, the IPS section would be restructured around it. Figures from CliQ and JoMoPay are combined under one shared structure: entities (business, merchant, government, agent) and individuals first, then individuals by nationality, age group and gender.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level the report shows users, transactions and transaction value, using only published data. The same structure can power an interactive view so readers drill down from the system total to the most detailed breakdown. Categories with very small counts are grouped to protect confidentiality.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recommendation is presented first because the others build upon it. The rest can be implemented without an interactive interface, but interactivity greatly extends what the reports can offer, so they can serve a wider range of readers.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one fixed filter per type of color blindness, the feature is a slider that adjusts the colors gradually. Color vision deficiency varies in both type and severity, so each reader can tune the palette to what they can distinguish best. The chosen setting could be saved so it applies across the portal.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complement to the slider, charts should not rely on color alone. Patterns, direct labels or distinct markers keep them readable even without the feature, in line with WCAG, which advises against using color as the only way to convey information. This matters most for charts that separate systems or show increases and decreases.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2800" b="1" dirty="0">
                <a:solidFill>
                  <a:schemeClr val="tx1"/>
                </a:solidFill>
              </a:defRPr>
            </a:lvl1pPr>
          </a:lstStyle>
          <a:p>
            <a:pPr marL="0" indent="0" algn="l">
              <a:buNone/>
            </a:pPr>
            <a:endParaRPr lang="en-US" sz="2800" dirty="0"/>
          </a:p>
        </p:txBody>
      </p:sp>
      <p:sp>
        <p:nvSpPr>
          <p:cNvPr id="3" name="Text 0"/>
          <p:cNvSpPr/>
          <p:nvPr/>
        </p:nvSpPr>
        <p:spPr>
          <a:xfrm>
            <a:off x="548640" y="6355080"/>
            <a:ext cx="6400800" cy="274320"/>
          </a:xfrm>
          <a:prstGeom prst="rect">
            <a:avLst/>
          </a:prstGeom>
          <a:noFill/>
          <a:ln/>
        </p:spPr>
        <p:txBody>
          <a:bodyPr wrap="square" lIns="0" tIns="0" rIns="0" bIns="0" rtlCol="0" anchor="ctr"/>
          <a:lstStyle/>
          <a:p>
            <a:pPr marL="0" indent="0">
              <a:buNone/>
            </a:pPr>
            <a:r>
              <a:rPr lang="en-US" sz="1000" dirty="0">
                <a:solidFill>
                  <a:schemeClr val="tx2"/>
                </a:solidFill>
              </a:rPr>
              <a:t>JoPACC  |  Gaps identified and recommendations</a:t>
            </a:r>
            <a:endParaRPr lang="en-US" sz="10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43746"/>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9"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 large"/>
          <p:cNvSpPr/>
          <p:nvPr/>
        </p:nvSpPr>
        <p:spPr>
          <a:xfrm>
            <a:off x="8595360" y="-1188720"/>
            <a:ext cx="5120640" cy="5120640"/>
          </a:xfrm>
          <a:prstGeom prst="ellipse">
            <a:avLst/>
          </a:prstGeom>
          <a:solidFill>
            <a:schemeClr val="accent2">
              <a:alpha val="20000"/>
            </a:schemeClr>
          </a:solidFill>
          <a:ln w="12700">
            <a:solidFill>
              <a:schemeClr val="accent2">
                <a:alpha val="0"/>
              </a:schemeClr>
            </a:solidFill>
            <a:prstDash val="solid"/>
          </a:ln>
        </p:spPr>
      </p:sp>
      <p:sp>
        <p:nvSpPr>
          <p:cNvPr id="3" name="Circle small"/>
          <p:cNvSpPr/>
          <p:nvPr/>
        </p:nvSpPr>
        <p:spPr>
          <a:xfrm>
            <a:off x="9966960" y="3291840"/>
            <a:ext cx="3200400" cy="3200400"/>
          </a:xfrm>
          <a:prstGeom prst="ellipse">
            <a:avLst/>
          </a:prstGeom>
          <a:solidFill>
            <a:schemeClr val="accent2">
              <a:alpha val="50000"/>
            </a:schemeClr>
          </a:solidFill>
          <a:ln w="12700">
            <a:solidFill>
              <a:schemeClr val="accent2">
                <a:alpha val="0"/>
              </a:schemeClr>
            </a:solidFill>
            <a:prstDash val="solid"/>
          </a:ln>
        </p:spPr>
      </p:sp>
      <p:sp>
        <p:nvSpPr>
          <p:cNvPr id="4" name="Tag"/>
          <p:cNvSpPr/>
          <p:nvPr/>
        </p:nvSpPr>
        <p:spPr>
          <a:xfrm>
            <a:off x="731520" y="1188720"/>
            <a:ext cx="1554480" cy="457200"/>
          </a:xfrm>
          <a:prstGeom prst="roundRect">
            <a:avLst>
              <a:gd name="adj" fmla="val 20000"/>
            </a:avLst>
          </a:prstGeom>
          <a:solidFill>
            <a:schemeClr val="accent2"/>
          </a:solidFill>
          <a:ln w="12700">
            <a:solidFill>
              <a:schemeClr val="accent2"/>
            </a:solidFill>
            <a:prstDash val="solid"/>
          </a:ln>
        </p:spPr>
      </p:sp>
      <p:sp>
        <p:nvSpPr>
          <p:cNvPr id="5" name="Text 3"/>
          <p:cNvSpPr txBox="1"/>
          <p:nvPr/>
        </p:nvSpPr>
        <p:spPr>
          <a:xfrm>
            <a:off x="731520" y="1188720"/>
            <a:ext cx="1554480" cy="457200"/>
          </a:xfrm>
          <a:prstGeom prst="rect">
            <a:avLst/>
          </a:prstGeom>
          <a:noFill/>
          <a:ln/>
        </p:spPr>
        <p:txBody>
          <a:bodyPr wrap="square" lIns="0" tIns="0" rIns="0" bIns="0" rtlCol="0" anchor="ctr"/>
          <a:lstStyle/>
          <a:p>
            <a:pPr marL="0" indent="0" algn="ctr">
              <a:buNone/>
            </a:pPr>
            <a:r>
              <a:rPr lang="en-US" sz="1400" b="1" dirty="0">
                <a:solidFill>
                  <a:schemeClr val="tx1"/>
                </a:solidFill>
                <a:latin typeface="Calibri" pitchFamily="34" charset="0"/>
                <a:ea typeface="Calibri" pitchFamily="34" charset="-122"/>
                <a:cs typeface="Calibri" pitchFamily="34" charset="-120"/>
              </a:rPr>
              <a:t>JoPACC</a:t>
            </a:r>
            <a:endParaRPr lang="en-US" sz="1400" dirty="0"/>
          </a:p>
        </p:txBody>
      </p:sp>
      <p:sp>
        <p:nvSpPr>
          <p:cNvPr id="6" name="Text 4"/>
          <p:cNvSpPr txBox="1"/>
          <p:nvPr/>
        </p:nvSpPr>
        <p:spPr>
          <a:xfrm>
            <a:off x="731520" y="2148840"/>
            <a:ext cx="8686800" cy="822960"/>
          </a:xfrm>
          <a:prstGeom prst="rect">
            <a:avLst/>
          </a:prstGeom>
          <a:noFill/>
          <a:ln/>
        </p:spPr>
        <p:txBody>
          <a:bodyPr wrap="square" lIns="0" tIns="0" rIns="0" bIns="0" rtlCol="0" anchor="ctr"/>
          <a:lstStyle/>
          <a:p>
            <a:pPr marL="0" indent="0">
              <a:buNone/>
            </a:pPr>
            <a:r>
              <a:rPr lang="en-US" sz="4000" b="1" dirty="0">
                <a:solidFill>
                  <a:schemeClr val="bg1"/>
                </a:solidFill>
                <a:latin typeface="Calibri" pitchFamily="34" charset="0"/>
                <a:ea typeface="Calibri" pitchFamily="34" charset="-122"/>
                <a:cs typeface="Calibri" pitchFamily="34" charset="-120"/>
              </a:rPr>
              <a:t>Gaps identified and recommendations</a:t>
            </a:r>
            <a:endParaRPr lang="en-US" sz="4000" dirty="0"/>
          </a:p>
        </p:txBody>
      </p:sp>
      <p:sp>
        <p:nvSpPr>
          <p:cNvPr id="7" name="Text 5"/>
          <p:cNvSpPr txBox="1"/>
          <p:nvPr/>
        </p:nvSpPr>
        <p:spPr>
          <a:xfrm>
            <a:off x="731520" y="3017520"/>
            <a:ext cx="8686800" cy="457200"/>
          </a:xfrm>
          <a:prstGeom prst="rect">
            <a:avLst/>
          </a:prstGeom>
          <a:noFill/>
          <a:ln/>
        </p:spPr>
        <p:txBody>
          <a:bodyPr wrap="square" lIns="0" tIns="0" rIns="0" bIns="0" rtlCol="0" anchor="ctr"/>
          <a:lstStyle/>
          <a:p>
            <a:pPr marL="0" indent="0">
              <a:buNone/>
            </a:pPr>
            <a:r>
              <a:rPr lang="en-US" sz="2000" dirty="0">
                <a:solidFill>
                  <a:schemeClr val="accent2"/>
                </a:solidFill>
                <a:latin typeface="Calibri" pitchFamily="34" charset="0"/>
                <a:ea typeface="Calibri" pitchFamily="34" charset="-122"/>
                <a:cs typeface="Calibri" pitchFamily="34" charset="-120"/>
              </a:rPr>
              <a:t>The reports show what happened. Readers also need to know why.</a:t>
            </a:r>
            <a:endParaRPr lang="en-US" sz="2000" dirty="0"/>
          </a:p>
        </p:txBody>
      </p:sp>
      <p:sp>
        <p:nvSpPr>
          <p:cNvPr id="8" name="Chip period"/>
          <p:cNvSpPr/>
          <p:nvPr/>
        </p:nvSpPr>
        <p:spPr>
          <a:xfrm>
            <a:off x="731520" y="5532120"/>
            <a:ext cx="2743200" cy="365760"/>
          </a:xfrm>
          <a:prstGeom prst="roundRect">
            <a:avLst>
              <a:gd name="adj" fmla="val 15000"/>
            </a:avLst>
          </a:prstGeom>
          <a:solidFill>
            <a:schemeClr val="accent2"/>
          </a:solidFill>
          <a:ln w="12700">
            <a:solidFill>
              <a:schemeClr val="accent2"/>
            </a:solidFill>
            <a:prstDash val="solid"/>
          </a:ln>
        </p:spPr>
      </p:sp>
      <p:sp>
        <p:nvSpPr>
          <p:cNvPr id="9" name="Text 7"/>
          <p:cNvSpPr txBox="1"/>
          <p:nvPr/>
        </p:nvSpPr>
        <p:spPr>
          <a:xfrm>
            <a:off x="731520" y="5532120"/>
            <a:ext cx="2743200"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Q3 2024 to Q2 2026 quarterly reports</a:t>
            </a:r>
            <a:endParaRPr lang="en-US" sz="1100" dirty="0"/>
          </a:p>
        </p:txBody>
      </p:sp>
      <p:sp>
        <p:nvSpPr>
          <p:cNvPr id="10" name="Chip derived"/>
          <p:cNvSpPr/>
          <p:nvPr/>
        </p:nvSpPr>
        <p:spPr>
          <a:xfrm>
            <a:off x="3657600" y="5532120"/>
            <a:ext cx="3108960" cy="365760"/>
          </a:xfrm>
          <a:prstGeom prst="roundRect">
            <a:avLst>
              <a:gd name="adj" fmla="val 15000"/>
            </a:avLst>
          </a:prstGeom>
          <a:solidFill>
            <a:schemeClr val="bg2"/>
          </a:solidFill>
          <a:ln w="12700">
            <a:solidFill>
              <a:schemeClr val="bg2"/>
            </a:solidFill>
            <a:prstDash val="solid"/>
          </a:ln>
        </p:spPr>
      </p:sp>
      <p:sp>
        <p:nvSpPr>
          <p:cNvPr id="11" name="Text 9"/>
          <p:cNvSpPr txBox="1"/>
          <p:nvPr/>
        </p:nvSpPr>
        <p:spPr>
          <a:xfrm>
            <a:off x="3657600" y="5532120"/>
            <a:ext cx="3108960" cy="365760"/>
          </a:xfrm>
          <a:prstGeom prst="rect">
            <a:avLst/>
          </a:prstGeom>
          <a:noFill/>
          <a:ln/>
        </p:spPr>
        <p:txBody>
          <a:bodyPr wrap="square" lIns="0" tIns="0" rIns="0" bIns="0" rtlCol="0" anchor="ctr"/>
          <a:lstStyle/>
          <a:p>
            <a:pPr marL="0" indent="0" algn="ctr">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6949440" y="5532120"/>
            <a:ext cx="3840480" cy="365760"/>
          </a:xfrm>
          <a:prstGeom prst="rect">
            <a:avLst/>
          </a:prstGeom>
          <a:noFill/>
          <a:ln/>
        </p:spPr>
        <p:txBody>
          <a:bodyPr wrap="square" lIns="0" tIns="0" rIns="0" bIns="0" rtlCol="0" anchor="ctr"/>
          <a:lstStyle/>
          <a:p>
            <a:pPr marL="0" indent="0">
              <a:buNone/>
            </a:pPr>
            <a:r>
              <a:rPr lang="en-US" sz="1200" dirty="0">
                <a:solidFill>
                  <a:srgbClr val="9EA1A2"/>
                </a:solidFill>
                <a:latin typeface="Calibri" pitchFamily="34" charset="0"/>
                <a:ea typeface="Calibri" pitchFamily="34" charset="-122"/>
                <a:cs typeface="Calibri" pitchFamily="34" charset="-120"/>
              </a:rPr>
              <a:t>Unmarked figures come from the JoPACC reports.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The reports describe what happened, not why</a:t>
            </a:r>
            <a:endParaRPr lang="en-US" sz="2800" dirty="0"/>
          </a:p>
        </p:txBody>
      </p:sp>
      <p:sp>
        <p:nvSpPr>
          <p:cNvPr id="4" name="Card eFAWATEERcom"/>
          <p:cNvSpPr/>
          <p:nvPr/>
        </p:nvSpPr>
        <p:spPr>
          <a:xfrm>
            <a:off x="548640" y="1371600"/>
            <a:ext cx="3575304" cy="3566160"/>
          </a:xfrm>
          <a:prstGeom prst="roundRect">
            <a:avLst>
              <a:gd name="adj" fmla="val 3846"/>
            </a:avLst>
          </a:prstGeom>
          <a:solidFill>
            <a:schemeClr val="bg2"/>
          </a:solidFill>
          <a:ln w="12700">
            <a:solidFill>
              <a:schemeClr val="bg2"/>
            </a:solidFill>
            <a:prstDash val="solid"/>
          </a:ln>
        </p:spPr>
      </p:sp>
      <p:sp>
        <p:nvSpPr>
          <p:cNvPr id="5" name="Text 2"/>
          <p:cNvSpPr txBox="1"/>
          <p:nvPr/>
        </p:nvSpPr>
        <p:spPr>
          <a:xfrm>
            <a:off x="822960" y="1554480"/>
            <a:ext cx="3017520" cy="365760"/>
          </a:xfrm>
          <a:prstGeom prst="rect">
            <a:avLst/>
          </a:prstGeom>
          <a:noFill/>
          <a:ln/>
        </p:spPr>
        <p:txBody>
          <a:bodyPr wrap="square" lIns="0" tIns="0" rIns="0" bIns="0"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eFAWATEERcom</a:t>
            </a:r>
            <a:endParaRPr lang="en-US" sz="1500" dirty="0"/>
          </a:p>
        </p:txBody>
      </p:sp>
      <p:sp>
        <p:nvSpPr>
          <p:cNvPr id="6" name="Text 3"/>
          <p:cNvSpPr txBox="1"/>
          <p:nvPr/>
        </p:nvSpPr>
        <p:spPr>
          <a:xfrm>
            <a:off x="822960" y="2103120"/>
            <a:ext cx="3108960" cy="731520"/>
          </a:xfrm>
          <a:prstGeom prst="rect">
            <a:avLst/>
          </a:prstGeom>
          <a:noFill/>
          <a:ln/>
        </p:spPr>
        <p:txBody>
          <a:bodyPr wrap="square" lIns="0" tIns="0" rIns="0" bIns="0" rtlCol="0" anchor="ctr"/>
          <a:lstStyle/>
          <a:p>
            <a:pPr marL="0" indent="0">
              <a:buNone/>
            </a:pPr>
            <a:r>
              <a:rPr lang="en-US" sz="3600" b="1" dirty="0">
                <a:solidFill>
                  <a:srgbClr val="C0463C"/>
                </a:solidFill>
                <a:latin typeface="Calibri" pitchFamily="34" charset="0"/>
                <a:ea typeface="Calibri" pitchFamily="34" charset="-122"/>
                <a:cs typeface="Calibri" pitchFamily="34" charset="-120"/>
              </a:rPr>
              <a:t>-12.0%</a:t>
            </a:r>
            <a:endParaRPr lang="en-US" sz="3600" dirty="0"/>
          </a:p>
        </p:txBody>
      </p:sp>
      <p:sp>
        <p:nvSpPr>
          <p:cNvPr id="7" name="Text 4"/>
          <p:cNvSpPr txBox="1"/>
          <p:nvPr/>
        </p:nvSpPr>
        <p:spPr>
          <a:xfrm>
            <a:off x="822960" y="2834640"/>
            <a:ext cx="310896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total value, Q1 2026</a:t>
            </a:r>
            <a:endParaRPr lang="en-US" sz="1400" dirty="0"/>
          </a:p>
        </p:txBody>
      </p:sp>
      <p:sp>
        <p:nvSpPr>
          <p:cNvPr id="8" name="Text 5"/>
          <p:cNvSpPr txBox="1"/>
          <p:nvPr/>
        </p:nvSpPr>
        <p:spPr>
          <a:xfrm>
            <a:off x="822960" y="352044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9" name="Text 6"/>
          <p:cNvSpPr txBox="1"/>
          <p:nvPr/>
        </p:nvSpPr>
        <p:spPr>
          <a:xfrm>
            <a:off x="822960" y="3749040"/>
            <a:ext cx="3108960" cy="32004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Value fell. No driver given.</a:t>
            </a:r>
            <a:endParaRPr lang="en-US" sz="1600" dirty="0"/>
          </a:p>
        </p:txBody>
      </p:sp>
      <p:sp>
        <p:nvSpPr>
          <p:cNvPr id="10" name="Text 7"/>
          <p:cNvSpPr txBox="1"/>
          <p:nvPr/>
        </p:nvSpPr>
        <p:spPr>
          <a:xfrm>
            <a:off x="822960" y="4160520"/>
            <a:ext cx="3017520" cy="228600"/>
          </a:xfrm>
          <a:prstGeom prst="rect">
            <a:avLst/>
          </a:prstGeom>
          <a:noFill/>
          <a:ln/>
        </p:spPr>
        <p:txBody>
          <a:bodyPr wrap="square" lIns="0" tIns="0" rIns="0" bIns="0" rtlCol="0" anchor="ctr"/>
          <a:lstStyle/>
          <a:p>
            <a:pPr marL="0" indent="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11" name="Text 8"/>
          <p:cNvSpPr txBox="1"/>
          <p:nvPr/>
        </p:nvSpPr>
        <p:spPr>
          <a:xfrm>
            <a:off x="822960" y="4389120"/>
            <a:ext cx="3108960"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Biller category or seasonal effect?</a:t>
            </a:r>
            <a:endParaRPr lang="en-US" sz="1600" dirty="0"/>
          </a:p>
        </p:txBody>
      </p:sp>
      <p:sp>
        <p:nvSpPr>
          <p:cNvPr id="12" name="Card Researchers"/>
          <p:cNvSpPr/>
          <p:nvPr/>
        </p:nvSpPr>
        <p:spPr>
          <a:xfrm>
            <a:off x="4306824" y="1371600"/>
            <a:ext cx="3575304" cy="3566160"/>
          </a:xfrm>
          <a:prstGeom prst="roundRect">
            <a:avLst>
              <a:gd name="adj" fmla="val 3846"/>
            </a:avLst>
          </a:prstGeom>
          <a:solidFill>
            <a:schemeClr val="bg2"/>
          </a:solidFill>
          <a:ln w="12700">
            <a:solidFill>
              <a:schemeClr val="bg2"/>
            </a:solidFill>
            <a:prstDash val="solid"/>
          </a:ln>
        </p:spPr>
      </p:sp>
      <p:sp>
        <p:nvSpPr>
          <p:cNvPr id="13" name="Text 10"/>
          <p:cNvSpPr txBox="1"/>
          <p:nvPr/>
        </p:nvSpPr>
        <p:spPr>
          <a:xfrm>
            <a:off x="4581144" y="1554480"/>
            <a:ext cx="3017520" cy="365760"/>
          </a:xfrm>
          <a:prstGeom prst="rect">
            <a:avLst/>
          </a:prstGeom>
          <a:noFill/>
          <a:ln/>
        </p:spPr>
        <p:txBody>
          <a:bodyPr wrap="square" lIns="0" tIns="0" rIns="0" bIns="0"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Researchers</a:t>
            </a:r>
            <a:endParaRPr lang="en-US" sz="1500" dirty="0"/>
          </a:p>
        </p:txBody>
      </p:sp>
      <p:sp>
        <p:nvSpPr>
          <p:cNvPr id="14" name="Text 11"/>
          <p:cNvSpPr txBox="1"/>
          <p:nvPr/>
        </p:nvSpPr>
        <p:spPr>
          <a:xfrm>
            <a:off x="4581144" y="2103120"/>
            <a:ext cx="3108960" cy="731520"/>
          </a:xfrm>
          <a:prstGeom prst="rect">
            <a:avLst/>
          </a:prstGeom>
          <a:noFill/>
          <a:ln/>
        </p:spPr>
        <p:txBody>
          <a:bodyPr wrap="square" lIns="0" tIns="0" rIns="0" bIns="0" rtlCol="0" anchor="ctr"/>
          <a:lstStyle/>
          <a:p>
            <a:pPr marL="0" indent="0">
              <a:buNone/>
            </a:pPr>
            <a:r>
              <a:rPr lang="en-US" sz="3600" b="1" dirty="0">
                <a:solidFill>
                  <a:srgbClr val="243746"/>
                </a:solidFill>
                <a:latin typeface="Calibri" pitchFamily="34" charset="0"/>
                <a:ea typeface="Calibri" pitchFamily="34" charset="-122"/>
                <a:cs typeface="Calibri" pitchFamily="34" charset="-120"/>
              </a:rPr>
              <a:t>No validation</a:t>
            </a:r>
            <a:endParaRPr lang="en-US" sz="3600" dirty="0"/>
          </a:p>
        </p:txBody>
      </p:sp>
      <p:sp>
        <p:nvSpPr>
          <p:cNvPr id="15" name="Text 12"/>
          <p:cNvSpPr txBox="1"/>
          <p:nvPr/>
        </p:nvSpPr>
        <p:spPr>
          <a:xfrm>
            <a:off x="4581144" y="2834640"/>
            <a:ext cx="310896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trends cannot be checked</a:t>
            </a:r>
            <a:endParaRPr lang="en-US" sz="1400" dirty="0"/>
          </a:p>
        </p:txBody>
      </p:sp>
      <p:sp>
        <p:nvSpPr>
          <p:cNvPr id="16" name="Text 13"/>
          <p:cNvSpPr txBox="1"/>
          <p:nvPr/>
        </p:nvSpPr>
        <p:spPr>
          <a:xfrm>
            <a:off x="4581144" y="352044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17" name="Text 14"/>
          <p:cNvSpPr txBox="1"/>
          <p:nvPr/>
        </p:nvSpPr>
        <p:spPr>
          <a:xfrm>
            <a:off x="4581144" y="3749040"/>
            <a:ext cx="3108960" cy="32004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The what, in limited detail.</a:t>
            </a:r>
            <a:endParaRPr lang="en-US" sz="1600" dirty="0"/>
          </a:p>
        </p:txBody>
      </p:sp>
      <p:sp>
        <p:nvSpPr>
          <p:cNvPr id="18" name="Text 15"/>
          <p:cNvSpPr txBox="1"/>
          <p:nvPr/>
        </p:nvSpPr>
        <p:spPr>
          <a:xfrm>
            <a:off x="4581144" y="4160520"/>
            <a:ext cx="3017520" cy="228600"/>
          </a:xfrm>
          <a:prstGeom prst="rect">
            <a:avLst/>
          </a:prstGeom>
          <a:noFill/>
          <a:ln/>
        </p:spPr>
        <p:txBody>
          <a:bodyPr wrap="square" lIns="0" tIns="0" rIns="0" bIns="0" rtlCol="0" anchor="ctr"/>
          <a:lstStyle/>
          <a:p>
            <a:pPr marL="0" indent="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19" name="Text 16"/>
          <p:cNvSpPr txBox="1"/>
          <p:nvPr/>
        </p:nvSpPr>
        <p:spPr>
          <a:xfrm>
            <a:off x="4581144" y="4389120"/>
            <a:ext cx="3108960"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Drivers of users, volumes, values.</a:t>
            </a:r>
            <a:endParaRPr lang="en-US" sz="1600" dirty="0"/>
          </a:p>
        </p:txBody>
      </p:sp>
      <p:sp>
        <p:nvSpPr>
          <p:cNvPr id="20" name="Card Investors"/>
          <p:cNvSpPr/>
          <p:nvPr/>
        </p:nvSpPr>
        <p:spPr>
          <a:xfrm>
            <a:off x="8065008" y="1371600"/>
            <a:ext cx="3575304" cy="3566160"/>
          </a:xfrm>
          <a:prstGeom prst="roundRect">
            <a:avLst>
              <a:gd name="adj" fmla="val 3846"/>
            </a:avLst>
          </a:prstGeom>
          <a:solidFill>
            <a:schemeClr val="bg2"/>
          </a:solidFill>
          <a:ln w="12700">
            <a:solidFill>
              <a:schemeClr val="bg2"/>
            </a:solidFill>
            <a:prstDash val="solid"/>
          </a:ln>
        </p:spPr>
      </p:sp>
      <p:sp>
        <p:nvSpPr>
          <p:cNvPr id="21" name="Text 18"/>
          <p:cNvSpPr txBox="1"/>
          <p:nvPr/>
        </p:nvSpPr>
        <p:spPr>
          <a:xfrm>
            <a:off x="8339328" y="1554480"/>
            <a:ext cx="3017520" cy="365760"/>
          </a:xfrm>
          <a:prstGeom prst="rect">
            <a:avLst/>
          </a:prstGeom>
          <a:noFill/>
          <a:ln/>
        </p:spPr>
        <p:txBody>
          <a:bodyPr wrap="square" lIns="0" tIns="0" rIns="0" bIns="0" rtlCol="0" anchor="ctr"/>
          <a:lstStyle/>
          <a:p>
            <a:pPr marL="0" indent="0">
              <a:buNone/>
            </a:pPr>
            <a:r>
              <a:rPr lang="en-US" sz="1500" b="1" dirty="0">
                <a:solidFill>
                  <a:schemeClr val="accent3"/>
                </a:solidFill>
                <a:latin typeface="Calibri" pitchFamily="34" charset="0"/>
                <a:ea typeface="Calibri" pitchFamily="34" charset="-122"/>
                <a:cs typeface="Calibri" pitchFamily="34" charset="-120"/>
              </a:rPr>
              <a:t>Investors</a:t>
            </a:r>
            <a:endParaRPr lang="en-US" sz="1500" dirty="0"/>
          </a:p>
        </p:txBody>
      </p:sp>
      <p:sp>
        <p:nvSpPr>
          <p:cNvPr id="22" name="Text 19"/>
          <p:cNvSpPr txBox="1"/>
          <p:nvPr/>
        </p:nvSpPr>
        <p:spPr>
          <a:xfrm>
            <a:off x="8339328" y="2103120"/>
            <a:ext cx="3108960" cy="731520"/>
          </a:xfrm>
          <a:prstGeom prst="rect">
            <a:avLst/>
          </a:prstGeom>
          <a:noFill/>
          <a:ln/>
        </p:spPr>
        <p:txBody>
          <a:bodyPr wrap="square" lIns="0" tIns="0" rIns="0" bIns="0" rtlCol="0" anchor="ctr"/>
          <a:lstStyle/>
          <a:p>
            <a:pPr marL="0" indent="0">
              <a:buNone/>
            </a:pPr>
            <a:r>
              <a:rPr lang="en-US" sz="3600" b="1" dirty="0">
                <a:solidFill>
                  <a:srgbClr val="243746"/>
                </a:solidFill>
                <a:latin typeface="Calibri" pitchFamily="34" charset="0"/>
                <a:ea typeface="Calibri" pitchFamily="34" charset="-122"/>
                <a:cs typeface="Calibri" pitchFamily="34" charset="-120"/>
              </a:rPr>
              <a:t>Growth unclear</a:t>
            </a:r>
            <a:endParaRPr lang="en-US" sz="3600" dirty="0"/>
          </a:p>
        </p:txBody>
      </p:sp>
      <p:sp>
        <p:nvSpPr>
          <p:cNvPr id="23" name="Text 20"/>
          <p:cNvSpPr txBox="1"/>
          <p:nvPr/>
        </p:nvSpPr>
        <p:spPr>
          <a:xfrm>
            <a:off x="8339328" y="2834640"/>
            <a:ext cx="3108960" cy="320040"/>
          </a:xfrm>
          <a:prstGeom prst="rect">
            <a:avLst/>
          </a:prstGeom>
          <a:noFill/>
          <a:ln/>
        </p:spPr>
        <p:txBody>
          <a:bodyPr wrap="square" lIns="0" tIns="0" rIns="0" bIns="0" rtlCol="0" anchor="ctr"/>
          <a:lstStyle/>
          <a:p>
            <a:pPr marL="0" indent="0">
              <a:buNone/>
            </a:pPr>
            <a:r>
              <a:rPr lang="en-US" sz="1400" dirty="0">
                <a:solidFill>
                  <a:srgbClr val="6F7271"/>
                </a:solidFill>
                <a:latin typeface="Calibri" pitchFamily="34" charset="0"/>
                <a:ea typeface="Calibri" pitchFamily="34" charset="-122"/>
                <a:cs typeface="Calibri" pitchFamily="34" charset="-120"/>
              </a:rPr>
              <a:t>sustainability cannot be judged</a:t>
            </a:r>
            <a:endParaRPr lang="en-US" sz="1400" dirty="0"/>
          </a:p>
        </p:txBody>
      </p:sp>
      <p:sp>
        <p:nvSpPr>
          <p:cNvPr id="24" name="Text 21"/>
          <p:cNvSpPr txBox="1"/>
          <p:nvPr/>
        </p:nvSpPr>
        <p:spPr>
          <a:xfrm>
            <a:off x="8339328" y="3520440"/>
            <a:ext cx="3017520" cy="228600"/>
          </a:xfrm>
          <a:prstGeom prst="rect">
            <a:avLst/>
          </a:prstGeom>
          <a:noFill/>
          <a:ln/>
        </p:spPr>
        <p:txBody>
          <a:bodyPr wrap="square" lIns="0" tIns="0" rIns="0" bIns="0" rtlCol="0" anchor="ctr"/>
          <a:lstStyle/>
          <a:p>
            <a:pPr marL="0" indent="0">
              <a:buNone/>
            </a:pPr>
            <a:r>
              <a:rPr lang="en-US" sz="1000" b="1" dirty="0">
                <a:solidFill>
                  <a:srgbClr val="6F7271"/>
                </a:solidFill>
                <a:latin typeface="Calibri" pitchFamily="34" charset="0"/>
                <a:ea typeface="Calibri" pitchFamily="34" charset="-122"/>
                <a:cs typeface="Calibri" pitchFamily="34" charset="-120"/>
              </a:rPr>
              <a:t>REPORT</a:t>
            </a:r>
            <a:endParaRPr lang="en-US" sz="1000" dirty="0"/>
          </a:p>
        </p:txBody>
      </p:sp>
      <p:sp>
        <p:nvSpPr>
          <p:cNvPr id="25" name="Text 22"/>
          <p:cNvSpPr txBox="1"/>
          <p:nvPr/>
        </p:nvSpPr>
        <p:spPr>
          <a:xfrm>
            <a:off x="8339328" y="3749040"/>
            <a:ext cx="3108960" cy="320040"/>
          </a:xfrm>
          <a:prstGeom prst="rect">
            <a:avLst/>
          </a:prstGeom>
          <a:noFill/>
          <a:ln/>
        </p:spPr>
        <p:txBody>
          <a:bodyPr wrap="square" lIns="0" tIns="0" rIns="0" bIns="0" rtlCol="0" anchor="ctr"/>
          <a:lstStyle/>
          <a:p>
            <a:pPr marL="0" indent="0">
              <a:buNone/>
            </a:pPr>
            <a:r>
              <a:rPr lang="en-US" sz="1600" dirty="0">
                <a:solidFill>
                  <a:schemeClr val="tx1"/>
                </a:solidFill>
                <a:latin typeface="Calibri" pitchFamily="34" charset="0"/>
                <a:ea typeface="Calibri" pitchFamily="34" charset="-122"/>
                <a:cs typeface="Calibri" pitchFamily="34" charset="-120"/>
              </a:rPr>
              <a:t>A reliable record of each quarter.</a:t>
            </a:r>
            <a:endParaRPr lang="en-US" sz="1600" dirty="0"/>
          </a:p>
        </p:txBody>
      </p:sp>
      <p:sp>
        <p:nvSpPr>
          <p:cNvPr id="26" name="Text 23"/>
          <p:cNvSpPr txBox="1"/>
          <p:nvPr/>
        </p:nvSpPr>
        <p:spPr>
          <a:xfrm>
            <a:off x="8339328" y="4160520"/>
            <a:ext cx="3017520" cy="228600"/>
          </a:xfrm>
          <a:prstGeom prst="rect">
            <a:avLst/>
          </a:prstGeom>
          <a:noFill/>
          <a:ln/>
        </p:spPr>
        <p:txBody>
          <a:bodyPr wrap="square" lIns="0" tIns="0" rIns="0" bIns="0" rtlCol="0" anchor="ctr"/>
          <a:lstStyle/>
          <a:p>
            <a:pPr marL="0" indent="0">
              <a:buNone/>
            </a:pPr>
            <a:r>
              <a:rPr lang="en-US" sz="1000" b="1" dirty="0">
                <a:solidFill>
                  <a:srgbClr val="AE841F"/>
                </a:solidFill>
                <a:latin typeface="Calibri" pitchFamily="34" charset="0"/>
                <a:ea typeface="Calibri" pitchFamily="34" charset="-122"/>
                <a:cs typeface="Calibri" pitchFamily="34" charset="-120"/>
              </a:rPr>
              <a:t>MISSED</a:t>
            </a:r>
            <a:endParaRPr lang="en-US" sz="1000" dirty="0"/>
          </a:p>
        </p:txBody>
      </p:sp>
      <p:sp>
        <p:nvSpPr>
          <p:cNvPr id="27" name="Text 24"/>
          <p:cNvSpPr txBox="1"/>
          <p:nvPr/>
        </p:nvSpPr>
        <p:spPr>
          <a:xfrm>
            <a:off x="8339328" y="4389120"/>
            <a:ext cx="3108960" cy="32004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Whether growth will last.</a:t>
            </a:r>
            <a:endParaRPr lang="en-US" sz="1600" dirty="0"/>
          </a:p>
        </p:txBody>
      </p:sp>
      <p:sp>
        <p:nvSpPr>
          <p:cNvPr id="28" name="Bar why"/>
          <p:cNvSpPr/>
          <p:nvPr/>
        </p:nvSpPr>
        <p:spPr>
          <a:xfrm>
            <a:off x="548640" y="5212080"/>
            <a:ext cx="11091672" cy="777240"/>
          </a:xfrm>
          <a:prstGeom prst="roundRect">
            <a:avLst>
              <a:gd name="adj" fmla="val 17647"/>
            </a:avLst>
          </a:prstGeom>
          <a:solidFill>
            <a:schemeClr val="bg2"/>
          </a:solidFill>
          <a:ln w="12700">
            <a:solidFill>
              <a:schemeClr val="bg2"/>
            </a:solidFill>
            <a:prstDash val="solid"/>
          </a:ln>
        </p:spPr>
      </p:sp>
      <p:sp>
        <p:nvSpPr>
          <p:cNvPr id="29" name="Text 26"/>
          <p:cNvSpPr txBox="1"/>
          <p:nvPr/>
        </p:nvSpPr>
        <p:spPr>
          <a:xfrm>
            <a:off x="822960" y="5212080"/>
            <a:ext cx="10515600" cy="77724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Why it matters:  </a:t>
            </a:r>
            <a:r>
              <a:rPr lang="en-US" sz="1600" dirty="0">
                <a:solidFill>
                  <a:schemeClr val="tx1"/>
                </a:solidFill>
                <a:latin typeface="Calibri" pitchFamily="34" charset="0"/>
                <a:ea typeface="Calibri" pitchFamily="34" charset="-122"/>
                <a:cs typeface="Calibri" pitchFamily="34" charset="-120"/>
              </a:rPr>
              <a:t>readers must rely on assumptions, which risks misleading conclusions.</a:t>
            </a:r>
            <a:endParaRPr lang="en-US" sz="1600" dirty="0"/>
          </a:p>
        </p:txBody>
      </p:sp>
      <p:sp>
        <p:nvSpPr>
          <p:cNvPr id="3"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Four recommendations to close the gap</a:t>
            </a:r>
            <a:endParaRPr lang="en-US" sz="2800" dirty="0"/>
          </a:p>
        </p:txBody>
      </p:sp>
      <p:sp>
        <p:nvSpPr>
          <p:cNvPr id="4" name="Tile 1"/>
          <p:cNvSpPr/>
          <p:nvPr/>
        </p:nvSpPr>
        <p:spPr>
          <a:xfrm>
            <a:off x="548640" y="1371600"/>
            <a:ext cx="5454396" cy="1783080"/>
          </a:xfrm>
          <a:prstGeom prst="roundRect">
            <a:avLst>
              <a:gd name="adj" fmla="val 7692"/>
            </a:avLst>
          </a:prstGeom>
          <a:solidFill>
            <a:schemeClr val="bg2"/>
          </a:solidFill>
          <a:ln w="12700">
            <a:solidFill>
              <a:schemeClr val="bg2"/>
            </a:solidFill>
            <a:prstDash val="solid"/>
          </a:ln>
        </p:spPr>
      </p:sp>
      <p:sp>
        <p:nvSpPr>
          <p:cNvPr id="5" name="Number 1"/>
          <p:cNvSpPr/>
          <p:nvPr/>
        </p:nvSpPr>
        <p:spPr>
          <a:xfrm>
            <a:off x="868680" y="1645920"/>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68680" y="16459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600200" y="1645920"/>
            <a:ext cx="4114800" cy="50292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Interactive UI</a:t>
            </a:r>
            <a:endParaRPr lang="en-US" sz="2000" dirty="0"/>
          </a:p>
        </p:txBody>
      </p:sp>
      <p:sp>
        <p:nvSpPr>
          <p:cNvPr id="8" name="Text 5"/>
          <p:cNvSpPr txBox="1"/>
          <p:nvPr/>
        </p:nvSpPr>
        <p:spPr>
          <a:xfrm>
            <a:off x="868680" y="2423160"/>
            <a:ext cx="4846320" cy="457200"/>
          </a:xfrm>
          <a:prstGeom prst="rect">
            <a:avLst/>
          </a:prstGeom>
          <a:noFill/>
          <a:ln/>
        </p:spPr>
        <p:txBody>
          <a:bodyPr wrap="square" lIns="0" tIns="0" rIns="0" bIns="0" rtlCol="0" anchor="ctr"/>
          <a:lstStyle/>
          <a:p>
            <a:pPr marL="0" indent="0">
              <a:buNone/>
            </a:pPr>
            <a:r>
              <a:rPr lang="en-US" sz="1600" dirty="0">
                <a:solidFill>
                  <a:srgbClr val="6F7271"/>
                </a:solidFill>
                <a:latin typeface="Calibri" pitchFamily="34" charset="0"/>
                <a:ea typeface="Calibri" pitchFamily="34" charset="-122"/>
                <a:cs typeface="Calibri" pitchFamily="34" charset="-120"/>
              </a:rPr>
              <a:t>Static tables  </a:t>
            </a:r>
            <a:r>
              <a:rPr lang="en-US" sz="1600" b="1" dirty="0">
                <a:solidFill>
                  <a:schemeClr val="accent3"/>
                </a:solidFill>
                <a:latin typeface="Calibri" pitchFamily="34" charset="0"/>
                <a:ea typeface="Calibri" pitchFamily="34" charset="-122"/>
                <a:cs typeface="Calibri" pitchFamily="34" charset="-120"/>
              </a:rPr>
              <a:t>&gt;  </a:t>
            </a:r>
            <a:r>
              <a:rPr lang="en-US" sz="1600" b="1" dirty="0">
                <a:solidFill>
                  <a:schemeClr val="tx1"/>
                </a:solidFill>
                <a:latin typeface="Calibri" pitchFamily="34" charset="0"/>
                <a:ea typeface="Calibri" pitchFamily="34" charset="-122"/>
                <a:cs typeface="Calibri" pitchFamily="34" charset="-120"/>
              </a:rPr>
              <a:t>Drill-down by level</a:t>
            </a:r>
            <a:endParaRPr lang="en-US" sz="1600" dirty="0"/>
          </a:p>
        </p:txBody>
      </p:sp>
      <p:sp>
        <p:nvSpPr>
          <p:cNvPr id="9" name="Tile 2"/>
          <p:cNvSpPr/>
          <p:nvPr/>
        </p:nvSpPr>
        <p:spPr>
          <a:xfrm>
            <a:off x="6185916" y="1371600"/>
            <a:ext cx="5454396" cy="1783080"/>
          </a:xfrm>
          <a:prstGeom prst="roundRect">
            <a:avLst>
              <a:gd name="adj" fmla="val 7692"/>
            </a:avLst>
          </a:prstGeom>
          <a:solidFill>
            <a:schemeClr val="bg2"/>
          </a:solidFill>
          <a:ln w="12700">
            <a:solidFill>
              <a:schemeClr val="bg2"/>
            </a:solidFill>
            <a:prstDash val="solid"/>
          </a:ln>
        </p:spPr>
      </p:sp>
      <p:sp>
        <p:nvSpPr>
          <p:cNvPr id="10" name="Number 2"/>
          <p:cNvSpPr/>
          <p:nvPr/>
        </p:nvSpPr>
        <p:spPr>
          <a:xfrm>
            <a:off x="6505956" y="1645920"/>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6505956" y="164592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7237476" y="1645920"/>
            <a:ext cx="4114800" cy="50292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Average transaction value</a:t>
            </a:r>
            <a:endParaRPr lang="en-US" sz="2000" dirty="0"/>
          </a:p>
        </p:txBody>
      </p:sp>
      <p:sp>
        <p:nvSpPr>
          <p:cNvPr id="13" name="Text 10"/>
          <p:cNvSpPr txBox="1"/>
          <p:nvPr/>
        </p:nvSpPr>
        <p:spPr>
          <a:xfrm>
            <a:off x="6505956" y="2423160"/>
            <a:ext cx="4846320" cy="457200"/>
          </a:xfrm>
          <a:prstGeom prst="rect">
            <a:avLst/>
          </a:prstGeom>
          <a:noFill/>
          <a:ln/>
        </p:spPr>
        <p:txBody>
          <a:bodyPr wrap="square" lIns="0" tIns="0" rIns="0" bIns="0" rtlCol="0" anchor="ctr"/>
          <a:lstStyle/>
          <a:p>
            <a:pPr marL="0" indent="0">
              <a:buNone/>
            </a:pPr>
            <a:r>
              <a:rPr lang="en-US" sz="1600" dirty="0">
                <a:solidFill>
                  <a:srgbClr val="6F7271"/>
                </a:solidFill>
                <a:latin typeface="Calibri" pitchFamily="34" charset="0"/>
                <a:ea typeface="Calibri" pitchFamily="34" charset="-122"/>
                <a:cs typeface="Calibri" pitchFamily="34" charset="-120"/>
              </a:rPr>
              <a:t>Totals only  </a:t>
            </a:r>
            <a:r>
              <a:rPr lang="en-US" sz="1600" b="1" dirty="0">
                <a:solidFill>
                  <a:schemeClr val="accent3"/>
                </a:solidFill>
                <a:latin typeface="Calibri" pitchFamily="34" charset="0"/>
                <a:ea typeface="Calibri" pitchFamily="34" charset="-122"/>
                <a:cs typeface="Calibri" pitchFamily="34" charset="-120"/>
              </a:rPr>
              <a:t>&gt;  </a:t>
            </a:r>
            <a:r>
              <a:rPr lang="en-US" sz="1600" b="1" dirty="0">
                <a:solidFill>
                  <a:schemeClr val="tx1"/>
                </a:solidFill>
                <a:latin typeface="Calibri" pitchFamily="34" charset="0"/>
                <a:ea typeface="Calibri" pitchFamily="34" charset="-122"/>
                <a:cs typeface="Calibri" pitchFamily="34" charset="-120"/>
              </a:rPr>
              <a:t>A standard metric</a:t>
            </a:r>
            <a:endParaRPr lang="en-US" sz="1600" dirty="0"/>
          </a:p>
        </p:txBody>
      </p:sp>
      <p:sp>
        <p:nvSpPr>
          <p:cNvPr id="14" name="Tile 3"/>
          <p:cNvSpPr/>
          <p:nvPr/>
        </p:nvSpPr>
        <p:spPr>
          <a:xfrm>
            <a:off x="548640" y="3337560"/>
            <a:ext cx="5454396" cy="1783080"/>
          </a:xfrm>
          <a:prstGeom prst="roundRect">
            <a:avLst>
              <a:gd name="adj" fmla="val 7692"/>
            </a:avLst>
          </a:prstGeom>
          <a:solidFill>
            <a:schemeClr val="bg2"/>
          </a:solidFill>
          <a:ln w="12700">
            <a:solidFill>
              <a:schemeClr val="bg2"/>
            </a:solidFill>
            <a:prstDash val="solid"/>
          </a:ln>
        </p:spPr>
        <p:txBody>
          <a:bodyPr/>
          <a:lstStyle/>
          <a:p>
            <a:endParaRPr lang="en-US" dirty="0"/>
          </a:p>
        </p:txBody>
      </p:sp>
      <p:sp>
        <p:nvSpPr>
          <p:cNvPr id="15" name="Number 3"/>
          <p:cNvSpPr/>
          <p:nvPr/>
        </p:nvSpPr>
        <p:spPr>
          <a:xfrm>
            <a:off x="868680" y="3611880"/>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68680" y="3611880"/>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600200" y="3611880"/>
            <a:ext cx="4114800" cy="502920"/>
          </a:xfrm>
          <a:prstGeom prst="rect">
            <a:avLst/>
          </a:prstGeom>
          <a:noFill/>
          <a:ln/>
        </p:spPr>
        <p:txBody>
          <a:bodyPr wrap="square" lIns="0" tIns="0" rIns="0" bIns="0" rtlCol="0" anchor="ctr"/>
          <a:lstStyle/>
          <a:p>
            <a:pPr marL="0" indent="0">
              <a:buNone/>
            </a:pPr>
            <a:r>
              <a:rPr lang="en-US" sz="2000" b="1" dirty="0">
                <a:latin typeface="Calibri" pitchFamily="34" charset="0"/>
                <a:cs typeface="Calibri" pitchFamily="34" charset="-120"/>
              </a:rPr>
              <a:t>Colorblindness Filter</a:t>
            </a:r>
            <a:endParaRPr lang="en-US" sz="2000" dirty="0"/>
          </a:p>
        </p:txBody>
      </p:sp>
      <p:sp>
        <p:nvSpPr>
          <p:cNvPr id="18" name="Text 15"/>
          <p:cNvSpPr txBox="1"/>
          <p:nvPr/>
        </p:nvSpPr>
        <p:spPr>
          <a:xfrm>
            <a:off x="868680" y="4389120"/>
            <a:ext cx="4846320" cy="457200"/>
          </a:xfrm>
          <a:prstGeom prst="rect">
            <a:avLst/>
          </a:prstGeom>
          <a:noFill/>
          <a:ln/>
        </p:spPr>
        <p:txBody>
          <a:bodyPr wrap="square" lIns="0" tIns="0" rIns="0" bIns="0" rtlCol="0" anchor="ctr"/>
          <a:lstStyle/>
          <a:p>
            <a:pPr marL="0" indent="0">
              <a:buNone/>
            </a:pPr>
            <a:r>
              <a:rPr lang="en-US" sz="1600" dirty="0">
                <a:solidFill>
                  <a:srgbClr val="6F7271"/>
                </a:solidFill>
                <a:latin typeface="Calibri" pitchFamily="34" charset="0"/>
                <a:ea typeface="Calibri" pitchFamily="34" charset="-122"/>
                <a:cs typeface="Calibri" pitchFamily="34" charset="-120"/>
              </a:rPr>
              <a:t>Fixed palette  </a:t>
            </a:r>
            <a:r>
              <a:rPr lang="en-US" sz="1600" b="1" dirty="0">
                <a:solidFill>
                  <a:schemeClr val="accent3"/>
                </a:solidFill>
                <a:latin typeface="Calibri" pitchFamily="34" charset="0"/>
                <a:ea typeface="Calibri" pitchFamily="34" charset="-122"/>
                <a:cs typeface="Calibri" pitchFamily="34" charset="-120"/>
              </a:rPr>
              <a:t>&gt;  </a:t>
            </a:r>
            <a:r>
              <a:rPr lang="en-US" sz="1600" b="1" dirty="0">
                <a:solidFill>
                  <a:schemeClr val="tx1"/>
                </a:solidFill>
                <a:latin typeface="Calibri" pitchFamily="34" charset="0"/>
                <a:ea typeface="Calibri" pitchFamily="34" charset="-122"/>
                <a:cs typeface="Calibri" pitchFamily="34" charset="-120"/>
              </a:rPr>
              <a:t>Adjustable color slider</a:t>
            </a:r>
            <a:endParaRPr lang="en-US" sz="1600" dirty="0"/>
          </a:p>
        </p:txBody>
      </p:sp>
      <p:sp>
        <p:nvSpPr>
          <p:cNvPr id="24" name="Bar data"/>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5" name="Text 22"/>
          <p:cNvSpPr txBox="1"/>
          <p:nvPr/>
        </p:nvSpPr>
        <p:spPr>
          <a:xfrm>
            <a:off x="822960" y="534924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Only existing data:  </a:t>
            </a:r>
            <a:r>
              <a:rPr lang="en-US" sz="1600" dirty="0">
                <a:solidFill>
                  <a:schemeClr val="tx1"/>
                </a:solidFill>
                <a:latin typeface="Calibri" pitchFamily="34" charset="0"/>
                <a:ea typeface="Calibri" pitchFamily="34" charset="-122"/>
                <a:cs typeface="Calibri" pitchFamily="34" charset="-120"/>
              </a:rPr>
              <a:t>every recommendation uses figures already in JoPACC's dataset.</a:t>
            </a:r>
            <a:endParaRPr lang="en-US" sz="1600" dirty="0"/>
          </a:p>
        </p:txBody>
      </p:sp>
      <p:sp>
        <p:nvSpPr>
          <p:cNvPr id="3"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One shared hierarchy to organise IPS reporting</a:t>
            </a:r>
            <a:endParaRPr lang="en-US" sz="2800" dirty="0"/>
          </a:p>
        </p:txBody>
      </p:sp>
      <p:sp>
        <p:nvSpPr>
          <p:cNvPr id="4" name="Step card 1"/>
          <p:cNvSpPr/>
          <p:nvPr/>
        </p:nvSpPr>
        <p:spPr>
          <a:xfrm>
            <a:off x="548640" y="1371600"/>
            <a:ext cx="4846320" cy="1097280"/>
          </a:xfrm>
          <a:prstGeom prst="roundRect">
            <a:avLst>
              <a:gd name="adj" fmla="val 12500"/>
            </a:avLst>
          </a:prstGeom>
          <a:solidFill>
            <a:schemeClr val="bg2"/>
          </a:solidFill>
          <a:ln w="12700">
            <a:solidFill>
              <a:schemeClr val="bg2"/>
            </a:solidFill>
            <a:prstDash val="solid"/>
          </a:ln>
        </p:spPr>
      </p:sp>
      <p:sp>
        <p:nvSpPr>
          <p:cNvPr id="5" name="Step number 1"/>
          <p:cNvSpPr/>
          <p:nvPr/>
        </p:nvSpPr>
        <p:spPr>
          <a:xfrm>
            <a:off x="822960" y="1673352"/>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22960" y="167335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554480" y="153619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Entities and individuals</a:t>
            </a:r>
            <a:endParaRPr lang="en-US" sz="1800" dirty="0"/>
          </a:p>
        </p:txBody>
      </p:sp>
      <p:sp>
        <p:nvSpPr>
          <p:cNvPr id="8" name="Text 5"/>
          <p:cNvSpPr txBox="1"/>
          <p:nvPr/>
        </p:nvSpPr>
        <p:spPr>
          <a:xfrm>
            <a:off x="1554480" y="193852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Entities: business, merchant, government, agent</a:t>
            </a:r>
            <a:endParaRPr lang="en-US" sz="1400" dirty="0"/>
          </a:p>
        </p:txBody>
      </p:sp>
      <p:sp>
        <p:nvSpPr>
          <p:cNvPr id="9" name="Step card 2"/>
          <p:cNvSpPr/>
          <p:nvPr/>
        </p:nvSpPr>
        <p:spPr>
          <a:xfrm>
            <a:off x="548640" y="2651760"/>
            <a:ext cx="4846320" cy="1097280"/>
          </a:xfrm>
          <a:prstGeom prst="roundRect">
            <a:avLst>
              <a:gd name="adj" fmla="val 12500"/>
            </a:avLst>
          </a:prstGeom>
          <a:solidFill>
            <a:schemeClr val="bg2"/>
          </a:solidFill>
          <a:ln w="12700">
            <a:solidFill>
              <a:schemeClr val="bg2"/>
            </a:solidFill>
            <a:prstDash val="solid"/>
          </a:ln>
        </p:spPr>
      </p:sp>
      <p:sp>
        <p:nvSpPr>
          <p:cNvPr id="10" name="Step number 2"/>
          <p:cNvSpPr/>
          <p:nvPr/>
        </p:nvSpPr>
        <p:spPr>
          <a:xfrm>
            <a:off x="822960" y="2953512"/>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822960" y="295351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1554480" y="281635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Individuals by nationality</a:t>
            </a:r>
            <a:endParaRPr lang="en-US" sz="1800" dirty="0"/>
          </a:p>
        </p:txBody>
      </p:sp>
      <p:sp>
        <p:nvSpPr>
          <p:cNvPr id="13" name="Text 10"/>
          <p:cNvSpPr txBox="1"/>
          <p:nvPr/>
        </p:nvSpPr>
        <p:spPr>
          <a:xfrm>
            <a:off x="1554480" y="321868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Jordanian and non-Jordanian</a:t>
            </a:r>
            <a:endParaRPr lang="en-US" sz="1400" dirty="0"/>
          </a:p>
        </p:txBody>
      </p:sp>
      <p:sp>
        <p:nvSpPr>
          <p:cNvPr id="14" name="Step card 3"/>
          <p:cNvSpPr/>
          <p:nvPr/>
        </p:nvSpPr>
        <p:spPr>
          <a:xfrm>
            <a:off x="548640" y="3931920"/>
            <a:ext cx="4846320" cy="1097280"/>
          </a:xfrm>
          <a:prstGeom prst="roundRect">
            <a:avLst>
              <a:gd name="adj" fmla="val 12500"/>
            </a:avLst>
          </a:prstGeom>
          <a:solidFill>
            <a:schemeClr val="bg2"/>
          </a:solidFill>
          <a:ln w="12700">
            <a:solidFill>
              <a:schemeClr val="bg2"/>
            </a:solidFill>
            <a:prstDash val="solid"/>
          </a:ln>
        </p:spPr>
      </p:sp>
      <p:sp>
        <p:nvSpPr>
          <p:cNvPr id="15" name="Step number 3"/>
          <p:cNvSpPr/>
          <p:nvPr/>
        </p:nvSpPr>
        <p:spPr>
          <a:xfrm>
            <a:off x="822960" y="4233672"/>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22960" y="423367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554480" y="409651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Age group, then gender</a:t>
            </a:r>
            <a:endParaRPr lang="en-US" sz="1800" dirty="0"/>
          </a:p>
        </p:txBody>
      </p:sp>
      <p:sp>
        <p:nvSpPr>
          <p:cNvPr id="18" name="Text 15"/>
          <p:cNvSpPr txBox="1"/>
          <p:nvPr/>
        </p:nvSpPr>
        <p:spPr>
          <a:xfrm>
            <a:off x="1554480" y="449884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The most detailed level of the breakdown</a:t>
            </a:r>
            <a:endParaRPr lang="en-US" sz="1400" dirty="0"/>
          </a:p>
        </p:txBody>
      </p:sp>
      <p:sp>
        <p:nvSpPr>
          <p:cNvPr id="19" name="Image frame"/>
          <p:cNvSpPr/>
          <p:nvPr/>
        </p:nvSpPr>
        <p:spPr>
          <a:xfrm>
            <a:off x="5669280" y="1371600"/>
            <a:ext cx="5971032" cy="3657600"/>
          </a:xfrm>
          <a:prstGeom prst="roundRect">
            <a:avLst>
              <a:gd name="adj" fmla="val 3750"/>
            </a:avLst>
          </a:prstGeom>
          <a:solidFill>
            <a:srgbClr val="141414"/>
          </a:solidFill>
          <a:ln w="12700">
            <a:solidFill>
              <a:srgbClr val="141414"/>
            </a:solidFill>
            <a:prstDash val="solid"/>
          </a:ln>
        </p:spPr>
      </p:sp>
      <p:pic>
        <p:nvPicPr>
          <p:cNvPr id="20" name="Image 0" descr="Hierarchy: System splits into Entity (business, merchant, government, agent) and Individual (Jordanian or non-Jordanian, then age groups, then gender)"/>
          <p:cNvPicPr>
            <a:picLocks noChangeAspect="1"/>
          </p:cNvPicPr>
          <p:nvPr/>
        </p:nvPicPr>
        <p:blipFill>
          <a:blip r:embed="rId3"/>
          <a:stretch>
            <a:fillRect/>
          </a:stretch>
        </p:blipFill>
        <p:spPr>
          <a:xfrm>
            <a:off x="5788152" y="1481328"/>
            <a:ext cx="5733288" cy="3419856"/>
          </a:xfrm>
          <a:prstGeom prst="rect">
            <a:avLst/>
          </a:prstGeom>
        </p:spPr>
      </p:pic>
      <p:sp>
        <p:nvSpPr>
          <p:cNvPr id="21" name="Bar IPS"/>
          <p:cNvSpPr/>
          <p:nvPr/>
        </p:nvSpPr>
        <p:spPr>
          <a:xfrm>
            <a:off x="548640" y="5303520"/>
            <a:ext cx="11091672" cy="731520"/>
          </a:xfrm>
          <a:prstGeom prst="roundRect">
            <a:avLst>
              <a:gd name="adj" fmla="val 18750"/>
            </a:avLst>
          </a:prstGeom>
          <a:solidFill>
            <a:schemeClr val="bg2"/>
          </a:solidFill>
          <a:ln w="12700">
            <a:solidFill>
              <a:schemeClr val="bg2"/>
            </a:solidFill>
            <a:prstDash val="solid"/>
          </a:ln>
        </p:spPr>
      </p:sp>
      <p:sp>
        <p:nvSpPr>
          <p:cNvPr id="22" name="Text 18"/>
          <p:cNvSpPr txBox="1"/>
          <p:nvPr/>
        </p:nvSpPr>
        <p:spPr>
          <a:xfrm>
            <a:off x="822960" y="530352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Applied to the IPS:  </a:t>
            </a:r>
            <a:r>
              <a:rPr lang="en-US" sz="1600" dirty="0">
                <a:solidFill>
                  <a:schemeClr val="tx1"/>
                </a:solidFill>
                <a:latin typeface="Calibri" pitchFamily="34" charset="0"/>
                <a:ea typeface="Calibri" pitchFamily="34" charset="-122"/>
                <a:cs typeface="Calibri" pitchFamily="34" charset="-120"/>
              </a:rPr>
              <a:t>CliQ and JoMoPay figures combined under one shared structure.</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Every level reports the same three measures</a:t>
            </a:r>
            <a:endParaRPr lang="en-US" sz="2800" dirty="0"/>
          </a:p>
        </p:txBody>
      </p:sp>
      <p:sp>
        <p:nvSpPr>
          <p:cNvPr id="4" name="Measure Users"/>
          <p:cNvSpPr/>
          <p:nvPr/>
        </p:nvSpPr>
        <p:spPr>
          <a:xfrm>
            <a:off x="548640" y="1371600"/>
            <a:ext cx="3575304" cy="1417320"/>
          </a:xfrm>
          <a:prstGeom prst="roundRect">
            <a:avLst>
              <a:gd name="adj" fmla="val 9677"/>
            </a:avLst>
          </a:prstGeom>
          <a:solidFill>
            <a:schemeClr val="bg2"/>
          </a:solidFill>
          <a:ln w="12700">
            <a:solidFill>
              <a:schemeClr val="bg2"/>
            </a:solidFill>
            <a:prstDash val="solid"/>
          </a:ln>
        </p:spPr>
      </p:sp>
      <p:sp>
        <p:nvSpPr>
          <p:cNvPr id="5" name="Text 2"/>
          <p:cNvSpPr txBox="1"/>
          <p:nvPr/>
        </p:nvSpPr>
        <p:spPr>
          <a:xfrm>
            <a:off x="548640"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Users</a:t>
            </a:r>
            <a:endParaRPr lang="en-US" sz="3400" dirty="0"/>
          </a:p>
        </p:txBody>
      </p:sp>
      <p:sp>
        <p:nvSpPr>
          <p:cNvPr id="6" name="Text 3"/>
          <p:cNvSpPr txBox="1"/>
          <p:nvPr/>
        </p:nvSpPr>
        <p:spPr>
          <a:xfrm>
            <a:off x="548640"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number of users</a:t>
            </a:r>
            <a:endParaRPr lang="en-US" sz="1400" dirty="0"/>
          </a:p>
        </p:txBody>
      </p:sp>
      <p:sp>
        <p:nvSpPr>
          <p:cNvPr id="7" name="Measure Transactions"/>
          <p:cNvSpPr/>
          <p:nvPr/>
        </p:nvSpPr>
        <p:spPr>
          <a:xfrm>
            <a:off x="4306824" y="1371600"/>
            <a:ext cx="3575304" cy="1417320"/>
          </a:xfrm>
          <a:prstGeom prst="roundRect">
            <a:avLst>
              <a:gd name="adj" fmla="val 9677"/>
            </a:avLst>
          </a:prstGeom>
          <a:solidFill>
            <a:schemeClr val="bg2"/>
          </a:solidFill>
          <a:ln w="12700">
            <a:solidFill>
              <a:schemeClr val="bg2"/>
            </a:solidFill>
            <a:prstDash val="solid"/>
          </a:ln>
        </p:spPr>
      </p:sp>
      <p:sp>
        <p:nvSpPr>
          <p:cNvPr id="8" name="Text 5"/>
          <p:cNvSpPr txBox="1"/>
          <p:nvPr/>
        </p:nvSpPr>
        <p:spPr>
          <a:xfrm>
            <a:off x="4306824"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Transactions</a:t>
            </a:r>
            <a:endParaRPr lang="en-US" sz="3400" dirty="0"/>
          </a:p>
        </p:txBody>
      </p:sp>
      <p:sp>
        <p:nvSpPr>
          <p:cNvPr id="9" name="Text 6"/>
          <p:cNvSpPr txBox="1"/>
          <p:nvPr/>
        </p:nvSpPr>
        <p:spPr>
          <a:xfrm>
            <a:off x="4306824"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number of transactions</a:t>
            </a:r>
            <a:endParaRPr lang="en-US" sz="1400" dirty="0"/>
          </a:p>
        </p:txBody>
      </p:sp>
      <p:sp>
        <p:nvSpPr>
          <p:cNvPr id="10" name="Measure Value"/>
          <p:cNvSpPr/>
          <p:nvPr/>
        </p:nvSpPr>
        <p:spPr>
          <a:xfrm>
            <a:off x="8065008" y="1371600"/>
            <a:ext cx="3575304" cy="1417320"/>
          </a:xfrm>
          <a:prstGeom prst="roundRect">
            <a:avLst>
              <a:gd name="adj" fmla="val 9677"/>
            </a:avLst>
          </a:prstGeom>
          <a:solidFill>
            <a:schemeClr val="bg2"/>
          </a:solidFill>
          <a:ln w="12700">
            <a:solidFill>
              <a:schemeClr val="bg2"/>
            </a:solidFill>
            <a:prstDash val="solid"/>
          </a:ln>
        </p:spPr>
      </p:sp>
      <p:sp>
        <p:nvSpPr>
          <p:cNvPr id="11" name="Text 8"/>
          <p:cNvSpPr txBox="1"/>
          <p:nvPr/>
        </p:nvSpPr>
        <p:spPr>
          <a:xfrm>
            <a:off x="8065008"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Value</a:t>
            </a:r>
            <a:endParaRPr lang="en-US" sz="3400" dirty="0"/>
          </a:p>
        </p:txBody>
      </p:sp>
      <p:sp>
        <p:nvSpPr>
          <p:cNvPr id="12" name="Text 9"/>
          <p:cNvSpPr txBox="1"/>
          <p:nvPr/>
        </p:nvSpPr>
        <p:spPr>
          <a:xfrm>
            <a:off x="8065008"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transaction value (JOD)</a:t>
            </a:r>
            <a:endParaRPr lang="en-US" sz="1400" dirty="0"/>
          </a:p>
        </p:txBody>
      </p:sp>
      <p:sp>
        <p:nvSpPr>
          <p:cNvPr id="13" name="Info Drill down"/>
          <p:cNvSpPr/>
          <p:nvPr/>
        </p:nvSpPr>
        <p:spPr>
          <a:xfrm>
            <a:off x="548640" y="3017520"/>
            <a:ext cx="5454396" cy="2103120"/>
          </a:xfrm>
          <a:prstGeom prst="roundRect">
            <a:avLst>
              <a:gd name="adj" fmla="val 6522"/>
            </a:avLst>
          </a:prstGeom>
          <a:solidFill>
            <a:schemeClr val="bg2"/>
          </a:solidFill>
          <a:ln w="12700">
            <a:solidFill>
              <a:schemeClr val="bg2"/>
            </a:solidFill>
            <a:prstDash val="solid"/>
          </a:ln>
        </p:spPr>
      </p:sp>
      <p:sp>
        <p:nvSpPr>
          <p:cNvPr id="14" name="Text 11"/>
          <p:cNvSpPr txBox="1"/>
          <p:nvPr/>
        </p:nvSpPr>
        <p:spPr>
          <a:xfrm>
            <a:off x="868680" y="3200400"/>
            <a:ext cx="4754880" cy="411480"/>
          </a:xfrm>
          <a:prstGeom prst="rect">
            <a:avLst/>
          </a:prstGeom>
          <a:noFill/>
          <a:ln/>
        </p:spPr>
        <p:txBody>
          <a:bodyPr wrap="square" lIns="0" tIns="0" rIns="0" bIns="0" rtlCol="0" anchor="ctr"/>
          <a:lstStyle/>
          <a:p>
            <a:pPr marL="0" indent="0">
              <a:buNone/>
            </a:pPr>
            <a:r>
              <a:rPr lang="en-US" sz="1800" b="1" dirty="0">
                <a:solidFill>
                  <a:schemeClr val="accent3"/>
                </a:solidFill>
                <a:latin typeface="Calibri" pitchFamily="34" charset="0"/>
                <a:ea typeface="Calibri" pitchFamily="34" charset="-122"/>
                <a:cs typeface="Calibri" pitchFamily="34" charset="-120"/>
              </a:rPr>
              <a:t>Drill down</a:t>
            </a:r>
            <a:endParaRPr lang="en-US" sz="1800" dirty="0"/>
          </a:p>
        </p:txBody>
      </p:sp>
      <p:sp>
        <p:nvSpPr>
          <p:cNvPr id="15" name="Text 12"/>
          <p:cNvSpPr txBox="1"/>
          <p:nvPr/>
        </p:nvSpPr>
        <p:spPr>
          <a:xfrm>
            <a:off x="868680" y="3703320"/>
            <a:ext cx="4846320" cy="118872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Readers move from the system total to the most detailed breakdown, at the level they need.</a:t>
            </a:r>
            <a:endParaRPr lang="en-US" sz="1800" dirty="0"/>
          </a:p>
        </p:txBody>
      </p:sp>
      <p:sp>
        <p:nvSpPr>
          <p:cNvPr id="16" name="Info Protect confidentiality"/>
          <p:cNvSpPr/>
          <p:nvPr/>
        </p:nvSpPr>
        <p:spPr>
          <a:xfrm>
            <a:off x="6185916" y="3017520"/>
            <a:ext cx="5454396" cy="2103120"/>
          </a:xfrm>
          <a:prstGeom prst="roundRect">
            <a:avLst>
              <a:gd name="adj" fmla="val 6522"/>
            </a:avLst>
          </a:prstGeom>
          <a:solidFill>
            <a:schemeClr val="bg2"/>
          </a:solidFill>
          <a:ln w="12700">
            <a:solidFill>
              <a:schemeClr val="bg2"/>
            </a:solidFill>
            <a:prstDash val="solid"/>
          </a:ln>
        </p:spPr>
      </p:sp>
      <p:sp>
        <p:nvSpPr>
          <p:cNvPr id="17" name="Text 14"/>
          <p:cNvSpPr txBox="1"/>
          <p:nvPr/>
        </p:nvSpPr>
        <p:spPr>
          <a:xfrm>
            <a:off x="6505956" y="3200400"/>
            <a:ext cx="4754880" cy="411480"/>
          </a:xfrm>
          <a:prstGeom prst="rect">
            <a:avLst/>
          </a:prstGeom>
          <a:noFill/>
          <a:ln/>
        </p:spPr>
        <p:txBody>
          <a:bodyPr wrap="square" lIns="0" tIns="0" rIns="0" bIns="0" rtlCol="0" anchor="ctr"/>
          <a:lstStyle/>
          <a:p>
            <a:pPr marL="0" indent="0">
              <a:buNone/>
            </a:pPr>
            <a:r>
              <a:rPr lang="en-US" sz="1800" b="1" dirty="0">
                <a:solidFill>
                  <a:schemeClr val="accent3"/>
                </a:solidFill>
                <a:latin typeface="Calibri" pitchFamily="34" charset="0"/>
                <a:ea typeface="Calibri" pitchFamily="34" charset="-122"/>
                <a:cs typeface="Calibri" pitchFamily="34" charset="-120"/>
              </a:rPr>
              <a:t>Protect confidentiality</a:t>
            </a:r>
            <a:endParaRPr lang="en-US" sz="1800" dirty="0"/>
          </a:p>
        </p:txBody>
      </p:sp>
      <p:sp>
        <p:nvSpPr>
          <p:cNvPr id="18" name="Text 15"/>
          <p:cNvSpPr txBox="1"/>
          <p:nvPr/>
        </p:nvSpPr>
        <p:spPr>
          <a:xfrm>
            <a:off x="6505956" y="3703320"/>
            <a:ext cx="4846320" cy="118872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Categories with very small counts are grouped together.</a:t>
            </a:r>
            <a:endParaRPr lang="en-US" sz="1800" dirty="0"/>
          </a:p>
        </p:txBody>
      </p:sp>
      <p:sp>
        <p:nvSpPr>
          <p:cNvPr id="19" name="Bar structure"/>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0" name="Text 17"/>
          <p:cNvSpPr txBox="1"/>
          <p:nvPr/>
        </p:nvSpPr>
        <p:spPr>
          <a:xfrm>
            <a:off x="822960" y="534924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Why it matters:  </a:t>
            </a:r>
            <a:r>
              <a:rPr lang="en-US" sz="1600" dirty="0">
                <a:solidFill>
                  <a:schemeClr val="tx1"/>
                </a:solidFill>
                <a:latin typeface="Calibri" pitchFamily="34" charset="0"/>
                <a:ea typeface="Calibri" pitchFamily="34" charset="-122"/>
                <a:cs typeface="Calibri" pitchFamily="34" charset="-120"/>
              </a:rPr>
              <a:t>one structure, one set of measures, from system total to detail.</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Why the interactive view comes first</a:t>
            </a:r>
            <a:endParaRPr lang="en-US" sz="2800" dirty="0"/>
          </a:p>
        </p:txBody>
      </p:sp>
      <p:sp>
        <p:nvSpPr>
          <p:cNvPr id="4" name="Dark card"/>
          <p:cNvSpPr/>
          <p:nvPr/>
        </p:nvSpPr>
        <p:spPr>
          <a:xfrm>
            <a:off x="548640" y="1371600"/>
            <a:ext cx="4023360" cy="4480560"/>
          </a:xfrm>
          <a:prstGeom prst="roundRect">
            <a:avLst>
              <a:gd name="adj" fmla="val 3409"/>
            </a:avLst>
          </a:prstGeom>
          <a:solidFill>
            <a:srgbClr val="243746"/>
          </a:solidFill>
          <a:ln w="12700">
            <a:solidFill>
              <a:srgbClr val="243746"/>
            </a:solidFill>
            <a:prstDash val="solid"/>
          </a:ln>
        </p:spPr>
      </p:sp>
      <p:sp>
        <p:nvSpPr>
          <p:cNvPr id="5" name="Text 2"/>
          <p:cNvSpPr txBox="1"/>
          <p:nvPr/>
        </p:nvSpPr>
        <p:spPr>
          <a:xfrm>
            <a:off x="868680" y="1920240"/>
            <a:ext cx="3383280" cy="731520"/>
          </a:xfrm>
          <a:prstGeom prst="rect">
            <a:avLst/>
          </a:prstGeom>
          <a:noFill/>
          <a:ln/>
        </p:spPr>
        <p:txBody>
          <a:bodyPr wrap="square" lIns="0" tIns="0" rIns="0" bIns="0" rtlCol="0" anchor="ctr"/>
          <a:lstStyle/>
          <a:p>
            <a:pPr marL="0" indent="0">
              <a:buNone/>
            </a:pPr>
            <a:r>
              <a:rPr lang="en-US" sz="3400" b="1" dirty="0">
                <a:solidFill>
                  <a:schemeClr val="accent2"/>
                </a:solidFill>
                <a:latin typeface="Calibri" pitchFamily="34" charset="0"/>
                <a:ea typeface="Calibri" pitchFamily="34" charset="-122"/>
                <a:cs typeface="Calibri" pitchFamily="34" charset="-120"/>
              </a:rPr>
              <a:t>Build on it</a:t>
            </a:r>
            <a:endParaRPr lang="en-US" sz="3400" dirty="0"/>
          </a:p>
        </p:txBody>
      </p:sp>
      <p:sp>
        <p:nvSpPr>
          <p:cNvPr id="6" name="Text 3"/>
          <p:cNvSpPr txBox="1"/>
          <p:nvPr/>
        </p:nvSpPr>
        <p:spPr>
          <a:xfrm>
            <a:off x="868680" y="2834640"/>
            <a:ext cx="3383280" cy="1280160"/>
          </a:xfrm>
          <a:prstGeom prst="rect">
            <a:avLst/>
          </a:prstGeom>
          <a:noFill/>
          <a:ln/>
        </p:spPr>
        <p:txBody>
          <a:bodyPr wrap="square" lIns="0" tIns="0" rIns="0" bIns="0" rtlCol="0" anchor="t"/>
          <a:lstStyle/>
          <a:p>
            <a:pPr marL="0" indent="0">
              <a:buNone/>
            </a:pPr>
            <a:r>
              <a:rPr lang="en-US" sz="1800" dirty="0">
                <a:solidFill>
                  <a:schemeClr val="bg1"/>
                </a:solidFill>
                <a:latin typeface="Calibri" pitchFamily="34" charset="0"/>
                <a:ea typeface="Calibri" pitchFamily="34" charset="-122"/>
                <a:cs typeface="Calibri" pitchFamily="34" charset="-120"/>
              </a:rPr>
              <a:t>The other recommendations can work without an interactive interface.</a:t>
            </a:r>
            <a:endParaRPr lang="en-US" sz="1800" dirty="0"/>
          </a:p>
        </p:txBody>
      </p:sp>
      <p:sp>
        <p:nvSpPr>
          <p:cNvPr id="7" name="Text 4"/>
          <p:cNvSpPr txBox="1"/>
          <p:nvPr/>
        </p:nvSpPr>
        <p:spPr>
          <a:xfrm>
            <a:off x="868680" y="4297680"/>
            <a:ext cx="3383280" cy="914400"/>
          </a:xfrm>
          <a:prstGeom prst="rect">
            <a:avLst/>
          </a:prstGeom>
          <a:noFill/>
          <a:ln/>
        </p:spPr>
        <p:txBody>
          <a:bodyPr wrap="square" lIns="0" tIns="0" rIns="0" bIns="0" rtlCol="0" anchor="t"/>
          <a:lstStyle/>
          <a:p>
            <a:pPr marL="0" indent="0">
              <a:buNone/>
            </a:pPr>
            <a:r>
              <a:rPr lang="en-US" sz="1600" dirty="0">
                <a:solidFill>
                  <a:srgbClr val="9EA1A2"/>
                </a:solidFill>
                <a:latin typeface="Calibri" pitchFamily="34" charset="0"/>
                <a:ea typeface="Calibri" pitchFamily="34" charset="-122"/>
                <a:cs typeface="Calibri" pitchFamily="34" charset="-120"/>
              </a:rPr>
              <a:t>Interactivity extends what the reports offer.</a:t>
            </a:r>
            <a:endParaRPr lang="en-US" sz="1600" dirty="0"/>
          </a:p>
        </p:txBody>
      </p:sp>
      <p:sp>
        <p:nvSpPr>
          <p:cNvPr id="8" name="Audience Researchers"/>
          <p:cNvSpPr/>
          <p:nvPr/>
        </p:nvSpPr>
        <p:spPr>
          <a:xfrm>
            <a:off x="4800600" y="1371600"/>
            <a:ext cx="6839712" cy="1371600"/>
          </a:xfrm>
          <a:prstGeom prst="roundRect">
            <a:avLst>
              <a:gd name="adj" fmla="val 10000"/>
            </a:avLst>
          </a:prstGeom>
          <a:solidFill>
            <a:schemeClr val="bg2"/>
          </a:solidFill>
          <a:ln w="12700">
            <a:solidFill>
              <a:schemeClr val="bg2"/>
            </a:solidFill>
            <a:prstDash val="solid"/>
          </a:ln>
        </p:spPr>
      </p:sp>
      <p:sp>
        <p:nvSpPr>
          <p:cNvPr id="9" name="Audience number 1"/>
          <p:cNvSpPr/>
          <p:nvPr/>
        </p:nvSpPr>
        <p:spPr>
          <a:xfrm>
            <a:off x="5120640" y="1801368"/>
            <a:ext cx="502920" cy="502920"/>
          </a:xfrm>
          <a:prstGeom prst="ellipse">
            <a:avLst/>
          </a:prstGeom>
          <a:solidFill>
            <a:schemeClr val="accent2"/>
          </a:solidFill>
          <a:ln w="12700">
            <a:solidFill>
              <a:schemeClr val="accent2"/>
            </a:solidFill>
            <a:prstDash val="solid"/>
          </a:ln>
        </p:spPr>
      </p:sp>
      <p:sp>
        <p:nvSpPr>
          <p:cNvPr id="10" name="Text 7"/>
          <p:cNvSpPr txBox="1"/>
          <p:nvPr/>
        </p:nvSpPr>
        <p:spPr>
          <a:xfrm>
            <a:off x="5120640" y="1801368"/>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11" name="Text 8"/>
          <p:cNvSpPr txBox="1"/>
          <p:nvPr/>
        </p:nvSpPr>
        <p:spPr>
          <a:xfrm>
            <a:off x="5897880" y="1600200"/>
            <a:ext cx="5486400" cy="41148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Researchers</a:t>
            </a:r>
            <a:endParaRPr lang="en-US" sz="2000" dirty="0"/>
          </a:p>
        </p:txBody>
      </p:sp>
      <p:sp>
        <p:nvSpPr>
          <p:cNvPr id="12" name="Text 9"/>
          <p:cNvSpPr txBox="1"/>
          <p:nvPr/>
        </p:nvSpPr>
        <p:spPr>
          <a:xfrm>
            <a:off x="5897880" y="2057400"/>
            <a:ext cx="5486400" cy="45720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Explore the data at the level of detail they need.</a:t>
            </a:r>
            <a:endParaRPr lang="en-US" sz="1600" dirty="0"/>
          </a:p>
        </p:txBody>
      </p:sp>
      <p:sp>
        <p:nvSpPr>
          <p:cNvPr id="13" name="Audience Investors"/>
          <p:cNvSpPr/>
          <p:nvPr/>
        </p:nvSpPr>
        <p:spPr>
          <a:xfrm>
            <a:off x="4800600" y="2926080"/>
            <a:ext cx="6839712" cy="1371600"/>
          </a:xfrm>
          <a:prstGeom prst="roundRect">
            <a:avLst>
              <a:gd name="adj" fmla="val 10000"/>
            </a:avLst>
          </a:prstGeom>
          <a:solidFill>
            <a:schemeClr val="bg2"/>
          </a:solidFill>
          <a:ln w="12700">
            <a:solidFill>
              <a:schemeClr val="bg2"/>
            </a:solidFill>
            <a:prstDash val="solid"/>
          </a:ln>
        </p:spPr>
      </p:sp>
      <p:sp>
        <p:nvSpPr>
          <p:cNvPr id="14" name="Audience number 2"/>
          <p:cNvSpPr/>
          <p:nvPr/>
        </p:nvSpPr>
        <p:spPr>
          <a:xfrm>
            <a:off x="5120640" y="3355848"/>
            <a:ext cx="502920" cy="502920"/>
          </a:xfrm>
          <a:prstGeom prst="ellipse">
            <a:avLst/>
          </a:prstGeom>
          <a:solidFill>
            <a:schemeClr val="accent2"/>
          </a:solidFill>
          <a:ln w="12700">
            <a:solidFill>
              <a:schemeClr val="accent2"/>
            </a:solidFill>
            <a:prstDash val="solid"/>
          </a:ln>
        </p:spPr>
      </p:sp>
      <p:sp>
        <p:nvSpPr>
          <p:cNvPr id="15" name="Text 12"/>
          <p:cNvSpPr txBox="1"/>
          <p:nvPr/>
        </p:nvSpPr>
        <p:spPr>
          <a:xfrm>
            <a:off x="5120640" y="3355848"/>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6" name="Text 13"/>
          <p:cNvSpPr txBox="1"/>
          <p:nvPr/>
        </p:nvSpPr>
        <p:spPr>
          <a:xfrm>
            <a:off x="5897880" y="3154680"/>
            <a:ext cx="5486400" cy="41148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Investors</a:t>
            </a:r>
            <a:endParaRPr lang="en-US" sz="2000" dirty="0"/>
          </a:p>
        </p:txBody>
      </p:sp>
      <p:sp>
        <p:nvSpPr>
          <p:cNvPr id="17" name="Text 14"/>
          <p:cNvSpPr txBox="1"/>
          <p:nvPr/>
        </p:nvSpPr>
        <p:spPr>
          <a:xfrm>
            <a:off x="5897880" y="3611880"/>
            <a:ext cx="5486400" cy="45720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Drill from the system total to the most detailed breakdown.</a:t>
            </a:r>
            <a:endParaRPr lang="en-US" sz="1600" dirty="0"/>
          </a:p>
        </p:txBody>
      </p:sp>
      <p:sp>
        <p:nvSpPr>
          <p:cNvPr id="18" name="Audience Other readers"/>
          <p:cNvSpPr/>
          <p:nvPr/>
        </p:nvSpPr>
        <p:spPr>
          <a:xfrm>
            <a:off x="4800600" y="4480560"/>
            <a:ext cx="6839712" cy="1371600"/>
          </a:xfrm>
          <a:prstGeom prst="roundRect">
            <a:avLst>
              <a:gd name="adj" fmla="val 10000"/>
            </a:avLst>
          </a:prstGeom>
          <a:solidFill>
            <a:schemeClr val="bg2"/>
          </a:solidFill>
          <a:ln w="12700">
            <a:solidFill>
              <a:schemeClr val="bg2"/>
            </a:solidFill>
            <a:prstDash val="solid"/>
          </a:ln>
        </p:spPr>
      </p:sp>
      <p:sp>
        <p:nvSpPr>
          <p:cNvPr id="19" name="Audience number 3"/>
          <p:cNvSpPr/>
          <p:nvPr/>
        </p:nvSpPr>
        <p:spPr>
          <a:xfrm>
            <a:off x="5120640" y="4910328"/>
            <a:ext cx="502920" cy="502920"/>
          </a:xfrm>
          <a:prstGeom prst="ellipse">
            <a:avLst/>
          </a:prstGeom>
          <a:solidFill>
            <a:schemeClr val="accent2"/>
          </a:solidFill>
          <a:ln w="12700">
            <a:solidFill>
              <a:schemeClr val="accent2"/>
            </a:solidFill>
            <a:prstDash val="solid"/>
          </a:ln>
        </p:spPr>
      </p:sp>
      <p:sp>
        <p:nvSpPr>
          <p:cNvPr id="20" name="Text 17"/>
          <p:cNvSpPr txBox="1"/>
          <p:nvPr/>
        </p:nvSpPr>
        <p:spPr>
          <a:xfrm>
            <a:off x="5120640" y="4910328"/>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21" name="Text 18"/>
          <p:cNvSpPr txBox="1"/>
          <p:nvPr/>
        </p:nvSpPr>
        <p:spPr>
          <a:xfrm>
            <a:off x="5897880" y="4709160"/>
            <a:ext cx="5486400" cy="411480"/>
          </a:xfrm>
          <a:prstGeom prst="rect">
            <a:avLst/>
          </a:prstGeom>
          <a:noFill/>
          <a:ln/>
        </p:spPr>
        <p:txBody>
          <a:bodyPr wrap="square" lIns="0" tIns="0" rIns="0" bIns="0" rtlCol="0" anchor="ctr"/>
          <a:lstStyle/>
          <a:p>
            <a:pPr marL="0" indent="0">
              <a:buNone/>
            </a:pPr>
            <a:r>
              <a:rPr lang="en-US" sz="2000" b="1" dirty="0">
                <a:solidFill>
                  <a:schemeClr val="tx1"/>
                </a:solidFill>
                <a:latin typeface="Calibri" pitchFamily="34" charset="0"/>
                <a:ea typeface="Calibri" pitchFamily="34" charset="-122"/>
                <a:cs typeface="Calibri" pitchFamily="34" charset="-120"/>
              </a:rPr>
              <a:t>Other readers</a:t>
            </a:r>
            <a:endParaRPr lang="en-US" sz="2000" dirty="0"/>
          </a:p>
        </p:txBody>
      </p:sp>
      <p:sp>
        <p:nvSpPr>
          <p:cNvPr id="22" name="Text 19"/>
          <p:cNvSpPr txBox="1"/>
          <p:nvPr/>
        </p:nvSpPr>
        <p:spPr>
          <a:xfrm>
            <a:off x="5897880" y="5166360"/>
            <a:ext cx="5486400" cy="457200"/>
          </a:xfrm>
          <a:prstGeom prst="rect">
            <a:avLst/>
          </a:prstGeom>
          <a:noFill/>
          <a:ln/>
        </p:spPr>
        <p:txBody>
          <a:bodyPr wrap="square" lIns="0" tIns="0" rIns="0" bIns="0" rtlCol="0" anchor="t"/>
          <a:lstStyle/>
          <a:p>
            <a:pPr marL="0" indent="0">
              <a:buNone/>
            </a:pPr>
            <a:r>
              <a:rPr lang="en-US" sz="1600" dirty="0">
                <a:solidFill>
                  <a:srgbClr val="6F7271"/>
                </a:solidFill>
                <a:latin typeface="Calibri" pitchFamily="34" charset="0"/>
                <a:ea typeface="Calibri" pitchFamily="34" charset="-122"/>
                <a:cs typeface="Calibri" pitchFamily="34" charset="-120"/>
              </a:rPr>
              <a:t>One report that serves a wider range of users.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685800"/>
            <a:ext cx="9144000" cy="640080"/>
          </a:xfrm>
          <a:prstGeom prst="rect">
            <a:avLst/>
          </a:prstGeom>
          <a:noFill/>
          <a:ln/>
        </p:spPr>
        <p:txBody>
          <a:bodyPr wrap="square" lIns="0" tIns="0" rIns="0" bIns="0" rtlCol="0" anchor="ctr"/>
          <a:lstStyle/>
          <a:p>
            <a:pPr marL="0" indent="0">
              <a:buNone/>
            </a:pPr>
            <a:r>
              <a:rPr lang="en-US" sz="3600" b="1" dirty="0">
                <a:solidFill>
                  <a:schemeClr val="bg1"/>
                </a:solidFill>
                <a:latin typeface="Calibri" pitchFamily="34" charset="0"/>
                <a:ea typeface="Calibri" pitchFamily="34" charset="-122"/>
                <a:cs typeface="Calibri" pitchFamily="34" charset="-120"/>
              </a:rPr>
              <a:t>Key takeaway</a:t>
            </a:r>
            <a:endParaRPr lang="en-US" sz="3600" dirty="0"/>
          </a:p>
        </p:txBody>
      </p:sp>
      <p:sp>
        <p:nvSpPr>
          <p:cNvPr id="3" name="Text 1"/>
          <p:cNvSpPr txBox="1"/>
          <p:nvPr/>
        </p:nvSpPr>
        <p:spPr>
          <a:xfrm>
            <a:off x="731520" y="2011680"/>
            <a:ext cx="10058400" cy="640080"/>
          </a:xfrm>
          <a:prstGeom prst="rect">
            <a:avLst/>
          </a:prstGeom>
          <a:noFill/>
          <a:ln/>
        </p:spPr>
        <p:txBody>
          <a:bodyPr wrap="square" lIns="0" tIns="0" rIns="0" bIns="0" rtlCol="0" anchor="ctr"/>
          <a:lstStyle/>
          <a:p>
            <a:pPr marL="0" indent="0">
              <a:buNone/>
            </a:pPr>
            <a:r>
              <a:rPr lang="en-US" sz="3000" b="1" dirty="0">
                <a:solidFill>
                  <a:schemeClr val="accent2"/>
                </a:solidFill>
                <a:latin typeface="Calibri" pitchFamily="34" charset="0"/>
                <a:ea typeface="Calibri" pitchFamily="34" charset="-122"/>
                <a:cs typeface="Calibri" pitchFamily="34" charset="-120"/>
              </a:rPr>
              <a:t>Explain the growth, not just record it.</a:t>
            </a:r>
            <a:endParaRPr lang="en-US" sz="3000" dirty="0"/>
          </a:p>
        </p:txBody>
      </p:sp>
      <p:sp>
        <p:nvSpPr>
          <p:cNvPr id="4" name="Text 2"/>
          <p:cNvSpPr txBox="1"/>
          <p:nvPr/>
        </p:nvSpPr>
        <p:spPr>
          <a:xfrm>
            <a:off x="731520" y="2697480"/>
            <a:ext cx="10058400" cy="411480"/>
          </a:xfrm>
          <a:prstGeom prst="rect">
            <a:avLst/>
          </a:prstGeom>
          <a:noFill/>
          <a:ln/>
        </p:spPr>
        <p:txBody>
          <a:bodyPr wrap="square" lIns="0" tIns="0" rIns="0" bIns="0" rtlCol="0" anchor="ctr"/>
          <a:lstStyle/>
          <a:p>
            <a:pPr marL="0" indent="0">
              <a:buNone/>
            </a:pPr>
            <a:r>
              <a:rPr lang="en-US" sz="1800" dirty="0">
                <a:solidFill>
                  <a:srgbClr val="9EA1A2"/>
                </a:solidFill>
                <a:latin typeface="Calibri" pitchFamily="34" charset="0"/>
                <a:ea typeface="Calibri" pitchFamily="34" charset="-122"/>
                <a:cs typeface="Calibri" pitchFamily="34" charset="-120"/>
              </a:rPr>
              <a:t>Interactive view, average value, per-system detail, value distributions.</a:t>
            </a:r>
            <a:endParaRPr lang="en-US" sz="1800" dirty="0"/>
          </a:p>
        </p:txBody>
      </p:sp>
      <p:sp>
        <p:nvSpPr>
          <p:cNvPr id="5" name="Text 3"/>
          <p:cNvSpPr txBox="1"/>
          <p:nvPr/>
        </p:nvSpPr>
        <p:spPr>
          <a:xfrm>
            <a:off x="731520" y="3566160"/>
            <a:ext cx="7315200" cy="274320"/>
          </a:xfrm>
          <a:prstGeom prst="rect">
            <a:avLst/>
          </a:prstGeom>
          <a:noFill/>
          <a:ln/>
        </p:spPr>
        <p:txBody>
          <a:bodyPr wrap="square" lIns="0" tIns="0" rIns="0" bIns="0" rtlCol="0" anchor="ctr"/>
          <a:lstStyle/>
          <a:p>
            <a:pPr marL="0" indent="0">
              <a:buNone/>
            </a:pPr>
            <a:r>
              <a:rPr lang="en-US" sz="1200" dirty="0">
                <a:solidFill>
                  <a:srgbClr val="9EA1A2"/>
                </a:solidFill>
                <a:latin typeface="Calibri" pitchFamily="34" charset="0"/>
                <a:ea typeface="Calibri" pitchFamily="34" charset="-122"/>
                <a:cs typeface="Calibri" pitchFamily="34" charset="-120"/>
              </a:rPr>
              <a:t>Open questions the data cannot answer</a:t>
            </a:r>
            <a:endParaRPr lang="en-US" sz="1200" dirty="0"/>
          </a:p>
        </p:txBody>
      </p:sp>
      <p:sp>
        <p:nvSpPr>
          <p:cNvPr id="6" name="Question 1"/>
          <p:cNvSpPr/>
          <p:nvPr/>
        </p:nvSpPr>
        <p:spPr>
          <a:xfrm>
            <a:off x="731520" y="3931920"/>
            <a:ext cx="3383280" cy="1737360"/>
          </a:xfrm>
          <a:prstGeom prst="roundRect">
            <a:avLst>
              <a:gd name="adj" fmla="val 7895"/>
            </a:avLst>
          </a:prstGeom>
          <a:solidFill>
            <a:srgbClr val="3B4E5B"/>
          </a:solidFill>
          <a:ln w="12700">
            <a:solidFill>
              <a:schemeClr val="accent2"/>
            </a:solidFill>
            <a:prstDash val="solid"/>
          </a:ln>
        </p:spPr>
      </p:sp>
      <p:sp>
        <p:nvSpPr>
          <p:cNvPr id="7" name="Text 5"/>
          <p:cNvSpPr txBox="1"/>
          <p:nvPr/>
        </p:nvSpPr>
        <p:spPr>
          <a:xfrm>
            <a:off x="960120" y="3931920"/>
            <a:ext cx="2926080" cy="173736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What drove </a:t>
            </a:r>
            <a:r>
              <a:rPr lang="en-US" sz="1800" dirty="0" err="1">
                <a:solidFill>
                  <a:schemeClr val="bg1"/>
                </a:solidFill>
                <a:latin typeface="Calibri" pitchFamily="34" charset="0"/>
                <a:ea typeface="Calibri" pitchFamily="34" charset="-122"/>
                <a:cs typeface="Calibri" pitchFamily="34" charset="-120"/>
              </a:rPr>
              <a:t>eFAWATEERcom’s</a:t>
            </a:r>
            <a:r>
              <a:rPr lang="en-US" sz="1800" dirty="0">
                <a:solidFill>
                  <a:schemeClr val="bg1"/>
                </a:solidFill>
                <a:latin typeface="Calibri" pitchFamily="34" charset="0"/>
                <a:ea typeface="Calibri" pitchFamily="34" charset="-122"/>
                <a:cs typeface="Calibri" pitchFamily="34" charset="-120"/>
              </a:rPr>
              <a:t> </a:t>
            </a:r>
            <a:r>
              <a:rPr lang="en-US" dirty="0">
                <a:solidFill>
                  <a:schemeClr val="bg1"/>
                </a:solidFill>
                <a:latin typeface="Calibri" pitchFamily="34" charset="0"/>
                <a:ea typeface="Calibri" pitchFamily="34" charset="-122"/>
                <a:cs typeface="Calibri" pitchFamily="34" charset="-120"/>
              </a:rPr>
              <a:t>increase in transaction value in Q3 2025?</a:t>
            </a:r>
            <a:endParaRPr lang="en-US" sz="1800" dirty="0"/>
          </a:p>
        </p:txBody>
      </p:sp>
      <p:sp>
        <p:nvSpPr>
          <p:cNvPr id="8" name="Question 2"/>
          <p:cNvSpPr/>
          <p:nvPr/>
        </p:nvSpPr>
        <p:spPr>
          <a:xfrm>
            <a:off x="4343400" y="3931920"/>
            <a:ext cx="3383280" cy="1737360"/>
          </a:xfrm>
          <a:prstGeom prst="roundRect">
            <a:avLst>
              <a:gd name="adj" fmla="val 7895"/>
            </a:avLst>
          </a:prstGeom>
          <a:solidFill>
            <a:srgbClr val="3B4E5B"/>
          </a:solidFill>
          <a:ln w="12700">
            <a:solidFill>
              <a:schemeClr val="accent2"/>
            </a:solidFill>
            <a:prstDash val="solid"/>
          </a:ln>
        </p:spPr>
      </p:sp>
      <p:sp>
        <p:nvSpPr>
          <p:cNvPr id="9" name="Text 7"/>
          <p:cNvSpPr txBox="1"/>
          <p:nvPr/>
        </p:nvSpPr>
        <p:spPr>
          <a:xfrm>
            <a:off x="4572000" y="3931920"/>
            <a:ext cx="2926080" cy="173736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Is growth from smaller payments sustainable?</a:t>
            </a:r>
            <a:endParaRPr lang="en-US" sz="1800" dirty="0"/>
          </a:p>
        </p:txBody>
      </p:sp>
      <p:sp>
        <p:nvSpPr>
          <p:cNvPr id="10" name="Question 3"/>
          <p:cNvSpPr/>
          <p:nvPr/>
        </p:nvSpPr>
        <p:spPr>
          <a:xfrm>
            <a:off x="7955280" y="3931920"/>
            <a:ext cx="3383280" cy="1737360"/>
          </a:xfrm>
          <a:prstGeom prst="roundRect">
            <a:avLst>
              <a:gd name="adj" fmla="val 7895"/>
            </a:avLst>
          </a:prstGeom>
          <a:solidFill>
            <a:srgbClr val="3B4E5B"/>
          </a:solidFill>
          <a:ln w="12700">
            <a:solidFill>
              <a:schemeClr val="accent2"/>
            </a:solidFill>
            <a:prstDash val="solid"/>
          </a:ln>
        </p:spPr>
      </p:sp>
      <p:sp>
        <p:nvSpPr>
          <p:cNvPr id="11" name="Text 9"/>
          <p:cNvSpPr txBox="1"/>
          <p:nvPr/>
        </p:nvSpPr>
        <p:spPr>
          <a:xfrm>
            <a:off x="8183880" y="3931920"/>
            <a:ext cx="2926080" cy="1737360"/>
          </a:xfrm>
          <a:prstGeom prst="rect">
            <a:avLst/>
          </a:prstGeom>
          <a:noFill/>
          <a:ln/>
        </p:spPr>
        <p:txBody>
          <a:bodyPr wrap="square" lIns="0" tIns="0" rIns="0" bIns="0" rtlCol="0" anchor="ctr"/>
          <a:lstStyle/>
          <a:p>
            <a:pPr marL="0" indent="0">
              <a:buNone/>
            </a:pPr>
            <a:r>
              <a:rPr lang="en-US" sz="1800" dirty="0">
                <a:solidFill>
                  <a:schemeClr val="bg1"/>
                </a:solidFill>
                <a:latin typeface="Calibri" pitchFamily="34" charset="0"/>
                <a:ea typeface="Calibri" pitchFamily="34" charset="-122"/>
                <a:cs typeface="Calibri" pitchFamily="34" charset="-120"/>
              </a:rPr>
              <a:t>What does the typical transaction look like?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A slider instead of fixed color filters</a:t>
            </a:r>
            <a:endParaRPr lang="en-US" sz="2800" dirty="0"/>
          </a:p>
        </p:txBody>
      </p:sp>
      <p:sp>
        <p:nvSpPr>
          <p:cNvPr id="4" name="Step card 1"/>
          <p:cNvSpPr/>
          <p:nvPr/>
        </p:nvSpPr>
        <p:spPr>
          <a:xfrm>
            <a:off x="548640" y="1371600"/>
            <a:ext cx="4846320" cy="1097280"/>
          </a:xfrm>
          <a:prstGeom prst="roundRect">
            <a:avLst>
              <a:gd name="adj" fmla="val 12500"/>
            </a:avLst>
          </a:prstGeom>
          <a:solidFill>
            <a:schemeClr val="bg2"/>
          </a:solidFill>
          <a:ln w="12700">
            <a:solidFill>
              <a:schemeClr val="bg2"/>
            </a:solidFill>
            <a:prstDash val="solid"/>
          </a:ln>
        </p:spPr>
      </p:sp>
      <p:sp>
        <p:nvSpPr>
          <p:cNvPr id="5" name="Step number 1"/>
          <p:cNvSpPr/>
          <p:nvPr/>
        </p:nvSpPr>
        <p:spPr>
          <a:xfrm>
            <a:off x="822960" y="1673352"/>
            <a:ext cx="502920" cy="502920"/>
          </a:xfrm>
          <a:prstGeom prst="ellipse">
            <a:avLst/>
          </a:prstGeom>
          <a:solidFill>
            <a:schemeClr val="accent2"/>
          </a:solidFill>
          <a:ln w="12700">
            <a:solidFill>
              <a:schemeClr val="accent2"/>
            </a:solidFill>
            <a:prstDash val="solid"/>
          </a:ln>
        </p:spPr>
      </p:sp>
      <p:sp>
        <p:nvSpPr>
          <p:cNvPr id="6" name="Text 3"/>
          <p:cNvSpPr txBox="1"/>
          <p:nvPr/>
        </p:nvSpPr>
        <p:spPr>
          <a:xfrm>
            <a:off x="822960" y="167335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1</a:t>
            </a:r>
            <a:endParaRPr lang="en-US" sz="1800" dirty="0"/>
          </a:p>
        </p:txBody>
      </p:sp>
      <p:sp>
        <p:nvSpPr>
          <p:cNvPr id="7" name="Text 4"/>
          <p:cNvSpPr txBox="1"/>
          <p:nvPr/>
        </p:nvSpPr>
        <p:spPr>
          <a:xfrm>
            <a:off x="1554480" y="153619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Type and severity</a:t>
            </a:r>
            <a:endParaRPr lang="en-US" sz="1800" dirty="0"/>
          </a:p>
        </p:txBody>
      </p:sp>
      <p:sp>
        <p:nvSpPr>
          <p:cNvPr id="8" name="Text 5"/>
          <p:cNvSpPr txBox="1"/>
          <p:nvPr/>
        </p:nvSpPr>
        <p:spPr>
          <a:xfrm>
            <a:off x="1554480" y="193852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Color vision deficiency varies in both</a:t>
            </a:r>
            <a:endParaRPr lang="en-US" sz="1400" dirty="0"/>
          </a:p>
        </p:txBody>
      </p:sp>
      <p:sp>
        <p:nvSpPr>
          <p:cNvPr id="9" name="Step card 2"/>
          <p:cNvSpPr/>
          <p:nvPr/>
        </p:nvSpPr>
        <p:spPr>
          <a:xfrm>
            <a:off x="548640" y="2651760"/>
            <a:ext cx="4846320" cy="1097280"/>
          </a:xfrm>
          <a:prstGeom prst="roundRect">
            <a:avLst>
              <a:gd name="adj" fmla="val 12500"/>
            </a:avLst>
          </a:prstGeom>
          <a:solidFill>
            <a:schemeClr val="bg2"/>
          </a:solidFill>
          <a:ln w="12700">
            <a:solidFill>
              <a:schemeClr val="bg2"/>
            </a:solidFill>
            <a:prstDash val="solid"/>
          </a:ln>
        </p:spPr>
      </p:sp>
      <p:sp>
        <p:nvSpPr>
          <p:cNvPr id="10" name="Step number 2"/>
          <p:cNvSpPr/>
          <p:nvPr/>
        </p:nvSpPr>
        <p:spPr>
          <a:xfrm>
            <a:off x="822960" y="2953512"/>
            <a:ext cx="502920" cy="502920"/>
          </a:xfrm>
          <a:prstGeom prst="ellipse">
            <a:avLst/>
          </a:prstGeom>
          <a:solidFill>
            <a:schemeClr val="accent2"/>
          </a:solidFill>
          <a:ln w="12700">
            <a:solidFill>
              <a:schemeClr val="accent2"/>
            </a:solidFill>
            <a:prstDash val="solid"/>
          </a:ln>
        </p:spPr>
      </p:sp>
      <p:sp>
        <p:nvSpPr>
          <p:cNvPr id="11" name="Text 8"/>
          <p:cNvSpPr txBox="1"/>
          <p:nvPr/>
        </p:nvSpPr>
        <p:spPr>
          <a:xfrm>
            <a:off x="822960" y="295351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2</a:t>
            </a:r>
            <a:endParaRPr lang="en-US" sz="1800" dirty="0"/>
          </a:p>
        </p:txBody>
      </p:sp>
      <p:sp>
        <p:nvSpPr>
          <p:cNvPr id="12" name="Text 9"/>
          <p:cNvSpPr txBox="1"/>
          <p:nvPr/>
        </p:nvSpPr>
        <p:spPr>
          <a:xfrm>
            <a:off x="1554480" y="281635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Gradual adjustment</a:t>
            </a:r>
            <a:endParaRPr lang="en-US" sz="1800" dirty="0"/>
          </a:p>
        </p:txBody>
      </p:sp>
      <p:sp>
        <p:nvSpPr>
          <p:cNvPr id="13" name="Text 10"/>
          <p:cNvSpPr txBox="1"/>
          <p:nvPr/>
        </p:nvSpPr>
        <p:spPr>
          <a:xfrm>
            <a:off x="1554480" y="321868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Each reader tunes colors to what they see best</a:t>
            </a:r>
            <a:endParaRPr lang="en-US" sz="1400" dirty="0"/>
          </a:p>
        </p:txBody>
      </p:sp>
      <p:sp>
        <p:nvSpPr>
          <p:cNvPr id="14" name="Step card 3"/>
          <p:cNvSpPr/>
          <p:nvPr/>
        </p:nvSpPr>
        <p:spPr>
          <a:xfrm>
            <a:off x="548640" y="3931920"/>
            <a:ext cx="4846320" cy="1097280"/>
          </a:xfrm>
          <a:prstGeom prst="roundRect">
            <a:avLst>
              <a:gd name="adj" fmla="val 12500"/>
            </a:avLst>
          </a:prstGeom>
          <a:solidFill>
            <a:schemeClr val="bg2"/>
          </a:solidFill>
          <a:ln w="12700">
            <a:solidFill>
              <a:schemeClr val="bg2"/>
            </a:solidFill>
            <a:prstDash val="solid"/>
          </a:ln>
        </p:spPr>
      </p:sp>
      <p:sp>
        <p:nvSpPr>
          <p:cNvPr id="15" name="Step number 3"/>
          <p:cNvSpPr/>
          <p:nvPr/>
        </p:nvSpPr>
        <p:spPr>
          <a:xfrm>
            <a:off x="822960" y="4233672"/>
            <a:ext cx="502920" cy="502920"/>
          </a:xfrm>
          <a:prstGeom prst="ellipse">
            <a:avLst/>
          </a:prstGeom>
          <a:solidFill>
            <a:schemeClr val="accent2"/>
          </a:solidFill>
          <a:ln w="12700">
            <a:solidFill>
              <a:schemeClr val="accent2"/>
            </a:solidFill>
            <a:prstDash val="solid"/>
          </a:ln>
        </p:spPr>
      </p:sp>
      <p:sp>
        <p:nvSpPr>
          <p:cNvPr id="16" name="Text 13"/>
          <p:cNvSpPr txBox="1"/>
          <p:nvPr/>
        </p:nvSpPr>
        <p:spPr>
          <a:xfrm>
            <a:off x="822960" y="4233672"/>
            <a:ext cx="502920" cy="502920"/>
          </a:xfrm>
          <a:prstGeom prst="rect">
            <a:avLst/>
          </a:prstGeom>
          <a:noFill/>
          <a:ln/>
        </p:spPr>
        <p:txBody>
          <a:bodyPr wrap="square" lIns="0" tIns="0" rIns="0" bIns="0" rtlCol="0" anchor="ctr"/>
          <a:lstStyle/>
          <a:p>
            <a:pPr marL="0" indent="0" algn="ctr">
              <a:buNone/>
            </a:pPr>
            <a:r>
              <a:rPr lang="en-US" sz="1800" b="1" dirty="0">
                <a:solidFill>
                  <a:schemeClr val="tx1"/>
                </a:solidFill>
                <a:latin typeface="Calibri" pitchFamily="34" charset="0"/>
                <a:ea typeface="Calibri" pitchFamily="34" charset="-122"/>
                <a:cs typeface="Calibri" pitchFamily="34" charset="-120"/>
              </a:rPr>
              <a:t>3</a:t>
            </a:r>
            <a:endParaRPr lang="en-US" sz="1800" dirty="0"/>
          </a:p>
        </p:txBody>
      </p:sp>
      <p:sp>
        <p:nvSpPr>
          <p:cNvPr id="17" name="Text 14"/>
          <p:cNvSpPr txBox="1"/>
          <p:nvPr/>
        </p:nvSpPr>
        <p:spPr>
          <a:xfrm>
            <a:off x="1554480" y="4096512"/>
            <a:ext cx="3657600" cy="41148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Setting is remembered</a:t>
            </a:r>
            <a:endParaRPr lang="en-US" sz="1800" dirty="0"/>
          </a:p>
        </p:txBody>
      </p:sp>
      <p:sp>
        <p:nvSpPr>
          <p:cNvPr id="18" name="Text 15"/>
          <p:cNvSpPr txBox="1"/>
          <p:nvPr/>
        </p:nvSpPr>
        <p:spPr>
          <a:xfrm>
            <a:off x="1554480" y="4498848"/>
            <a:ext cx="3657600" cy="365760"/>
          </a:xfrm>
          <a:prstGeom prst="rect">
            <a:avLst/>
          </a:prstGeom>
          <a:noFill/>
          <a:ln/>
        </p:spPr>
        <p:txBody>
          <a:bodyPr wrap="square" lIns="0" tIns="0" rIns="0" bIns="0" rtlCol="0" anchor="t"/>
          <a:lstStyle/>
          <a:p>
            <a:pPr marL="0" indent="0">
              <a:buNone/>
            </a:pPr>
            <a:r>
              <a:rPr lang="en-US" sz="1400" dirty="0">
                <a:solidFill>
                  <a:srgbClr val="6F7271"/>
                </a:solidFill>
                <a:latin typeface="Calibri" pitchFamily="34" charset="0"/>
                <a:ea typeface="Calibri" pitchFamily="34" charset="-122"/>
                <a:cs typeface="Calibri" pitchFamily="34" charset="-120"/>
              </a:rPr>
              <a:t>The reader’s choice applies across the portal</a:t>
            </a:r>
            <a:endParaRPr lang="en-US" sz="1400" dirty="0"/>
          </a:p>
        </p:txBody>
      </p:sp>
      <p:sp>
        <p:nvSpPr>
          <p:cNvPr id="19" name="Image frame"/>
          <p:cNvSpPr/>
          <p:nvPr/>
        </p:nvSpPr>
        <p:spPr>
          <a:xfrm>
            <a:off x="5669280" y="1371600"/>
            <a:ext cx="5971032" cy="3657600"/>
          </a:xfrm>
          <a:prstGeom prst="roundRect">
            <a:avLst>
              <a:gd name="adj" fmla="val 3750"/>
            </a:avLst>
          </a:prstGeom>
          <a:solidFill>
            <a:srgbClr val="14202B"/>
          </a:solidFill>
          <a:ln w="12700">
            <a:solidFill>
              <a:srgbClr val="141414"/>
            </a:solidFill>
            <a:prstDash val="solid"/>
          </a:ln>
        </p:spPr>
      </p:sp>
      <p:pic>
        <p:nvPicPr>
          <p:cNvPr id="20" name="Image 0" descr="Color vision slider mockup: choose a type of color blindness, then adjust severity and color adjustment; the chart of quarterly change in total transaction value updates to a color-blind-safe palette"/>
          <p:cNvPicPr>
            <a:picLocks noChangeAspect="1"/>
          </p:cNvPicPr>
          <p:nvPr/>
        </p:nvPicPr>
        <p:blipFill>
          <a:blip r:embed="rId3"/>
          <a:stretch>
            <a:fillRect/>
          </a:stretch>
        </p:blipFill>
        <p:spPr>
          <a:xfrm>
            <a:off x="6606808" y="1481328"/>
            <a:ext cx="4095975" cy="3419856"/>
          </a:xfrm>
          <a:prstGeom prst="rect">
            <a:avLst/>
          </a:prstGeom>
        </p:spPr>
      </p:pic>
      <p:sp>
        <p:nvSpPr>
          <p:cNvPr id="21" name="Bar IPS"/>
          <p:cNvSpPr/>
          <p:nvPr/>
        </p:nvSpPr>
        <p:spPr>
          <a:xfrm>
            <a:off x="548640" y="5303520"/>
            <a:ext cx="11091672" cy="731520"/>
          </a:xfrm>
          <a:prstGeom prst="roundRect">
            <a:avLst>
              <a:gd name="adj" fmla="val 18750"/>
            </a:avLst>
          </a:prstGeom>
          <a:solidFill>
            <a:schemeClr val="bg2"/>
          </a:solidFill>
          <a:ln w="12700">
            <a:solidFill>
              <a:schemeClr val="bg2"/>
            </a:solidFill>
            <a:prstDash val="solid"/>
          </a:ln>
        </p:spPr>
      </p:sp>
      <p:sp>
        <p:nvSpPr>
          <p:cNvPr id="22" name="Text 18"/>
          <p:cNvSpPr txBox="1"/>
          <p:nvPr/>
        </p:nvSpPr>
        <p:spPr>
          <a:xfrm>
            <a:off x="822960" y="530352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Why it matters:  </a:t>
            </a:r>
            <a:r>
              <a:rPr lang="en-US" sz="1600" dirty="0">
                <a:solidFill>
                  <a:schemeClr val="tx1"/>
                </a:solidFill>
                <a:latin typeface="Calibri" pitchFamily="34" charset="0"/>
                <a:ea typeface="Calibri" pitchFamily="34" charset="-122"/>
                <a:cs typeface="Calibri" pitchFamily="34" charset="-120"/>
              </a:rPr>
              <a:t>a reader who cannot tell the series apart cannot interpret the data correctly.</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7</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ctr"/>
          <a:lstStyle/>
          <a:p>
            <a:pPr marL="0" indent="0" algn="l">
              <a:buNone/>
            </a:pPr>
            <a:r>
              <a:rPr lang="en-US" sz="2800" b="1" dirty="0">
                <a:solidFill>
                  <a:schemeClr val="tx1"/>
                </a:solidFill>
              </a:rPr>
              <a:t>Charts should not rely on color alone</a:t>
            </a:r>
            <a:endParaRPr lang="en-US" sz="2800" dirty="0"/>
          </a:p>
        </p:txBody>
      </p:sp>
      <p:sp>
        <p:nvSpPr>
          <p:cNvPr id="4" name="Measure Users"/>
          <p:cNvSpPr/>
          <p:nvPr/>
        </p:nvSpPr>
        <p:spPr>
          <a:xfrm>
            <a:off x="548640" y="1371600"/>
            <a:ext cx="3575304" cy="1417320"/>
          </a:xfrm>
          <a:prstGeom prst="roundRect">
            <a:avLst>
              <a:gd name="adj" fmla="val 9677"/>
            </a:avLst>
          </a:prstGeom>
          <a:solidFill>
            <a:schemeClr val="bg2"/>
          </a:solidFill>
          <a:ln w="12700">
            <a:solidFill>
              <a:schemeClr val="bg2"/>
            </a:solidFill>
            <a:prstDash val="solid"/>
          </a:ln>
        </p:spPr>
      </p:sp>
      <p:sp>
        <p:nvSpPr>
          <p:cNvPr id="5" name="Text 2"/>
          <p:cNvSpPr txBox="1"/>
          <p:nvPr/>
        </p:nvSpPr>
        <p:spPr>
          <a:xfrm>
            <a:off x="548640"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Patterns</a:t>
            </a:r>
            <a:endParaRPr lang="en-US" sz="3400" dirty="0"/>
          </a:p>
        </p:txBody>
      </p:sp>
      <p:sp>
        <p:nvSpPr>
          <p:cNvPr id="6" name="Text 3"/>
          <p:cNvSpPr txBox="1"/>
          <p:nvPr/>
        </p:nvSpPr>
        <p:spPr>
          <a:xfrm>
            <a:off x="548640"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texture as well as color</a:t>
            </a:r>
            <a:endParaRPr lang="en-US" sz="1400" dirty="0"/>
          </a:p>
        </p:txBody>
      </p:sp>
      <p:sp>
        <p:nvSpPr>
          <p:cNvPr id="7" name="Measure Transactions"/>
          <p:cNvSpPr/>
          <p:nvPr/>
        </p:nvSpPr>
        <p:spPr>
          <a:xfrm>
            <a:off x="4306824" y="1371600"/>
            <a:ext cx="3575304" cy="1417320"/>
          </a:xfrm>
          <a:prstGeom prst="roundRect">
            <a:avLst>
              <a:gd name="adj" fmla="val 9677"/>
            </a:avLst>
          </a:prstGeom>
          <a:solidFill>
            <a:schemeClr val="bg2"/>
          </a:solidFill>
          <a:ln w="12700">
            <a:solidFill>
              <a:schemeClr val="bg2"/>
            </a:solidFill>
            <a:prstDash val="solid"/>
          </a:ln>
        </p:spPr>
      </p:sp>
      <p:sp>
        <p:nvSpPr>
          <p:cNvPr id="8" name="Text 5"/>
          <p:cNvSpPr txBox="1"/>
          <p:nvPr/>
        </p:nvSpPr>
        <p:spPr>
          <a:xfrm>
            <a:off x="4306824"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Direct labels</a:t>
            </a:r>
            <a:endParaRPr lang="en-US" sz="3400" dirty="0"/>
          </a:p>
        </p:txBody>
      </p:sp>
      <p:sp>
        <p:nvSpPr>
          <p:cNvPr id="9" name="Text 6"/>
          <p:cNvSpPr txBox="1"/>
          <p:nvPr/>
        </p:nvSpPr>
        <p:spPr>
          <a:xfrm>
            <a:off x="4306824"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labels placed on the chart</a:t>
            </a:r>
            <a:endParaRPr lang="en-US" sz="1400" dirty="0"/>
          </a:p>
        </p:txBody>
      </p:sp>
      <p:sp>
        <p:nvSpPr>
          <p:cNvPr id="10" name="Measure Value"/>
          <p:cNvSpPr/>
          <p:nvPr/>
        </p:nvSpPr>
        <p:spPr>
          <a:xfrm>
            <a:off x="8065008" y="1371600"/>
            <a:ext cx="3575304" cy="1417320"/>
          </a:xfrm>
          <a:prstGeom prst="roundRect">
            <a:avLst>
              <a:gd name="adj" fmla="val 9677"/>
            </a:avLst>
          </a:prstGeom>
          <a:solidFill>
            <a:schemeClr val="bg2"/>
          </a:solidFill>
          <a:ln w="12700">
            <a:solidFill>
              <a:schemeClr val="bg2"/>
            </a:solidFill>
            <a:prstDash val="solid"/>
          </a:ln>
        </p:spPr>
      </p:sp>
      <p:sp>
        <p:nvSpPr>
          <p:cNvPr id="11" name="Text 8"/>
          <p:cNvSpPr txBox="1"/>
          <p:nvPr/>
        </p:nvSpPr>
        <p:spPr>
          <a:xfrm>
            <a:off x="8065008" y="1508760"/>
            <a:ext cx="3575304" cy="640080"/>
          </a:xfrm>
          <a:prstGeom prst="rect">
            <a:avLst/>
          </a:prstGeom>
          <a:noFill/>
          <a:ln/>
        </p:spPr>
        <p:txBody>
          <a:bodyPr wrap="square" lIns="0" tIns="0" rIns="0" bIns="0" rtlCol="0" anchor="ctr"/>
          <a:lstStyle/>
          <a:p>
            <a:pPr marL="0" indent="0" algn="ctr">
              <a:buNone/>
            </a:pPr>
            <a:r>
              <a:rPr lang="en-US" sz="3400" b="1" dirty="0">
                <a:solidFill>
                  <a:schemeClr val="tx1"/>
                </a:solidFill>
                <a:latin typeface="Calibri" pitchFamily="34" charset="0"/>
                <a:ea typeface="Calibri" pitchFamily="34" charset="-122"/>
                <a:cs typeface="Calibri" pitchFamily="34" charset="-120"/>
              </a:rPr>
              <a:t>Markers</a:t>
            </a:r>
            <a:endParaRPr lang="en-US" sz="3400" dirty="0"/>
          </a:p>
        </p:txBody>
      </p:sp>
      <p:sp>
        <p:nvSpPr>
          <p:cNvPr id="12" name="Text 9"/>
          <p:cNvSpPr txBox="1"/>
          <p:nvPr/>
        </p:nvSpPr>
        <p:spPr>
          <a:xfrm>
            <a:off x="8065008" y="2194560"/>
            <a:ext cx="3575304" cy="365760"/>
          </a:xfrm>
          <a:prstGeom prst="rect">
            <a:avLst/>
          </a:prstGeom>
          <a:noFill/>
          <a:ln/>
        </p:spPr>
        <p:txBody>
          <a:bodyPr wrap="square" lIns="0" tIns="0" rIns="0" bIns="0" rtlCol="0" anchor="ctr"/>
          <a:lstStyle/>
          <a:p>
            <a:pPr marL="0" indent="0" algn="ctr">
              <a:buNone/>
            </a:pPr>
            <a:r>
              <a:rPr lang="en-US" sz="1400" dirty="0">
                <a:solidFill>
                  <a:srgbClr val="6F7271"/>
                </a:solidFill>
                <a:latin typeface="Calibri" pitchFamily="34" charset="0"/>
                <a:ea typeface="Calibri" pitchFamily="34" charset="-122"/>
                <a:cs typeface="Calibri" pitchFamily="34" charset="-120"/>
              </a:rPr>
              <a:t>a distinct shape for each series</a:t>
            </a:r>
            <a:endParaRPr lang="en-US" sz="1400" dirty="0"/>
          </a:p>
        </p:txBody>
      </p:sp>
      <p:sp>
        <p:nvSpPr>
          <p:cNvPr id="13" name="Info Drill down"/>
          <p:cNvSpPr/>
          <p:nvPr/>
        </p:nvSpPr>
        <p:spPr>
          <a:xfrm>
            <a:off x="548640" y="3017520"/>
            <a:ext cx="5454396" cy="2103120"/>
          </a:xfrm>
          <a:prstGeom prst="roundRect">
            <a:avLst>
              <a:gd name="adj" fmla="val 6522"/>
            </a:avLst>
          </a:prstGeom>
          <a:solidFill>
            <a:schemeClr val="bg2"/>
          </a:solidFill>
          <a:ln w="12700">
            <a:solidFill>
              <a:schemeClr val="bg2"/>
            </a:solidFill>
            <a:prstDash val="solid"/>
          </a:ln>
        </p:spPr>
      </p:sp>
      <p:sp>
        <p:nvSpPr>
          <p:cNvPr id="14" name="Text 11"/>
          <p:cNvSpPr txBox="1"/>
          <p:nvPr/>
        </p:nvSpPr>
        <p:spPr>
          <a:xfrm>
            <a:off x="868680" y="3200400"/>
            <a:ext cx="4754880" cy="411480"/>
          </a:xfrm>
          <a:prstGeom prst="rect">
            <a:avLst/>
          </a:prstGeom>
          <a:noFill/>
          <a:ln/>
        </p:spPr>
        <p:txBody>
          <a:bodyPr wrap="square" lIns="0" tIns="0" rIns="0" bIns="0" rtlCol="0" anchor="ctr"/>
          <a:lstStyle/>
          <a:p>
            <a:pPr marL="0" indent="0">
              <a:buNone/>
            </a:pPr>
            <a:r>
              <a:rPr lang="en-US" sz="1800" b="1" dirty="0">
                <a:solidFill>
                  <a:schemeClr val="accent3"/>
                </a:solidFill>
                <a:latin typeface="Calibri" pitchFamily="34" charset="0"/>
                <a:ea typeface="Calibri" pitchFamily="34" charset="-122"/>
                <a:cs typeface="Calibri" pitchFamily="34" charset="-120"/>
              </a:rPr>
              <a:t>Readable without the slider</a:t>
            </a:r>
            <a:endParaRPr lang="en-US" sz="1800" dirty="0"/>
          </a:p>
        </p:txBody>
      </p:sp>
      <p:sp>
        <p:nvSpPr>
          <p:cNvPr id="15" name="Text 12"/>
          <p:cNvSpPr txBox="1"/>
          <p:nvPr/>
        </p:nvSpPr>
        <p:spPr>
          <a:xfrm>
            <a:off x="868680" y="3703320"/>
            <a:ext cx="4846320" cy="118872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Charts stay readable even when the feature is not in use.</a:t>
            </a:r>
            <a:endParaRPr lang="en-US" sz="1800" dirty="0"/>
          </a:p>
        </p:txBody>
      </p:sp>
      <p:sp>
        <p:nvSpPr>
          <p:cNvPr id="16" name="Info Protect confidentiality"/>
          <p:cNvSpPr/>
          <p:nvPr/>
        </p:nvSpPr>
        <p:spPr>
          <a:xfrm>
            <a:off x="6185916" y="3017520"/>
            <a:ext cx="5454396" cy="2103120"/>
          </a:xfrm>
          <a:prstGeom prst="roundRect">
            <a:avLst>
              <a:gd name="adj" fmla="val 6522"/>
            </a:avLst>
          </a:prstGeom>
          <a:solidFill>
            <a:schemeClr val="bg2"/>
          </a:solidFill>
          <a:ln w="12700">
            <a:solidFill>
              <a:schemeClr val="bg2"/>
            </a:solidFill>
            <a:prstDash val="solid"/>
          </a:ln>
        </p:spPr>
      </p:sp>
      <p:sp>
        <p:nvSpPr>
          <p:cNvPr id="17" name="Text 14"/>
          <p:cNvSpPr txBox="1"/>
          <p:nvPr/>
        </p:nvSpPr>
        <p:spPr>
          <a:xfrm>
            <a:off x="6505956" y="3200400"/>
            <a:ext cx="4754880" cy="411480"/>
          </a:xfrm>
          <a:prstGeom prst="rect">
            <a:avLst/>
          </a:prstGeom>
          <a:noFill/>
          <a:ln/>
        </p:spPr>
        <p:txBody>
          <a:bodyPr wrap="square" lIns="0" tIns="0" rIns="0" bIns="0" rtlCol="0" anchor="ctr"/>
          <a:lstStyle/>
          <a:p>
            <a:pPr marL="0" indent="0">
              <a:buNone/>
            </a:pPr>
            <a:r>
              <a:rPr lang="en-US" sz="1800" b="1" dirty="0">
                <a:solidFill>
                  <a:schemeClr val="accent3"/>
                </a:solidFill>
                <a:latin typeface="Calibri" pitchFamily="34" charset="0"/>
                <a:ea typeface="Calibri" pitchFamily="34" charset="-122"/>
                <a:cs typeface="Calibri" pitchFamily="34" charset="-120"/>
              </a:rPr>
              <a:t>Follows accessibility guidance</a:t>
            </a:r>
            <a:endParaRPr lang="en-US" sz="1800" dirty="0"/>
          </a:p>
        </p:txBody>
      </p:sp>
      <p:sp>
        <p:nvSpPr>
          <p:cNvPr id="18" name="Text 15"/>
          <p:cNvSpPr txBox="1"/>
          <p:nvPr/>
        </p:nvSpPr>
        <p:spPr>
          <a:xfrm>
            <a:off x="6505956" y="3703320"/>
            <a:ext cx="4846320" cy="1188720"/>
          </a:xfrm>
          <a:prstGeom prst="rect">
            <a:avLst/>
          </a:prstGeom>
          <a:noFill/>
          <a:ln/>
        </p:spPr>
        <p:txBody>
          <a:bodyPr wrap="square" lIns="0" tIns="0" rIns="0" bIns="0" rtlCol="0" anchor="t"/>
          <a:lstStyle/>
          <a:p>
            <a:pPr marL="0" indent="0">
              <a:buNone/>
            </a:pPr>
            <a:r>
              <a:rPr lang="en-US" sz="1800" dirty="0">
                <a:solidFill>
                  <a:schemeClr val="tx1"/>
                </a:solidFill>
                <a:latin typeface="Calibri" pitchFamily="34" charset="0"/>
                <a:ea typeface="Calibri" pitchFamily="34" charset="-122"/>
                <a:cs typeface="Calibri" pitchFamily="34" charset="-120"/>
              </a:rPr>
              <a:t>WCAG advises against using color as the only way to convey information.</a:t>
            </a:r>
            <a:endParaRPr lang="en-US" sz="1800" dirty="0"/>
          </a:p>
        </p:txBody>
      </p:sp>
      <p:sp>
        <p:nvSpPr>
          <p:cNvPr id="19" name="Bar structure"/>
          <p:cNvSpPr/>
          <p:nvPr/>
        </p:nvSpPr>
        <p:spPr>
          <a:xfrm>
            <a:off x="548640" y="5349240"/>
            <a:ext cx="11091672" cy="731520"/>
          </a:xfrm>
          <a:prstGeom prst="roundRect">
            <a:avLst>
              <a:gd name="adj" fmla="val 18750"/>
            </a:avLst>
          </a:prstGeom>
          <a:solidFill>
            <a:schemeClr val="bg2"/>
          </a:solidFill>
          <a:ln w="12700">
            <a:solidFill>
              <a:schemeClr val="bg2"/>
            </a:solidFill>
            <a:prstDash val="solid"/>
          </a:ln>
        </p:spPr>
      </p:sp>
      <p:sp>
        <p:nvSpPr>
          <p:cNvPr id="20" name="Text 17"/>
          <p:cNvSpPr txBox="1"/>
          <p:nvPr/>
        </p:nvSpPr>
        <p:spPr>
          <a:xfrm>
            <a:off x="822960" y="5349240"/>
            <a:ext cx="10515600" cy="731520"/>
          </a:xfrm>
          <a:prstGeom prst="rect">
            <a:avLst/>
          </a:prstGeom>
          <a:noFill/>
          <a:ln/>
        </p:spPr>
        <p:txBody>
          <a:bodyPr wrap="square" lIns="0" tIns="0" rIns="0" bIns="0" rtlCol="0" anchor="ctr"/>
          <a:lstStyle/>
          <a:p>
            <a:pPr marL="0" indent="0">
              <a:buNone/>
            </a:pPr>
            <a:r>
              <a:rPr lang="en-US" sz="1600" b="1" dirty="0">
                <a:solidFill>
                  <a:schemeClr val="accent3"/>
                </a:solidFill>
                <a:latin typeface="Calibri" pitchFamily="34" charset="0"/>
                <a:ea typeface="Calibri" pitchFamily="34" charset="-122"/>
                <a:cs typeface="Calibri" pitchFamily="34" charset="-120"/>
              </a:rPr>
              <a:t>Where it matters most:  </a:t>
            </a:r>
            <a:r>
              <a:rPr lang="en-US" sz="1600" dirty="0">
                <a:solidFill>
                  <a:schemeClr val="tx1"/>
                </a:solidFill>
                <a:latin typeface="Calibri" pitchFamily="34" charset="0"/>
                <a:ea typeface="Calibri" pitchFamily="34" charset="-122"/>
                <a:cs typeface="Calibri" pitchFamily="34" charset="-120"/>
              </a:rPr>
              <a:t>charts that separate systems or show increases and decreases.</a:t>
            </a:r>
            <a:endParaRPr lang="en-US" sz="1600" dirty="0"/>
          </a:p>
        </p:txBody>
      </p:sp>
      <p:sp>
        <p:nvSpPr>
          <p:cNvPr id="25" name="Slide Number Placeholder 0"/>
          <p:cNvSpPr>
            <a:spLocks noGrp="1"/>
          </p:cNvSpPr>
          <p:nvPr>
            <p:ph type="sldNum" sz="quarter" idx="4294967295"/>
          </p:nvPr>
        </p:nvSpPr>
        <p:spPr>
          <a:xfrm>
            <a:off x="10972800" y="6355080"/>
            <a:ext cx="667512"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F7271"/>
                </a:solidFill>
              </a:defRPr>
            </a:lvl1pPr>
          </a:lstStyle>
          <a:p>
            <a:pPr algn="r"/>
            <a:fld id="{F7021451-1387-4CA6-816F-3879F97B5CBC}" type="slidenum">
              <a:rPr lang="en-US" b="0"/>
              <a:t>8</a:t>
            </a:fld>
            <a:endParaRPr lang="en-US"/>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TotalTime>
  <Words>733</Words>
  <Application>Microsoft Office PowerPoint</Application>
  <PresentationFormat>Widescreen</PresentationFormat>
  <Paragraphs>102</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JoPACC</vt:lpstr>
      <vt:lpstr>PowerPoint Presentation</vt:lpstr>
      <vt:lpstr>The reports describe what happened, not why</vt:lpstr>
      <vt:lpstr>Four recommendations to close the gap</vt:lpstr>
      <vt:lpstr>One shared hierarchy to organise IPS reporting</vt:lpstr>
      <vt:lpstr>Every level reports the same three measures</vt:lpstr>
      <vt:lpstr>Why the interactive view comes first</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Part One: Gaps and Recommendations</dc:title>
  <dc:subject>PptxGenJS Presentation</dc:subject>
  <dc:creator>PptxGenJS</dc:creator>
  <cp:lastModifiedBy>Naser Al-Magarbi</cp:lastModifiedBy>
  <cp:revision>7</cp:revision>
  <dcterms:created xsi:type="dcterms:W3CDTF">2026-10-12T18:39:51Z</dcterms:created>
  <dcterms:modified xsi:type="dcterms:W3CDTF">2026-10-15T10:32:12Z</dcterms:modified>
</cp:coreProperties>
</file>