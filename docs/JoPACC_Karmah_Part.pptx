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7ED83E4-709F-8F4A-7FB3-25526DD26DD0}">
          <p14:sldIdLst>
            <p14:sldId id="256"/>
          </p14:sldIdLst>
        </p14:section>
        <p14:section name="Part One: Gaps identified" id="{A6AD2144-CF89-451A-70EB-BBF264845AD2}">
          <p14:sldIdLst>
            <p14:sldId id="257"/>
          </p14:sldIdLst>
        </p14:section>
        <p14:section name="Part Two: Recommendations" id="{627C1D02-90D0-CAB8-F497-08971A394E2C}">
          <p14:sldIdLst>
            <p14:sldId id="258"/>
            <p14:sldId id="259"/>
            <p14:sldId id="260"/>
            <p14:sldId id="261"/>
            <p14:sldId id="262"/>
            <p14:sldId id="263"/>
            <p14:sldId id="264"/>
            <p14:sldId id="265"/>
          </p14:sldIdLst>
        </p14:section>
        <p14:section name="Closing" id="{2487A2DE-4512-082B-DD07-5768F64DDFD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6F7271"/>
                </a:solidFill>
                <a:latin typeface="+mn-lt"/>
              </a:defRPr>
            </a:pPr>
            <a:r>
              <a:rPr lang="en-US" sz="1400" b="0" i="0" u="none" strike="noStrike">
                <a:solidFill>
                  <a:srgbClr val="6F7271"/>
                </a:solidFill>
                <a:latin typeface="+mn-lt"/>
              </a:rPr>
              <a:t>Transactions per quarter (millions)</a:t>
            </a:r>
          </a:p>
        </c:rich>
      </c:tx>
      <c:overlay val="0"/>
    </c:title>
    <c:autoTitleDeleted val="0"/>
    <c:plotArea>
      <c:layout/>
      <c:barChart>
        <c:barDir val="col"/>
        <c:grouping val="clustered"/>
        <c:varyColors val="0"/>
        <c:ser>
          <c:idx val="0"/>
          <c:order val="0"/>
          <c:tx>
            <c:strRef>
              <c:f>Sheet1!$B$1</c:f>
              <c:strCache>
                <c:ptCount val="1"/>
                <c:pt idx="0">
                  <c:v>Transactions (millions)</c:v>
                </c:pt>
              </c:strCache>
            </c:strRef>
          </c:tx>
          <c:spPr>
            <a:solidFill>
              <a:srgbClr val="FFB600"/>
            </a:solidFill>
            <a:effectLst/>
          </c:spPr>
          <c:invertIfNegative val="0"/>
          <c:dLbls>
            <c:numFmt formatCode="#,##0" sourceLinked="0"/>
            <c:spPr>
              <a:noFill/>
              <a:ln>
                <a:noFill/>
              </a:ln>
              <a:effectLst/>
            </c:spPr>
            <c:txPr>
              <a:bodyPr/>
              <a:lstStyle/>
              <a:p>
                <a:pPr>
                  <a:defRPr sz="11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24</c:v>
                </c:pt>
                <c:pt idx="1">
                  <c:v>Q4 24</c:v>
                </c:pt>
                <c:pt idx="2">
                  <c:v>Q1 25</c:v>
                </c:pt>
                <c:pt idx="3">
                  <c:v>Q2 25</c:v>
                </c:pt>
                <c:pt idx="4">
                  <c:v>Q3 25</c:v>
                </c:pt>
                <c:pt idx="5">
                  <c:v>Q4 25</c:v>
                </c:pt>
                <c:pt idx="6">
                  <c:v>Q1 26</c:v>
                </c:pt>
                <c:pt idx="7">
                  <c:v>Q2 26</c:v>
                </c:pt>
              </c:strCache>
            </c:strRef>
          </c:cat>
          <c:val>
            <c:numRef>
              <c:f>Sheet1!$B$2:$B$9</c:f>
              <c:numCache>
                <c:formatCode>General</c:formatCode>
                <c:ptCount val="8"/>
                <c:pt idx="0">
                  <c:v>60</c:v>
                </c:pt>
                <c:pt idx="1">
                  <c:v>68</c:v>
                </c:pt>
                <c:pt idx="2">
                  <c:v>73</c:v>
                </c:pt>
                <c:pt idx="3">
                  <c:v>84</c:v>
                </c:pt>
                <c:pt idx="4">
                  <c:v>99</c:v>
                </c:pt>
                <c:pt idx="5">
                  <c:v>107</c:v>
                </c:pt>
                <c:pt idx="6">
                  <c:v>114</c:v>
                </c:pt>
                <c:pt idx="7">
                  <c:v>130</c:v>
                </c:pt>
              </c:numCache>
            </c:numRef>
          </c:val>
          <c:extLst>
            <c:ext xmlns:c16="http://schemas.microsoft.com/office/drawing/2014/chart" uri="{C3380CC4-5D6E-409C-BE32-E72D297353CC}">
              <c16:uniqueId val="{00000000-5851-40FC-80BC-CCE8946E2DA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max val="150"/>
          <c:min val="0"/>
        </c:scaling>
        <c:delete val="0"/>
        <c:axPos val="l"/>
        <c:majorGridlines>
          <c:spPr>
            <a:ln w="9525" cap="flat">
              <a:solidFill>
                <a:srgbClr val="E3E5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majorUnit val="5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6F7271"/>
                </a:solidFill>
                <a:latin typeface="+mn-lt"/>
              </a:defRPr>
            </a:pPr>
            <a:r>
              <a:rPr lang="en-US" sz="1400" b="0" i="0" u="none" strike="noStrike">
                <a:solidFill>
                  <a:srgbClr val="6F7271"/>
                </a:solidFill>
                <a:latin typeface="+mn-lt"/>
              </a:rPr>
              <a:t>Value per quarter (JOD billions)</a:t>
            </a:r>
          </a:p>
        </c:rich>
      </c:tx>
      <c:overlay val="0"/>
    </c:title>
    <c:autoTitleDeleted val="0"/>
    <c:plotArea>
      <c:layout/>
      <c:barChart>
        <c:barDir val="col"/>
        <c:grouping val="clustered"/>
        <c:varyColors val="0"/>
        <c:ser>
          <c:idx val="0"/>
          <c:order val="0"/>
          <c:tx>
            <c:strRef>
              <c:f>Sheet1!$B$1</c:f>
              <c:strCache>
                <c:ptCount val="1"/>
                <c:pt idx="0">
                  <c:v>Value (JOD billions)</c:v>
                </c:pt>
              </c:strCache>
            </c:strRef>
          </c:tx>
          <c:spPr>
            <a:solidFill>
              <a:srgbClr val="243746"/>
            </a:solidFill>
            <a:effectLst/>
          </c:spPr>
          <c:invertIfNegative val="0"/>
          <c:dLbls>
            <c:numFmt formatCode="0.0" sourceLinked="0"/>
            <c:spPr>
              <a:noFill/>
              <a:ln>
                <a:noFill/>
              </a:ln>
              <a:effectLst/>
            </c:spPr>
            <c:txPr>
              <a:bodyPr/>
              <a:lstStyle/>
              <a:p>
                <a:pPr>
                  <a:defRPr sz="1100" b="0" i="0" u="none" strike="noStrike">
                    <a:solidFill>
                      <a:srgbClr val="2437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24</c:v>
                </c:pt>
                <c:pt idx="1">
                  <c:v>Q4 24</c:v>
                </c:pt>
                <c:pt idx="2">
                  <c:v>Q1 25</c:v>
                </c:pt>
                <c:pt idx="3">
                  <c:v>Q2 25</c:v>
                </c:pt>
                <c:pt idx="4">
                  <c:v>Q3 25</c:v>
                </c:pt>
                <c:pt idx="5">
                  <c:v>Q4 25</c:v>
                </c:pt>
                <c:pt idx="6">
                  <c:v>Q1 26</c:v>
                </c:pt>
                <c:pt idx="7">
                  <c:v>Q2 26</c:v>
                </c:pt>
              </c:strCache>
            </c:strRef>
          </c:cat>
          <c:val>
            <c:numRef>
              <c:f>Sheet1!$B$2:$B$9</c:f>
              <c:numCache>
                <c:formatCode>General</c:formatCode>
                <c:ptCount val="8"/>
                <c:pt idx="0">
                  <c:v>21.1</c:v>
                </c:pt>
                <c:pt idx="1">
                  <c:v>21.6</c:v>
                </c:pt>
                <c:pt idx="2">
                  <c:v>21.4</c:v>
                </c:pt>
                <c:pt idx="3">
                  <c:v>22.4</c:v>
                </c:pt>
                <c:pt idx="4">
                  <c:v>24.6</c:v>
                </c:pt>
                <c:pt idx="5">
                  <c:v>25</c:v>
                </c:pt>
                <c:pt idx="6">
                  <c:v>23.8</c:v>
                </c:pt>
                <c:pt idx="7">
                  <c:v>24.8</c:v>
                </c:pt>
              </c:numCache>
            </c:numRef>
          </c:val>
          <c:extLst>
            <c:ext xmlns:c16="http://schemas.microsoft.com/office/drawing/2014/chart" uri="{C3380CC4-5D6E-409C-BE32-E72D297353CC}">
              <c16:uniqueId val="{00000000-6983-4F40-A783-637072ADF662}"/>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9525" cap="flat">
              <a:solidFill>
                <a:srgbClr val="E3E5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6F7271"/>
                </a:solidFill>
                <a:latin typeface="+mn-lt"/>
              </a:defRPr>
            </a:pPr>
            <a:r>
              <a:rPr lang="en-US" sz="1400" b="0" i="0" u="none" strike="noStrike">
                <a:solidFill>
                  <a:srgbClr val="6F7271"/>
                </a:solidFill>
                <a:latin typeface="+mn-lt"/>
              </a:rPr>
              <a:t>Average transaction value (JOD), all systems combined</a:t>
            </a:r>
          </a:p>
        </c:rich>
      </c:tx>
      <c:overlay val="0"/>
    </c:title>
    <c:autoTitleDeleted val="0"/>
    <c:plotArea>
      <c:layout/>
      <c:lineChart>
        <c:grouping val="standard"/>
        <c:varyColors val="0"/>
        <c:ser>
          <c:idx val="0"/>
          <c:order val="0"/>
          <c:tx>
            <c:strRef>
              <c:f>Sheet1!$B$1</c:f>
              <c:strCache>
                <c:ptCount val="1"/>
                <c:pt idx="0">
                  <c:v>Average transaction value (JOD)</c:v>
                </c:pt>
              </c:strCache>
            </c:strRef>
          </c:tx>
          <c:spPr>
            <a:ln w="38100" cap="flat">
              <a:solidFill>
                <a:srgbClr val="243746"/>
              </a:solidFill>
              <a:prstDash val="solid"/>
              <a:round/>
            </a:ln>
            <a:effectLst/>
          </c:spPr>
          <c:marker>
            <c:symbol val="circle"/>
            <c:size val="9"/>
            <c:spPr>
              <a:solidFill>
                <a:srgbClr val="243746"/>
              </a:solidFill>
              <a:ln w="9525" cap="flat">
                <a:solidFill>
                  <a:srgbClr val="243746"/>
                </a:solidFill>
                <a:prstDash val="solid"/>
                <a:round/>
              </a:ln>
              <a:effectLst/>
            </c:spPr>
          </c:marker>
          <c:dLbls>
            <c:numFmt formatCode="0.0" sourceLinked="0"/>
            <c:spPr>
              <a:noFill/>
              <a:ln>
                <a:noFill/>
              </a:ln>
              <a:effectLst/>
            </c:spPr>
            <c:txPr>
              <a:bodyPr/>
              <a:lstStyle/>
              <a:p>
                <a:pPr>
                  <a:defRPr sz="1100" b="0" i="0" u="none" strike="noStrike">
                    <a:solidFill>
                      <a:srgbClr val="243746"/>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Q3 24</c:v>
                </c:pt>
                <c:pt idx="1">
                  <c:v>Q4 24</c:v>
                </c:pt>
                <c:pt idx="2">
                  <c:v>Q1 25</c:v>
                </c:pt>
                <c:pt idx="3">
                  <c:v>Q2 25</c:v>
                </c:pt>
                <c:pt idx="4">
                  <c:v>Q3 25</c:v>
                </c:pt>
                <c:pt idx="5">
                  <c:v>Q4 25</c:v>
                </c:pt>
                <c:pt idx="6">
                  <c:v>Q1 26</c:v>
                </c:pt>
                <c:pt idx="7">
                  <c:v>Q2 26</c:v>
                </c:pt>
              </c:strCache>
            </c:strRef>
          </c:cat>
          <c:val>
            <c:numRef>
              <c:f>Sheet1!$B$2:$B$9</c:f>
              <c:numCache>
                <c:formatCode>General</c:formatCode>
                <c:ptCount val="8"/>
                <c:pt idx="0">
                  <c:v>349.8</c:v>
                </c:pt>
                <c:pt idx="1">
                  <c:v>319.7</c:v>
                </c:pt>
                <c:pt idx="2">
                  <c:v>290.89999999999998</c:v>
                </c:pt>
                <c:pt idx="3">
                  <c:v>264.89999999999998</c:v>
                </c:pt>
                <c:pt idx="4">
                  <c:v>248</c:v>
                </c:pt>
                <c:pt idx="5">
                  <c:v>233.5</c:v>
                </c:pt>
                <c:pt idx="6">
                  <c:v>209.2</c:v>
                </c:pt>
                <c:pt idx="7">
                  <c:v>190.4</c:v>
                </c:pt>
              </c:numCache>
            </c:numRef>
          </c:val>
          <c:smooth val="0"/>
          <c:extLst>
            <c:ext xmlns:c16="http://schemas.microsoft.com/office/drawing/2014/chart" uri="{C3380CC4-5D6E-409C-BE32-E72D297353CC}">
              <c16:uniqueId val="{00000000-B236-4118-BBBF-156224714B69}"/>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7271"/>
                </a:solidFill>
                <a:latin typeface="+mn-lt"/>
              </a:defRPr>
            </a:pPr>
            <a:endParaRPr lang="en-US"/>
          </a:p>
        </c:txPr>
        <c:crossAx val="2094734552"/>
        <c:crosses val="autoZero"/>
        <c:auto val="1"/>
        <c:lblAlgn val="ctr"/>
        <c:lblOffset val="100"/>
        <c:noMultiLvlLbl val="1"/>
      </c:catAx>
      <c:valAx>
        <c:axId val="2094734552"/>
        <c:scaling>
          <c:orientation val="minMax"/>
          <c:max val="400"/>
          <c:min val="0"/>
        </c:scaling>
        <c:delete val="0"/>
        <c:axPos val="l"/>
        <c:majorGridlines>
          <c:spPr>
            <a:ln w="9525" cap="flat">
              <a:solidFill>
                <a:srgbClr val="E3E5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majorUnit val="10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1217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the reports are accurate and consistent, but they tell us what happened, not why. Point to the marker key: derived figures were calculated from the published reports.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significant gap is limited analytical depth. Example: eFAWATEERcom's total transaction value fell 12.0% in Q1 2026, and the report gives no sign of what drove it, such as a biller category or a seasonal effect. Researchers cannot validate trends; investors cannot judge whether growth is sustainable. The reports themselves are consistent and well structured.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on one slide: each tile shows how reporting works today and how it should work. All of it uses only data already available in JoPACC's dataset. Recommendation 1 comes first because the others build on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the hierarchy to the IPS, the IPS section would be restructured around it. Figures from CliQ and JoMoPay are combined under one shared structure: entities (business, merchant, government, agent) and individuals first, then individuals by nationality, age group and gender.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level the report shows users, transactions and transaction value, using only published data. The same structure can power an interactive view so readers drill down from the system total to the most detailed breakdown. Categories with very small counts are grouped to protect confidentiality.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recommendation is presented first because the others build upon it. The rest can be implemented without an interactive interface, but interactivity greatly extends what the reports can offer, so they can serve a wider range of readers.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the systems into one trend view: payment volume grew from about 60 million to 130 million transactions per quarter between Q3 2024 and Q2 2026, while total value rose only from JOD 21.1 billion to JOD 24.8 billion. Systems combined: CliQ, JoMoPay, eFAWATEERcom, ECCU and ACH (JOD-denominated only).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notable movement in the quarterly reports came in Q3 2025, when the number of transactions was low relative to value. That led to a manual calculation of the average transaction value for each quarter. Average = total value divided by total volume. It fell from JOD 349.8 to JOD 190.4, roughly 45%. Growth comes from more, smaller payments.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the average helps researchers and investors interpret growth correctly, and helps operations and risk teams plan capacity and set monitoring thresholds. Totals alone do not reveal that growth is driven by many smaller payments.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is total value divided by total volume, so a small number of very large transactions can raise it significantly. The mode (most frequent value) or the median (middle value) would better represent a standard transaction, but they cannot be calculated from the published reports, which have no individual transaction values or distribution. So the average is the best indicator available.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 open questions to invite discussion.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548640" y="6355080"/>
            <a:ext cx="6400800" cy="274320"/>
          </a:xfrm>
          <a:prstGeom prst="rect">
            <a:avLst/>
          </a:prstGeom>
          <a:noFill/>
          <a:ln/>
        </p:spPr>
        <p:txBody>
          <a:bodyPr wrap="square" lIns="0" tIns="0" rIns="0" bIns="0" rtlCol="0" anchor="ctr"/>
          <a:lstStyle/>
          <a:p>
            <a:pPr marL="0" indent="0">
              <a:buNone/>
            </a:pPr>
            <a:r>
              <a:rPr lang="en-US" sz="1000" dirty="0">
                <a:solidFill>
                  <a:schemeClr val="tx2"/>
                </a:solidFill>
              </a:rPr>
              <a:t>JoPACC  |  Gaps identified and recommendations</a:t>
            </a:r>
            <a:endParaRPr lang="en-US" sz="10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4374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 large"/>
          <p:cNvSpPr/>
          <p:nvPr/>
        </p:nvSpPr>
        <p:spPr>
          <a:xfrm>
            <a:off x="8595360" y="-1188720"/>
            <a:ext cx="5120640" cy="5120640"/>
          </a:xfrm>
          <a:prstGeom prst="ellipse">
            <a:avLst/>
          </a:prstGeom>
          <a:solidFill>
            <a:schemeClr val="accent2">
              <a:alpha val="20000"/>
            </a:schemeClr>
          </a:solidFill>
          <a:ln w="12700">
            <a:solidFill>
              <a:schemeClr val="accent2">
                <a:alpha val="0"/>
              </a:schemeClr>
            </a:solidFill>
            <a:prstDash val="solid"/>
          </a:ln>
        </p:spPr>
      </p:sp>
      <p:sp>
        <p:nvSpPr>
          <p:cNvPr id="3" name="Circle small"/>
          <p:cNvSpPr/>
          <p:nvPr/>
        </p:nvSpPr>
        <p:spPr>
          <a:xfrm>
            <a:off x="9966960" y="3291840"/>
            <a:ext cx="3200400" cy="3200400"/>
          </a:xfrm>
          <a:prstGeom prst="ellipse">
            <a:avLst/>
          </a:prstGeom>
          <a:solidFill>
            <a:schemeClr val="accent2">
              <a:alpha val="50000"/>
            </a:schemeClr>
          </a:solidFill>
          <a:ln w="12700">
            <a:solidFill>
              <a:schemeClr val="accent2">
                <a:alpha val="0"/>
              </a:schemeClr>
            </a:solidFill>
            <a:prstDash val="solid"/>
          </a:ln>
        </p:spPr>
      </p:sp>
      <p:sp>
        <p:nvSpPr>
          <p:cNvPr id="4" name="Tag"/>
          <p:cNvSpPr/>
          <p:nvPr/>
        </p:nvSpPr>
        <p:spPr>
          <a:xfrm>
            <a:off x="731520" y="1188720"/>
            <a:ext cx="1554480" cy="457200"/>
          </a:xfrm>
          <a:prstGeom prst="roundRect">
            <a:avLst>
              <a:gd name="adj" fmla="val 20000"/>
            </a:avLst>
          </a:prstGeom>
          <a:solidFill>
            <a:schemeClr val="accent2"/>
          </a:solidFill>
          <a:ln w="12700">
            <a:solidFill>
              <a:schemeClr val="accent2"/>
            </a:solidFill>
            <a:prstDash val="solid"/>
          </a:ln>
        </p:spPr>
      </p:sp>
      <p:sp>
        <p:nvSpPr>
          <p:cNvPr id="5" name="Text 3"/>
          <p:cNvSpPr txBox="1"/>
          <p:nvPr/>
        </p:nvSpPr>
        <p:spPr>
          <a:xfrm>
            <a:off x="731520" y="1188720"/>
            <a:ext cx="1554480" cy="457200"/>
          </a:xfrm>
          <a:prstGeom prst="rect">
            <a:avLst/>
          </a:prstGeom>
          <a:noFill/>
          <a:ln/>
        </p:spPr>
        <p:txBody>
          <a:bodyPr wrap="square" lIns="0" tIns="0" rIns="0" bIns="0" rtlCol="0" anchor="ctr"/>
          <a:lstStyle/>
          <a:p>
            <a:pPr marL="0" indent="0" algn="ctr">
              <a:buNone/>
            </a:pPr>
            <a:r>
              <a:rPr lang="en-US" sz="1400" b="1" dirty="0">
                <a:solidFill>
                  <a:schemeClr val="tx1"/>
                </a:solidFill>
                <a:latin typeface="Calibri" pitchFamily="34" charset="0"/>
                <a:ea typeface="Calibri" pitchFamily="34" charset="-122"/>
                <a:cs typeface="Calibri" pitchFamily="34" charset="-120"/>
              </a:rPr>
              <a:t>JoPACC</a:t>
            </a:r>
            <a:endParaRPr lang="en-US" sz="1400" dirty="0"/>
          </a:p>
        </p:txBody>
      </p:sp>
      <p:sp>
        <p:nvSpPr>
          <p:cNvPr id="6" name="Text 4"/>
          <p:cNvSpPr txBox="1"/>
          <p:nvPr/>
        </p:nvSpPr>
        <p:spPr>
          <a:xfrm>
            <a:off x="731520" y="2148840"/>
            <a:ext cx="8686800" cy="822960"/>
          </a:xfrm>
          <a:prstGeom prst="rect">
            <a:avLst/>
          </a:prstGeom>
          <a:noFill/>
          <a:ln/>
        </p:spPr>
        <p:txBody>
          <a:bodyPr wrap="square" lIns="0" tIns="0" rIns="0" bIns="0" rtlCol="0" anchor="ctr"/>
          <a:lstStyle/>
          <a:p>
            <a:pPr marL="0" indent="0">
              <a:buNone/>
            </a:pPr>
            <a:r>
              <a:rPr lang="en-US" sz="4000" b="1" dirty="0">
                <a:solidFill>
                  <a:schemeClr val="bg1"/>
                </a:solidFill>
                <a:latin typeface="Calibri" pitchFamily="34" charset="0"/>
                <a:ea typeface="Calibri" pitchFamily="34" charset="-122"/>
                <a:cs typeface="Calibri" pitchFamily="34" charset="-120"/>
              </a:rPr>
              <a:t>Gaps identified and recommendations</a:t>
            </a:r>
            <a:endParaRPr lang="en-US" sz="4000" dirty="0"/>
          </a:p>
        </p:txBody>
      </p:sp>
      <p:sp>
        <p:nvSpPr>
          <p:cNvPr id="7" name="Text 5"/>
          <p:cNvSpPr txBox="1"/>
          <p:nvPr/>
        </p:nvSpPr>
        <p:spPr>
          <a:xfrm>
            <a:off x="731520" y="3017520"/>
            <a:ext cx="8686800" cy="457200"/>
          </a:xfrm>
          <a:prstGeom prst="rect">
            <a:avLst/>
          </a:prstGeom>
          <a:noFill/>
          <a:ln/>
        </p:spPr>
        <p:txBody>
          <a:bodyPr wrap="square" lIns="0" tIns="0" rIns="0" bIns="0" rtlCol="0" anchor="ctr"/>
          <a:lstStyle/>
          <a:p>
            <a:pPr marL="0" indent="0">
              <a:buNone/>
            </a:pPr>
            <a:r>
              <a:rPr lang="en-US" sz="2000" dirty="0">
                <a:solidFill>
                  <a:schemeClr val="accent2"/>
                </a:solidFill>
                <a:latin typeface="Calibri" pitchFamily="34" charset="0"/>
                <a:ea typeface="Calibri" pitchFamily="34" charset="-122"/>
                <a:cs typeface="Calibri" pitchFamily="34" charset="-120"/>
              </a:rPr>
              <a:t>The reports show what happened. Readers also need to know why.</a:t>
            </a:r>
            <a:endParaRPr lang="en-US" sz="2000" dirty="0"/>
          </a:p>
        </p:txBody>
      </p:sp>
      <p:sp>
        <p:nvSpPr>
          <p:cNvPr id="8" name="Chip period"/>
          <p:cNvSpPr/>
          <p:nvPr/>
        </p:nvSpPr>
        <p:spPr>
          <a:xfrm>
            <a:off x="731520" y="5532120"/>
            <a:ext cx="2743200" cy="365760"/>
          </a:xfrm>
          <a:prstGeom prst="roundRect">
            <a:avLst>
              <a:gd name="adj" fmla="val 15000"/>
            </a:avLst>
          </a:prstGeom>
          <a:solidFill>
            <a:schemeClr val="accent2"/>
          </a:solidFill>
          <a:ln w="12700">
            <a:solidFill>
              <a:schemeClr val="accent2"/>
            </a:solidFill>
            <a:prstDash val="solid"/>
          </a:ln>
        </p:spPr>
      </p:sp>
      <p:sp>
        <p:nvSpPr>
          <p:cNvPr id="9" name="Text 7"/>
          <p:cNvSpPr txBox="1"/>
          <p:nvPr/>
        </p:nvSpPr>
        <p:spPr>
          <a:xfrm>
            <a:off x="731520" y="5532120"/>
            <a:ext cx="2743200" cy="36576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Q3 2024 to Q2 2026 quarterly reports</a:t>
            </a:r>
            <a:endParaRPr lang="en-US" sz="1100" dirty="0"/>
          </a:p>
        </p:txBody>
      </p:sp>
      <p:sp>
        <p:nvSpPr>
          <p:cNvPr id="10" name="Chip derived"/>
          <p:cNvSpPr/>
          <p:nvPr/>
        </p:nvSpPr>
        <p:spPr>
          <a:xfrm>
            <a:off x="3657600" y="5532120"/>
            <a:ext cx="3108960" cy="365760"/>
          </a:xfrm>
          <a:prstGeom prst="roundRect">
            <a:avLst>
              <a:gd name="adj" fmla="val 15000"/>
            </a:avLst>
          </a:prstGeom>
          <a:solidFill>
            <a:schemeClr val="bg2"/>
          </a:solidFill>
          <a:ln w="12700">
            <a:solidFill>
              <a:schemeClr val="bg2"/>
            </a:solidFill>
            <a:prstDash val="solid"/>
          </a:ln>
        </p:spPr>
      </p:sp>
      <p:sp>
        <p:nvSpPr>
          <p:cNvPr id="11" name="Text 9"/>
          <p:cNvSpPr txBox="1"/>
          <p:nvPr/>
        </p:nvSpPr>
        <p:spPr>
          <a:xfrm>
            <a:off x="3657600" y="5532120"/>
            <a:ext cx="3108960" cy="36576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DERIVED = calculated from reports</a:t>
            </a:r>
            <a:endParaRPr lang="en-US" sz="1100" dirty="0"/>
          </a:p>
        </p:txBody>
      </p:sp>
      <p:sp>
        <p:nvSpPr>
          <p:cNvPr id="12" name="Text 10"/>
          <p:cNvSpPr txBox="1"/>
          <p:nvPr/>
        </p:nvSpPr>
        <p:spPr>
          <a:xfrm>
            <a:off x="6949440" y="5532120"/>
            <a:ext cx="3840480" cy="365760"/>
          </a:xfrm>
          <a:prstGeom prst="rect">
            <a:avLst/>
          </a:prstGeom>
          <a:noFill/>
          <a:ln/>
        </p:spPr>
        <p:txBody>
          <a:bodyPr wrap="square" lIns="0" tIns="0" rIns="0" bIns="0" rtlCol="0" anchor="ctr"/>
          <a:lstStyle/>
          <a:p>
            <a:pPr marL="0" indent="0">
              <a:buNone/>
            </a:pPr>
            <a:r>
              <a:rPr lang="en-US" sz="1200" dirty="0">
                <a:solidFill>
                  <a:srgbClr val="9EA1A2"/>
                </a:solidFill>
                <a:latin typeface="Calibri" pitchFamily="34" charset="0"/>
                <a:ea typeface="Calibri" pitchFamily="34" charset="-122"/>
                <a:cs typeface="Calibri" pitchFamily="34" charset="-120"/>
              </a:rPr>
              <a:t>Unmarked figures come from the JoPACC reports.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The reports describe what happened, not why</a:t>
            </a:r>
            <a:endParaRPr lang="en-US" sz="2800" dirty="0"/>
          </a:p>
        </p:txBody>
      </p:sp>
      <p:sp>
        <p:nvSpPr>
          <p:cNvPr id="4" name="Card eFAWATEERcom"/>
          <p:cNvSpPr/>
          <p:nvPr/>
        </p:nvSpPr>
        <p:spPr>
          <a:xfrm>
            <a:off x="548640" y="1371600"/>
            <a:ext cx="3575304" cy="3566160"/>
          </a:xfrm>
          <a:prstGeom prst="roundRect">
            <a:avLst>
              <a:gd name="adj" fmla="val 3846"/>
            </a:avLst>
          </a:prstGeom>
          <a:solidFill>
            <a:schemeClr val="bg2"/>
          </a:solidFill>
          <a:ln w="12700">
            <a:solidFill>
              <a:schemeClr val="bg2"/>
            </a:solidFill>
            <a:prstDash val="solid"/>
          </a:ln>
        </p:spPr>
      </p:sp>
      <p:sp>
        <p:nvSpPr>
          <p:cNvPr id="5" name="Text 2"/>
          <p:cNvSpPr txBox="1"/>
          <p:nvPr/>
        </p:nvSpPr>
        <p:spPr>
          <a:xfrm>
            <a:off x="822960" y="1554480"/>
            <a:ext cx="3017520" cy="365760"/>
          </a:xfrm>
          <a:prstGeom prst="rect">
            <a:avLst/>
          </a:prstGeom>
          <a:noFill/>
          <a:ln/>
        </p:spPr>
        <p:txBody>
          <a:bodyPr wrap="square" lIns="0" tIns="0" rIns="0" bIns="0" rtlCol="0" anchor="ctr"/>
          <a:lstStyle/>
          <a:p>
            <a:pPr marL="0" indent="0">
              <a:buNone/>
            </a:pPr>
            <a:r>
              <a:rPr lang="en-US" sz="1500" b="1" dirty="0">
                <a:solidFill>
                  <a:schemeClr val="accent3"/>
                </a:solidFill>
                <a:latin typeface="Calibri" pitchFamily="34" charset="0"/>
                <a:ea typeface="Calibri" pitchFamily="34" charset="-122"/>
                <a:cs typeface="Calibri" pitchFamily="34" charset="-120"/>
              </a:rPr>
              <a:t>eFAWATEERcom</a:t>
            </a:r>
            <a:endParaRPr lang="en-US" sz="1500" dirty="0"/>
          </a:p>
        </p:txBody>
      </p:sp>
      <p:sp>
        <p:nvSpPr>
          <p:cNvPr id="6" name="Text 3"/>
          <p:cNvSpPr txBox="1"/>
          <p:nvPr/>
        </p:nvSpPr>
        <p:spPr>
          <a:xfrm>
            <a:off x="822960" y="2103120"/>
            <a:ext cx="3108960" cy="731520"/>
          </a:xfrm>
          <a:prstGeom prst="rect">
            <a:avLst/>
          </a:prstGeom>
          <a:noFill/>
          <a:ln/>
        </p:spPr>
        <p:txBody>
          <a:bodyPr wrap="square" lIns="0" tIns="0" rIns="0" bIns="0" rtlCol="0" anchor="ctr"/>
          <a:lstStyle/>
          <a:p>
            <a:pPr marL="0" indent="0">
              <a:buNone/>
            </a:pPr>
            <a:r>
              <a:rPr lang="en-US" sz="3600" b="1" dirty="0">
                <a:solidFill>
                  <a:srgbClr val="C0463C"/>
                </a:solidFill>
                <a:latin typeface="Calibri" pitchFamily="34" charset="0"/>
                <a:ea typeface="Calibri" pitchFamily="34" charset="-122"/>
                <a:cs typeface="Calibri" pitchFamily="34" charset="-120"/>
              </a:rPr>
              <a:t>-12.0%</a:t>
            </a:r>
            <a:endParaRPr lang="en-US" sz="3600" dirty="0"/>
          </a:p>
        </p:txBody>
      </p:sp>
      <p:sp>
        <p:nvSpPr>
          <p:cNvPr id="7" name="Text 4"/>
          <p:cNvSpPr txBox="1"/>
          <p:nvPr/>
        </p:nvSpPr>
        <p:spPr>
          <a:xfrm>
            <a:off x="822960" y="2834640"/>
            <a:ext cx="3108960" cy="320040"/>
          </a:xfrm>
          <a:prstGeom prst="rect">
            <a:avLst/>
          </a:prstGeom>
          <a:noFill/>
          <a:ln/>
        </p:spPr>
        <p:txBody>
          <a:bodyPr wrap="square" lIns="0" tIns="0" rIns="0" bIns="0" rtlCol="0" anchor="ctr"/>
          <a:lstStyle/>
          <a:p>
            <a:pPr marL="0" indent="0">
              <a:buNone/>
            </a:pPr>
            <a:r>
              <a:rPr lang="en-US" sz="1400" dirty="0">
                <a:solidFill>
                  <a:srgbClr val="6F7271"/>
                </a:solidFill>
                <a:latin typeface="Calibri" pitchFamily="34" charset="0"/>
                <a:ea typeface="Calibri" pitchFamily="34" charset="-122"/>
                <a:cs typeface="Calibri" pitchFamily="34" charset="-120"/>
              </a:rPr>
              <a:t>total value, Q1 2026</a:t>
            </a:r>
            <a:endParaRPr lang="en-US" sz="1400" dirty="0"/>
          </a:p>
        </p:txBody>
      </p:sp>
      <p:sp>
        <p:nvSpPr>
          <p:cNvPr id="8" name="Text 5"/>
          <p:cNvSpPr txBox="1"/>
          <p:nvPr/>
        </p:nvSpPr>
        <p:spPr>
          <a:xfrm>
            <a:off x="822960" y="3520440"/>
            <a:ext cx="3017520" cy="228600"/>
          </a:xfrm>
          <a:prstGeom prst="rect">
            <a:avLst/>
          </a:prstGeom>
          <a:noFill/>
          <a:ln/>
        </p:spPr>
        <p:txBody>
          <a:bodyPr wrap="square" lIns="0" tIns="0" rIns="0" bIns="0" rtlCol="0" anchor="ctr"/>
          <a:lstStyle/>
          <a:p>
            <a:pPr marL="0" indent="0">
              <a:buNone/>
            </a:pPr>
            <a:r>
              <a:rPr lang="en-US" sz="1000" b="1" dirty="0">
                <a:solidFill>
                  <a:srgbClr val="6F7271"/>
                </a:solidFill>
                <a:latin typeface="Calibri" pitchFamily="34" charset="0"/>
                <a:ea typeface="Calibri" pitchFamily="34" charset="-122"/>
                <a:cs typeface="Calibri" pitchFamily="34" charset="-120"/>
              </a:rPr>
              <a:t>REPORT</a:t>
            </a:r>
            <a:endParaRPr lang="en-US" sz="1000" dirty="0"/>
          </a:p>
        </p:txBody>
      </p:sp>
      <p:sp>
        <p:nvSpPr>
          <p:cNvPr id="9" name="Text 6"/>
          <p:cNvSpPr txBox="1"/>
          <p:nvPr/>
        </p:nvSpPr>
        <p:spPr>
          <a:xfrm>
            <a:off x="822960" y="3749040"/>
            <a:ext cx="3108960" cy="32004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Value fell. No driver given.</a:t>
            </a:r>
            <a:endParaRPr lang="en-US" sz="1600" dirty="0"/>
          </a:p>
        </p:txBody>
      </p:sp>
      <p:sp>
        <p:nvSpPr>
          <p:cNvPr id="10" name="Text 7"/>
          <p:cNvSpPr txBox="1"/>
          <p:nvPr/>
        </p:nvSpPr>
        <p:spPr>
          <a:xfrm>
            <a:off x="822960" y="4160520"/>
            <a:ext cx="3017520" cy="228600"/>
          </a:xfrm>
          <a:prstGeom prst="rect">
            <a:avLst/>
          </a:prstGeom>
          <a:noFill/>
          <a:ln/>
        </p:spPr>
        <p:txBody>
          <a:bodyPr wrap="square" lIns="0" tIns="0" rIns="0" bIns="0" rtlCol="0" anchor="ctr"/>
          <a:lstStyle/>
          <a:p>
            <a:pPr marL="0" indent="0">
              <a:buNone/>
            </a:pPr>
            <a:r>
              <a:rPr lang="en-US" sz="1000" b="1" dirty="0">
                <a:solidFill>
                  <a:srgbClr val="AE841F"/>
                </a:solidFill>
                <a:latin typeface="Calibri" pitchFamily="34" charset="0"/>
                <a:ea typeface="Calibri" pitchFamily="34" charset="-122"/>
                <a:cs typeface="Calibri" pitchFamily="34" charset="-120"/>
              </a:rPr>
              <a:t>MISSED</a:t>
            </a:r>
            <a:endParaRPr lang="en-US" sz="1000" dirty="0"/>
          </a:p>
        </p:txBody>
      </p:sp>
      <p:sp>
        <p:nvSpPr>
          <p:cNvPr id="11" name="Text 8"/>
          <p:cNvSpPr txBox="1"/>
          <p:nvPr/>
        </p:nvSpPr>
        <p:spPr>
          <a:xfrm>
            <a:off x="822960" y="4389120"/>
            <a:ext cx="3108960" cy="32004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Biller category or seasonal effect?</a:t>
            </a:r>
            <a:endParaRPr lang="en-US" sz="1600" dirty="0"/>
          </a:p>
        </p:txBody>
      </p:sp>
      <p:sp>
        <p:nvSpPr>
          <p:cNvPr id="12" name="Card Researchers"/>
          <p:cNvSpPr/>
          <p:nvPr/>
        </p:nvSpPr>
        <p:spPr>
          <a:xfrm>
            <a:off x="4306824" y="1371600"/>
            <a:ext cx="3575304" cy="3566160"/>
          </a:xfrm>
          <a:prstGeom prst="roundRect">
            <a:avLst>
              <a:gd name="adj" fmla="val 3846"/>
            </a:avLst>
          </a:prstGeom>
          <a:solidFill>
            <a:schemeClr val="bg2"/>
          </a:solidFill>
          <a:ln w="12700">
            <a:solidFill>
              <a:schemeClr val="bg2"/>
            </a:solidFill>
            <a:prstDash val="solid"/>
          </a:ln>
        </p:spPr>
      </p:sp>
      <p:sp>
        <p:nvSpPr>
          <p:cNvPr id="13" name="Text 10"/>
          <p:cNvSpPr txBox="1"/>
          <p:nvPr/>
        </p:nvSpPr>
        <p:spPr>
          <a:xfrm>
            <a:off x="4581144" y="1554480"/>
            <a:ext cx="3017520" cy="365760"/>
          </a:xfrm>
          <a:prstGeom prst="rect">
            <a:avLst/>
          </a:prstGeom>
          <a:noFill/>
          <a:ln/>
        </p:spPr>
        <p:txBody>
          <a:bodyPr wrap="square" lIns="0" tIns="0" rIns="0" bIns="0" rtlCol="0" anchor="ctr"/>
          <a:lstStyle/>
          <a:p>
            <a:pPr marL="0" indent="0">
              <a:buNone/>
            </a:pPr>
            <a:r>
              <a:rPr lang="en-US" sz="1500" b="1" dirty="0">
                <a:solidFill>
                  <a:schemeClr val="accent3"/>
                </a:solidFill>
                <a:latin typeface="Calibri" pitchFamily="34" charset="0"/>
                <a:ea typeface="Calibri" pitchFamily="34" charset="-122"/>
                <a:cs typeface="Calibri" pitchFamily="34" charset="-120"/>
              </a:rPr>
              <a:t>Researchers</a:t>
            </a:r>
            <a:endParaRPr lang="en-US" sz="1500" dirty="0"/>
          </a:p>
        </p:txBody>
      </p:sp>
      <p:sp>
        <p:nvSpPr>
          <p:cNvPr id="14" name="Text 11"/>
          <p:cNvSpPr txBox="1"/>
          <p:nvPr/>
        </p:nvSpPr>
        <p:spPr>
          <a:xfrm>
            <a:off x="4581144" y="2103120"/>
            <a:ext cx="3108960" cy="731520"/>
          </a:xfrm>
          <a:prstGeom prst="rect">
            <a:avLst/>
          </a:prstGeom>
          <a:noFill/>
          <a:ln/>
        </p:spPr>
        <p:txBody>
          <a:bodyPr wrap="square" lIns="0" tIns="0" rIns="0" bIns="0" rtlCol="0" anchor="ctr"/>
          <a:lstStyle/>
          <a:p>
            <a:pPr marL="0" indent="0">
              <a:buNone/>
            </a:pPr>
            <a:r>
              <a:rPr lang="en-US" sz="3600" b="1" dirty="0">
                <a:solidFill>
                  <a:srgbClr val="243746"/>
                </a:solidFill>
                <a:latin typeface="Calibri" pitchFamily="34" charset="0"/>
                <a:ea typeface="Calibri" pitchFamily="34" charset="-122"/>
                <a:cs typeface="Calibri" pitchFamily="34" charset="-120"/>
              </a:rPr>
              <a:t>No validation</a:t>
            </a:r>
            <a:endParaRPr lang="en-US" sz="3600" dirty="0"/>
          </a:p>
        </p:txBody>
      </p:sp>
      <p:sp>
        <p:nvSpPr>
          <p:cNvPr id="15" name="Text 12"/>
          <p:cNvSpPr txBox="1"/>
          <p:nvPr/>
        </p:nvSpPr>
        <p:spPr>
          <a:xfrm>
            <a:off x="4581144" y="2834640"/>
            <a:ext cx="3108960" cy="320040"/>
          </a:xfrm>
          <a:prstGeom prst="rect">
            <a:avLst/>
          </a:prstGeom>
          <a:noFill/>
          <a:ln/>
        </p:spPr>
        <p:txBody>
          <a:bodyPr wrap="square" lIns="0" tIns="0" rIns="0" bIns="0" rtlCol="0" anchor="ctr"/>
          <a:lstStyle/>
          <a:p>
            <a:pPr marL="0" indent="0">
              <a:buNone/>
            </a:pPr>
            <a:r>
              <a:rPr lang="en-US" sz="1400" dirty="0">
                <a:solidFill>
                  <a:srgbClr val="6F7271"/>
                </a:solidFill>
                <a:latin typeface="Calibri" pitchFamily="34" charset="0"/>
                <a:ea typeface="Calibri" pitchFamily="34" charset="-122"/>
                <a:cs typeface="Calibri" pitchFamily="34" charset="-120"/>
              </a:rPr>
              <a:t>trends cannot be checked</a:t>
            </a:r>
            <a:endParaRPr lang="en-US" sz="1400" dirty="0"/>
          </a:p>
        </p:txBody>
      </p:sp>
      <p:sp>
        <p:nvSpPr>
          <p:cNvPr id="16" name="Text 13"/>
          <p:cNvSpPr txBox="1"/>
          <p:nvPr/>
        </p:nvSpPr>
        <p:spPr>
          <a:xfrm>
            <a:off x="4581144" y="3520440"/>
            <a:ext cx="3017520" cy="228600"/>
          </a:xfrm>
          <a:prstGeom prst="rect">
            <a:avLst/>
          </a:prstGeom>
          <a:noFill/>
          <a:ln/>
        </p:spPr>
        <p:txBody>
          <a:bodyPr wrap="square" lIns="0" tIns="0" rIns="0" bIns="0" rtlCol="0" anchor="ctr"/>
          <a:lstStyle/>
          <a:p>
            <a:pPr marL="0" indent="0">
              <a:buNone/>
            </a:pPr>
            <a:r>
              <a:rPr lang="en-US" sz="1000" b="1" dirty="0">
                <a:solidFill>
                  <a:srgbClr val="6F7271"/>
                </a:solidFill>
                <a:latin typeface="Calibri" pitchFamily="34" charset="0"/>
                <a:ea typeface="Calibri" pitchFamily="34" charset="-122"/>
                <a:cs typeface="Calibri" pitchFamily="34" charset="-120"/>
              </a:rPr>
              <a:t>REPORT</a:t>
            </a:r>
            <a:endParaRPr lang="en-US" sz="1000" dirty="0"/>
          </a:p>
        </p:txBody>
      </p:sp>
      <p:sp>
        <p:nvSpPr>
          <p:cNvPr id="17" name="Text 14"/>
          <p:cNvSpPr txBox="1"/>
          <p:nvPr/>
        </p:nvSpPr>
        <p:spPr>
          <a:xfrm>
            <a:off x="4581144" y="3749040"/>
            <a:ext cx="3108960" cy="32004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The what, in limited detail.</a:t>
            </a:r>
            <a:endParaRPr lang="en-US" sz="1600" dirty="0"/>
          </a:p>
        </p:txBody>
      </p:sp>
      <p:sp>
        <p:nvSpPr>
          <p:cNvPr id="18" name="Text 15"/>
          <p:cNvSpPr txBox="1"/>
          <p:nvPr/>
        </p:nvSpPr>
        <p:spPr>
          <a:xfrm>
            <a:off x="4581144" y="4160520"/>
            <a:ext cx="3017520" cy="228600"/>
          </a:xfrm>
          <a:prstGeom prst="rect">
            <a:avLst/>
          </a:prstGeom>
          <a:noFill/>
          <a:ln/>
        </p:spPr>
        <p:txBody>
          <a:bodyPr wrap="square" lIns="0" tIns="0" rIns="0" bIns="0" rtlCol="0" anchor="ctr"/>
          <a:lstStyle/>
          <a:p>
            <a:pPr marL="0" indent="0">
              <a:buNone/>
            </a:pPr>
            <a:r>
              <a:rPr lang="en-US" sz="1000" b="1" dirty="0">
                <a:solidFill>
                  <a:srgbClr val="AE841F"/>
                </a:solidFill>
                <a:latin typeface="Calibri" pitchFamily="34" charset="0"/>
                <a:ea typeface="Calibri" pitchFamily="34" charset="-122"/>
                <a:cs typeface="Calibri" pitchFamily="34" charset="-120"/>
              </a:rPr>
              <a:t>MISSED</a:t>
            </a:r>
            <a:endParaRPr lang="en-US" sz="1000" dirty="0"/>
          </a:p>
        </p:txBody>
      </p:sp>
      <p:sp>
        <p:nvSpPr>
          <p:cNvPr id="19" name="Text 16"/>
          <p:cNvSpPr txBox="1"/>
          <p:nvPr/>
        </p:nvSpPr>
        <p:spPr>
          <a:xfrm>
            <a:off x="4581144" y="4389120"/>
            <a:ext cx="3108960" cy="32004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Drivers of users, volumes, values.</a:t>
            </a:r>
            <a:endParaRPr lang="en-US" sz="1600" dirty="0"/>
          </a:p>
        </p:txBody>
      </p:sp>
      <p:sp>
        <p:nvSpPr>
          <p:cNvPr id="20" name="Card Investors"/>
          <p:cNvSpPr/>
          <p:nvPr/>
        </p:nvSpPr>
        <p:spPr>
          <a:xfrm>
            <a:off x="8065008" y="1371600"/>
            <a:ext cx="3575304" cy="3566160"/>
          </a:xfrm>
          <a:prstGeom prst="roundRect">
            <a:avLst>
              <a:gd name="adj" fmla="val 3846"/>
            </a:avLst>
          </a:prstGeom>
          <a:solidFill>
            <a:schemeClr val="bg2"/>
          </a:solidFill>
          <a:ln w="12700">
            <a:solidFill>
              <a:schemeClr val="bg2"/>
            </a:solidFill>
            <a:prstDash val="solid"/>
          </a:ln>
        </p:spPr>
      </p:sp>
      <p:sp>
        <p:nvSpPr>
          <p:cNvPr id="21" name="Text 18"/>
          <p:cNvSpPr txBox="1"/>
          <p:nvPr/>
        </p:nvSpPr>
        <p:spPr>
          <a:xfrm>
            <a:off x="8339328" y="1554480"/>
            <a:ext cx="3017520" cy="365760"/>
          </a:xfrm>
          <a:prstGeom prst="rect">
            <a:avLst/>
          </a:prstGeom>
          <a:noFill/>
          <a:ln/>
        </p:spPr>
        <p:txBody>
          <a:bodyPr wrap="square" lIns="0" tIns="0" rIns="0" bIns="0" rtlCol="0" anchor="ctr"/>
          <a:lstStyle/>
          <a:p>
            <a:pPr marL="0" indent="0">
              <a:buNone/>
            </a:pPr>
            <a:r>
              <a:rPr lang="en-US" sz="1500" b="1" dirty="0">
                <a:solidFill>
                  <a:schemeClr val="accent3"/>
                </a:solidFill>
                <a:latin typeface="Calibri" pitchFamily="34" charset="0"/>
                <a:ea typeface="Calibri" pitchFamily="34" charset="-122"/>
                <a:cs typeface="Calibri" pitchFamily="34" charset="-120"/>
              </a:rPr>
              <a:t>Investors</a:t>
            </a:r>
            <a:endParaRPr lang="en-US" sz="1500" dirty="0"/>
          </a:p>
        </p:txBody>
      </p:sp>
      <p:sp>
        <p:nvSpPr>
          <p:cNvPr id="22" name="Text 19"/>
          <p:cNvSpPr txBox="1"/>
          <p:nvPr/>
        </p:nvSpPr>
        <p:spPr>
          <a:xfrm>
            <a:off x="8339328" y="2103120"/>
            <a:ext cx="3108960" cy="731520"/>
          </a:xfrm>
          <a:prstGeom prst="rect">
            <a:avLst/>
          </a:prstGeom>
          <a:noFill/>
          <a:ln/>
        </p:spPr>
        <p:txBody>
          <a:bodyPr wrap="square" lIns="0" tIns="0" rIns="0" bIns="0" rtlCol="0" anchor="ctr"/>
          <a:lstStyle/>
          <a:p>
            <a:pPr marL="0" indent="0">
              <a:buNone/>
            </a:pPr>
            <a:r>
              <a:rPr lang="en-US" sz="3600" b="1" dirty="0">
                <a:solidFill>
                  <a:srgbClr val="243746"/>
                </a:solidFill>
                <a:latin typeface="Calibri" pitchFamily="34" charset="0"/>
                <a:ea typeface="Calibri" pitchFamily="34" charset="-122"/>
                <a:cs typeface="Calibri" pitchFamily="34" charset="-120"/>
              </a:rPr>
              <a:t>Growth unclear</a:t>
            </a:r>
            <a:endParaRPr lang="en-US" sz="3600" dirty="0"/>
          </a:p>
        </p:txBody>
      </p:sp>
      <p:sp>
        <p:nvSpPr>
          <p:cNvPr id="23" name="Text 20"/>
          <p:cNvSpPr txBox="1"/>
          <p:nvPr/>
        </p:nvSpPr>
        <p:spPr>
          <a:xfrm>
            <a:off x="8339328" y="2834640"/>
            <a:ext cx="3108960" cy="320040"/>
          </a:xfrm>
          <a:prstGeom prst="rect">
            <a:avLst/>
          </a:prstGeom>
          <a:noFill/>
          <a:ln/>
        </p:spPr>
        <p:txBody>
          <a:bodyPr wrap="square" lIns="0" tIns="0" rIns="0" bIns="0" rtlCol="0" anchor="ctr"/>
          <a:lstStyle/>
          <a:p>
            <a:pPr marL="0" indent="0">
              <a:buNone/>
            </a:pPr>
            <a:r>
              <a:rPr lang="en-US" sz="1400" dirty="0">
                <a:solidFill>
                  <a:srgbClr val="6F7271"/>
                </a:solidFill>
                <a:latin typeface="Calibri" pitchFamily="34" charset="0"/>
                <a:ea typeface="Calibri" pitchFamily="34" charset="-122"/>
                <a:cs typeface="Calibri" pitchFamily="34" charset="-120"/>
              </a:rPr>
              <a:t>sustainability cannot be judged</a:t>
            </a:r>
            <a:endParaRPr lang="en-US" sz="1400" dirty="0"/>
          </a:p>
        </p:txBody>
      </p:sp>
      <p:sp>
        <p:nvSpPr>
          <p:cNvPr id="24" name="Text 21"/>
          <p:cNvSpPr txBox="1"/>
          <p:nvPr/>
        </p:nvSpPr>
        <p:spPr>
          <a:xfrm>
            <a:off x="8339328" y="3520440"/>
            <a:ext cx="3017520" cy="228600"/>
          </a:xfrm>
          <a:prstGeom prst="rect">
            <a:avLst/>
          </a:prstGeom>
          <a:noFill/>
          <a:ln/>
        </p:spPr>
        <p:txBody>
          <a:bodyPr wrap="square" lIns="0" tIns="0" rIns="0" bIns="0" rtlCol="0" anchor="ctr"/>
          <a:lstStyle/>
          <a:p>
            <a:pPr marL="0" indent="0">
              <a:buNone/>
            </a:pPr>
            <a:r>
              <a:rPr lang="en-US" sz="1000" b="1" dirty="0">
                <a:solidFill>
                  <a:srgbClr val="6F7271"/>
                </a:solidFill>
                <a:latin typeface="Calibri" pitchFamily="34" charset="0"/>
                <a:ea typeface="Calibri" pitchFamily="34" charset="-122"/>
                <a:cs typeface="Calibri" pitchFamily="34" charset="-120"/>
              </a:rPr>
              <a:t>REPORT</a:t>
            </a:r>
            <a:endParaRPr lang="en-US" sz="1000" dirty="0"/>
          </a:p>
        </p:txBody>
      </p:sp>
      <p:sp>
        <p:nvSpPr>
          <p:cNvPr id="25" name="Text 22"/>
          <p:cNvSpPr txBox="1"/>
          <p:nvPr/>
        </p:nvSpPr>
        <p:spPr>
          <a:xfrm>
            <a:off x="8339328" y="3749040"/>
            <a:ext cx="3108960" cy="32004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A reliable record of each quarter.</a:t>
            </a:r>
            <a:endParaRPr lang="en-US" sz="1600" dirty="0"/>
          </a:p>
        </p:txBody>
      </p:sp>
      <p:sp>
        <p:nvSpPr>
          <p:cNvPr id="26" name="Text 23"/>
          <p:cNvSpPr txBox="1"/>
          <p:nvPr/>
        </p:nvSpPr>
        <p:spPr>
          <a:xfrm>
            <a:off x="8339328" y="4160520"/>
            <a:ext cx="3017520" cy="228600"/>
          </a:xfrm>
          <a:prstGeom prst="rect">
            <a:avLst/>
          </a:prstGeom>
          <a:noFill/>
          <a:ln/>
        </p:spPr>
        <p:txBody>
          <a:bodyPr wrap="square" lIns="0" tIns="0" rIns="0" bIns="0" rtlCol="0" anchor="ctr"/>
          <a:lstStyle/>
          <a:p>
            <a:pPr marL="0" indent="0">
              <a:buNone/>
            </a:pPr>
            <a:r>
              <a:rPr lang="en-US" sz="1000" b="1" dirty="0">
                <a:solidFill>
                  <a:srgbClr val="AE841F"/>
                </a:solidFill>
                <a:latin typeface="Calibri" pitchFamily="34" charset="0"/>
                <a:ea typeface="Calibri" pitchFamily="34" charset="-122"/>
                <a:cs typeface="Calibri" pitchFamily="34" charset="-120"/>
              </a:rPr>
              <a:t>MISSED</a:t>
            </a:r>
            <a:endParaRPr lang="en-US" sz="1000" dirty="0"/>
          </a:p>
        </p:txBody>
      </p:sp>
      <p:sp>
        <p:nvSpPr>
          <p:cNvPr id="27" name="Text 24"/>
          <p:cNvSpPr txBox="1"/>
          <p:nvPr/>
        </p:nvSpPr>
        <p:spPr>
          <a:xfrm>
            <a:off x="8339328" y="4389120"/>
            <a:ext cx="3108960" cy="32004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Whether growth will last.</a:t>
            </a:r>
            <a:endParaRPr lang="en-US" sz="1600" dirty="0"/>
          </a:p>
        </p:txBody>
      </p:sp>
      <p:sp>
        <p:nvSpPr>
          <p:cNvPr id="28" name="Bar why"/>
          <p:cNvSpPr/>
          <p:nvPr/>
        </p:nvSpPr>
        <p:spPr>
          <a:xfrm>
            <a:off x="548640" y="5212080"/>
            <a:ext cx="11091672" cy="777240"/>
          </a:xfrm>
          <a:prstGeom prst="roundRect">
            <a:avLst>
              <a:gd name="adj" fmla="val 17647"/>
            </a:avLst>
          </a:prstGeom>
          <a:solidFill>
            <a:schemeClr val="bg2"/>
          </a:solidFill>
          <a:ln w="12700">
            <a:solidFill>
              <a:schemeClr val="bg2"/>
            </a:solidFill>
            <a:prstDash val="solid"/>
          </a:ln>
        </p:spPr>
      </p:sp>
      <p:sp>
        <p:nvSpPr>
          <p:cNvPr id="29" name="Text 26"/>
          <p:cNvSpPr txBox="1"/>
          <p:nvPr/>
        </p:nvSpPr>
        <p:spPr>
          <a:xfrm>
            <a:off x="822960" y="5212080"/>
            <a:ext cx="10515600" cy="77724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Why it matters:  </a:t>
            </a:r>
            <a:r>
              <a:rPr lang="en-US" sz="1600" dirty="0">
                <a:solidFill>
                  <a:schemeClr val="tx1"/>
                </a:solidFill>
                <a:latin typeface="Calibri" pitchFamily="34" charset="0"/>
                <a:ea typeface="Calibri" pitchFamily="34" charset="-122"/>
                <a:cs typeface="Calibri" pitchFamily="34" charset="-120"/>
              </a:rPr>
              <a:t>readers must rely on assumptions, which risks misleading conclusions.</a:t>
            </a:r>
            <a:endParaRPr lang="en-US" sz="1600" dirty="0"/>
          </a:p>
        </p:txBody>
      </p:sp>
      <p:sp>
        <p:nvSpPr>
          <p:cNvPr id="3"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Four recommendations to close the gap</a:t>
            </a:r>
            <a:endParaRPr lang="en-US" sz="2800" dirty="0"/>
          </a:p>
        </p:txBody>
      </p:sp>
      <p:sp>
        <p:nvSpPr>
          <p:cNvPr id="4" name="Tile 1"/>
          <p:cNvSpPr/>
          <p:nvPr/>
        </p:nvSpPr>
        <p:spPr>
          <a:xfrm>
            <a:off x="548640" y="1371600"/>
            <a:ext cx="5454396" cy="1783080"/>
          </a:xfrm>
          <a:prstGeom prst="roundRect">
            <a:avLst>
              <a:gd name="adj" fmla="val 7692"/>
            </a:avLst>
          </a:prstGeom>
          <a:solidFill>
            <a:schemeClr val="bg2"/>
          </a:solidFill>
          <a:ln w="12700">
            <a:solidFill>
              <a:schemeClr val="bg2"/>
            </a:solidFill>
            <a:prstDash val="solid"/>
          </a:ln>
        </p:spPr>
      </p:sp>
      <p:sp>
        <p:nvSpPr>
          <p:cNvPr id="5" name="Number 1"/>
          <p:cNvSpPr/>
          <p:nvPr/>
        </p:nvSpPr>
        <p:spPr>
          <a:xfrm>
            <a:off x="868680" y="1645920"/>
            <a:ext cx="502920" cy="502920"/>
          </a:xfrm>
          <a:prstGeom prst="ellipse">
            <a:avLst/>
          </a:prstGeom>
          <a:solidFill>
            <a:schemeClr val="accent2"/>
          </a:solidFill>
          <a:ln w="12700">
            <a:solidFill>
              <a:schemeClr val="accent2"/>
            </a:solidFill>
            <a:prstDash val="solid"/>
          </a:ln>
        </p:spPr>
      </p:sp>
      <p:sp>
        <p:nvSpPr>
          <p:cNvPr id="6" name="Text 3"/>
          <p:cNvSpPr txBox="1"/>
          <p:nvPr/>
        </p:nvSpPr>
        <p:spPr>
          <a:xfrm>
            <a:off x="868680" y="16459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600200" y="1645920"/>
            <a:ext cx="4114800" cy="50292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Interactive UI</a:t>
            </a:r>
            <a:endParaRPr lang="en-US" sz="2000" dirty="0"/>
          </a:p>
        </p:txBody>
      </p:sp>
      <p:sp>
        <p:nvSpPr>
          <p:cNvPr id="8" name="Text 5"/>
          <p:cNvSpPr txBox="1"/>
          <p:nvPr/>
        </p:nvSpPr>
        <p:spPr>
          <a:xfrm>
            <a:off x="868680" y="2423160"/>
            <a:ext cx="4846320" cy="457200"/>
          </a:xfrm>
          <a:prstGeom prst="rect">
            <a:avLst/>
          </a:prstGeom>
          <a:noFill/>
          <a:ln/>
        </p:spPr>
        <p:txBody>
          <a:bodyPr wrap="square" lIns="0" tIns="0" rIns="0" bIns="0" rtlCol="0" anchor="ctr"/>
          <a:lstStyle/>
          <a:p>
            <a:pPr marL="0" indent="0">
              <a:buNone/>
            </a:pPr>
            <a:r>
              <a:rPr lang="en-US" sz="1600" dirty="0">
                <a:solidFill>
                  <a:srgbClr val="6F7271"/>
                </a:solidFill>
                <a:latin typeface="Calibri" pitchFamily="34" charset="0"/>
                <a:ea typeface="Calibri" pitchFamily="34" charset="-122"/>
                <a:cs typeface="Calibri" pitchFamily="34" charset="-120"/>
              </a:rPr>
              <a:t>Static tables  </a:t>
            </a:r>
            <a:r>
              <a:rPr lang="en-US" sz="1600" b="1" dirty="0">
                <a:solidFill>
                  <a:schemeClr val="accent3"/>
                </a:solidFill>
                <a:latin typeface="Calibri" pitchFamily="34" charset="0"/>
                <a:ea typeface="Calibri" pitchFamily="34" charset="-122"/>
                <a:cs typeface="Calibri" pitchFamily="34" charset="-120"/>
              </a:rPr>
              <a:t>&gt;  </a:t>
            </a:r>
            <a:r>
              <a:rPr lang="en-US" sz="1600" b="1" dirty="0">
                <a:solidFill>
                  <a:schemeClr val="tx1"/>
                </a:solidFill>
                <a:latin typeface="Calibri" pitchFamily="34" charset="0"/>
                <a:ea typeface="Calibri" pitchFamily="34" charset="-122"/>
                <a:cs typeface="Calibri" pitchFamily="34" charset="-120"/>
              </a:rPr>
              <a:t>Drill-down by level</a:t>
            </a:r>
            <a:endParaRPr lang="en-US" sz="1600" dirty="0"/>
          </a:p>
        </p:txBody>
      </p:sp>
      <p:sp>
        <p:nvSpPr>
          <p:cNvPr id="9" name="Tile 2"/>
          <p:cNvSpPr/>
          <p:nvPr/>
        </p:nvSpPr>
        <p:spPr>
          <a:xfrm>
            <a:off x="6185916" y="1371600"/>
            <a:ext cx="5454396" cy="1783080"/>
          </a:xfrm>
          <a:prstGeom prst="roundRect">
            <a:avLst>
              <a:gd name="adj" fmla="val 7692"/>
            </a:avLst>
          </a:prstGeom>
          <a:solidFill>
            <a:schemeClr val="bg2"/>
          </a:solidFill>
          <a:ln w="12700">
            <a:solidFill>
              <a:schemeClr val="bg2"/>
            </a:solidFill>
            <a:prstDash val="solid"/>
          </a:ln>
        </p:spPr>
      </p:sp>
      <p:sp>
        <p:nvSpPr>
          <p:cNvPr id="10" name="Number 2"/>
          <p:cNvSpPr/>
          <p:nvPr/>
        </p:nvSpPr>
        <p:spPr>
          <a:xfrm>
            <a:off x="6505956" y="1645920"/>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6505956" y="16459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2" name="Text 9"/>
          <p:cNvSpPr txBox="1"/>
          <p:nvPr/>
        </p:nvSpPr>
        <p:spPr>
          <a:xfrm>
            <a:off x="7237476" y="1645920"/>
            <a:ext cx="4114800" cy="50292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Average transaction value</a:t>
            </a:r>
            <a:endParaRPr lang="en-US" sz="2000" dirty="0"/>
          </a:p>
        </p:txBody>
      </p:sp>
      <p:sp>
        <p:nvSpPr>
          <p:cNvPr id="13" name="Text 10"/>
          <p:cNvSpPr txBox="1"/>
          <p:nvPr/>
        </p:nvSpPr>
        <p:spPr>
          <a:xfrm>
            <a:off x="6505956" y="2423160"/>
            <a:ext cx="4846320" cy="457200"/>
          </a:xfrm>
          <a:prstGeom prst="rect">
            <a:avLst/>
          </a:prstGeom>
          <a:noFill/>
          <a:ln/>
        </p:spPr>
        <p:txBody>
          <a:bodyPr wrap="square" lIns="0" tIns="0" rIns="0" bIns="0" rtlCol="0" anchor="ctr"/>
          <a:lstStyle/>
          <a:p>
            <a:pPr marL="0" indent="0">
              <a:buNone/>
            </a:pPr>
            <a:r>
              <a:rPr lang="en-US" sz="1600" dirty="0">
                <a:solidFill>
                  <a:srgbClr val="6F7271"/>
                </a:solidFill>
                <a:latin typeface="Calibri" pitchFamily="34" charset="0"/>
                <a:ea typeface="Calibri" pitchFamily="34" charset="-122"/>
                <a:cs typeface="Calibri" pitchFamily="34" charset="-120"/>
              </a:rPr>
              <a:t>Totals only  </a:t>
            </a:r>
            <a:r>
              <a:rPr lang="en-US" sz="1600" b="1" dirty="0">
                <a:solidFill>
                  <a:schemeClr val="accent3"/>
                </a:solidFill>
                <a:latin typeface="Calibri" pitchFamily="34" charset="0"/>
                <a:ea typeface="Calibri" pitchFamily="34" charset="-122"/>
                <a:cs typeface="Calibri" pitchFamily="34" charset="-120"/>
              </a:rPr>
              <a:t>&gt;  </a:t>
            </a:r>
            <a:r>
              <a:rPr lang="en-US" sz="1600" b="1" dirty="0">
                <a:solidFill>
                  <a:schemeClr val="tx1"/>
                </a:solidFill>
                <a:latin typeface="Calibri" pitchFamily="34" charset="0"/>
                <a:ea typeface="Calibri" pitchFamily="34" charset="-122"/>
                <a:cs typeface="Calibri" pitchFamily="34" charset="-120"/>
              </a:rPr>
              <a:t>A standard metric</a:t>
            </a:r>
            <a:endParaRPr lang="en-US" sz="1600" dirty="0"/>
          </a:p>
        </p:txBody>
      </p:sp>
      <p:sp>
        <p:nvSpPr>
          <p:cNvPr id="14" name="Tile 3"/>
          <p:cNvSpPr/>
          <p:nvPr/>
        </p:nvSpPr>
        <p:spPr>
          <a:xfrm>
            <a:off x="548640" y="3337560"/>
            <a:ext cx="5454396" cy="1783080"/>
          </a:xfrm>
          <a:prstGeom prst="roundRect">
            <a:avLst>
              <a:gd name="adj" fmla="val 7692"/>
            </a:avLst>
          </a:prstGeom>
          <a:solidFill>
            <a:schemeClr val="bg2"/>
          </a:solidFill>
          <a:ln w="12700">
            <a:solidFill>
              <a:schemeClr val="bg2"/>
            </a:solidFill>
            <a:prstDash val="solid"/>
          </a:ln>
        </p:spPr>
      </p:sp>
      <p:sp>
        <p:nvSpPr>
          <p:cNvPr id="15" name="Number 3"/>
          <p:cNvSpPr/>
          <p:nvPr/>
        </p:nvSpPr>
        <p:spPr>
          <a:xfrm>
            <a:off x="868680" y="3611880"/>
            <a:ext cx="502920" cy="502920"/>
          </a:xfrm>
          <a:prstGeom prst="ellipse">
            <a:avLst/>
          </a:prstGeom>
          <a:solidFill>
            <a:schemeClr val="accent2"/>
          </a:solidFill>
          <a:ln w="12700">
            <a:solidFill>
              <a:schemeClr val="accent2"/>
            </a:solidFill>
            <a:prstDash val="solid"/>
          </a:ln>
        </p:spPr>
      </p:sp>
      <p:sp>
        <p:nvSpPr>
          <p:cNvPr id="16" name="Text 13"/>
          <p:cNvSpPr txBox="1"/>
          <p:nvPr/>
        </p:nvSpPr>
        <p:spPr>
          <a:xfrm>
            <a:off x="868680" y="361188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600200" y="3611880"/>
            <a:ext cx="4114800" cy="50292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Mode</a:t>
            </a:r>
            <a:endParaRPr lang="en-US" sz="2000" dirty="0"/>
          </a:p>
        </p:txBody>
      </p:sp>
      <p:sp>
        <p:nvSpPr>
          <p:cNvPr id="18" name="Text 15"/>
          <p:cNvSpPr txBox="1"/>
          <p:nvPr/>
        </p:nvSpPr>
        <p:spPr>
          <a:xfrm>
            <a:off x="868680" y="4389120"/>
            <a:ext cx="4846320" cy="457200"/>
          </a:xfrm>
          <a:prstGeom prst="rect">
            <a:avLst/>
          </a:prstGeom>
          <a:noFill/>
          <a:ln/>
        </p:spPr>
        <p:txBody>
          <a:bodyPr wrap="square" lIns="0" tIns="0" rIns="0" bIns="0" rtlCol="0" anchor="ctr"/>
          <a:lstStyle/>
          <a:p>
            <a:pPr marL="0" indent="0">
              <a:buNone/>
            </a:pPr>
            <a:r>
              <a:rPr lang="en-US" sz="1600" dirty="0">
                <a:solidFill>
                  <a:srgbClr val="6F7271"/>
                </a:solidFill>
                <a:latin typeface="Calibri" pitchFamily="34" charset="0"/>
                <a:ea typeface="Calibri" pitchFamily="34" charset="-122"/>
                <a:cs typeface="Calibri" pitchFamily="34" charset="-120"/>
              </a:rPr>
              <a:t>Average only  </a:t>
            </a:r>
            <a:r>
              <a:rPr lang="en-US" sz="1600" b="1" dirty="0">
                <a:solidFill>
                  <a:schemeClr val="accent3"/>
                </a:solidFill>
                <a:latin typeface="Calibri" pitchFamily="34" charset="0"/>
                <a:ea typeface="Calibri" pitchFamily="34" charset="-122"/>
                <a:cs typeface="Calibri" pitchFamily="34" charset="-120"/>
              </a:rPr>
              <a:t>&gt;  </a:t>
            </a:r>
            <a:r>
              <a:rPr lang="en-US" sz="1600" b="1" dirty="0">
                <a:solidFill>
                  <a:schemeClr val="tx1"/>
                </a:solidFill>
                <a:latin typeface="Calibri" pitchFamily="34" charset="0"/>
                <a:ea typeface="Calibri" pitchFamily="34" charset="-122"/>
                <a:cs typeface="Calibri" pitchFamily="34" charset="-120"/>
              </a:rPr>
              <a:t>Distribution by value range</a:t>
            </a:r>
            <a:endParaRPr lang="en-US" sz="1600" dirty="0"/>
          </a:p>
        </p:txBody>
      </p:sp>
      <p:sp>
        <p:nvSpPr>
          <p:cNvPr id="24" name="Bar data"/>
          <p:cNvSpPr/>
          <p:nvPr/>
        </p:nvSpPr>
        <p:spPr>
          <a:xfrm>
            <a:off x="548640" y="5349240"/>
            <a:ext cx="11091672" cy="731520"/>
          </a:xfrm>
          <a:prstGeom prst="roundRect">
            <a:avLst>
              <a:gd name="adj" fmla="val 18750"/>
            </a:avLst>
          </a:prstGeom>
          <a:solidFill>
            <a:schemeClr val="bg2"/>
          </a:solidFill>
          <a:ln w="12700">
            <a:solidFill>
              <a:schemeClr val="bg2"/>
            </a:solidFill>
            <a:prstDash val="solid"/>
          </a:ln>
        </p:spPr>
      </p:sp>
      <p:sp>
        <p:nvSpPr>
          <p:cNvPr id="25" name="Text 22"/>
          <p:cNvSpPr txBox="1"/>
          <p:nvPr/>
        </p:nvSpPr>
        <p:spPr>
          <a:xfrm>
            <a:off x="822960" y="5349240"/>
            <a:ext cx="1051560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Only existing data:  </a:t>
            </a:r>
            <a:r>
              <a:rPr lang="en-US" sz="1600" dirty="0">
                <a:solidFill>
                  <a:schemeClr val="tx1"/>
                </a:solidFill>
                <a:latin typeface="Calibri" pitchFamily="34" charset="0"/>
                <a:ea typeface="Calibri" pitchFamily="34" charset="-122"/>
                <a:cs typeface="Calibri" pitchFamily="34" charset="-120"/>
              </a:rPr>
              <a:t>every recommendation uses figures already in JoPACC's dataset.</a:t>
            </a:r>
            <a:endParaRPr lang="en-US" sz="1600" dirty="0"/>
          </a:p>
        </p:txBody>
      </p:sp>
      <p:sp>
        <p:nvSpPr>
          <p:cNvPr id="3"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One shared hierarchy to organise IPS reporting</a:t>
            </a:r>
            <a:endParaRPr lang="en-US" sz="2800" dirty="0"/>
          </a:p>
        </p:txBody>
      </p:sp>
      <p:sp>
        <p:nvSpPr>
          <p:cNvPr id="4" name="Step card 1"/>
          <p:cNvSpPr/>
          <p:nvPr/>
        </p:nvSpPr>
        <p:spPr>
          <a:xfrm>
            <a:off x="548640" y="1371600"/>
            <a:ext cx="4846320" cy="1097280"/>
          </a:xfrm>
          <a:prstGeom prst="roundRect">
            <a:avLst>
              <a:gd name="adj" fmla="val 12500"/>
            </a:avLst>
          </a:prstGeom>
          <a:solidFill>
            <a:schemeClr val="bg2"/>
          </a:solidFill>
          <a:ln w="12700">
            <a:solidFill>
              <a:schemeClr val="bg2"/>
            </a:solidFill>
            <a:prstDash val="solid"/>
          </a:ln>
        </p:spPr>
      </p:sp>
      <p:sp>
        <p:nvSpPr>
          <p:cNvPr id="5" name="Step number 1"/>
          <p:cNvSpPr/>
          <p:nvPr/>
        </p:nvSpPr>
        <p:spPr>
          <a:xfrm>
            <a:off x="822960" y="1673352"/>
            <a:ext cx="502920" cy="502920"/>
          </a:xfrm>
          <a:prstGeom prst="ellipse">
            <a:avLst/>
          </a:prstGeom>
          <a:solidFill>
            <a:schemeClr val="accent2"/>
          </a:solidFill>
          <a:ln w="12700">
            <a:solidFill>
              <a:schemeClr val="accent2"/>
            </a:solidFill>
            <a:prstDash val="solid"/>
          </a:ln>
        </p:spPr>
      </p:sp>
      <p:sp>
        <p:nvSpPr>
          <p:cNvPr id="6" name="Text 3"/>
          <p:cNvSpPr txBox="1"/>
          <p:nvPr/>
        </p:nvSpPr>
        <p:spPr>
          <a:xfrm>
            <a:off x="822960" y="1673352"/>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554480" y="1536192"/>
            <a:ext cx="3657600" cy="4114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Entities and individuals</a:t>
            </a:r>
            <a:endParaRPr lang="en-US" sz="1800" dirty="0"/>
          </a:p>
        </p:txBody>
      </p:sp>
      <p:sp>
        <p:nvSpPr>
          <p:cNvPr id="8" name="Text 5"/>
          <p:cNvSpPr txBox="1"/>
          <p:nvPr/>
        </p:nvSpPr>
        <p:spPr>
          <a:xfrm>
            <a:off x="1554480" y="1938528"/>
            <a:ext cx="3657600" cy="365760"/>
          </a:xfrm>
          <a:prstGeom prst="rect">
            <a:avLst/>
          </a:prstGeom>
          <a:noFill/>
          <a:ln/>
        </p:spPr>
        <p:txBody>
          <a:bodyPr wrap="square" lIns="0" tIns="0" rIns="0" bIns="0" rtlCol="0" anchor="t"/>
          <a:lstStyle/>
          <a:p>
            <a:pPr marL="0" indent="0">
              <a:buNone/>
            </a:pPr>
            <a:r>
              <a:rPr lang="en-US" sz="1400" dirty="0">
                <a:solidFill>
                  <a:srgbClr val="6F7271"/>
                </a:solidFill>
                <a:latin typeface="Calibri" pitchFamily="34" charset="0"/>
                <a:ea typeface="Calibri" pitchFamily="34" charset="-122"/>
                <a:cs typeface="Calibri" pitchFamily="34" charset="-120"/>
              </a:rPr>
              <a:t>Entities: business, merchant, government, agent</a:t>
            </a:r>
            <a:endParaRPr lang="en-US" sz="1400" dirty="0"/>
          </a:p>
        </p:txBody>
      </p:sp>
      <p:sp>
        <p:nvSpPr>
          <p:cNvPr id="9" name="Step card 2"/>
          <p:cNvSpPr/>
          <p:nvPr/>
        </p:nvSpPr>
        <p:spPr>
          <a:xfrm>
            <a:off x="548640" y="2651760"/>
            <a:ext cx="4846320" cy="1097280"/>
          </a:xfrm>
          <a:prstGeom prst="roundRect">
            <a:avLst>
              <a:gd name="adj" fmla="val 12500"/>
            </a:avLst>
          </a:prstGeom>
          <a:solidFill>
            <a:schemeClr val="bg2"/>
          </a:solidFill>
          <a:ln w="12700">
            <a:solidFill>
              <a:schemeClr val="bg2"/>
            </a:solidFill>
            <a:prstDash val="solid"/>
          </a:ln>
        </p:spPr>
      </p:sp>
      <p:sp>
        <p:nvSpPr>
          <p:cNvPr id="10" name="Step number 2"/>
          <p:cNvSpPr/>
          <p:nvPr/>
        </p:nvSpPr>
        <p:spPr>
          <a:xfrm>
            <a:off x="822960" y="2953512"/>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822960" y="2953512"/>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2" name="Text 9"/>
          <p:cNvSpPr txBox="1"/>
          <p:nvPr/>
        </p:nvSpPr>
        <p:spPr>
          <a:xfrm>
            <a:off x="1554480" y="2816352"/>
            <a:ext cx="3657600" cy="4114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Individuals by nationality</a:t>
            </a:r>
            <a:endParaRPr lang="en-US" sz="1800" dirty="0"/>
          </a:p>
        </p:txBody>
      </p:sp>
      <p:sp>
        <p:nvSpPr>
          <p:cNvPr id="13" name="Text 10"/>
          <p:cNvSpPr txBox="1"/>
          <p:nvPr/>
        </p:nvSpPr>
        <p:spPr>
          <a:xfrm>
            <a:off x="1554480" y="3218688"/>
            <a:ext cx="3657600" cy="365760"/>
          </a:xfrm>
          <a:prstGeom prst="rect">
            <a:avLst/>
          </a:prstGeom>
          <a:noFill/>
          <a:ln/>
        </p:spPr>
        <p:txBody>
          <a:bodyPr wrap="square" lIns="0" tIns="0" rIns="0" bIns="0" rtlCol="0" anchor="t"/>
          <a:lstStyle/>
          <a:p>
            <a:pPr marL="0" indent="0">
              <a:buNone/>
            </a:pPr>
            <a:r>
              <a:rPr lang="en-US" sz="1400" dirty="0">
                <a:solidFill>
                  <a:srgbClr val="6F7271"/>
                </a:solidFill>
                <a:latin typeface="Calibri" pitchFamily="34" charset="0"/>
                <a:ea typeface="Calibri" pitchFamily="34" charset="-122"/>
                <a:cs typeface="Calibri" pitchFamily="34" charset="-120"/>
              </a:rPr>
              <a:t>Jordanian and non-Jordanian</a:t>
            </a:r>
            <a:endParaRPr lang="en-US" sz="1400" dirty="0"/>
          </a:p>
        </p:txBody>
      </p:sp>
      <p:sp>
        <p:nvSpPr>
          <p:cNvPr id="14" name="Step card 3"/>
          <p:cNvSpPr/>
          <p:nvPr/>
        </p:nvSpPr>
        <p:spPr>
          <a:xfrm>
            <a:off x="548640" y="3931920"/>
            <a:ext cx="4846320" cy="1097280"/>
          </a:xfrm>
          <a:prstGeom prst="roundRect">
            <a:avLst>
              <a:gd name="adj" fmla="val 12500"/>
            </a:avLst>
          </a:prstGeom>
          <a:solidFill>
            <a:schemeClr val="bg2"/>
          </a:solidFill>
          <a:ln w="12700">
            <a:solidFill>
              <a:schemeClr val="bg2"/>
            </a:solidFill>
            <a:prstDash val="solid"/>
          </a:ln>
        </p:spPr>
      </p:sp>
      <p:sp>
        <p:nvSpPr>
          <p:cNvPr id="15" name="Step number 3"/>
          <p:cNvSpPr/>
          <p:nvPr/>
        </p:nvSpPr>
        <p:spPr>
          <a:xfrm>
            <a:off x="822960" y="4233672"/>
            <a:ext cx="502920" cy="502920"/>
          </a:xfrm>
          <a:prstGeom prst="ellipse">
            <a:avLst/>
          </a:prstGeom>
          <a:solidFill>
            <a:schemeClr val="accent2"/>
          </a:solidFill>
          <a:ln w="12700">
            <a:solidFill>
              <a:schemeClr val="accent2"/>
            </a:solidFill>
            <a:prstDash val="solid"/>
          </a:ln>
        </p:spPr>
      </p:sp>
      <p:sp>
        <p:nvSpPr>
          <p:cNvPr id="16" name="Text 13"/>
          <p:cNvSpPr txBox="1"/>
          <p:nvPr/>
        </p:nvSpPr>
        <p:spPr>
          <a:xfrm>
            <a:off x="822960" y="4233672"/>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554480" y="4096512"/>
            <a:ext cx="3657600" cy="4114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Age group, then gender</a:t>
            </a:r>
            <a:endParaRPr lang="en-US" sz="1800" dirty="0"/>
          </a:p>
        </p:txBody>
      </p:sp>
      <p:sp>
        <p:nvSpPr>
          <p:cNvPr id="18" name="Text 15"/>
          <p:cNvSpPr txBox="1"/>
          <p:nvPr/>
        </p:nvSpPr>
        <p:spPr>
          <a:xfrm>
            <a:off x="1554480" y="4498848"/>
            <a:ext cx="3657600" cy="365760"/>
          </a:xfrm>
          <a:prstGeom prst="rect">
            <a:avLst/>
          </a:prstGeom>
          <a:noFill/>
          <a:ln/>
        </p:spPr>
        <p:txBody>
          <a:bodyPr wrap="square" lIns="0" tIns="0" rIns="0" bIns="0" rtlCol="0" anchor="t"/>
          <a:lstStyle/>
          <a:p>
            <a:pPr marL="0" indent="0">
              <a:buNone/>
            </a:pPr>
            <a:r>
              <a:rPr lang="en-US" sz="1400" dirty="0">
                <a:solidFill>
                  <a:srgbClr val="6F7271"/>
                </a:solidFill>
                <a:latin typeface="Calibri" pitchFamily="34" charset="0"/>
                <a:ea typeface="Calibri" pitchFamily="34" charset="-122"/>
                <a:cs typeface="Calibri" pitchFamily="34" charset="-120"/>
              </a:rPr>
              <a:t>The most detailed level of the breakdown</a:t>
            </a:r>
            <a:endParaRPr lang="en-US" sz="1400" dirty="0"/>
          </a:p>
        </p:txBody>
      </p:sp>
      <p:sp>
        <p:nvSpPr>
          <p:cNvPr id="19" name="Image frame"/>
          <p:cNvSpPr/>
          <p:nvPr/>
        </p:nvSpPr>
        <p:spPr>
          <a:xfrm>
            <a:off x="5669280" y="1371600"/>
            <a:ext cx="5971032" cy="3657600"/>
          </a:xfrm>
          <a:prstGeom prst="roundRect">
            <a:avLst>
              <a:gd name="adj" fmla="val 3750"/>
            </a:avLst>
          </a:prstGeom>
          <a:solidFill>
            <a:srgbClr val="141414"/>
          </a:solidFill>
          <a:ln w="12700">
            <a:solidFill>
              <a:srgbClr val="141414"/>
            </a:solidFill>
            <a:prstDash val="solid"/>
          </a:ln>
        </p:spPr>
      </p:sp>
      <p:pic>
        <p:nvPicPr>
          <p:cNvPr id="20" name="Image 0" descr="Hierarchy: System splits into Entity (business, merchant, government, agent) and Individual (Jordanian or non-Jordanian, then age groups, then gender)"/>
          <p:cNvPicPr>
            <a:picLocks noChangeAspect="1"/>
          </p:cNvPicPr>
          <p:nvPr/>
        </p:nvPicPr>
        <p:blipFill>
          <a:blip r:embed="rId3"/>
          <a:stretch>
            <a:fillRect/>
          </a:stretch>
        </p:blipFill>
        <p:spPr>
          <a:xfrm>
            <a:off x="5788152" y="1481328"/>
            <a:ext cx="5733288" cy="3419856"/>
          </a:xfrm>
          <a:prstGeom prst="rect">
            <a:avLst/>
          </a:prstGeom>
        </p:spPr>
      </p:pic>
      <p:sp>
        <p:nvSpPr>
          <p:cNvPr id="21" name="Bar IPS"/>
          <p:cNvSpPr/>
          <p:nvPr/>
        </p:nvSpPr>
        <p:spPr>
          <a:xfrm>
            <a:off x="548640" y="5303520"/>
            <a:ext cx="11091672" cy="731520"/>
          </a:xfrm>
          <a:prstGeom prst="roundRect">
            <a:avLst>
              <a:gd name="adj" fmla="val 18750"/>
            </a:avLst>
          </a:prstGeom>
          <a:solidFill>
            <a:schemeClr val="bg2"/>
          </a:solidFill>
          <a:ln w="12700">
            <a:solidFill>
              <a:schemeClr val="bg2"/>
            </a:solidFill>
            <a:prstDash val="solid"/>
          </a:ln>
        </p:spPr>
      </p:sp>
      <p:sp>
        <p:nvSpPr>
          <p:cNvPr id="22" name="Text 18"/>
          <p:cNvSpPr txBox="1"/>
          <p:nvPr/>
        </p:nvSpPr>
        <p:spPr>
          <a:xfrm>
            <a:off x="822960" y="5303520"/>
            <a:ext cx="1051560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Applied to the IPS:  </a:t>
            </a:r>
            <a:r>
              <a:rPr lang="en-US" sz="1600" dirty="0">
                <a:solidFill>
                  <a:schemeClr val="tx1"/>
                </a:solidFill>
                <a:latin typeface="Calibri" pitchFamily="34" charset="0"/>
                <a:ea typeface="Calibri" pitchFamily="34" charset="-122"/>
                <a:cs typeface="Calibri" pitchFamily="34" charset="-120"/>
              </a:rPr>
              <a:t>CliQ and JoMoPay figures combined under one shared structure.</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Every level reports the same three measures</a:t>
            </a:r>
            <a:endParaRPr lang="en-US" sz="2800" dirty="0"/>
          </a:p>
        </p:txBody>
      </p:sp>
      <p:sp>
        <p:nvSpPr>
          <p:cNvPr id="4" name="Measure Users"/>
          <p:cNvSpPr/>
          <p:nvPr/>
        </p:nvSpPr>
        <p:spPr>
          <a:xfrm>
            <a:off x="548640" y="1371600"/>
            <a:ext cx="3575304" cy="1417320"/>
          </a:xfrm>
          <a:prstGeom prst="roundRect">
            <a:avLst>
              <a:gd name="adj" fmla="val 9677"/>
            </a:avLst>
          </a:prstGeom>
          <a:solidFill>
            <a:schemeClr val="bg2"/>
          </a:solidFill>
          <a:ln w="12700">
            <a:solidFill>
              <a:schemeClr val="bg2"/>
            </a:solidFill>
            <a:prstDash val="solid"/>
          </a:ln>
        </p:spPr>
      </p:sp>
      <p:sp>
        <p:nvSpPr>
          <p:cNvPr id="5" name="Text 2"/>
          <p:cNvSpPr txBox="1"/>
          <p:nvPr/>
        </p:nvSpPr>
        <p:spPr>
          <a:xfrm>
            <a:off x="548640" y="1508760"/>
            <a:ext cx="3575304" cy="640080"/>
          </a:xfrm>
          <a:prstGeom prst="rect">
            <a:avLst/>
          </a:prstGeom>
          <a:noFill/>
          <a:ln/>
        </p:spPr>
        <p:txBody>
          <a:bodyPr wrap="square" lIns="0" tIns="0" rIns="0" bIns="0" rtlCol="0" anchor="ctr"/>
          <a:lstStyle/>
          <a:p>
            <a:pPr marL="0" indent="0" algn="ctr">
              <a:buNone/>
            </a:pPr>
            <a:r>
              <a:rPr lang="en-US" sz="3400" b="1" dirty="0">
                <a:solidFill>
                  <a:schemeClr val="tx1"/>
                </a:solidFill>
                <a:latin typeface="Calibri" pitchFamily="34" charset="0"/>
                <a:ea typeface="Calibri" pitchFamily="34" charset="-122"/>
                <a:cs typeface="Calibri" pitchFamily="34" charset="-120"/>
              </a:rPr>
              <a:t>Users</a:t>
            </a:r>
            <a:endParaRPr lang="en-US" sz="3400" dirty="0"/>
          </a:p>
        </p:txBody>
      </p:sp>
      <p:sp>
        <p:nvSpPr>
          <p:cNvPr id="6" name="Text 3"/>
          <p:cNvSpPr txBox="1"/>
          <p:nvPr/>
        </p:nvSpPr>
        <p:spPr>
          <a:xfrm>
            <a:off x="548640"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number of users</a:t>
            </a:r>
            <a:endParaRPr lang="en-US" sz="1400" dirty="0"/>
          </a:p>
        </p:txBody>
      </p:sp>
      <p:sp>
        <p:nvSpPr>
          <p:cNvPr id="7" name="Measure Transactions"/>
          <p:cNvSpPr/>
          <p:nvPr/>
        </p:nvSpPr>
        <p:spPr>
          <a:xfrm>
            <a:off x="4306824" y="1371600"/>
            <a:ext cx="3575304" cy="1417320"/>
          </a:xfrm>
          <a:prstGeom prst="roundRect">
            <a:avLst>
              <a:gd name="adj" fmla="val 9677"/>
            </a:avLst>
          </a:prstGeom>
          <a:solidFill>
            <a:schemeClr val="bg2"/>
          </a:solidFill>
          <a:ln w="12700">
            <a:solidFill>
              <a:schemeClr val="bg2"/>
            </a:solidFill>
            <a:prstDash val="solid"/>
          </a:ln>
        </p:spPr>
      </p:sp>
      <p:sp>
        <p:nvSpPr>
          <p:cNvPr id="8" name="Text 5"/>
          <p:cNvSpPr txBox="1"/>
          <p:nvPr/>
        </p:nvSpPr>
        <p:spPr>
          <a:xfrm>
            <a:off x="4306824" y="1508760"/>
            <a:ext cx="3575304" cy="640080"/>
          </a:xfrm>
          <a:prstGeom prst="rect">
            <a:avLst/>
          </a:prstGeom>
          <a:noFill/>
          <a:ln/>
        </p:spPr>
        <p:txBody>
          <a:bodyPr wrap="square" lIns="0" tIns="0" rIns="0" bIns="0" rtlCol="0" anchor="ctr"/>
          <a:lstStyle/>
          <a:p>
            <a:pPr marL="0" indent="0" algn="ctr">
              <a:buNone/>
            </a:pPr>
            <a:r>
              <a:rPr lang="en-US" sz="3400" b="1" dirty="0">
                <a:solidFill>
                  <a:schemeClr val="tx1"/>
                </a:solidFill>
                <a:latin typeface="Calibri" pitchFamily="34" charset="0"/>
                <a:ea typeface="Calibri" pitchFamily="34" charset="-122"/>
                <a:cs typeface="Calibri" pitchFamily="34" charset="-120"/>
              </a:rPr>
              <a:t>Transactions</a:t>
            </a:r>
            <a:endParaRPr lang="en-US" sz="3400" dirty="0"/>
          </a:p>
        </p:txBody>
      </p:sp>
      <p:sp>
        <p:nvSpPr>
          <p:cNvPr id="9" name="Text 6"/>
          <p:cNvSpPr txBox="1"/>
          <p:nvPr/>
        </p:nvSpPr>
        <p:spPr>
          <a:xfrm>
            <a:off x="4306824"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number of transactions</a:t>
            </a:r>
            <a:endParaRPr lang="en-US" sz="1400" dirty="0"/>
          </a:p>
        </p:txBody>
      </p:sp>
      <p:sp>
        <p:nvSpPr>
          <p:cNvPr id="10" name="Measure Value"/>
          <p:cNvSpPr/>
          <p:nvPr/>
        </p:nvSpPr>
        <p:spPr>
          <a:xfrm>
            <a:off x="8065008" y="1371600"/>
            <a:ext cx="3575304" cy="1417320"/>
          </a:xfrm>
          <a:prstGeom prst="roundRect">
            <a:avLst>
              <a:gd name="adj" fmla="val 9677"/>
            </a:avLst>
          </a:prstGeom>
          <a:solidFill>
            <a:schemeClr val="bg2"/>
          </a:solidFill>
          <a:ln w="12700">
            <a:solidFill>
              <a:schemeClr val="bg2"/>
            </a:solidFill>
            <a:prstDash val="solid"/>
          </a:ln>
        </p:spPr>
      </p:sp>
      <p:sp>
        <p:nvSpPr>
          <p:cNvPr id="11" name="Text 8"/>
          <p:cNvSpPr txBox="1"/>
          <p:nvPr/>
        </p:nvSpPr>
        <p:spPr>
          <a:xfrm>
            <a:off x="8065008" y="1508760"/>
            <a:ext cx="3575304" cy="640080"/>
          </a:xfrm>
          <a:prstGeom prst="rect">
            <a:avLst/>
          </a:prstGeom>
          <a:noFill/>
          <a:ln/>
        </p:spPr>
        <p:txBody>
          <a:bodyPr wrap="square" lIns="0" tIns="0" rIns="0" bIns="0" rtlCol="0" anchor="ctr"/>
          <a:lstStyle/>
          <a:p>
            <a:pPr marL="0" indent="0" algn="ctr">
              <a:buNone/>
            </a:pPr>
            <a:r>
              <a:rPr lang="en-US" sz="3400" b="1" dirty="0">
                <a:solidFill>
                  <a:schemeClr val="tx1"/>
                </a:solidFill>
                <a:latin typeface="Calibri" pitchFamily="34" charset="0"/>
                <a:ea typeface="Calibri" pitchFamily="34" charset="-122"/>
                <a:cs typeface="Calibri" pitchFamily="34" charset="-120"/>
              </a:rPr>
              <a:t>Value</a:t>
            </a:r>
            <a:endParaRPr lang="en-US" sz="3400" dirty="0"/>
          </a:p>
        </p:txBody>
      </p:sp>
      <p:sp>
        <p:nvSpPr>
          <p:cNvPr id="12" name="Text 9"/>
          <p:cNvSpPr txBox="1"/>
          <p:nvPr/>
        </p:nvSpPr>
        <p:spPr>
          <a:xfrm>
            <a:off x="8065008"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transaction value (JOD)</a:t>
            </a:r>
            <a:endParaRPr lang="en-US" sz="1400" dirty="0"/>
          </a:p>
        </p:txBody>
      </p:sp>
      <p:sp>
        <p:nvSpPr>
          <p:cNvPr id="13" name="Info Drill down"/>
          <p:cNvSpPr/>
          <p:nvPr/>
        </p:nvSpPr>
        <p:spPr>
          <a:xfrm>
            <a:off x="548640" y="3017520"/>
            <a:ext cx="5454396" cy="2103120"/>
          </a:xfrm>
          <a:prstGeom prst="roundRect">
            <a:avLst>
              <a:gd name="adj" fmla="val 6522"/>
            </a:avLst>
          </a:prstGeom>
          <a:solidFill>
            <a:schemeClr val="bg2"/>
          </a:solidFill>
          <a:ln w="12700">
            <a:solidFill>
              <a:schemeClr val="bg2"/>
            </a:solidFill>
            <a:prstDash val="solid"/>
          </a:ln>
        </p:spPr>
      </p:sp>
      <p:sp>
        <p:nvSpPr>
          <p:cNvPr id="14" name="Text 11"/>
          <p:cNvSpPr txBox="1"/>
          <p:nvPr/>
        </p:nvSpPr>
        <p:spPr>
          <a:xfrm>
            <a:off x="868680" y="3200400"/>
            <a:ext cx="4754880" cy="411480"/>
          </a:xfrm>
          <a:prstGeom prst="rect">
            <a:avLst/>
          </a:prstGeom>
          <a:noFill/>
          <a:ln/>
        </p:spPr>
        <p:txBody>
          <a:bodyPr wrap="square" lIns="0" tIns="0" rIns="0" bIns="0" rtlCol="0" anchor="ctr"/>
          <a:lstStyle/>
          <a:p>
            <a:pPr marL="0" indent="0">
              <a:buNone/>
            </a:pPr>
            <a:r>
              <a:rPr lang="en-US" sz="1800" b="1" dirty="0">
                <a:solidFill>
                  <a:schemeClr val="accent3"/>
                </a:solidFill>
                <a:latin typeface="Calibri" pitchFamily="34" charset="0"/>
                <a:ea typeface="Calibri" pitchFamily="34" charset="-122"/>
                <a:cs typeface="Calibri" pitchFamily="34" charset="-120"/>
              </a:rPr>
              <a:t>Drill down</a:t>
            </a:r>
            <a:endParaRPr lang="en-US" sz="1800" dirty="0"/>
          </a:p>
        </p:txBody>
      </p:sp>
      <p:sp>
        <p:nvSpPr>
          <p:cNvPr id="15" name="Text 12"/>
          <p:cNvSpPr txBox="1"/>
          <p:nvPr/>
        </p:nvSpPr>
        <p:spPr>
          <a:xfrm>
            <a:off x="868680" y="3703320"/>
            <a:ext cx="4846320" cy="118872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Readers move from the system total to the most detailed breakdown, at the level they need.</a:t>
            </a:r>
            <a:endParaRPr lang="en-US" sz="1800" dirty="0"/>
          </a:p>
        </p:txBody>
      </p:sp>
      <p:sp>
        <p:nvSpPr>
          <p:cNvPr id="16" name="Info Protect confidentiality"/>
          <p:cNvSpPr/>
          <p:nvPr/>
        </p:nvSpPr>
        <p:spPr>
          <a:xfrm>
            <a:off x="6185916" y="3017520"/>
            <a:ext cx="5454396" cy="2103120"/>
          </a:xfrm>
          <a:prstGeom prst="roundRect">
            <a:avLst>
              <a:gd name="adj" fmla="val 6522"/>
            </a:avLst>
          </a:prstGeom>
          <a:solidFill>
            <a:schemeClr val="bg2"/>
          </a:solidFill>
          <a:ln w="12700">
            <a:solidFill>
              <a:schemeClr val="bg2"/>
            </a:solidFill>
            <a:prstDash val="solid"/>
          </a:ln>
        </p:spPr>
      </p:sp>
      <p:sp>
        <p:nvSpPr>
          <p:cNvPr id="17" name="Text 14"/>
          <p:cNvSpPr txBox="1"/>
          <p:nvPr/>
        </p:nvSpPr>
        <p:spPr>
          <a:xfrm>
            <a:off x="6505956" y="3200400"/>
            <a:ext cx="4754880" cy="411480"/>
          </a:xfrm>
          <a:prstGeom prst="rect">
            <a:avLst/>
          </a:prstGeom>
          <a:noFill/>
          <a:ln/>
        </p:spPr>
        <p:txBody>
          <a:bodyPr wrap="square" lIns="0" tIns="0" rIns="0" bIns="0" rtlCol="0" anchor="ctr"/>
          <a:lstStyle/>
          <a:p>
            <a:pPr marL="0" indent="0">
              <a:buNone/>
            </a:pPr>
            <a:r>
              <a:rPr lang="en-US" sz="1800" b="1" dirty="0">
                <a:solidFill>
                  <a:schemeClr val="accent3"/>
                </a:solidFill>
                <a:latin typeface="Calibri" pitchFamily="34" charset="0"/>
                <a:ea typeface="Calibri" pitchFamily="34" charset="-122"/>
                <a:cs typeface="Calibri" pitchFamily="34" charset="-120"/>
              </a:rPr>
              <a:t>Protect confidentiality</a:t>
            </a:r>
            <a:endParaRPr lang="en-US" sz="1800" dirty="0"/>
          </a:p>
        </p:txBody>
      </p:sp>
      <p:sp>
        <p:nvSpPr>
          <p:cNvPr id="18" name="Text 15"/>
          <p:cNvSpPr txBox="1"/>
          <p:nvPr/>
        </p:nvSpPr>
        <p:spPr>
          <a:xfrm>
            <a:off x="6505956" y="3703320"/>
            <a:ext cx="4846320" cy="118872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Categories with very small counts are grouped together.</a:t>
            </a:r>
            <a:endParaRPr lang="en-US" sz="1800" dirty="0"/>
          </a:p>
        </p:txBody>
      </p:sp>
      <p:sp>
        <p:nvSpPr>
          <p:cNvPr id="19" name="Bar structure"/>
          <p:cNvSpPr/>
          <p:nvPr/>
        </p:nvSpPr>
        <p:spPr>
          <a:xfrm>
            <a:off x="548640" y="5349240"/>
            <a:ext cx="11091672" cy="731520"/>
          </a:xfrm>
          <a:prstGeom prst="roundRect">
            <a:avLst>
              <a:gd name="adj" fmla="val 18750"/>
            </a:avLst>
          </a:prstGeom>
          <a:solidFill>
            <a:schemeClr val="bg2"/>
          </a:solidFill>
          <a:ln w="12700">
            <a:solidFill>
              <a:schemeClr val="bg2"/>
            </a:solidFill>
            <a:prstDash val="solid"/>
          </a:ln>
        </p:spPr>
      </p:sp>
      <p:sp>
        <p:nvSpPr>
          <p:cNvPr id="20" name="Text 17"/>
          <p:cNvSpPr txBox="1"/>
          <p:nvPr/>
        </p:nvSpPr>
        <p:spPr>
          <a:xfrm>
            <a:off x="822960" y="5349240"/>
            <a:ext cx="1051560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Why it matters:  </a:t>
            </a:r>
            <a:r>
              <a:rPr lang="en-US" sz="1600" dirty="0">
                <a:solidFill>
                  <a:schemeClr val="tx1"/>
                </a:solidFill>
                <a:latin typeface="Calibri" pitchFamily="34" charset="0"/>
                <a:ea typeface="Calibri" pitchFamily="34" charset="-122"/>
                <a:cs typeface="Calibri" pitchFamily="34" charset="-120"/>
              </a:rPr>
              <a:t>one structure, one set of measures, from system total to detail.</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Why the interactive view comes first</a:t>
            </a:r>
            <a:endParaRPr lang="en-US" sz="2800" dirty="0"/>
          </a:p>
        </p:txBody>
      </p:sp>
      <p:sp>
        <p:nvSpPr>
          <p:cNvPr id="4" name="Dark card"/>
          <p:cNvSpPr/>
          <p:nvPr/>
        </p:nvSpPr>
        <p:spPr>
          <a:xfrm>
            <a:off x="548640" y="1371600"/>
            <a:ext cx="4023360" cy="4480560"/>
          </a:xfrm>
          <a:prstGeom prst="roundRect">
            <a:avLst>
              <a:gd name="adj" fmla="val 3409"/>
            </a:avLst>
          </a:prstGeom>
          <a:solidFill>
            <a:srgbClr val="243746"/>
          </a:solidFill>
          <a:ln w="12700">
            <a:solidFill>
              <a:srgbClr val="243746"/>
            </a:solidFill>
            <a:prstDash val="solid"/>
          </a:ln>
        </p:spPr>
      </p:sp>
      <p:sp>
        <p:nvSpPr>
          <p:cNvPr id="5" name="Text 2"/>
          <p:cNvSpPr txBox="1"/>
          <p:nvPr/>
        </p:nvSpPr>
        <p:spPr>
          <a:xfrm>
            <a:off x="868680" y="1920240"/>
            <a:ext cx="3383280" cy="731520"/>
          </a:xfrm>
          <a:prstGeom prst="rect">
            <a:avLst/>
          </a:prstGeom>
          <a:noFill/>
          <a:ln/>
        </p:spPr>
        <p:txBody>
          <a:bodyPr wrap="square" lIns="0" tIns="0" rIns="0" bIns="0" rtlCol="0" anchor="ctr"/>
          <a:lstStyle/>
          <a:p>
            <a:pPr marL="0" indent="0">
              <a:buNone/>
            </a:pPr>
            <a:r>
              <a:rPr lang="en-US" sz="3400" b="1" dirty="0">
                <a:solidFill>
                  <a:schemeClr val="accent2"/>
                </a:solidFill>
                <a:latin typeface="Calibri" pitchFamily="34" charset="0"/>
                <a:ea typeface="Calibri" pitchFamily="34" charset="-122"/>
                <a:cs typeface="Calibri" pitchFamily="34" charset="-120"/>
              </a:rPr>
              <a:t>Build on it</a:t>
            </a:r>
            <a:endParaRPr lang="en-US" sz="3400" dirty="0"/>
          </a:p>
        </p:txBody>
      </p:sp>
      <p:sp>
        <p:nvSpPr>
          <p:cNvPr id="6" name="Text 3"/>
          <p:cNvSpPr txBox="1"/>
          <p:nvPr/>
        </p:nvSpPr>
        <p:spPr>
          <a:xfrm>
            <a:off x="868680" y="2834640"/>
            <a:ext cx="3383280" cy="1280160"/>
          </a:xfrm>
          <a:prstGeom prst="rect">
            <a:avLst/>
          </a:prstGeom>
          <a:noFill/>
          <a:ln/>
        </p:spPr>
        <p:txBody>
          <a:bodyPr wrap="square" lIns="0" tIns="0" rIns="0" bIns="0" rtlCol="0" anchor="t"/>
          <a:lstStyle/>
          <a:p>
            <a:pPr marL="0" indent="0">
              <a:buNone/>
            </a:pPr>
            <a:r>
              <a:rPr lang="en-US" sz="1800" dirty="0">
                <a:solidFill>
                  <a:schemeClr val="bg1"/>
                </a:solidFill>
                <a:latin typeface="Calibri" pitchFamily="34" charset="0"/>
                <a:ea typeface="Calibri" pitchFamily="34" charset="-122"/>
                <a:cs typeface="Calibri" pitchFamily="34" charset="-120"/>
              </a:rPr>
              <a:t>The other recommendations can work without an interactive interface.</a:t>
            </a:r>
            <a:endParaRPr lang="en-US" sz="1800" dirty="0"/>
          </a:p>
        </p:txBody>
      </p:sp>
      <p:sp>
        <p:nvSpPr>
          <p:cNvPr id="7" name="Text 4"/>
          <p:cNvSpPr txBox="1"/>
          <p:nvPr/>
        </p:nvSpPr>
        <p:spPr>
          <a:xfrm>
            <a:off x="868680" y="4297680"/>
            <a:ext cx="3383280" cy="914400"/>
          </a:xfrm>
          <a:prstGeom prst="rect">
            <a:avLst/>
          </a:prstGeom>
          <a:noFill/>
          <a:ln/>
        </p:spPr>
        <p:txBody>
          <a:bodyPr wrap="square" lIns="0" tIns="0" rIns="0" bIns="0" rtlCol="0" anchor="t"/>
          <a:lstStyle/>
          <a:p>
            <a:pPr marL="0" indent="0">
              <a:buNone/>
            </a:pPr>
            <a:r>
              <a:rPr lang="en-US" sz="1600" dirty="0">
                <a:solidFill>
                  <a:srgbClr val="9EA1A2"/>
                </a:solidFill>
                <a:latin typeface="Calibri" pitchFamily="34" charset="0"/>
                <a:ea typeface="Calibri" pitchFamily="34" charset="-122"/>
                <a:cs typeface="Calibri" pitchFamily="34" charset="-120"/>
              </a:rPr>
              <a:t>Interactivity extends what the reports offer.</a:t>
            </a:r>
            <a:endParaRPr lang="en-US" sz="1600" dirty="0"/>
          </a:p>
        </p:txBody>
      </p:sp>
      <p:sp>
        <p:nvSpPr>
          <p:cNvPr id="8" name="Audience Researchers"/>
          <p:cNvSpPr/>
          <p:nvPr/>
        </p:nvSpPr>
        <p:spPr>
          <a:xfrm>
            <a:off x="4800600" y="1371600"/>
            <a:ext cx="6839712" cy="1371600"/>
          </a:xfrm>
          <a:prstGeom prst="roundRect">
            <a:avLst>
              <a:gd name="adj" fmla="val 10000"/>
            </a:avLst>
          </a:prstGeom>
          <a:solidFill>
            <a:schemeClr val="bg2"/>
          </a:solidFill>
          <a:ln w="12700">
            <a:solidFill>
              <a:schemeClr val="bg2"/>
            </a:solidFill>
            <a:prstDash val="solid"/>
          </a:ln>
        </p:spPr>
      </p:sp>
      <p:sp>
        <p:nvSpPr>
          <p:cNvPr id="9" name="Audience number 1"/>
          <p:cNvSpPr/>
          <p:nvPr/>
        </p:nvSpPr>
        <p:spPr>
          <a:xfrm>
            <a:off x="5120640" y="1801368"/>
            <a:ext cx="502920" cy="502920"/>
          </a:xfrm>
          <a:prstGeom prst="ellipse">
            <a:avLst/>
          </a:prstGeom>
          <a:solidFill>
            <a:schemeClr val="accent2"/>
          </a:solidFill>
          <a:ln w="12700">
            <a:solidFill>
              <a:schemeClr val="accent2"/>
            </a:solidFill>
            <a:prstDash val="solid"/>
          </a:ln>
        </p:spPr>
      </p:sp>
      <p:sp>
        <p:nvSpPr>
          <p:cNvPr id="10" name="Text 7"/>
          <p:cNvSpPr txBox="1"/>
          <p:nvPr/>
        </p:nvSpPr>
        <p:spPr>
          <a:xfrm>
            <a:off x="5120640" y="1801368"/>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11" name="Text 8"/>
          <p:cNvSpPr txBox="1"/>
          <p:nvPr/>
        </p:nvSpPr>
        <p:spPr>
          <a:xfrm>
            <a:off x="5897880" y="1600200"/>
            <a:ext cx="5486400" cy="41148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Researchers</a:t>
            </a:r>
            <a:endParaRPr lang="en-US" sz="2000" dirty="0"/>
          </a:p>
        </p:txBody>
      </p:sp>
      <p:sp>
        <p:nvSpPr>
          <p:cNvPr id="12" name="Text 9"/>
          <p:cNvSpPr txBox="1"/>
          <p:nvPr/>
        </p:nvSpPr>
        <p:spPr>
          <a:xfrm>
            <a:off x="5897880" y="2057400"/>
            <a:ext cx="5486400" cy="457200"/>
          </a:xfrm>
          <a:prstGeom prst="rect">
            <a:avLst/>
          </a:prstGeom>
          <a:noFill/>
          <a:ln/>
        </p:spPr>
        <p:txBody>
          <a:bodyPr wrap="square" lIns="0" tIns="0" rIns="0" bIns="0" rtlCol="0" anchor="t"/>
          <a:lstStyle/>
          <a:p>
            <a:pPr marL="0" indent="0">
              <a:buNone/>
            </a:pPr>
            <a:r>
              <a:rPr lang="en-US" sz="1600" dirty="0">
                <a:solidFill>
                  <a:srgbClr val="6F7271"/>
                </a:solidFill>
                <a:latin typeface="Calibri" pitchFamily="34" charset="0"/>
                <a:ea typeface="Calibri" pitchFamily="34" charset="-122"/>
                <a:cs typeface="Calibri" pitchFamily="34" charset="-120"/>
              </a:rPr>
              <a:t>Explore the data at the level of detail they need.</a:t>
            </a:r>
            <a:endParaRPr lang="en-US" sz="1600" dirty="0"/>
          </a:p>
        </p:txBody>
      </p:sp>
      <p:sp>
        <p:nvSpPr>
          <p:cNvPr id="13" name="Audience Investors"/>
          <p:cNvSpPr/>
          <p:nvPr/>
        </p:nvSpPr>
        <p:spPr>
          <a:xfrm>
            <a:off x="4800600" y="2926080"/>
            <a:ext cx="6839712" cy="1371600"/>
          </a:xfrm>
          <a:prstGeom prst="roundRect">
            <a:avLst>
              <a:gd name="adj" fmla="val 10000"/>
            </a:avLst>
          </a:prstGeom>
          <a:solidFill>
            <a:schemeClr val="bg2"/>
          </a:solidFill>
          <a:ln w="12700">
            <a:solidFill>
              <a:schemeClr val="bg2"/>
            </a:solidFill>
            <a:prstDash val="solid"/>
          </a:ln>
        </p:spPr>
      </p:sp>
      <p:sp>
        <p:nvSpPr>
          <p:cNvPr id="14" name="Audience number 2"/>
          <p:cNvSpPr/>
          <p:nvPr/>
        </p:nvSpPr>
        <p:spPr>
          <a:xfrm>
            <a:off x="5120640" y="3355848"/>
            <a:ext cx="502920" cy="502920"/>
          </a:xfrm>
          <a:prstGeom prst="ellipse">
            <a:avLst/>
          </a:prstGeom>
          <a:solidFill>
            <a:schemeClr val="accent2"/>
          </a:solidFill>
          <a:ln w="12700">
            <a:solidFill>
              <a:schemeClr val="accent2"/>
            </a:solidFill>
            <a:prstDash val="solid"/>
          </a:ln>
        </p:spPr>
      </p:sp>
      <p:sp>
        <p:nvSpPr>
          <p:cNvPr id="15" name="Text 12"/>
          <p:cNvSpPr txBox="1"/>
          <p:nvPr/>
        </p:nvSpPr>
        <p:spPr>
          <a:xfrm>
            <a:off x="5120640" y="3355848"/>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6" name="Text 13"/>
          <p:cNvSpPr txBox="1"/>
          <p:nvPr/>
        </p:nvSpPr>
        <p:spPr>
          <a:xfrm>
            <a:off x="5897880" y="3154680"/>
            <a:ext cx="5486400" cy="41148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Investors</a:t>
            </a:r>
            <a:endParaRPr lang="en-US" sz="2000" dirty="0"/>
          </a:p>
        </p:txBody>
      </p:sp>
      <p:sp>
        <p:nvSpPr>
          <p:cNvPr id="17" name="Text 14"/>
          <p:cNvSpPr txBox="1"/>
          <p:nvPr/>
        </p:nvSpPr>
        <p:spPr>
          <a:xfrm>
            <a:off x="5897880" y="3611880"/>
            <a:ext cx="5486400" cy="457200"/>
          </a:xfrm>
          <a:prstGeom prst="rect">
            <a:avLst/>
          </a:prstGeom>
          <a:noFill/>
          <a:ln/>
        </p:spPr>
        <p:txBody>
          <a:bodyPr wrap="square" lIns="0" tIns="0" rIns="0" bIns="0" rtlCol="0" anchor="t"/>
          <a:lstStyle/>
          <a:p>
            <a:pPr marL="0" indent="0">
              <a:buNone/>
            </a:pPr>
            <a:r>
              <a:rPr lang="en-US" sz="1600" dirty="0">
                <a:solidFill>
                  <a:srgbClr val="6F7271"/>
                </a:solidFill>
                <a:latin typeface="Calibri" pitchFamily="34" charset="0"/>
                <a:ea typeface="Calibri" pitchFamily="34" charset="-122"/>
                <a:cs typeface="Calibri" pitchFamily="34" charset="-120"/>
              </a:rPr>
              <a:t>Drill from the system total to the most detailed breakdown.</a:t>
            </a:r>
            <a:endParaRPr lang="en-US" sz="1600" dirty="0"/>
          </a:p>
        </p:txBody>
      </p:sp>
      <p:sp>
        <p:nvSpPr>
          <p:cNvPr id="18" name="Audience Other readers"/>
          <p:cNvSpPr/>
          <p:nvPr/>
        </p:nvSpPr>
        <p:spPr>
          <a:xfrm>
            <a:off x="4800600" y="4480560"/>
            <a:ext cx="6839712" cy="1371600"/>
          </a:xfrm>
          <a:prstGeom prst="roundRect">
            <a:avLst>
              <a:gd name="adj" fmla="val 10000"/>
            </a:avLst>
          </a:prstGeom>
          <a:solidFill>
            <a:schemeClr val="bg2"/>
          </a:solidFill>
          <a:ln w="12700">
            <a:solidFill>
              <a:schemeClr val="bg2"/>
            </a:solidFill>
            <a:prstDash val="solid"/>
          </a:ln>
        </p:spPr>
      </p:sp>
      <p:sp>
        <p:nvSpPr>
          <p:cNvPr id="19" name="Audience number 3"/>
          <p:cNvSpPr/>
          <p:nvPr/>
        </p:nvSpPr>
        <p:spPr>
          <a:xfrm>
            <a:off x="5120640" y="4910328"/>
            <a:ext cx="502920" cy="502920"/>
          </a:xfrm>
          <a:prstGeom prst="ellipse">
            <a:avLst/>
          </a:prstGeom>
          <a:solidFill>
            <a:schemeClr val="accent2"/>
          </a:solidFill>
          <a:ln w="12700">
            <a:solidFill>
              <a:schemeClr val="accent2"/>
            </a:solidFill>
            <a:prstDash val="solid"/>
          </a:ln>
        </p:spPr>
      </p:sp>
      <p:sp>
        <p:nvSpPr>
          <p:cNvPr id="20" name="Text 17"/>
          <p:cNvSpPr txBox="1"/>
          <p:nvPr/>
        </p:nvSpPr>
        <p:spPr>
          <a:xfrm>
            <a:off x="5120640" y="4910328"/>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21" name="Text 18"/>
          <p:cNvSpPr txBox="1"/>
          <p:nvPr/>
        </p:nvSpPr>
        <p:spPr>
          <a:xfrm>
            <a:off x="5897880" y="4709160"/>
            <a:ext cx="5486400" cy="41148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Other readers</a:t>
            </a:r>
            <a:endParaRPr lang="en-US" sz="2000" dirty="0"/>
          </a:p>
        </p:txBody>
      </p:sp>
      <p:sp>
        <p:nvSpPr>
          <p:cNvPr id="22" name="Text 19"/>
          <p:cNvSpPr txBox="1"/>
          <p:nvPr/>
        </p:nvSpPr>
        <p:spPr>
          <a:xfrm>
            <a:off x="5897880" y="5166360"/>
            <a:ext cx="5486400" cy="457200"/>
          </a:xfrm>
          <a:prstGeom prst="rect">
            <a:avLst/>
          </a:prstGeom>
          <a:noFill/>
          <a:ln/>
        </p:spPr>
        <p:txBody>
          <a:bodyPr wrap="square" lIns="0" tIns="0" rIns="0" bIns="0" rtlCol="0" anchor="t"/>
          <a:lstStyle/>
          <a:p>
            <a:pPr marL="0" indent="0">
              <a:buNone/>
            </a:pPr>
            <a:r>
              <a:rPr lang="en-US" sz="1600" dirty="0">
                <a:solidFill>
                  <a:srgbClr val="6F7271"/>
                </a:solidFill>
                <a:latin typeface="Calibri" pitchFamily="34" charset="0"/>
                <a:ea typeface="Calibri" pitchFamily="34" charset="-122"/>
                <a:cs typeface="Calibri" pitchFamily="34" charset="-120"/>
              </a:rPr>
              <a:t>One report that serves a wider range of users.</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Volume more than doubled, but value rose far less</a:t>
            </a:r>
            <a:endParaRPr lang="en-US" sz="2800" dirty="0"/>
          </a:p>
        </p:txBody>
      </p:sp>
      <p:graphicFrame>
        <p:nvGraphicFramePr>
          <p:cNvPr id="4" name="Chart 0"/>
          <p:cNvGraphicFramePr/>
          <p:nvPr/>
        </p:nvGraphicFramePr>
        <p:xfrm>
          <a:off x="548640" y="1325880"/>
          <a:ext cx="5454396"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185916" y="1325880"/>
          <a:ext cx="5454396"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6" name="Bar reading"/>
          <p:cNvSpPr/>
          <p:nvPr/>
        </p:nvSpPr>
        <p:spPr>
          <a:xfrm>
            <a:off x="548640" y="5257800"/>
            <a:ext cx="11091672" cy="777240"/>
          </a:xfrm>
          <a:prstGeom prst="roundRect">
            <a:avLst>
              <a:gd name="adj" fmla="val 17647"/>
            </a:avLst>
          </a:prstGeom>
          <a:solidFill>
            <a:schemeClr val="bg2"/>
          </a:solidFill>
          <a:ln w="12700">
            <a:solidFill>
              <a:schemeClr val="bg2"/>
            </a:solidFill>
            <a:prstDash val="solid"/>
          </a:ln>
        </p:spPr>
      </p:sp>
      <p:sp>
        <p:nvSpPr>
          <p:cNvPr id="7" name="Text 2"/>
          <p:cNvSpPr txBox="1"/>
          <p:nvPr/>
        </p:nvSpPr>
        <p:spPr>
          <a:xfrm>
            <a:off x="822960" y="5257800"/>
            <a:ext cx="10515600" cy="77724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Reading it:  </a:t>
            </a:r>
            <a:r>
              <a:rPr lang="en-US" sz="1600" dirty="0">
                <a:solidFill>
                  <a:schemeClr val="tx1"/>
                </a:solidFill>
                <a:latin typeface="Calibri" pitchFamily="34" charset="0"/>
                <a:ea typeface="Calibri" pitchFamily="34" charset="-122"/>
                <a:cs typeface="Calibri" pitchFamily="34" charset="-120"/>
              </a:rPr>
              <a:t>60M to 130M transactions, while value moved from JOD 21.1B to 24.8B.</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The average payment fell about 45% since Q3 2024</a:t>
            </a:r>
            <a:endParaRPr lang="en-US" sz="2800" dirty="0"/>
          </a:p>
        </p:txBody>
      </p:sp>
      <p:sp>
        <p:nvSpPr>
          <p:cNvPr id="4" name="Stat 1"/>
          <p:cNvSpPr/>
          <p:nvPr/>
        </p:nvSpPr>
        <p:spPr>
          <a:xfrm>
            <a:off x="548640" y="1371600"/>
            <a:ext cx="3575304" cy="1280160"/>
          </a:xfrm>
          <a:prstGeom prst="roundRect">
            <a:avLst>
              <a:gd name="adj" fmla="val 10714"/>
            </a:avLst>
          </a:prstGeom>
          <a:solidFill>
            <a:schemeClr val="bg2"/>
          </a:solidFill>
          <a:ln w="12700">
            <a:solidFill>
              <a:schemeClr val="bg2"/>
            </a:solidFill>
            <a:prstDash val="solid"/>
          </a:ln>
        </p:spPr>
      </p:sp>
      <p:sp>
        <p:nvSpPr>
          <p:cNvPr id="5" name="Text 2"/>
          <p:cNvSpPr txBox="1"/>
          <p:nvPr/>
        </p:nvSpPr>
        <p:spPr>
          <a:xfrm>
            <a:off x="548640" y="1600200"/>
            <a:ext cx="3575304" cy="594360"/>
          </a:xfrm>
          <a:prstGeom prst="rect">
            <a:avLst/>
          </a:prstGeom>
          <a:noFill/>
          <a:ln/>
        </p:spPr>
        <p:txBody>
          <a:bodyPr wrap="square" lIns="0" tIns="0" rIns="0" bIns="0" rtlCol="0" anchor="ctr"/>
          <a:lstStyle/>
          <a:p>
            <a:pPr marL="0" indent="0" algn="ctr">
              <a:buNone/>
            </a:pPr>
            <a:r>
              <a:rPr lang="en-US" sz="3600" b="1" dirty="0">
                <a:solidFill>
                  <a:srgbClr val="243746"/>
                </a:solidFill>
                <a:latin typeface="Calibri" pitchFamily="34" charset="0"/>
                <a:ea typeface="Calibri" pitchFamily="34" charset="-122"/>
                <a:cs typeface="Calibri" pitchFamily="34" charset="-120"/>
              </a:rPr>
              <a:t>JOD 349.8</a:t>
            </a:r>
            <a:endParaRPr lang="en-US" sz="3600" dirty="0"/>
          </a:p>
        </p:txBody>
      </p:sp>
      <p:sp>
        <p:nvSpPr>
          <p:cNvPr id="6" name="Text 3"/>
          <p:cNvSpPr txBox="1"/>
          <p:nvPr/>
        </p:nvSpPr>
        <p:spPr>
          <a:xfrm>
            <a:off x="548640"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Q3 2024</a:t>
            </a:r>
            <a:endParaRPr lang="en-US" sz="1400" dirty="0"/>
          </a:p>
        </p:txBody>
      </p:sp>
      <p:sp>
        <p:nvSpPr>
          <p:cNvPr id="7" name="Stat 2"/>
          <p:cNvSpPr/>
          <p:nvPr/>
        </p:nvSpPr>
        <p:spPr>
          <a:xfrm>
            <a:off x="4306824" y="1371600"/>
            <a:ext cx="3575304" cy="1280160"/>
          </a:xfrm>
          <a:prstGeom prst="roundRect">
            <a:avLst>
              <a:gd name="adj" fmla="val 10714"/>
            </a:avLst>
          </a:prstGeom>
          <a:solidFill>
            <a:schemeClr val="bg2"/>
          </a:solidFill>
          <a:ln w="12700">
            <a:solidFill>
              <a:schemeClr val="bg2"/>
            </a:solidFill>
            <a:prstDash val="solid"/>
          </a:ln>
        </p:spPr>
      </p:sp>
      <p:sp>
        <p:nvSpPr>
          <p:cNvPr id="8" name="Text 5"/>
          <p:cNvSpPr txBox="1"/>
          <p:nvPr/>
        </p:nvSpPr>
        <p:spPr>
          <a:xfrm>
            <a:off x="4306824" y="1600200"/>
            <a:ext cx="3575304" cy="594360"/>
          </a:xfrm>
          <a:prstGeom prst="rect">
            <a:avLst/>
          </a:prstGeom>
          <a:noFill/>
          <a:ln/>
        </p:spPr>
        <p:txBody>
          <a:bodyPr wrap="square" lIns="0" tIns="0" rIns="0" bIns="0" rtlCol="0" anchor="ctr"/>
          <a:lstStyle/>
          <a:p>
            <a:pPr marL="0" indent="0" algn="ctr">
              <a:buNone/>
            </a:pPr>
            <a:r>
              <a:rPr lang="en-US" sz="3600" b="1" dirty="0">
                <a:solidFill>
                  <a:srgbClr val="243746"/>
                </a:solidFill>
                <a:latin typeface="Calibri" pitchFamily="34" charset="0"/>
                <a:ea typeface="Calibri" pitchFamily="34" charset="-122"/>
                <a:cs typeface="Calibri" pitchFamily="34" charset="-120"/>
              </a:rPr>
              <a:t>JOD 190.4</a:t>
            </a:r>
            <a:endParaRPr lang="en-US" sz="3600" dirty="0"/>
          </a:p>
        </p:txBody>
      </p:sp>
      <p:sp>
        <p:nvSpPr>
          <p:cNvPr id="9" name="Text 6"/>
          <p:cNvSpPr txBox="1"/>
          <p:nvPr/>
        </p:nvSpPr>
        <p:spPr>
          <a:xfrm>
            <a:off x="4306824"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Q2 2026</a:t>
            </a:r>
            <a:endParaRPr lang="en-US" sz="1400" dirty="0"/>
          </a:p>
        </p:txBody>
      </p:sp>
      <p:sp>
        <p:nvSpPr>
          <p:cNvPr id="10" name="Stat 3"/>
          <p:cNvSpPr/>
          <p:nvPr/>
        </p:nvSpPr>
        <p:spPr>
          <a:xfrm>
            <a:off x="8065008" y="1371600"/>
            <a:ext cx="3575304" cy="1280160"/>
          </a:xfrm>
          <a:prstGeom prst="roundRect">
            <a:avLst>
              <a:gd name="adj" fmla="val 10714"/>
            </a:avLst>
          </a:prstGeom>
          <a:solidFill>
            <a:schemeClr val="bg2"/>
          </a:solidFill>
          <a:ln w="12700">
            <a:solidFill>
              <a:schemeClr val="bg2"/>
            </a:solidFill>
            <a:prstDash val="solid"/>
          </a:ln>
        </p:spPr>
      </p:sp>
      <p:sp>
        <p:nvSpPr>
          <p:cNvPr id="11" name="Text 8"/>
          <p:cNvSpPr txBox="1"/>
          <p:nvPr/>
        </p:nvSpPr>
        <p:spPr>
          <a:xfrm>
            <a:off x="8065008" y="1600200"/>
            <a:ext cx="3575304" cy="594360"/>
          </a:xfrm>
          <a:prstGeom prst="rect">
            <a:avLst/>
          </a:prstGeom>
          <a:noFill/>
          <a:ln/>
        </p:spPr>
        <p:txBody>
          <a:bodyPr wrap="square" lIns="0" tIns="0" rIns="0" bIns="0" rtlCol="0" anchor="ctr"/>
          <a:lstStyle/>
          <a:p>
            <a:pPr marL="0" indent="0" algn="ctr">
              <a:buNone/>
            </a:pPr>
            <a:r>
              <a:rPr lang="en-US" sz="3600" b="1" dirty="0">
                <a:solidFill>
                  <a:srgbClr val="C0463C"/>
                </a:solidFill>
                <a:latin typeface="Calibri" pitchFamily="34" charset="0"/>
                <a:ea typeface="Calibri" pitchFamily="34" charset="-122"/>
                <a:cs typeface="Calibri" pitchFamily="34" charset="-120"/>
              </a:rPr>
              <a:t>-45%</a:t>
            </a:r>
            <a:endParaRPr lang="en-US" sz="3600" dirty="0"/>
          </a:p>
        </p:txBody>
      </p:sp>
      <p:sp>
        <p:nvSpPr>
          <p:cNvPr id="12" name="Text 9"/>
          <p:cNvSpPr txBox="1"/>
          <p:nvPr/>
        </p:nvSpPr>
        <p:spPr>
          <a:xfrm>
            <a:off x="8065008"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average transaction value</a:t>
            </a:r>
            <a:endParaRPr lang="en-US" sz="1400" dirty="0"/>
          </a:p>
        </p:txBody>
      </p:sp>
      <p:sp>
        <p:nvSpPr>
          <p:cNvPr id="13" name="Derived chip"/>
          <p:cNvSpPr/>
          <p:nvPr/>
        </p:nvSpPr>
        <p:spPr>
          <a:xfrm>
            <a:off x="10469880" y="1463040"/>
            <a:ext cx="1005840" cy="329184"/>
          </a:xfrm>
          <a:prstGeom prst="roundRect">
            <a:avLst>
              <a:gd name="adj" fmla="val 27778"/>
            </a:avLst>
          </a:prstGeom>
          <a:solidFill>
            <a:schemeClr val="bg1"/>
          </a:solidFill>
          <a:ln w="12700">
            <a:solidFill>
              <a:schemeClr val="tx1"/>
            </a:solidFill>
            <a:prstDash val="solid"/>
          </a:ln>
        </p:spPr>
      </p:sp>
      <p:sp>
        <p:nvSpPr>
          <p:cNvPr id="14" name="Text 11"/>
          <p:cNvSpPr txBox="1"/>
          <p:nvPr/>
        </p:nvSpPr>
        <p:spPr>
          <a:xfrm>
            <a:off x="10469880" y="1463040"/>
            <a:ext cx="1005840" cy="329184"/>
          </a:xfrm>
          <a:prstGeom prst="rect">
            <a:avLst/>
          </a:prstGeom>
          <a:noFill/>
          <a:ln/>
        </p:spPr>
        <p:txBody>
          <a:bodyPr wrap="square" lIns="0" tIns="0" rIns="0" bIns="0" rtlCol="0" anchor="ctr"/>
          <a:lstStyle/>
          <a:p>
            <a:pPr marL="0" indent="0" algn="ctr">
              <a:buNone/>
            </a:pPr>
            <a:r>
              <a:rPr lang="en-US" sz="1000" b="1" dirty="0">
                <a:solidFill>
                  <a:schemeClr val="tx1"/>
                </a:solidFill>
                <a:latin typeface="Calibri" pitchFamily="34" charset="0"/>
                <a:ea typeface="Calibri" pitchFamily="34" charset="-122"/>
                <a:cs typeface="Calibri" pitchFamily="34" charset="-120"/>
              </a:rPr>
              <a:t>DERIVED</a:t>
            </a:r>
            <a:endParaRPr lang="en-US" sz="1000" dirty="0"/>
          </a:p>
        </p:txBody>
      </p:sp>
      <p:graphicFrame>
        <p:nvGraphicFramePr>
          <p:cNvPr id="15" name="Chart 0"/>
          <p:cNvGraphicFramePr/>
          <p:nvPr/>
        </p:nvGraphicFramePr>
        <p:xfrm>
          <a:off x="548640" y="2834640"/>
          <a:ext cx="72237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6" name="Q3 2025 card"/>
          <p:cNvSpPr/>
          <p:nvPr/>
        </p:nvSpPr>
        <p:spPr>
          <a:xfrm>
            <a:off x="8046720" y="2926080"/>
            <a:ext cx="3593592" cy="3200400"/>
          </a:xfrm>
          <a:prstGeom prst="roundRect">
            <a:avLst>
              <a:gd name="adj" fmla="val 4286"/>
            </a:avLst>
          </a:prstGeom>
          <a:solidFill>
            <a:schemeClr val="bg2"/>
          </a:solidFill>
          <a:ln w="12700">
            <a:solidFill>
              <a:schemeClr val="bg2"/>
            </a:solidFill>
            <a:prstDash val="solid"/>
          </a:ln>
        </p:spPr>
      </p:sp>
      <p:sp>
        <p:nvSpPr>
          <p:cNvPr id="17" name="Text 13"/>
          <p:cNvSpPr txBox="1"/>
          <p:nvPr/>
        </p:nvSpPr>
        <p:spPr>
          <a:xfrm>
            <a:off x="8321040" y="3154680"/>
            <a:ext cx="3108960" cy="640080"/>
          </a:xfrm>
          <a:prstGeom prst="rect">
            <a:avLst/>
          </a:prstGeom>
          <a:noFill/>
          <a:ln/>
        </p:spPr>
        <p:txBody>
          <a:bodyPr wrap="square" lIns="0" tIns="0" rIns="0" bIns="0" rtlCol="0" anchor="ctr"/>
          <a:lstStyle/>
          <a:p>
            <a:pPr marL="0" indent="0">
              <a:buNone/>
            </a:pPr>
            <a:r>
              <a:rPr lang="en-US" sz="3400" b="1" dirty="0">
                <a:solidFill>
                  <a:schemeClr val="tx1"/>
                </a:solidFill>
                <a:latin typeface="Calibri" pitchFamily="34" charset="0"/>
                <a:ea typeface="Calibri" pitchFamily="34" charset="-122"/>
                <a:cs typeface="Calibri" pitchFamily="34" charset="-120"/>
              </a:rPr>
              <a:t>Q3 2025</a:t>
            </a:r>
            <a:endParaRPr lang="en-US" sz="3400" dirty="0"/>
          </a:p>
        </p:txBody>
      </p:sp>
      <p:sp>
        <p:nvSpPr>
          <p:cNvPr id="18" name="Text 14"/>
          <p:cNvSpPr txBox="1"/>
          <p:nvPr/>
        </p:nvSpPr>
        <p:spPr>
          <a:xfrm>
            <a:off x="8321040" y="3931920"/>
            <a:ext cx="3108960" cy="1920240"/>
          </a:xfrm>
          <a:prstGeom prst="rect">
            <a:avLst/>
          </a:prstGeom>
          <a:noFill/>
          <a:ln/>
        </p:spPr>
        <p:txBody>
          <a:bodyPr wrap="square" lIns="0" tIns="0" rIns="0" bIns="0" rtlCol="0" anchor="t"/>
          <a:lstStyle/>
          <a:p>
            <a:pPr marL="0" indent="0">
              <a:buNone/>
            </a:pPr>
            <a:r>
              <a:rPr lang="en-US" sz="1600" dirty="0">
                <a:solidFill>
                  <a:srgbClr val="6F7271"/>
                </a:solidFill>
                <a:latin typeface="Calibri" pitchFamily="34" charset="0"/>
                <a:ea typeface="Calibri" pitchFamily="34" charset="-122"/>
                <a:cs typeface="Calibri" pitchFamily="34" charset="-120"/>
              </a:rPr>
              <a:t>The most notable movement: transactions were low relative to value, which prompted the manual average calculation.</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Why average transaction value should be standard</a:t>
            </a:r>
            <a:endParaRPr lang="en-US" sz="2800" dirty="0"/>
          </a:p>
        </p:txBody>
      </p:sp>
      <p:sp>
        <p:nvSpPr>
          <p:cNvPr id="4" name="Reason 1"/>
          <p:cNvSpPr/>
          <p:nvPr/>
        </p:nvSpPr>
        <p:spPr>
          <a:xfrm>
            <a:off x="548640" y="1371600"/>
            <a:ext cx="3575304" cy="3566160"/>
          </a:xfrm>
          <a:prstGeom prst="roundRect">
            <a:avLst>
              <a:gd name="adj" fmla="val 3846"/>
            </a:avLst>
          </a:prstGeom>
          <a:solidFill>
            <a:schemeClr val="bg2"/>
          </a:solidFill>
          <a:ln w="12700">
            <a:solidFill>
              <a:schemeClr val="bg2"/>
            </a:solidFill>
            <a:prstDash val="solid"/>
          </a:ln>
        </p:spPr>
      </p:sp>
      <p:sp>
        <p:nvSpPr>
          <p:cNvPr id="5" name="Reason number 1"/>
          <p:cNvSpPr/>
          <p:nvPr/>
        </p:nvSpPr>
        <p:spPr>
          <a:xfrm>
            <a:off x="868680" y="1691640"/>
            <a:ext cx="548640" cy="548640"/>
          </a:xfrm>
          <a:prstGeom prst="ellipse">
            <a:avLst/>
          </a:prstGeom>
          <a:solidFill>
            <a:schemeClr val="accent2"/>
          </a:solidFill>
          <a:ln w="12700">
            <a:solidFill>
              <a:schemeClr val="accent2"/>
            </a:solidFill>
            <a:prstDash val="solid"/>
          </a:ln>
        </p:spPr>
      </p:sp>
      <p:sp>
        <p:nvSpPr>
          <p:cNvPr id="6" name="Text 3"/>
          <p:cNvSpPr txBox="1"/>
          <p:nvPr/>
        </p:nvSpPr>
        <p:spPr>
          <a:xfrm>
            <a:off x="868680" y="16916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868680" y="2514600"/>
            <a:ext cx="3017520" cy="82296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Researchers and investors</a:t>
            </a:r>
            <a:endParaRPr lang="en-US" sz="2000" dirty="0"/>
          </a:p>
        </p:txBody>
      </p:sp>
      <p:sp>
        <p:nvSpPr>
          <p:cNvPr id="8" name="Text 5"/>
          <p:cNvSpPr txBox="1"/>
          <p:nvPr/>
        </p:nvSpPr>
        <p:spPr>
          <a:xfrm>
            <a:off x="868680" y="3200400"/>
            <a:ext cx="3017520" cy="1463040"/>
          </a:xfrm>
          <a:prstGeom prst="rect">
            <a:avLst/>
          </a:prstGeom>
          <a:noFill/>
          <a:ln/>
        </p:spPr>
        <p:txBody>
          <a:bodyPr wrap="square" lIns="0" tIns="0" rIns="0" bIns="0" rtlCol="0" anchor="t"/>
          <a:lstStyle/>
          <a:p>
            <a:pPr marL="0" indent="0">
              <a:buNone/>
            </a:pPr>
            <a:r>
              <a:rPr lang="en-US" sz="1600" dirty="0">
                <a:solidFill>
                  <a:srgbClr val="6F7271"/>
                </a:solidFill>
                <a:latin typeface="Calibri" pitchFamily="34" charset="0"/>
                <a:ea typeface="Calibri" pitchFamily="34" charset="-122"/>
                <a:cs typeface="Calibri" pitchFamily="34" charset="-120"/>
              </a:rPr>
              <a:t>Read growth correctly: more, smaller payments, not higher-value ones.</a:t>
            </a:r>
            <a:endParaRPr lang="en-US" sz="1600" dirty="0"/>
          </a:p>
        </p:txBody>
      </p:sp>
      <p:sp>
        <p:nvSpPr>
          <p:cNvPr id="9" name="Reason 2"/>
          <p:cNvSpPr/>
          <p:nvPr/>
        </p:nvSpPr>
        <p:spPr>
          <a:xfrm>
            <a:off x="4306824" y="1371600"/>
            <a:ext cx="3575304" cy="3566160"/>
          </a:xfrm>
          <a:prstGeom prst="roundRect">
            <a:avLst>
              <a:gd name="adj" fmla="val 3846"/>
            </a:avLst>
          </a:prstGeom>
          <a:solidFill>
            <a:schemeClr val="bg2"/>
          </a:solidFill>
          <a:ln w="12700">
            <a:solidFill>
              <a:schemeClr val="bg2"/>
            </a:solidFill>
            <a:prstDash val="solid"/>
          </a:ln>
        </p:spPr>
      </p:sp>
      <p:sp>
        <p:nvSpPr>
          <p:cNvPr id="10" name="Reason number 2"/>
          <p:cNvSpPr/>
          <p:nvPr/>
        </p:nvSpPr>
        <p:spPr>
          <a:xfrm>
            <a:off x="4626864" y="1691640"/>
            <a:ext cx="548640" cy="548640"/>
          </a:xfrm>
          <a:prstGeom prst="ellipse">
            <a:avLst/>
          </a:prstGeom>
          <a:solidFill>
            <a:schemeClr val="accent2"/>
          </a:solidFill>
          <a:ln w="12700">
            <a:solidFill>
              <a:schemeClr val="accent2"/>
            </a:solidFill>
            <a:prstDash val="solid"/>
          </a:ln>
        </p:spPr>
      </p:sp>
      <p:sp>
        <p:nvSpPr>
          <p:cNvPr id="11" name="Text 8"/>
          <p:cNvSpPr txBox="1"/>
          <p:nvPr/>
        </p:nvSpPr>
        <p:spPr>
          <a:xfrm>
            <a:off x="4626864" y="16916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4626864" y="2514600"/>
            <a:ext cx="3017520" cy="82296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Operations and risk teams</a:t>
            </a:r>
            <a:endParaRPr lang="en-US" sz="2000" dirty="0"/>
          </a:p>
        </p:txBody>
      </p:sp>
      <p:sp>
        <p:nvSpPr>
          <p:cNvPr id="13" name="Text 10"/>
          <p:cNvSpPr txBox="1"/>
          <p:nvPr/>
        </p:nvSpPr>
        <p:spPr>
          <a:xfrm>
            <a:off x="4626864" y="3200400"/>
            <a:ext cx="3017520" cy="1463040"/>
          </a:xfrm>
          <a:prstGeom prst="rect">
            <a:avLst/>
          </a:prstGeom>
          <a:noFill/>
          <a:ln/>
        </p:spPr>
        <p:txBody>
          <a:bodyPr wrap="square" lIns="0" tIns="0" rIns="0" bIns="0" rtlCol="0" anchor="t"/>
          <a:lstStyle/>
          <a:p>
            <a:pPr marL="0" indent="0">
              <a:buNone/>
            </a:pPr>
            <a:r>
              <a:rPr lang="en-US" sz="1600" dirty="0">
                <a:solidFill>
                  <a:srgbClr val="6F7271"/>
                </a:solidFill>
                <a:latin typeface="Calibri" pitchFamily="34" charset="0"/>
                <a:ea typeface="Calibri" pitchFamily="34" charset="-122"/>
                <a:cs typeface="Calibri" pitchFamily="34" charset="-120"/>
              </a:rPr>
              <a:t>Plan capacity and set monitoring thresholds.</a:t>
            </a:r>
            <a:endParaRPr lang="en-US" sz="1600" dirty="0"/>
          </a:p>
        </p:txBody>
      </p:sp>
      <p:sp>
        <p:nvSpPr>
          <p:cNvPr id="14" name="Reason 3"/>
          <p:cNvSpPr/>
          <p:nvPr/>
        </p:nvSpPr>
        <p:spPr>
          <a:xfrm>
            <a:off x="8065008" y="1371600"/>
            <a:ext cx="3575304" cy="3566160"/>
          </a:xfrm>
          <a:prstGeom prst="roundRect">
            <a:avLst>
              <a:gd name="adj" fmla="val 3846"/>
            </a:avLst>
          </a:prstGeom>
          <a:solidFill>
            <a:schemeClr val="bg2"/>
          </a:solidFill>
          <a:ln w="12700">
            <a:solidFill>
              <a:schemeClr val="bg2"/>
            </a:solidFill>
            <a:prstDash val="solid"/>
          </a:ln>
        </p:spPr>
      </p:sp>
      <p:sp>
        <p:nvSpPr>
          <p:cNvPr id="15" name="Reason number 3"/>
          <p:cNvSpPr/>
          <p:nvPr/>
        </p:nvSpPr>
        <p:spPr>
          <a:xfrm>
            <a:off x="8385048" y="1691640"/>
            <a:ext cx="548640" cy="548640"/>
          </a:xfrm>
          <a:prstGeom prst="ellipse">
            <a:avLst/>
          </a:prstGeom>
          <a:solidFill>
            <a:schemeClr val="accent2"/>
          </a:solidFill>
          <a:ln w="12700">
            <a:solidFill>
              <a:schemeClr val="accent2"/>
            </a:solidFill>
            <a:prstDash val="solid"/>
          </a:ln>
        </p:spPr>
      </p:sp>
      <p:sp>
        <p:nvSpPr>
          <p:cNvPr id="16" name="Text 13"/>
          <p:cNvSpPr txBox="1"/>
          <p:nvPr/>
        </p:nvSpPr>
        <p:spPr>
          <a:xfrm>
            <a:off x="8385048" y="169164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latin typeface="Calibri" pitchFamily="34" charset="0"/>
                <a:ea typeface="Calibri" pitchFamily="34" charset="-122"/>
                <a:cs typeface="Calibri" pitchFamily="34" charset="-120"/>
              </a:rPr>
              <a:t>3</a:t>
            </a:r>
            <a:endParaRPr lang="en-US" sz="2000" dirty="0"/>
          </a:p>
        </p:txBody>
      </p:sp>
      <p:sp>
        <p:nvSpPr>
          <p:cNvPr id="17" name="Text 14"/>
          <p:cNvSpPr txBox="1"/>
          <p:nvPr/>
        </p:nvSpPr>
        <p:spPr>
          <a:xfrm>
            <a:off x="8385048" y="2514600"/>
            <a:ext cx="3017520" cy="82296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Everyone reading totals</a:t>
            </a:r>
            <a:endParaRPr lang="en-US" sz="2000" dirty="0"/>
          </a:p>
        </p:txBody>
      </p:sp>
      <p:sp>
        <p:nvSpPr>
          <p:cNvPr id="18" name="Text 15"/>
          <p:cNvSpPr txBox="1"/>
          <p:nvPr/>
        </p:nvSpPr>
        <p:spPr>
          <a:xfrm>
            <a:off x="8385048" y="3200400"/>
            <a:ext cx="3017520" cy="1463040"/>
          </a:xfrm>
          <a:prstGeom prst="rect">
            <a:avLst/>
          </a:prstGeom>
          <a:noFill/>
          <a:ln/>
        </p:spPr>
        <p:txBody>
          <a:bodyPr wrap="square" lIns="0" tIns="0" rIns="0" bIns="0" rtlCol="0" anchor="t"/>
          <a:lstStyle/>
          <a:p>
            <a:pPr marL="0" indent="0">
              <a:buNone/>
            </a:pPr>
            <a:r>
              <a:rPr lang="en-US" sz="1600" dirty="0">
                <a:solidFill>
                  <a:srgbClr val="6F7271"/>
                </a:solidFill>
                <a:latin typeface="Calibri" pitchFamily="34" charset="0"/>
                <a:ea typeface="Calibri" pitchFamily="34" charset="-122"/>
                <a:cs typeface="Calibri" pitchFamily="34" charset="-120"/>
              </a:rPr>
              <a:t>Totals alone hide the shift toward smaller payments.</a:t>
            </a:r>
            <a:endParaRPr lang="en-US" sz="1600" dirty="0"/>
          </a:p>
        </p:txBody>
      </p:sp>
      <p:sp>
        <p:nvSpPr>
          <p:cNvPr id="19" name="Bar takeaway"/>
          <p:cNvSpPr/>
          <p:nvPr/>
        </p:nvSpPr>
        <p:spPr>
          <a:xfrm>
            <a:off x="548640" y="5212080"/>
            <a:ext cx="11091672" cy="777240"/>
          </a:xfrm>
          <a:prstGeom prst="roundRect">
            <a:avLst>
              <a:gd name="adj" fmla="val 17647"/>
            </a:avLst>
          </a:prstGeom>
          <a:solidFill>
            <a:schemeClr val="bg2"/>
          </a:solidFill>
          <a:ln w="12700">
            <a:solidFill>
              <a:schemeClr val="bg2"/>
            </a:solidFill>
            <a:prstDash val="solid"/>
          </a:ln>
        </p:spPr>
      </p:sp>
      <p:sp>
        <p:nvSpPr>
          <p:cNvPr id="20" name="Text 17"/>
          <p:cNvSpPr txBox="1"/>
          <p:nvPr/>
        </p:nvSpPr>
        <p:spPr>
          <a:xfrm>
            <a:off x="822960" y="5212080"/>
            <a:ext cx="10515600" cy="77724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Takeaway:  </a:t>
            </a:r>
            <a:r>
              <a:rPr lang="en-US" sz="1600" dirty="0">
                <a:solidFill>
                  <a:schemeClr val="tx1"/>
                </a:solidFill>
                <a:latin typeface="Calibri" pitchFamily="34" charset="0"/>
                <a:ea typeface="Calibri" pitchFamily="34" charset="-122"/>
                <a:cs typeface="Calibri" pitchFamily="34" charset="-120"/>
              </a:rPr>
              <a:t>growth is driven by a larger number of smaller payments.</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The average is not the typical transaction</a:t>
            </a:r>
            <a:endParaRPr lang="en-US" sz="2800" dirty="0"/>
          </a:p>
        </p:txBody>
      </p:sp>
      <p:sp>
        <p:nvSpPr>
          <p:cNvPr id="4" name="Formula card"/>
          <p:cNvSpPr/>
          <p:nvPr/>
        </p:nvSpPr>
        <p:spPr>
          <a:xfrm>
            <a:off x="548640" y="1371600"/>
            <a:ext cx="11091672" cy="1234440"/>
          </a:xfrm>
          <a:prstGeom prst="roundRect">
            <a:avLst>
              <a:gd name="adj" fmla="val 11111"/>
            </a:avLst>
          </a:prstGeom>
          <a:solidFill>
            <a:srgbClr val="243746"/>
          </a:solidFill>
          <a:ln w="12700">
            <a:solidFill>
              <a:srgbClr val="243746"/>
            </a:solidFill>
            <a:prstDash val="solid"/>
          </a:ln>
        </p:spPr>
      </p:sp>
      <p:sp>
        <p:nvSpPr>
          <p:cNvPr id="5" name="Text 2"/>
          <p:cNvSpPr txBox="1"/>
          <p:nvPr/>
        </p:nvSpPr>
        <p:spPr>
          <a:xfrm>
            <a:off x="868680" y="1463040"/>
            <a:ext cx="6583680" cy="1051560"/>
          </a:xfrm>
          <a:prstGeom prst="rect">
            <a:avLst/>
          </a:prstGeom>
          <a:noFill/>
          <a:ln/>
        </p:spPr>
        <p:txBody>
          <a:bodyPr wrap="square" lIns="0" tIns="0" rIns="0" bIns="0" rtlCol="0" anchor="ctr"/>
          <a:lstStyle/>
          <a:p>
            <a:pPr marL="0" indent="0">
              <a:buNone/>
            </a:pPr>
            <a:r>
              <a:rPr lang="en-US" sz="2800" b="1" dirty="0">
                <a:solidFill>
                  <a:schemeClr val="accent2"/>
                </a:solidFill>
                <a:latin typeface="Calibri" pitchFamily="34" charset="0"/>
                <a:ea typeface="Calibri" pitchFamily="34" charset="-122"/>
                <a:cs typeface="Calibri" pitchFamily="34" charset="-120"/>
              </a:rPr>
              <a:t>Average = total value  ÷  total volume</a:t>
            </a:r>
            <a:endParaRPr lang="en-US" sz="2800" dirty="0"/>
          </a:p>
        </p:txBody>
      </p:sp>
      <p:sp>
        <p:nvSpPr>
          <p:cNvPr id="6" name="Text 3"/>
          <p:cNvSpPr txBox="1"/>
          <p:nvPr/>
        </p:nvSpPr>
        <p:spPr>
          <a:xfrm>
            <a:off x="7406640" y="1463040"/>
            <a:ext cx="3931920" cy="105156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A few very large transactions can raise it significantly.</a:t>
            </a:r>
            <a:endParaRPr lang="en-US" sz="1600" dirty="0"/>
          </a:p>
        </p:txBody>
      </p:sp>
      <p:sp>
        <p:nvSpPr>
          <p:cNvPr id="7" name="Measure Average"/>
          <p:cNvSpPr/>
          <p:nvPr/>
        </p:nvSpPr>
        <p:spPr>
          <a:xfrm>
            <a:off x="548640" y="2834640"/>
            <a:ext cx="3575304" cy="2331720"/>
          </a:xfrm>
          <a:prstGeom prst="roundRect">
            <a:avLst>
              <a:gd name="adj" fmla="val 5882"/>
            </a:avLst>
          </a:prstGeom>
          <a:solidFill>
            <a:schemeClr val="bg2"/>
          </a:solidFill>
          <a:ln w="12700">
            <a:solidFill>
              <a:schemeClr val="bg2"/>
            </a:solidFill>
            <a:prstDash val="solid"/>
          </a:ln>
        </p:spPr>
      </p:sp>
      <p:sp>
        <p:nvSpPr>
          <p:cNvPr id="8" name="Text 5"/>
          <p:cNvSpPr txBox="1"/>
          <p:nvPr/>
        </p:nvSpPr>
        <p:spPr>
          <a:xfrm>
            <a:off x="822960" y="3017520"/>
            <a:ext cx="3017520" cy="457200"/>
          </a:xfrm>
          <a:prstGeom prst="rect">
            <a:avLst/>
          </a:prstGeom>
          <a:noFill/>
          <a:ln/>
        </p:spPr>
        <p:txBody>
          <a:bodyPr wrap="square" lIns="0" tIns="0" rIns="0" bIns="0" rtlCol="0" anchor="ctr"/>
          <a:lstStyle/>
          <a:p>
            <a:pPr marL="0" indent="0">
              <a:buNone/>
            </a:pPr>
            <a:r>
              <a:rPr lang="en-US" sz="2400" b="1" dirty="0">
                <a:solidFill>
                  <a:schemeClr val="tx1"/>
                </a:solidFill>
                <a:latin typeface="Calibri" pitchFamily="34" charset="0"/>
                <a:ea typeface="Calibri" pitchFamily="34" charset="-122"/>
                <a:cs typeface="Calibri" pitchFamily="34" charset="-120"/>
              </a:rPr>
              <a:t>Average</a:t>
            </a:r>
            <a:endParaRPr lang="en-US" sz="2400" dirty="0"/>
          </a:p>
        </p:txBody>
      </p:sp>
      <p:sp>
        <p:nvSpPr>
          <p:cNvPr id="9" name="Text 6"/>
          <p:cNvSpPr txBox="1"/>
          <p:nvPr/>
        </p:nvSpPr>
        <p:spPr>
          <a:xfrm>
            <a:off x="822960" y="3474720"/>
            <a:ext cx="3017520" cy="320040"/>
          </a:xfrm>
          <a:prstGeom prst="rect">
            <a:avLst/>
          </a:prstGeom>
          <a:noFill/>
          <a:ln/>
        </p:spPr>
        <p:txBody>
          <a:bodyPr wrap="square" lIns="0" tIns="0" rIns="0" bIns="0" rtlCol="0" anchor="ctr"/>
          <a:lstStyle/>
          <a:p>
            <a:pPr marL="0" indent="0">
              <a:buNone/>
            </a:pPr>
            <a:r>
              <a:rPr lang="en-US" sz="1400" dirty="0">
                <a:solidFill>
                  <a:srgbClr val="6F7271"/>
                </a:solidFill>
                <a:latin typeface="Calibri" pitchFamily="34" charset="0"/>
                <a:ea typeface="Calibri" pitchFamily="34" charset="-122"/>
                <a:cs typeface="Calibri" pitchFamily="34" charset="-120"/>
              </a:rPr>
              <a:t>total value divided by volume</a:t>
            </a:r>
            <a:endParaRPr lang="en-US" sz="1400" dirty="0"/>
          </a:p>
        </p:txBody>
      </p:sp>
      <p:sp>
        <p:nvSpPr>
          <p:cNvPr id="10" name="Text 7"/>
          <p:cNvSpPr txBox="1"/>
          <p:nvPr/>
        </p:nvSpPr>
        <p:spPr>
          <a:xfrm>
            <a:off x="822960" y="4069080"/>
            <a:ext cx="3017520" cy="228600"/>
          </a:xfrm>
          <a:prstGeom prst="rect">
            <a:avLst/>
          </a:prstGeom>
          <a:noFill/>
          <a:ln/>
        </p:spPr>
        <p:txBody>
          <a:bodyPr wrap="square" lIns="0" tIns="0" rIns="0" bIns="0" rtlCol="0" anchor="ctr"/>
          <a:lstStyle/>
          <a:p>
            <a:pPr marL="0" indent="0">
              <a:buNone/>
            </a:pPr>
            <a:r>
              <a:rPr lang="en-US" sz="1000" b="1" dirty="0">
                <a:solidFill>
                  <a:srgbClr val="6F7271"/>
                </a:solidFill>
                <a:latin typeface="Calibri" pitchFamily="34" charset="0"/>
                <a:ea typeface="Calibri" pitchFamily="34" charset="-122"/>
                <a:cs typeface="Calibri" pitchFamily="34" charset="-120"/>
              </a:rPr>
              <a:t>STATUS</a:t>
            </a:r>
            <a:endParaRPr lang="en-US" sz="1000" dirty="0"/>
          </a:p>
        </p:txBody>
      </p:sp>
      <p:sp>
        <p:nvSpPr>
          <p:cNvPr id="11" name="Text 8"/>
          <p:cNvSpPr txBox="1"/>
          <p:nvPr/>
        </p:nvSpPr>
        <p:spPr>
          <a:xfrm>
            <a:off x="822960" y="4315968"/>
            <a:ext cx="3108960" cy="731520"/>
          </a:xfrm>
          <a:prstGeom prst="rect">
            <a:avLst/>
          </a:prstGeom>
          <a:noFill/>
          <a:ln/>
        </p:spPr>
        <p:txBody>
          <a:bodyPr wrap="square" lIns="0" tIns="0" rIns="0" bIns="0" rtlCol="0" anchor="t"/>
          <a:lstStyle/>
          <a:p>
            <a:pPr marL="0" indent="0">
              <a:buNone/>
            </a:pPr>
            <a:r>
              <a:rPr lang="en-US" sz="1600" b="1" dirty="0">
                <a:solidFill>
                  <a:srgbClr val="2E8B63"/>
                </a:solidFill>
                <a:latin typeface="Calibri" pitchFamily="34" charset="0"/>
                <a:ea typeface="Calibri" pitchFamily="34" charset="-122"/>
                <a:cs typeface="Calibri" pitchFamily="34" charset="-120"/>
              </a:rPr>
              <a:t>Calculable: the best indicator the data allows.</a:t>
            </a:r>
            <a:endParaRPr lang="en-US" sz="1600" dirty="0"/>
          </a:p>
        </p:txBody>
      </p:sp>
      <p:sp>
        <p:nvSpPr>
          <p:cNvPr id="12" name="Measure Median"/>
          <p:cNvSpPr/>
          <p:nvPr/>
        </p:nvSpPr>
        <p:spPr>
          <a:xfrm>
            <a:off x="4306824" y="2834640"/>
            <a:ext cx="3575304" cy="2331720"/>
          </a:xfrm>
          <a:prstGeom prst="roundRect">
            <a:avLst>
              <a:gd name="adj" fmla="val 5882"/>
            </a:avLst>
          </a:prstGeom>
          <a:solidFill>
            <a:schemeClr val="bg2"/>
          </a:solidFill>
          <a:ln w="12700">
            <a:solidFill>
              <a:schemeClr val="bg2"/>
            </a:solidFill>
            <a:prstDash val="solid"/>
          </a:ln>
        </p:spPr>
      </p:sp>
      <p:sp>
        <p:nvSpPr>
          <p:cNvPr id="13" name="Text 10"/>
          <p:cNvSpPr txBox="1"/>
          <p:nvPr/>
        </p:nvSpPr>
        <p:spPr>
          <a:xfrm>
            <a:off x="4581144" y="3017520"/>
            <a:ext cx="3017520" cy="457200"/>
          </a:xfrm>
          <a:prstGeom prst="rect">
            <a:avLst/>
          </a:prstGeom>
          <a:noFill/>
          <a:ln/>
        </p:spPr>
        <p:txBody>
          <a:bodyPr wrap="square" lIns="0" tIns="0" rIns="0" bIns="0" rtlCol="0" anchor="ctr"/>
          <a:lstStyle/>
          <a:p>
            <a:pPr marL="0" indent="0">
              <a:buNone/>
            </a:pPr>
            <a:r>
              <a:rPr lang="en-US" sz="2400" b="1" dirty="0">
                <a:solidFill>
                  <a:schemeClr val="tx1"/>
                </a:solidFill>
                <a:latin typeface="Calibri" pitchFamily="34" charset="0"/>
                <a:ea typeface="Calibri" pitchFamily="34" charset="-122"/>
                <a:cs typeface="Calibri" pitchFamily="34" charset="-120"/>
              </a:rPr>
              <a:t>Median</a:t>
            </a:r>
            <a:endParaRPr lang="en-US" sz="2400" dirty="0"/>
          </a:p>
        </p:txBody>
      </p:sp>
      <p:sp>
        <p:nvSpPr>
          <p:cNvPr id="14" name="Text 11"/>
          <p:cNvSpPr txBox="1"/>
          <p:nvPr/>
        </p:nvSpPr>
        <p:spPr>
          <a:xfrm>
            <a:off x="4581144" y="3474720"/>
            <a:ext cx="3017520" cy="320040"/>
          </a:xfrm>
          <a:prstGeom prst="rect">
            <a:avLst/>
          </a:prstGeom>
          <a:noFill/>
          <a:ln/>
        </p:spPr>
        <p:txBody>
          <a:bodyPr wrap="square" lIns="0" tIns="0" rIns="0" bIns="0" rtlCol="0" anchor="ctr"/>
          <a:lstStyle/>
          <a:p>
            <a:pPr marL="0" indent="0">
              <a:buNone/>
            </a:pPr>
            <a:r>
              <a:rPr lang="en-US" sz="1400" dirty="0">
                <a:solidFill>
                  <a:srgbClr val="6F7271"/>
                </a:solidFill>
                <a:latin typeface="Calibri" pitchFamily="34" charset="0"/>
                <a:ea typeface="Calibri" pitchFamily="34" charset="-122"/>
                <a:cs typeface="Calibri" pitchFamily="34" charset="-120"/>
              </a:rPr>
              <a:t>the middle value</a:t>
            </a:r>
            <a:endParaRPr lang="en-US" sz="1400" dirty="0"/>
          </a:p>
        </p:txBody>
      </p:sp>
      <p:sp>
        <p:nvSpPr>
          <p:cNvPr id="15" name="Text 12"/>
          <p:cNvSpPr txBox="1"/>
          <p:nvPr/>
        </p:nvSpPr>
        <p:spPr>
          <a:xfrm>
            <a:off x="4581144" y="4069080"/>
            <a:ext cx="3017520" cy="228600"/>
          </a:xfrm>
          <a:prstGeom prst="rect">
            <a:avLst/>
          </a:prstGeom>
          <a:noFill/>
          <a:ln/>
        </p:spPr>
        <p:txBody>
          <a:bodyPr wrap="square" lIns="0" tIns="0" rIns="0" bIns="0" rtlCol="0" anchor="ctr"/>
          <a:lstStyle/>
          <a:p>
            <a:pPr marL="0" indent="0">
              <a:buNone/>
            </a:pPr>
            <a:r>
              <a:rPr lang="en-US" sz="1000" b="1" dirty="0">
                <a:solidFill>
                  <a:srgbClr val="6F7271"/>
                </a:solidFill>
                <a:latin typeface="Calibri" pitchFamily="34" charset="0"/>
                <a:ea typeface="Calibri" pitchFamily="34" charset="-122"/>
                <a:cs typeface="Calibri" pitchFamily="34" charset="-120"/>
              </a:rPr>
              <a:t>STATUS</a:t>
            </a:r>
            <a:endParaRPr lang="en-US" sz="1000" dirty="0"/>
          </a:p>
        </p:txBody>
      </p:sp>
      <p:sp>
        <p:nvSpPr>
          <p:cNvPr id="16" name="Text 13"/>
          <p:cNvSpPr txBox="1"/>
          <p:nvPr/>
        </p:nvSpPr>
        <p:spPr>
          <a:xfrm>
            <a:off x="4581144" y="4315968"/>
            <a:ext cx="3108960" cy="731520"/>
          </a:xfrm>
          <a:prstGeom prst="rect">
            <a:avLst/>
          </a:prstGeom>
          <a:noFill/>
          <a:ln/>
        </p:spPr>
        <p:txBody>
          <a:bodyPr wrap="square" lIns="0" tIns="0" rIns="0" bIns="0" rtlCol="0" anchor="t"/>
          <a:lstStyle/>
          <a:p>
            <a:pPr marL="0" indent="0">
              <a:buNone/>
            </a:pPr>
            <a:r>
              <a:rPr lang="en-US" sz="1600" b="1" dirty="0">
                <a:solidFill>
                  <a:srgbClr val="C0463C"/>
                </a:solidFill>
                <a:latin typeface="Calibri" pitchFamily="34" charset="0"/>
                <a:ea typeface="Calibri" pitchFamily="34" charset="-122"/>
                <a:cs typeface="Calibri" pitchFamily="34" charset="-120"/>
              </a:rPr>
              <a:t>Not calculable: no individual values published.</a:t>
            </a:r>
            <a:endParaRPr lang="en-US" sz="1600" dirty="0"/>
          </a:p>
        </p:txBody>
      </p:sp>
      <p:sp>
        <p:nvSpPr>
          <p:cNvPr id="17" name="Measure Mode"/>
          <p:cNvSpPr/>
          <p:nvPr/>
        </p:nvSpPr>
        <p:spPr>
          <a:xfrm>
            <a:off x="8065008" y="2834640"/>
            <a:ext cx="3575304" cy="2331720"/>
          </a:xfrm>
          <a:prstGeom prst="roundRect">
            <a:avLst>
              <a:gd name="adj" fmla="val 5882"/>
            </a:avLst>
          </a:prstGeom>
          <a:solidFill>
            <a:schemeClr val="bg2"/>
          </a:solidFill>
          <a:ln w="12700">
            <a:solidFill>
              <a:schemeClr val="bg2"/>
            </a:solidFill>
            <a:prstDash val="solid"/>
          </a:ln>
        </p:spPr>
      </p:sp>
      <p:sp>
        <p:nvSpPr>
          <p:cNvPr id="18" name="Text 15"/>
          <p:cNvSpPr txBox="1"/>
          <p:nvPr/>
        </p:nvSpPr>
        <p:spPr>
          <a:xfrm>
            <a:off x="8339328" y="3017520"/>
            <a:ext cx="3017520" cy="457200"/>
          </a:xfrm>
          <a:prstGeom prst="rect">
            <a:avLst/>
          </a:prstGeom>
          <a:noFill/>
          <a:ln/>
        </p:spPr>
        <p:txBody>
          <a:bodyPr wrap="square" lIns="0" tIns="0" rIns="0" bIns="0" rtlCol="0" anchor="ctr"/>
          <a:lstStyle/>
          <a:p>
            <a:pPr marL="0" indent="0">
              <a:buNone/>
            </a:pPr>
            <a:r>
              <a:rPr lang="en-US" sz="2400" b="1" dirty="0">
                <a:solidFill>
                  <a:schemeClr val="tx1"/>
                </a:solidFill>
                <a:latin typeface="Calibri" pitchFamily="34" charset="0"/>
                <a:ea typeface="Calibri" pitchFamily="34" charset="-122"/>
                <a:cs typeface="Calibri" pitchFamily="34" charset="-120"/>
              </a:rPr>
              <a:t>Mode</a:t>
            </a:r>
            <a:endParaRPr lang="en-US" sz="2400" dirty="0"/>
          </a:p>
        </p:txBody>
      </p:sp>
      <p:sp>
        <p:nvSpPr>
          <p:cNvPr id="19" name="Text 16"/>
          <p:cNvSpPr txBox="1"/>
          <p:nvPr/>
        </p:nvSpPr>
        <p:spPr>
          <a:xfrm>
            <a:off x="8339328" y="3474720"/>
            <a:ext cx="3017520" cy="320040"/>
          </a:xfrm>
          <a:prstGeom prst="rect">
            <a:avLst/>
          </a:prstGeom>
          <a:noFill/>
          <a:ln/>
        </p:spPr>
        <p:txBody>
          <a:bodyPr wrap="square" lIns="0" tIns="0" rIns="0" bIns="0" rtlCol="0" anchor="ctr"/>
          <a:lstStyle/>
          <a:p>
            <a:pPr marL="0" indent="0">
              <a:buNone/>
            </a:pPr>
            <a:r>
              <a:rPr lang="en-US" sz="1400" dirty="0">
                <a:solidFill>
                  <a:srgbClr val="6F7271"/>
                </a:solidFill>
                <a:latin typeface="Calibri" pitchFamily="34" charset="0"/>
                <a:ea typeface="Calibri" pitchFamily="34" charset="-122"/>
                <a:cs typeface="Calibri" pitchFamily="34" charset="-120"/>
              </a:rPr>
              <a:t>the most frequent value</a:t>
            </a:r>
            <a:endParaRPr lang="en-US" sz="1400" dirty="0"/>
          </a:p>
        </p:txBody>
      </p:sp>
      <p:sp>
        <p:nvSpPr>
          <p:cNvPr id="20" name="Text 17"/>
          <p:cNvSpPr txBox="1"/>
          <p:nvPr/>
        </p:nvSpPr>
        <p:spPr>
          <a:xfrm>
            <a:off x="8339328" y="4069080"/>
            <a:ext cx="3017520" cy="228600"/>
          </a:xfrm>
          <a:prstGeom prst="rect">
            <a:avLst/>
          </a:prstGeom>
          <a:noFill/>
          <a:ln/>
        </p:spPr>
        <p:txBody>
          <a:bodyPr wrap="square" lIns="0" tIns="0" rIns="0" bIns="0" rtlCol="0" anchor="ctr"/>
          <a:lstStyle/>
          <a:p>
            <a:pPr marL="0" indent="0">
              <a:buNone/>
            </a:pPr>
            <a:r>
              <a:rPr lang="en-US" sz="1000" b="1" dirty="0">
                <a:solidFill>
                  <a:srgbClr val="6F7271"/>
                </a:solidFill>
                <a:latin typeface="Calibri" pitchFamily="34" charset="0"/>
                <a:ea typeface="Calibri" pitchFamily="34" charset="-122"/>
                <a:cs typeface="Calibri" pitchFamily="34" charset="-120"/>
              </a:rPr>
              <a:t>STATUS</a:t>
            </a:r>
            <a:endParaRPr lang="en-US" sz="1000" dirty="0"/>
          </a:p>
        </p:txBody>
      </p:sp>
      <p:sp>
        <p:nvSpPr>
          <p:cNvPr id="21" name="Text 18"/>
          <p:cNvSpPr txBox="1"/>
          <p:nvPr/>
        </p:nvSpPr>
        <p:spPr>
          <a:xfrm>
            <a:off x="8339328" y="4315968"/>
            <a:ext cx="3108960" cy="731520"/>
          </a:xfrm>
          <a:prstGeom prst="rect">
            <a:avLst/>
          </a:prstGeom>
          <a:noFill/>
          <a:ln/>
        </p:spPr>
        <p:txBody>
          <a:bodyPr wrap="square" lIns="0" tIns="0" rIns="0" bIns="0" rtlCol="0" anchor="t"/>
          <a:lstStyle/>
          <a:p>
            <a:pPr marL="0" indent="0">
              <a:buNone/>
            </a:pPr>
            <a:r>
              <a:rPr lang="en-US" sz="1600" b="1" dirty="0">
                <a:solidFill>
                  <a:srgbClr val="C0463C"/>
                </a:solidFill>
                <a:latin typeface="Calibri" pitchFamily="34" charset="0"/>
                <a:ea typeface="Calibri" pitchFamily="34" charset="-122"/>
                <a:cs typeface="Calibri" pitchFamily="34" charset="-120"/>
              </a:rPr>
              <a:t>Not calculable: no distribution published.</a:t>
            </a:r>
            <a:endParaRPr lang="en-US" sz="1600" dirty="0"/>
          </a:p>
        </p:txBody>
      </p:sp>
      <p:sp>
        <p:nvSpPr>
          <p:cNvPr id="22" name="Bar future"/>
          <p:cNvSpPr/>
          <p:nvPr/>
        </p:nvSpPr>
        <p:spPr>
          <a:xfrm>
            <a:off x="548640" y="5394960"/>
            <a:ext cx="11091672" cy="731520"/>
          </a:xfrm>
          <a:prstGeom prst="roundRect">
            <a:avLst>
              <a:gd name="adj" fmla="val 18750"/>
            </a:avLst>
          </a:prstGeom>
          <a:solidFill>
            <a:schemeClr val="bg2"/>
          </a:solidFill>
          <a:ln w="12700">
            <a:solidFill>
              <a:schemeClr val="bg2"/>
            </a:solidFill>
            <a:prstDash val="solid"/>
          </a:ln>
        </p:spPr>
      </p:sp>
      <p:sp>
        <p:nvSpPr>
          <p:cNvPr id="23" name="Text 20"/>
          <p:cNvSpPr txBox="1"/>
          <p:nvPr/>
        </p:nvSpPr>
        <p:spPr>
          <a:xfrm>
            <a:off x="822960" y="5394960"/>
            <a:ext cx="1051560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Future improvement:  </a:t>
            </a:r>
            <a:r>
              <a:rPr lang="en-US" sz="1600" dirty="0">
                <a:solidFill>
                  <a:schemeClr val="tx1"/>
                </a:solidFill>
                <a:latin typeface="Calibri" pitchFamily="34" charset="0"/>
                <a:ea typeface="Calibri" pitchFamily="34" charset="-122"/>
                <a:cs typeface="Calibri" pitchFamily="34" charset="-120"/>
              </a:rPr>
              <a:t>publish mode, median, or a distribution by value range.</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271"/>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685800"/>
            <a:ext cx="9144000" cy="640080"/>
          </a:xfrm>
          <a:prstGeom prst="rect">
            <a:avLst/>
          </a:prstGeom>
          <a:noFill/>
          <a:ln/>
        </p:spPr>
        <p:txBody>
          <a:bodyPr wrap="square" lIns="0" tIns="0" rIns="0" bIns="0" rtlCol="0" anchor="ctr"/>
          <a:lstStyle/>
          <a:p>
            <a:pPr marL="0" indent="0">
              <a:buNone/>
            </a:pPr>
            <a:r>
              <a:rPr lang="en-US" sz="3600" b="1" dirty="0">
                <a:solidFill>
                  <a:schemeClr val="bg1"/>
                </a:solidFill>
                <a:latin typeface="Calibri" pitchFamily="34" charset="0"/>
                <a:ea typeface="Calibri" pitchFamily="34" charset="-122"/>
                <a:cs typeface="Calibri" pitchFamily="34" charset="-120"/>
              </a:rPr>
              <a:t>Key takeaway</a:t>
            </a:r>
            <a:endParaRPr lang="en-US" sz="3600" dirty="0"/>
          </a:p>
        </p:txBody>
      </p:sp>
      <p:sp>
        <p:nvSpPr>
          <p:cNvPr id="3" name="Text 1"/>
          <p:cNvSpPr txBox="1"/>
          <p:nvPr/>
        </p:nvSpPr>
        <p:spPr>
          <a:xfrm>
            <a:off x="731520" y="2011680"/>
            <a:ext cx="10058400" cy="640080"/>
          </a:xfrm>
          <a:prstGeom prst="rect">
            <a:avLst/>
          </a:prstGeom>
          <a:noFill/>
          <a:ln/>
        </p:spPr>
        <p:txBody>
          <a:bodyPr wrap="square" lIns="0" tIns="0" rIns="0" bIns="0" rtlCol="0" anchor="ctr"/>
          <a:lstStyle/>
          <a:p>
            <a:pPr marL="0" indent="0">
              <a:buNone/>
            </a:pPr>
            <a:r>
              <a:rPr lang="en-US" sz="3000" b="1" dirty="0">
                <a:solidFill>
                  <a:schemeClr val="accent2"/>
                </a:solidFill>
                <a:latin typeface="Calibri" pitchFamily="34" charset="0"/>
                <a:ea typeface="Calibri" pitchFamily="34" charset="-122"/>
                <a:cs typeface="Calibri" pitchFamily="34" charset="-120"/>
              </a:rPr>
              <a:t>Explain the growth, not just record it.</a:t>
            </a:r>
            <a:endParaRPr lang="en-US" sz="3000" dirty="0"/>
          </a:p>
        </p:txBody>
      </p:sp>
      <p:sp>
        <p:nvSpPr>
          <p:cNvPr id="4" name="Text 2"/>
          <p:cNvSpPr txBox="1"/>
          <p:nvPr/>
        </p:nvSpPr>
        <p:spPr>
          <a:xfrm>
            <a:off x="731520" y="2697480"/>
            <a:ext cx="10058400" cy="411480"/>
          </a:xfrm>
          <a:prstGeom prst="rect">
            <a:avLst/>
          </a:prstGeom>
          <a:noFill/>
          <a:ln/>
        </p:spPr>
        <p:txBody>
          <a:bodyPr wrap="square" lIns="0" tIns="0" rIns="0" bIns="0" rtlCol="0" anchor="ctr"/>
          <a:lstStyle/>
          <a:p>
            <a:pPr marL="0" indent="0">
              <a:buNone/>
            </a:pPr>
            <a:r>
              <a:rPr lang="en-US" sz="1800" dirty="0">
                <a:solidFill>
                  <a:srgbClr val="9EA1A2"/>
                </a:solidFill>
                <a:latin typeface="Calibri" pitchFamily="34" charset="0"/>
                <a:ea typeface="Calibri" pitchFamily="34" charset="-122"/>
                <a:cs typeface="Calibri" pitchFamily="34" charset="-120"/>
              </a:rPr>
              <a:t>Interactive view, average value, per-system detail, value distributions.</a:t>
            </a:r>
            <a:endParaRPr lang="en-US" sz="1800" dirty="0"/>
          </a:p>
        </p:txBody>
      </p:sp>
      <p:sp>
        <p:nvSpPr>
          <p:cNvPr id="5" name="Text 3"/>
          <p:cNvSpPr txBox="1"/>
          <p:nvPr/>
        </p:nvSpPr>
        <p:spPr>
          <a:xfrm>
            <a:off x="731520" y="3566160"/>
            <a:ext cx="7315200" cy="274320"/>
          </a:xfrm>
          <a:prstGeom prst="rect">
            <a:avLst/>
          </a:prstGeom>
          <a:noFill/>
          <a:ln/>
        </p:spPr>
        <p:txBody>
          <a:bodyPr wrap="square" lIns="0" tIns="0" rIns="0" bIns="0" rtlCol="0" anchor="ctr"/>
          <a:lstStyle/>
          <a:p>
            <a:pPr marL="0" indent="0">
              <a:buNone/>
            </a:pPr>
            <a:r>
              <a:rPr lang="en-US" sz="1200" dirty="0">
                <a:solidFill>
                  <a:srgbClr val="9EA1A2"/>
                </a:solidFill>
                <a:latin typeface="Calibri" pitchFamily="34" charset="0"/>
                <a:ea typeface="Calibri" pitchFamily="34" charset="-122"/>
                <a:cs typeface="Calibri" pitchFamily="34" charset="-120"/>
              </a:rPr>
              <a:t>Open questions the data cannot answer</a:t>
            </a:r>
            <a:endParaRPr lang="en-US" sz="1200" dirty="0"/>
          </a:p>
        </p:txBody>
      </p:sp>
      <p:sp>
        <p:nvSpPr>
          <p:cNvPr id="6" name="Question 1"/>
          <p:cNvSpPr/>
          <p:nvPr/>
        </p:nvSpPr>
        <p:spPr>
          <a:xfrm>
            <a:off x="731520" y="3931920"/>
            <a:ext cx="3383280" cy="1737360"/>
          </a:xfrm>
          <a:prstGeom prst="roundRect">
            <a:avLst>
              <a:gd name="adj" fmla="val 7895"/>
            </a:avLst>
          </a:prstGeom>
          <a:solidFill>
            <a:srgbClr val="3B4E5B"/>
          </a:solidFill>
          <a:ln w="12700">
            <a:solidFill>
              <a:schemeClr val="accent2"/>
            </a:solidFill>
            <a:prstDash val="solid"/>
          </a:ln>
        </p:spPr>
      </p:sp>
      <p:sp>
        <p:nvSpPr>
          <p:cNvPr id="7" name="Text 5"/>
          <p:cNvSpPr txBox="1"/>
          <p:nvPr/>
        </p:nvSpPr>
        <p:spPr>
          <a:xfrm>
            <a:off x="960120" y="3931920"/>
            <a:ext cx="2926080" cy="173736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What drove </a:t>
            </a:r>
            <a:r>
              <a:rPr lang="en-US" sz="1800" dirty="0" err="1">
                <a:solidFill>
                  <a:schemeClr val="bg1"/>
                </a:solidFill>
                <a:latin typeface="Calibri" pitchFamily="34" charset="0"/>
                <a:ea typeface="Calibri" pitchFamily="34" charset="-122"/>
                <a:cs typeface="Calibri" pitchFamily="34" charset="-120"/>
              </a:rPr>
              <a:t>eFAWATEERcom’s</a:t>
            </a:r>
            <a:r>
              <a:rPr lang="en-US" sz="1800" dirty="0">
                <a:solidFill>
                  <a:schemeClr val="bg1"/>
                </a:solidFill>
                <a:latin typeface="Calibri" pitchFamily="34" charset="0"/>
                <a:ea typeface="Calibri" pitchFamily="34" charset="-122"/>
                <a:cs typeface="Calibri" pitchFamily="34" charset="-120"/>
              </a:rPr>
              <a:t> </a:t>
            </a:r>
            <a:r>
              <a:rPr lang="en-US" dirty="0">
                <a:solidFill>
                  <a:schemeClr val="bg1"/>
                </a:solidFill>
                <a:latin typeface="Calibri" pitchFamily="34" charset="0"/>
                <a:ea typeface="Calibri" pitchFamily="34" charset="-122"/>
                <a:cs typeface="Calibri" pitchFamily="34" charset="-120"/>
              </a:rPr>
              <a:t>increase in transaction value in Q3 2025?</a:t>
            </a:r>
            <a:endParaRPr lang="en-US" sz="1800" dirty="0"/>
          </a:p>
        </p:txBody>
      </p:sp>
      <p:sp>
        <p:nvSpPr>
          <p:cNvPr id="8" name="Question 2"/>
          <p:cNvSpPr/>
          <p:nvPr/>
        </p:nvSpPr>
        <p:spPr>
          <a:xfrm>
            <a:off x="4343400" y="3931920"/>
            <a:ext cx="3383280" cy="1737360"/>
          </a:xfrm>
          <a:prstGeom prst="roundRect">
            <a:avLst>
              <a:gd name="adj" fmla="val 7895"/>
            </a:avLst>
          </a:prstGeom>
          <a:solidFill>
            <a:srgbClr val="3B4E5B"/>
          </a:solidFill>
          <a:ln w="12700">
            <a:solidFill>
              <a:schemeClr val="accent2"/>
            </a:solidFill>
            <a:prstDash val="solid"/>
          </a:ln>
        </p:spPr>
      </p:sp>
      <p:sp>
        <p:nvSpPr>
          <p:cNvPr id="9" name="Text 7"/>
          <p:cNvSpPr txBox="1"/>
          <p:nvPr/>
        </p:nvSpPr>
        <p:spPr>
          <a:xfrm>
            <a:off x="4572000" y="3931920"/>
            <a:ext cx="2926080" cy="173736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Is growth from smaller payments sustainable?</a:t>
            </a:r>
            <a:endParaRPr lang="en-US" sz="1800" dirty="0"/>
          </a:p>
        </p:txBody>
      </p:sp>
      <p:sp>
        <p:nvSpPr>
          <p:cNvPr id="10" name="Question 3"/>
          <p:cNvSpPr/>
          <p:nvPr/>
        </p:nvSpPr>
        <p:spPr>
          <a:xfrm>
            <a:off x="7955280" y="3931920"/>
            <a:ext cx="3383280" cy="1737360"/>
          </a:xfrm>
          <a:prstGeom prst="roundRect">
            <a:avLst>
              <a:gd name="adj" fmla="val 7895"/>
            </a:avLst>
          </a:prstGeom>
          <a:solidFill>
            <a:srgbClr val="3B4E5B"/>
          </a:solidFill>
          <a:ln w="12700">
            <a:solidFill>
              <a:schemeClr val="accent2"/>
            </a:solidFill>
            <a:prstDash val="solid"/>
          </a:ln>
        </p:spPr>
      </p:sp>
      <p:sp>
        <p:nvSpPr>
          <p:cNvPr id="11" name="Text 9"/>
          <p:cNvSpPr txBox="1"/>
          <p:nvPr/>
        </p:nvSpPr>
        <p:spPr>
          <a:xfrm>
            <a:off x="8183880" y="3931920"/>
            <a:ext cx="2926080" cy="173736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What does the typical transaction look like?</a:t>
            </a:r>
            <a:endParaRPr lang="en-US" sz="1800" dirty="0"/>
          </a:p>
        </p:txBody>
      </p:sp>
    </p:spTree>
  </p:cSld>
  <p:clrMapOvr>
    <a:masterClrMapping/>
  </p:clrMapOvr>
</p:sld>
</file>

<file path=ppt/theme/theme1.xml><?xml version="1.0" encoding="utf-8"?>
<a:theme xmlns:a="http://schemas.openxmlformats.org/drawingml/2006/main" name="JoPACC">
  <a:themeElements>
    <a:clrScheme name="JoPACC">
      <a:dk1>
        <a:srgbClr val="243746"/>
      </a:dk1>
      <a:lt1>
        <a:srgbClr val="FFFFFF"/>
      </a:lt1>
      <a:dk2>
        <a:srgbClr val="6F7271"/>
      </a:dk2>
      <a:lt2>
        <a:srgbClr val="F4F5F6"/>
      </a:lt2>
      <a:accent1>
        <a:srgbClr val="243746"/>
      </a:accent1>
      <a:accent2>
        <a:srgbClr val="FFB600"/>
      </a:accent2>
      <a:accent3>
        <a:srgbClr val="AE841F"/>
      </a:accent3>
      <a:accent4>
        <a:srgbClr val="9EA1A2"/>
      </a:accent4>
      <a:accent5>
        <a:srgbClr val="6F7271"/>
      </a:accent5>
      <a:accent6>
        <a:srgbClr val="2E8B63"/>
      </a:accent6>
      <a:hlink>
        <a:srgbClr val="AE841F"/>
      </a:hlink>
      <a:folHlink>
        <a:srgbClr val="6F7271"/>
      </a:folHlink>
    </a:clrScheme>
    <a:fontScheme name="JoPAC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1217</Words>
  <Application>Microsoft Office PowerPoint</Application>
  <PresentationFormat>Widescreen</PresentationFormat>
  <Paragraphs>156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JoPACC</vt:lpstr>
      <vt:lpstr>PowerPoint Presentation</vt:lpstr>
      <vt:lpstr>The reports describe what happened, not why</vt:lpstr>
      <vt:lpstr>Four recommendations to close the gap</vt:lpstr>
      <vt:lpstr>One shared hierarchy to organise IPS reporting</vt:lpstr>
      <vt:lpstr>Every level reports the same three measures</vt:lpstr>
      <vt:lpstr>Why the interactive view comes first</vt:lpstr>
      <vt:lpstr>Volume more than doubled, but value rose far less</vt:lpstr>
      <vt:lpstr>The average payment fell about 45% since Q3 2024</vt:lpstr>
      <vt:lpstr>Why average transaction value should be standard</vt:lpstr>
      <vt:lpstr>The average is not the typical transaction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JoPACC Part One: Gaps and Recommendations</dc:title>
  <dc:subject>PptxGenJS Presentation</dc:subject>
  <dc:creator>PptxGenJS</dc:creator>
  <cp:lastModifiedBy>كنده محسن حسين ابو هيفا</cp:lastModifiedBy>
  <cp:revision>5</cp:revision>
  <dcterms:created xsi:type="dcterms:W3CDTF">2026-10-12T18:39:51Z</dcterms:created>
  <dcterms:modified xsi:type="dcterms:W3CDTF">2026-10-13T06:38:49Z</dcterms:modified>
</cp:coreProperties>
</file>