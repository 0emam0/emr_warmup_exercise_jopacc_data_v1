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67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5760"/>
            <a:ext cx="274320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JoPACC Reports Analysis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Check-in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Reformatting, Validation &amp;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FFE5CC"/>
          </a:solidFill>
          <a:ln w="2540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Challenge: Stuck on OCR-based Monthly Reports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55448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from Aug 2025 and earlier require OCR (no native text layer)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extraction was slower and produced more inconsistencies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 restructuring to match standardized format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careful validation to ensure accuracy against source PDFs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107649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What We Did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29260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Data Reformatting &amp; Restructuring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261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extracted data by payment systems (JoMoPay, CliQ)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691640"/>
            <a:ext cx="45720" cy="29260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Data Cleaning &amp; Validation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039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pass validation—verified every number against source PDFs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468880"/>
            <a:ext cx="45720" cy="29260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Insight Discovery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8163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analyzing patterns and identifying data gaps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246120"/>
            <a:ext cx="45720" cy="29260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Demographics Analysis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593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gender gaps and data granularity</a:t>
            </a:r>
            <a:endParaRPr lang="en-US" sz="1100" dirty="0"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DEC05F5B-1A86-13D0-8C84-D29748991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107649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Reformatting &amp; Restructuring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extracted OCR data into system-based structure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6733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separate workstreams: JoMoPay, CliQ, etc.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208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raw OCR fields to standardized schema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68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data lineage and traceability at each step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852928"/>
            <a:ext cx="45720" cy="32004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2644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data tables with System | Category | Metric | Value | Period | Source columns</a:t>
            </a:r>
            <a:endParaRPr lang="en-US" sz="1100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8A1A7177-6C66-7370-2EBE-D99D3C8C3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107649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 &amp; Validation (Pass 2)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every extracted number against source PDF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68249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corrected OCR errors and misalignments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3911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formulas and calculated metrics (YoY changes, percentages)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957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consistency across system-level datasets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889504"/>
            <a:ext cx="8595360" cy="41148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Result: 100% accuracy verification achieved—all extracted values now match source PDFs</a:t>
            </a:r>
            <a:endParaRPr lang="en-US" sz="120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1E58626F-4EC4-6C7E-C96E-D63E39E6C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107649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Insights &amp; Data Gaps Discovered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volumes growing significantly YoY across systems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68249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transfers dominate activity (85%+ of CliQ transactions)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03911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granularity varies by system and time period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611582"/>
            <a:ext cx="45720" cy="32004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61158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02306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demographic breakdowns missing from older reports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71800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deeper sub-category analysis in some areas</a:t>
            </a:r>
            <a:endParaRPr lang="en-US" sz="1200" dirty="0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E4646BA8-DE79-73CC-490A-ECC2E3C62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1076498" cy="457200"/>
          </a:xfrm>
          <a:prstGeom prst="rect">
            <a:avLst/>
          </a:prstGeom>
        </p:spPr>
      </p:pic>
      <p:sp>
        <p:nvSpPr>
          <p:cNvPr id="27" name="Text 11">
            <a:extLst>
              <a:ext uri="{FF2B5EF4-FFF2-40B4-BE49-F238E27FC236}">
                <a16:creationId xmlns:a16="http://schemas.microsoft.com/office/drawing/2014/main" id="{9834368B-820B-F7D7-B6E0-D6B2795FE320}"/>
              </a:ext>
            </a:extLst>
          </p:cNvPr>
          <p:cNvSpPr/>
          <p:nvPr/>
        </p:nvSpPr>
        <p:spPr>
          <a:xfrm>
            <a:off x="548640" y="3396027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KPI’s values in two months a cross two systems 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Cleaned &amp; Structured Data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JoMoPay Annual Report Example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19"/>
            <a:ext cx="8778240" cy="3861263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4F559173-7A08-4EEF-3B23-C3DCE6EB2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622" y="274320"/>
            <a:ext cx="107649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CliQ Quarterly Data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 Quarterly Report (Q3 2024 - Q2 2026)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8778240" cy="363474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1B4DE7A8-438B-0946-8383-E4C08AB71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721" y="228600"/>
            <a:ext cx="107649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19" y="320040"/>
            <a:ext cx="90617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CliQ Monthly Data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 Monthly Report - Users by Demographics (Sep 2024 - Jul 2025)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8778240" cy="363474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5ADDA8E-7835-2000-F5DA-BCC09CEC4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986" y="192024"/>
            <a:ext cx="107649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2701" y="218625"/>
            <a:ext cx="92368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Demographics Analysis: Gender &amp; Granularity</a:t>
            </a:r>
            <a:endParaRPr lang="en-US" sz="3200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2C923FE7-882F-DF21-16CA-96A4AB03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1076498" cy="457200"/>
          </a:xfrm>
          <a:prstGeom prst="rect">
            <a:avLst/>
          </a:prstGeom>
        </p:spPr>
      </p:pic>
      <p:cxnSp>
        <p:nvCxnSpPr>
          <p:cNvPr id="101" name="IPS-CliQ"/>
          <p:cNvCxnSpPr/>
          <p:nvPr/>
        </p:nvCxnSpPr>
        <p:spPr>
          <a:xfrm flipH="1">
            <a:off x="2468880" y="1252728"/>
            <a:ext cx="2103120" cy="320040"/>
          </a:xfrm>
          <a:prstGeom prst="line">
            <a:avLst/>
          </a:prstGeom>
          <a:ln w="25400" cap="rnd">
            <a:solidFill>
              <a:srgbClr val="5A5A5A"/>
            </a:solidFill>
          </a:ln>
        </p:spPr>
      </p:cxnSp>
      <p:cxnSp>
        <p:nvCxnSpPr>
          <p:cNvPr id="102" name="IPS-JoMoPay"/>
          <p:cNvCxnSpPr/>
          <p:nvPr/>
        </p:nvCxnSpPr>
        <p:spPr>
          <a:xfrm>
            <a:off x="4572000" y="1252728"/>
            <a:ext cx="2103120" cy="320040"/>
          </a:xfrm>
          <a:prstGeom prst="line">
            <a:avLst/>
          </a:prstGeom>
          <a:ln w="25400" cap="rnd">
            <a:solidFill>
              <a:srgbClr val="5A5A5A"/>
            </a:solidFill>
          </a:ln>
        </p:spPr>
      </p:cxnSp>
      <p:sp>
        <p:nvSpPr>
          <p:cNvPr id="103" name="IPS"/>
          <p:cNvSpPr/>
          <p:nvPr/>
        </p:nvSpPr>
        <p:spPr>
          <a:xfrm>
            <a:off x="3703320" y="868680"/>
            <a:ext cx="1737360" cy="384048"/>
          </a:xfrm>
          <a:prstGeom prst="roundRect">
            <a:avLst>
              <a:gd name="adj" fmla="val 30000"/>
            </a:avLst>
          </a:prstGeom>
          <a:solidFill>
            <a:srgbClr val="3D3D3D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IPS</a:t>
            </a:r>
          </a:p>
        </p:txBody>
      </p:sp>
      <p:sp>
        <p:nvSpPr>
          <p:cNvPr id="104" name="CliQ"/>
          <p:cNvSpPr/>
          <p:nvPr/>
        </p:nvSpPr>
        <p:spPr>
          <a:xfrm>
            <a:off x="1645920" y="1572768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FFC400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400" b="1" dirty="0">
                <a:solidFill>
                  <a:srgbClr val="3D3D3D"/>
                </a:solidFill>
                <a:latin typeface="Calibri"/>
                <a:cs typeface="Calibri"/>
              </a:rPr>
              <a:t>CliQ</a:t>
            </a:r>
          </a:p>
        </p:txBody>
      </p:sp>
      <p:sp>
        <p:nvSpPr>
          <p:cNvPr id="105" name="JoMoPay"/>
          <p:cNvSpPr/>
          <p:nvPr/>
        </p:nvSpPr>
        <p:spPr>
          <a:xfrm>
            <a:off x="5852160" y="1572768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FFC400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400" b="1" dirty="0">
                <a:solidFill>
                  <a:srgbClr val="3D3D3D"/>
                </a:solidFill>
                <a:latin typeface="Calibri"/>
                <a:cs typeface="Calibri"/>
              </a:rPr>
              <a:t>JoMoPay</a:t>
            </a:r>
          </a:p>
        </p:txBody>
      </p:sp>
      <p:cxnSp>
        <p:nvCxnSpPr>
          <p:cNvPr id="106" name="CliQ-Gender"/>
          <p:cNvCxnSpPr/>
          <p:nvPr/>
        </p:nvCxnSpPr>
        <p:spPr>
          <a:xfrm>
            <a:off x="2468880" y="1938528"/>
            <a:ext cx="0" cy="256032"/>
          </a:xfrm>
          <a:prstGeom prst="line">
            <a:avLst/>
          </a:prstGeom>
          <a:ln w="25400" cap="rnd">
            <a:solidFill>
              <a:srgbClr val="5A5A5A"/>
            </a:solidFill>
          </a:ln>
        </p:spPr>
      </p:cxnSp>
      <p:cxnSp>
        <p:nvCxnSpPr>
          <p:cNvPr id="107" name="JoMoPay-Gender"/>
          <p:cNvCxnSpPr/>
          <p:nvPr/>
        </p:nvCxnSpPr>
        <p:spPr>
          <a:xfrm>
            <a:off x="6675120" y="1938528"/>
            <a:ext cx="0" cy="256032"/>
          </a:xfrm>
          <a:prstGeom prst="line">
            <a:avLst/>
          </a:prstGeom>
          <a:ln w="25400" cap="rnd">
            <a:solidFill>
              <a:srgbClr val="5A5A5A"/>
            </a:solidFill>
          </a:ln>
        </p:spPr>
      </p:cxnSp>
      <p:sp>
        <p:nvSpPr>
          <p:cNvPr id="108" name="CliQ Gender"/>
          <p:cNvSpPr/>
          <p:nvPr/>
        </p:nvSpPr>
        <p:spPr>
          <a:xfrm>
            <a:off x="1920240" y="219456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E8E8E8"/>
          </a:solidFill>
          <a:ln w="15875">
            <a:solidFill>
              <a:srgbClr val="5A5A5A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200" b="1" dirty="0">
                <a:solidFill>
                  <a:srgbClr val="3D3D3D"/>
                </a:solidFill>
                <a:latin typeface="Calibri"/>
                <a:cs typeface="Calibri"/>
              </a:rPr>
              <a:t>Gender</a:t>
            </a:r>
          </a:p>
        </p:txBody>
      </p:sp>
      <p:sp>
        <p:nvSpPr>
          <p:cNvPr id="109" name="JoMoPay Gender"/>
          <p:cNvSpPr/>
          <p:nvPr/>
        </p:nvSpPr>
        <p:spPr>
          <a:xfrm>
            <a:off x="6126480" y="219456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E8E8E8"/>
          </a:solidFill>
          <a:ln w="15875">
            <a:solidFill>
              <a:srgbClr val="5A5A5A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200" b="1" dirty="0">
                <a:solidFill>
                  <a:srgbClr val="3D3D3D"/>
                </a:solidFill>
                <a:latin typeface="Calibri"/>
                <a:cs typeface="Calibri"/>
              </a:rPr>
              <a:t>Gender</a:t>
            </a:r>
          </a:p>
        </p:txBody>
      </p:sp>
      <p:sp>
        <p:nvSpPr>
          <p:cNvPr id="110" name="CliQ gap frame"/>
          <p:cNvSpPr/>
          <p:nvPr/>
        </p:nvSpPr>
        <p:spPr>
          <a:xfrm>
            <a:off x="960120" y="2743200"/>
            <a:ext cx="3017520" cy="78638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57C00"/>
            </a:solidFill>
            <a:prstDash val="dash"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cxnSp>
        <p:nvCxnSpPr>
          <p:cNvPr id="111" name="CliQ-M"/>
          <p:cNvCxnSpPr/>
          <p:nvPr/>
        </p:nvCxnSpPr>
        <p:spPr>
          <a:xfrm flipH="1">
            <a:off x="1737360" y="2487168"/>
            <a:ext cx="731520" cy="365760"/>
          </a:xfrm>
          <a:prstGeom prst="line">
            <a:avLst/>
          </a:prstGeom>
          <a:ln w="25400" cap="rnd">
            <a:solidFill>
              <a:srgbClr val="5A5A5A"/>
            </a:solidFill>
          </a:ln>
        </p:spPr>
      </p:cxnSp>
      <p:cxnSp>
        <p:nvCxnSpPr>
          <p:cNvPr id="112" name="CliQ-F"/>
          <p:cNvCxnSpPr/>
          <p:nvPr/>
        </p:nvCxnSpPr>
        <p:spPr>
          <a:xfrm>
            <a:off x="2468880" y="2487168"/>
            <a:ext cx="731520" cy="365760"/>
          </a:xfrm>
          <a:prstGeom prst="line">
            <a:avLst/>
          </a:prstGeom>
          <a:ln w="25400" cap="rnd">
            <a:solidFill>
              <a:srgbClr val="FFC400"/>
            </a:solidFill>
          </a:ln>
        </p:spPr>
      </p:cxnSp>
      <p:sp>
        <p:nvSpPr>
          <p:cNvPr id="113" name="M 61.0%"/>
          <p:cNvSpPr/>
          <p:nvPr/>
        </p:nvSpPr>
        <p:spPr>
          <a:xfrm>
            <a:off x="1097280" y="2852928"/>
            <a:ext cx="12801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8575">
            <a:solidFill>
              <a:srgbClr val="5A5A5A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128016" rtlCol="0" anchor="ctr"/>
          <a:lstStyle/>
          <a:p>
            <a:pPr algn="ctr"/>
            <a:r>
              <a:rPr lang="en-US" sz="1200" b="1" dirty="0">
                <a:solidFill>
                  <a:srgbClr val="5A5A5A"/>
                </a:solidFill>
                <a:latin typeface="Calibri"/>
                <a:cs typeface="Calibri"/>
              </a:rPr>
              <a:t>M  </a:t>
            </a:r>
            <a:r>
              <a:rPr lang="en-US" sz="1800" b="1" dirty="0">
                <a:solidFill>
                  <a:srgbClr val="3D3D3D"/>
                </a:solidFill>
                <a:latin typeface="Calibri"/>
                <a:cs typeface="Calibri"/>
              </a:rPr>
              <a:t>61.0%</a:t>
            </a:r>
          </a:p>
        </p:txBody>
      </p:sp>
      <p:sp>
        <p:nvSpPr>
          <p:cNvPr id="114" name="M track"/>
          <p:cNvSpPr/>
          <p:nvPr/>
        </p:nvSpPr>
        <p:spPr>
          <a:xfrm>
            <a:off x="1207008" y="3273552"/>
            <a:ext cx="1060704" cy="64008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sp>
        <p:nvSpPr>
          <p:cNvPr id="115" name="M bar"/>
          <p:cNvSpPr/>
          <p:nvPr/>
        </p:nvSpPr>
        <p:spPr>
          <a:xfrm>
            <a:off x="1207008" y="3273552"/>
            <a:ext cx="647029" cy="64008"/>
          </a:xfrm>
          <a:prstGeom prst="roundRect">
            <a:avLst>
              <a:gd name="adj" fmla="val 50000"/>
            </a:avLst>
          </a:prstGeom>
          <a:solidFill>
            <a:srgbClr val="5A5A5A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sp>
        <p:nvSpPr>
          <p:cNvPr id="116" name="F 36%"/>
          <p:cNvSpPr/>
          <p:nvPr/>
        </p:nvSpPr>
        <p:spPr>
          <a:xfrm>
            <a:off x="2560320" y="2852928"/>
            <a:ext cx="12801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8575">
            <a:solidFill>
              <a:srgbClr val="FFC400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128016" rtlCol="0" anchor="ctr"/>
          <a:lstStyle/>
          <a:p>
            <a:pPr algn="ctr"/>
            <a:r>
              <a:rPr lang="en-US" sz="1200" b="1" dirty="0">
                <a:solidFill>
                  <a:srgbClr val="B07A00"/>
                </a:solidFill>
                <a:latin typeface="Calibri"/>
                <a:cs typeface="Calibri"/>
              </a:rPr>
              <a:t>F  </a:t>
            </a:r>
            <a:r>
              <a:rPr lang="en-US" sz="1800" b="1" dirty="0">
                <a:solidFill>
                  <a:srgbClr val="3D3D3D"/>
                </a:solidFill>
                <a:latin typeface="Calibri"/>
                <a:cs typeface="Calibri"/>
              </a:rPr>
              <a:t>36%</a:t>
            </a:r>
          </a:p>
        </p:txBody>
      </p:sp>
      <p:sp>
        <p:nvSpPr>
          <p:cNvPr id="117" name="F track"/>
          <p:cNvSpPr/>
          <p:nvPr/>
        </p:nvSpPr>
        <p:spPr>
          <a:xfrm>
            <a:off x="2670048" y="3273552"/>
            <a:ext cx="1060704" cy="64008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sp>
        <p:nvSpPr>
          <p:cNvPr id="118" name="F bar"/>
          <p:cNvSpPr/>
          <p:nvPr/>
        </p:nvSpPr>
        <p:spPr>
          <a:xfrm>
            <a:off x="2670048" y="3273552"/>
            <a:ext cx="381853" cy="64008"/>
          </a:xfrm>
          <a:prstGeom prst="roundRect">
            <a:avLst>
              <a:gd name="adj" fmla="val 50000"/>
            </a:avLst>
          </a:prstGeom>
          <a:solidFill>
            <a:srgbClr val="FFC400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sp>
        <p:nvSpPr>
          <p:cNvPr id="119" name="GAP tag"/>
          <p:cNvSpPr/>
          <p:nvPr/>
        </p:nvSpPr>
        <p:spPr>
          <a:xfrm>
            <a:off x="960120" y="26151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cs typeface="Calibri"/>
              </a:rPr>
              <a:t>GAP</a:t>
            </a:r>
          </a:p>
        </p:txBody>
      </p:sp>
      <p:sp>
        <p:nvSpPr>
          <p:cNvPr id="120" name="JoMoPay ok frame"/>
          <p:cNvSpPr/>
          <p:nvPr/>
        </p:nvSpPr>
        <p:spPr>
          <a:xfrm>
            <a:off x="5166360" y="2743200"/>
            <a:ext cx="3017520" cy="78638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2E7D32"/>
            </a:solidFill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cxnSp>
        <p:nvCxnSpPr>
          <p:cNvPr id="121" name="JoMoPay-M"/>
          <p:cNvCxnSpPr/>
          <p:nvPr/>
        </p:nvCxnSpPr>
        <p:spPr>
          <a:xfrm flipH="1">
            <a:off x="5943600" y="2487168"/>
            <a:ext cx="731520" cy="365760"/>
          </a:xfrm>
          <a:prstGeom prst="line">
            <a:avLst/>
          </a:prstGeom>
          <a:ln w="25400" cap="rnd">
            <a:solidFill>
              <a:srgbClr val="5A5A5A"/>
            </a:solidFill>
          </a:ln>
        </p:spPr>
      </p:cxnSp>
      <p:cxnSp>
        <p:nvCxnSpPr>
          <p:cNvPr id="122" name="JoMoPay-F"/>
          <p:cNvCxnSpPr/>
          <p:nvPr/>
        </p:nvCxnSpPr>
        <p:spPr>
          <a:xfrm>
            <a:off x="6675120" y="2487168"/>
            <a:ext cx="731520" cy="365760"/>
          </a:xfrm>
          <a:prstGeom prst="line">
            <a:avLst/>
          </a:prstGeom>
          <a:ln w="25400" cap="rnd">
            <a:solidFill>
              <a:srgbClr val="FFC400"/>
            </a:solidFill>
          </a:ln>
        </p:spPr>
      </p:cxnSp>
      <p:sp>
        <p:nvSpPr>
          <p:cNvPr id="123" name="M 52.8%"/>
          <p:cNvSpPr/>
          <p:nvPr/>
        </p:nvSpPr>
        <p:spPr>
          <a:xfrm>
            <a:off x="5303520" y="2852928"/>
            <a:ext cx="12801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8575">
            <a:solidFill>
              <a:srgbClr val="5A5A5A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128016" rtlCol="0" anchor="ctr"/>
          <a:lstStyle/>
          <a:p>
            <a:pPr algn="ctr"/>
            <a:r>
              <a:rPr lang="en-US" sz="1200" b="1" dirty="0">
                <a:solidFill>
                  <a:srgbClr val="5A5A5A"/>
                </a:solidFill>
                <a:latin typeface="Calibri"/>
                <a:cs typeface="Calibri"/>
              </a:rPr>
              <a:t>M  </a:t>
            </a:r>
            <a:r>
              <a:rPr lang="en-US" sz="1800" b="1" dirty="0">
                <a:solidFill>
                  <a:srgbClr val="3D3D3D"/>
                </a:solidFill>
                <a:latin typeface="Calibri"/>
                <a:cs typeface="Calibri"/>
              </a:rPr>
              <a:t>52.8%</a:t>
            </a:r>
          </a:p>
        </p:txBody>
      </p:sp>
      <p:sp>
        <p:nvSpPr>
          <p:cNvPr id="124" name="M track"/>
          <p:cNvSpPr/>
          <p:nvPr/>
        </p:nvSpPr>
        <p:spPr>
          <a:xfrm>
            <a:off x="5413248" y="3273552"/>
            <a:ext cx="1060704" cy="64008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sp>
        <p:nvSpPr>
          <p:cNvPr id="125" name="M bar"/>
          <p:cNvSpPr/>
          <p:nvPr/>
        </p:nvSpPr>
        <p:spPr>
          <a:xfrm>
            <a:off x="5413248" y="3273552"/>
            <a:ext cx="560052" cy="64008"/>
          </a:xfrm>
          <a:prstGeom prst="roundRect">
            <a:avLst>
              <a:gd name="adj" fmla="val 50000"/>
            </a:avLst>
          </a:prstGeom>
          <a:solidFill>
            <a:srgbClr val="5A5A5A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sp>
        <p:nvSpPr>
          <p:cNvPr id="126" name="F 46.8%"/>
          <p:cNvSpPr/>
          <p:nvPr/>
        </p:nvSpPr>
        <p:spPr>
          <a:xfrm>
            <a:off x="6766560" y="2852928"/>
            <a:ext cx="12801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8575">
            <a:solidFill>
              <a:srgbClr val="FFC400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128016" rtlCol="0" anchor="ctr"/>
          <a:lstStyle/>
          <a:p>
            <a:pPr algn="ctr"/>
            <a:r>
              <a:rPr lang="en-US" sz="1200" b="1" dirty="0">
                <a:solidFill>
                  <a:srgbClr val="B07A00"/>
                </a:solidFill>
                <a:latin typeface="Calibri"/>
                <a:cs typeface="Calibri"/>
              </a:rPr>
              <a:t>F  </a:t>
            </a:r>
            <a:r>
              <a:rPr lang="en-US" sz="1800" b="1" dirty="0">
                <a:solidFill>
                  <a:srgbClr val="3D3D3D"/>
                </a:solidFill>
                <a:latin typeface="Calibri"/>
                <a:cs typeface="Calibri"/>
              </a:rPr>
              <a:t>46.8%</a:t>
            </a:r>
          </a:p>
        </p:txBody>
      </p:sp>
      <p:sp>
        <p:nvSpPr>
          <p:cNvPr id="127" name="F track"/>
          <p:cNvSpPr/>
          <p:nvPr/>
        </p:nvSpPr>
        <p:spPr>
          <a:xfrm>
            <a:off x="6876288" y="3273552"/>
            <a:ext cx="1060704" cy="64008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sp>
        <p:nvSpPr>
          <p:cNvPr id="128" name="F bar"/>
          <p:cNvSpPr/>
          <p:nvPr/>
        </p:nvSpPr>
        <p:spPr>
          <a:xfrm>
            <a:off x="6876288" y="3273552"/>
            <a:ext cx="496409" cy="64008"/>
          </a:xfrm>
          <a:prstGeom prst="roundRect">
            <a:avLst>
              <a:gd name="adj" fmla="val 50000"/>
            </a:avLst>
          </a:prstGeom>
          <a:solidFill>
            <a:srgbClr val="FFC400"/>
          </a:solidFill>
          <a:ln>
            <a:noFill/>
          </a:ln>
        </p:spPr>
        <p:txBody>
          <a:bodyPr wrap="square" lIns="45720" tIns="0" rIns="45720" bIns="0" rtlCol="0" anchor="ctr"/>
          <a:lstStyle/>
          <a:p>
            <a:endParaRPr lang="en-US"/>
          </a:p>
        </p:txBody>
      </p:sp>
      <p:sp>
        <p:nvSpPr>
          <p:cNvPr id="129" name="OK tag"/>
          <p:cNvSpPr/>
          <p:nvPr/>
        </p:nvSpPr>
        <p:spPr>
          <a:xfrm>
            <a:off x="5166360" y="2615184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cs typeface="Calibri"/>
              </a:rPr>
              <a:t>OK</a:t>
            </a:r>
          </a:p>
        </p:txBody>
      </p:sp>
      <p:cxnSp>
        <p:nvCxnSpPr>
          <p:cNvPr id="130" name="merge CliQ-M"/>
          <p:cNvCxnSpPr/>
          <p:nvPr/>
        </p:nvCxnSpPr>
        <p:spPr>
          <a:xfrm>
            <a:off x="1737360" y="3419856"/>
            <a:ext cx="2834640" cy="347472"/>
          </a:xfrm>
          <a:prstGeom prst="line">
            <a:avLst/>
          </a:prstGeom>
          <a:ln w="22225" cap="rnd">
            <a:solidFill>
              <a:srgbClr val="5A5A5A"/>
            </a:solidFill>
          </a:ln>
        </p:spPr>
      </p:cxnSp>
      <p:cxnSp>
        <p:nvCxnSpPr>
          <p:cNvPr id="131" name="merge CliQ-F"/>
          <p:cNvCxnSpPr/>
          <p:nvPr/>
        </p:nvCxnSpPr>
        <p:spPr>
          <a:xfrm>
            <a:off x="3200400" y="3419856"/>
            <a:ext cx="1371600" cy="347472"/>
          </a:xfrm>
          <a:prstGeom prst="line">
            <a:avLst/>
          </a:prstGeom>
          <a:ln w="22225" cap="rnd">
            <a:solidFill>
              <a:srgbClr val="FFC400"/>
            </a:solidFill>
          </a:ln>
        </p:spPr>
      </p:cxnSp>
      <p:cxnSp>
        <p:nvCxnSpPr>
          <p:cNvPr id="132" name="merge JoMoPay-M"/>
          <p:cNvCxnSpPr/>
          <p:nvPr/>
        </p:nvCxnSpPr>
        <p:spPr>
          <a:xfrm flipH="1">
            <a:off x="4572000" y="3419856"/>
            <a:ext cx="1371600" cy="347472"/>
          </a:xfrm>
          <a:prstGeom prst="line">
            <a:avLst/>
          </a:prstGeom>
          <a:ln w="22225" cap="rnd">
            <a:solidFill>
              <a:srgbClr val="5A5A5A"/>
            </a:solidFill>
          </a:ln>
        </p:spPr>
      </p:cxnSp>
      <p:cxnSp>
        <p:nvCxnSpPr>
          <p:cNvPr id="133" name="merge JoMoPay-F"/>
          <p:cNvCxnSpPr/>
          <p:nvPr/>
        </p:nvCxnSpPr>
        <p:spPr>
          <a:xfrm flipH="1">
            <a:off x="4572000" y="3419856"/>
            <a:ext cx="2834640" cy="347472"/>
          </a:xfrm>
          <a:prstGeom prst="line">
            <a:avLst/>
          </a:prstGeom>
          <a:ln w="22225" cap="rnd">
            <a:solidFill>
              <a:srgbClr val="FFC400"/>
            </a:solidFill>
          </a:ln>
        </p:spPr>
      </p:cxnSp>
      <p:cxnSp>
        <p:nvCxnSpPr>
          <p:cNvPr id="134" name="IPS-M"/>
          <p:cNvCxnSpPr/>
          <p:nvPr/>
        </p:nvCxnSpPr>
        <p:spPr>
          <a:xfrm flipH="1">
            <a:off x="3611880" y="4059936"/>
            <a:ext cx="960120" cy="164592"/>
          </a:xfrm>
          <a:prstGeom prst="line">
            <a:avLst/>
          </a:prstGeom>
          <a:ln w="25400" cap="rnd">
            <a:solidFill>
              <a:srgbClr val="5A5A5A"/>
            </a:solidFill>
          </a:ln>
        </p:spPr>
      </p:cxnSp>
      <p:cxnSp>
        <p:nvCxnSpPr>
          <p:cNvPr id="135" name="IPS-F"/>
          <p:cNvCxnSpPr/>
          <p:nvPr/>
        </p:nvCxnSpPr>
        <p:spPr>
          <a:xfrm>
            <a:off x="4572000" y="4059936"/>
            <a:ext cx="960120" cy="164592"/>
          </a:xfrm>
          <a:prstGeom prst="line">
            <a:avLst/>
          </a:prstGeom>
          <a:ln w="25400" cap="rnd">
            <a:solidFill>
              <a:srgbClr val="FFC400"/>
            </a:solidFill>
          </a:ln>
        </p:spPr>
      </p:cxnSp>
      <p:sp>
        <p:nvSpPr>
          <p:cNvPr id="136" name="IPS Gender"/>
          <p:cNvSpPr/>
          <p:nvPr/>
        </p:nvSpPr>
        <p:spPr>
          <a:xfrm>
            <a:off x="3794760" y="3767328"/>
            <a:ext cx="1554480" cy="292608"/>
          </a:xfrm>
          <a:prstGeom prst="roundRect">
            <a:avLst>
              <a:gd name="adj" fmla="val 30000"/>
            </a:avLst>
          </a:prstGeom>
          <a:solidFill>
            <a:srgbClr val="3D3D3D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IPS Gender</a:t>
            </a:r>
          </a:p>
        </p:txBody>
      </p:sp>
      <p:sp>
        <p:nvSpPr>
          <p:cNvPr id="137" name="IPS M"/>
          <p:cNvSpPr/>
          <p:nvPr/>
        </p:nvSpPr>
        <p:spPr>
          <a:xfrm>
            <a:off x="2743200" y="4224528"/>
            <a:ext cx="1737360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A5A5A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300" b="1" dirty="0">
                <a:solidFill>
                  <a:srgbClr val="5A5A5A"/>
                </a:solidFill>
                <a:latin typeface="Calibri"/>
                <a:cs typeface="Calibri"/>
              </a:rPr>
              <a:t>M  </a:t>
            </a:r>
            <a:r>
              <a:rPr lang="en-US" sz="2000" b="1" dirty="0">
                <a:solidFill>
                  <a:srgbClr val="3D3D3D"/>
                </a:solidFill>
                <a:latin typeface="Calibri"/>
                <a:cs typeface="Calibri"/>
              </a:rPr>
              <a:t>56.3%</a:t>
            </a:r>
          </a:p>
        </p:txBody>
      </p:sp>
      <p:sp>
        <p:nvSpPr>
          <p:cNvPr id="138" name="IPS F"/>
          <p:cNvSpPr/>
          <p:nvPr/>
        </p:nvSpPr>
        <p:spPr>
          <a:xfrm>
            <a:off x="4663440" y="4224528"/>
            <a:ext cx="1737360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C400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300" b="1" dirty="0">
                <a:solidFill>
                  <a:srgbClr val="B07A00"/>
                </a:solidFill>
                <a:latin typeface="Calibri"/>
                <a:cs typeface="Calibri"/>
              </a:rPr>
              <a:t>F  </a:t>
            </a:r>
            <a:r>
              <a:rPr lang="en-US" sz="2000" b="1" dirty="0">
                <a:solidFill>
                  <a:srgbClr val="3D3D3D"/>
                </a:solidFill>
                <a:latin typeface="Calibri"/>
                <a:cs typeface="Calibri"/>
              </a:rPr>
              <a:t>42.1%</a:t>
            </a:r>
          </a:p>
        </p:txBody>
      </p:sp>
      <p:sp>
        <p:nvSpPr>
          <p:cNvPr id="139" name="IPS OK tag"/>
          <p:cNvSpPr/>
          <p:nvPr/>
        </p:nvSpPr>
        <p:spPr>
          <a:xfrm>
            <a:off x="6583680" y="446227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wrap="square"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cs typeface="Calibri"/>
              </a:rPr>
              <a:t>OK  gap collapses at IPS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5720" cy="32004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Priorities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remaining monthly report extractions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6733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normalization across all three systems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208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analysis-ready master dataset consolidation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368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final QA report with quality metrics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852928"/>
            <a:ext cx="45720" cy="320040"/>
          </a:xfrm>
          <a:prstGeom prst="rect">
            <a:avLst/>
          </a:prstGeom>
          <a:solidFill>
            <a:srgbClr val="FFC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Handoff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2644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comprehensive analysis-ready dataset to data team for downstream BI analysis</a:t>
            </a:r>
            <a:endParaRPr lang="en-US" sz="120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06BC4DDB-D467-E76F-1E94-4C0676AD2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64" y="164592"/>
            <a:ext cx="107649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437</Words>
  <Application>Microsoft Office PowerPoint</Application>
  <PresentationFormat>On-screen Show (16:9)</PresentationFormat>
  <Paragraphs>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Emam Abu Haifa</cp:lastModifiedBy>
  <cp:revision>3</cp:revision>
  <dcterms:created xsi:type="dcterms:W3CDTF">2026-10-01T06:34:05Z</dcterms:created>
  <dcterms:modified xsi:type="dcterms:W3CDTF">2026-10-04T10:27:23Z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20068ec-f488-44fa-9845-3815947d7973_Enabled">
    <vt:lpwstr>true</vt:lpwstr>
  </property>
  <property fmtid="{D5CDD505-2E9C-101B-9397-08002B2CF9AE}" pid="3" name="MSIP_Label_420068ec-f488-44fa-9845-3815947d7973_SetDate">
    <vt:lpwstr>2026-10-01T06:38:22Z</vt:lpwstr>
  </property>
  <property fmtid="{D5CDD505-2E9C-101B-9397-08002B2CF9AE}" pid="4" name="MSIP_Label_420068ec-f488-44fa-9845-3815947d7973_Method">
    <vt:lpwstr>Privileged</vt:lpwstr>
  </property>
  <property fmtid="{D5CDD505-2E9C-101B-9397-08002B2CF9AE}" pid="5" name="MSIP_Label_420068ec-f488-44fa-9845-3815947d7973_Name">
    <vt:lpwstr>Public</vt:lpwstr>
  </property>
  <property fmtid="{D5CDD505-2E9C-101B-9397-08002B2CF9AE}" pid="6" name="MSIP_Label_420068ec-f488-44fa-9845-3815947d7973_SiteId">
    <vt:lpwstr>ee7a994a-cae3-4e00-85bc-52fb0c8c1542</vt:lpwstr>
  </property>
  <property fmtid="{D5CDD505-2E9C-101B-9397-08002B2CF9AE}" pid="7" name="MSIP_Label_420068ec-f488-44fa-9845-3815947d7973_ActionId">
    <vt:lpwstr>5440f170-b0d0-4092-ae23-94b92507dd11</vt:lpwstr>
  </property>
  <property fmtid="{D5CDD505-2E9C-101B-9397-08002B2CF9AE}" pid="8" name="MSIP_Label_420068ec-f488-44fa-9845-3815947d7973_ContentBits">
    <vt:lpwstr>0</vt:lpwstr>
  </property>
  <property fmtid="{D5CDD505-2E9C-101B-9397-08002B2CF9AE}" pid="9" name="MSIP_Label_420068ec-f488-44fa-9845-3815947d7973_Tag">
    <vt:lpwstr>10, 0, 1, 1</vt:lpwstr>
  </property>
</Properties>
</file>