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0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5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6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de396e6-8bba-8050-0ee0-79f9311251de}">
          <p14:sldIdLst>
            <p14:sldId id="256"/>
            <p14:sldId id="257"/>
          </p14:sldIdLst>
        </p14:section>
        <p14:section name="Explore" id="{d8ba3805-a150-7204-9f56-7f494780840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D64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3FA3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B5C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93A12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F84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CC79A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50%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AC56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7F9C4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3932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50%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25F7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A09D1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C18A6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50%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3A73B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D1A1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AB82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100%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E64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A595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AC99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100%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58617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AD980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9B906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Protanopia  |  severity 100%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5375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B9A2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808B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D64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3FA3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B5C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93A12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F84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CC79A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50%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B86A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7798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DA0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50%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35F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A09D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CA956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50%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286C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D8AA0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B38A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100%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92843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998C5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C4B0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100%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5A627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AB9A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B1A36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Deuteranopia  |  severity 100%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3B67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CAB41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9498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D64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3FA3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B5C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93A12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F84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CC79A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50%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E134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35A17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FE83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50%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A5E6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989C6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E87D7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50%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007A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F1966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178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100%  |  color adjustment 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EB194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289F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FF77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100%  |  color adjustment 50%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6A606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9D98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F1757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3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347"/>
                </a:solidFill>
                <a:latin typeface="+mn-lt"/>
              </a:rPr>
              <a:t>Tritanopia  |  severity 100%  |  color adjustment 100%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CliQ</c:v>
                </c:pt>
              </c:strCache>
            </c:strRef>
          </c:tx>
          <c:spPr>
            <a:solidFill>
              <a:srgbClr val="00828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-2.7</c:v>
                </c:pt>
                <c:pt idx="2">
                  <c:v>4.6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JoMoPay</c:v>
                </c:pt>
              </c:strCache>
            </c:strRef>
          </c:tx>
          <c:spPr>
            <a:solidFill>
              <a:srgbClr val="FB8C8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11.7</c:v>
                </c:pt>
                <c:pt idx="1">
                  <c:v>-4.1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eFAWATEERcom</c:v>
                </c:pt>
              </c:strCache>
            </c:strRef>
          </c:tx>
          <c:spPr>
            <a:solidFill>
              <a:srgbClr val="D678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6.3</c:v>
                </c:pt>
                <c:pt idx="1">
                  <c:v>8.6</c:v>
                </c:pt>
                <c:pt idx="2">
                  <c:v>-12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20"/>
        </c:scaling>
        <c:delete val="0"/>
        <c:axPos val="l"/>
        <c:majorGridlines>
          <c:spPr>
            <a:ln w="6350" cap="flat">
              <a:solidFill>
                <a:srgbClr val="D9DDE1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Click Start exploring (in Slide Show mode) to open the controls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starting view matches the HTML example: deuteranopia, 100% severity, 0% color adjustment.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0% severity, 0% color adjustment. Bar colors shown are the simulated colors: CliQ #D6453D, JoMoPay #3FA34D, eFAWATEERcom #F28E2B.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0% severity, 50% color adjustment. Bar colors shown are the simulated colors: CliQ #6B5C78, JoMoPay #93A127, eFAWATEERcom #DF8469.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0% severity, 100% color adjustment. Bar colors shown are the simulated colors: CliQ #0072B2, JoMoPay #E69F00, eFAWATEERcom #CC79A7.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50% severity, 0% color adjustment. Bar colors shown are the simulated colors: CliQ #AC563C, JoMoPay #7F9C49, eFAWATEERcom #D39323.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50% severity, 50% color adjustment. Bar colors shown are the simulated colors: CliQ #625F79, JoMoPay #A09D1C, eFAWATEERcom #C18A68.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50% severity, 100% color adjustment. Bar colors shown are the simulated colors: CliQ #3A73B3, JoMoPay #D1A100, eFAWATEERcom #AB82A8.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100% severity, 0% color adjustment. Bar colors shown are the simulated colors: CliQ #6E643B, JoMoPay #A59545, eFAWATEERcom #AC9918.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100% severity, 50% color adjustment. Bar colors shown are the simulated colors: CliQ #586179, JoMoPay #AD980A, eFAWATEERcom #9B9067.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Protanopia, 100% severity, 100% color adjustment. Bar colors shown are the simulated colors: CliQ #5375B5, JoMoPay #B9A200, eFAWATEERcom #808BA9.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0% severity, 0% color adjustment. Bar colors shown are the simulated colors: CliQ #D6453D, JoMoPay #3FA34D, eFAWATEERcom #F28E2B.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0% severity, 50% color adjustment. Bar colors shown are the simulated colors: CliQ #6B5C78, JoMoPay #93A127, eFAWATEERcom #DF8469.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0% severity, 100% color adjustment. Bar colors shown are the simulated colors: CliQ #0072B2, JoMoPay #E69F00, eFAWATEERcom #CC79A7.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50% severity, 0% color adjustment. Bar colors shown are the simulated colors: CliQ #B86A3B, JoMoPay #779850, eFAWATEERcom #DDA02B.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50% severity, 50% color adjustment. Bar colors shown are the simulated colors: CliQ #635F78, JoMoPay #A09D2D, eFAWATEERcom #CA9568.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50% severity, 100% color adjustment. Bar colors shown are the simulated colors: CliQ #286CB1, JoMoPay #D8AA09, eFAWATEERcom #B38AA6.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100% severity, 0% color adjustment. Bar colors shown are the simulated colors: CliQ #928438, JoMoPay #998C53, eFAWATEERcom #C4B02B.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100% severity, 50% color adjustment. Bar colors shown are the simulated colors: CliQ #5A6277, JoMoPay #AB9A32, eFAWATEERcom #B1A368.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Deuteranopia, 100% severity, 100% color adjustment. Bar colors shown are the simulated colors: CliQ #3B67B1, JoMoPay #CAB411, eFAWATEERcom #9498A5.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0% severity, 0% color adjustment. Bar colors shown are the simulated colors: CliQ #D6453D, JoMoPay #3FA34D, eFAWATEERcom #F28E2B.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0% severity, 50% color adjustment. Bar colors shown are the simulated colors: CliQ #6B5C78, JoMoPay #93A127, eFAWATEERcom #DF8469.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0% severity, 100% color adjustment. Bar colors shown are the simulated colors: CliQ #0072B2, JoMoPay #E69F00, eFAWATEERcom #CC79A7.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50% severity, 0% color adjustment. Bar colors shown are the simulated colors: CliQ #E13441, JoMoPay #35A174, eFAWATEERcom #FE835E.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50% severity, 50% color adjustment. Bar colors shown are the simulated colors: CliQ #6A5E6F, JoMoPay #989C68, eFAWATEERcom #E87D74.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50% severity, 100% color adjustment. Bar colors shown are the simulated colors: CliQ #007A9F, JoMoPay #F19662, eFAWATEERcom #D17899.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100% severity, 0% color adjustment. Bar colors shown are the simulated colors: CliQ #EB1944, JoMoPay #289F8F, eFAWATEERcom #FF777B.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100% severity, 50% color adjustment. Bar colors shown are the simulated colors: CliQ #6A6066, JoMoPay #9D988A, eFAWATEERcom #F1757D.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Tritanopia, 100% severity, 100% color adjustment. Bar colors shown are the simulated colors: CliQ #008289, JoMoPay #FB8C87, eFAWATEERcom #D6788A.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21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chart" Target="/ppt/charts/chart1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3.xml"/><Relationship Id="rId3" Type="http://schemas.openxmlformats.org/officeDocument/2006/relationships/slide" Target="slide22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chart" Target="/ppt/charts/chart2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4.xml"/><Relationship Id="rId3" Type="http://schemas.openxmlformats.org/officeDocument/2006/relationships/slide" Target="slide23.xml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chart" Target="/ppt/charts/chart3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5.xml"/><Relationship Id="rId3" Type="http://schemas.openxmlformats.org/officeDocument/2006/relationships/slide" Target="slide24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chart" Target="/ppt/charts/chart4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6.xml"/><Relationship Id="rId3" Type="http://schemas.openxmlformats.org/officeDocument/2006/relationships/slide" Target="slide25.xml"/><Relationship Id="rId4" Type="http://schemas.openxmlformats.org/officeDocument/2006/relationships/slide" Target="slide4.xml"/><Relationship Id="rId5" Type="http://schemas.openxmlformats.org/officeDocument/2006/relationships/slide" Target="slide10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chart" Target="/ppt/charts/chart5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7.xml"/><Relationship Id="rId3" Type="http://schemas.openxmlformats.org/officeDocument/2006/relationships/slide" Target="slide26.xml"/><Relationship Id="rId4" Type="http://schemas.openxmlformats.org/officeDocument/2006/relationships/slide" Target="slide5.xml"/><Relationship Id="rId5" Type="http://schemas.openxmlformats.org/officeDocument/2006/relationships/slide" Target="slide11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chart" Target="/ppt/charts/chart6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8.xml"/><Relationship Id="rId3" Type="http://schemas.openxmlformats.org/officeDocument/2006/relationships/slide" Target="slide27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chart" Target="/ppt/charts/chart7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9.xml"/><Relationship Id="rId3" Type="http://schemas.openxmlformats.org/officeDocument/2006/relationships/slide" Target="slide28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chart" Target="/ppt/charts/chart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0.xml"/><Relationship Id="rId3" Type="http://schemas.openxmlformats.org/officeDocument/2006/relationships/slide" Target="slide29.xml"/><Relationship Id="rId4" Type="http://schemas.openxmlformats.org/officeDocument/2006/relationships/slide" Target="slide5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chart" Target="/ppt/charts/chart9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21.xml"/><Relationship Id="rId4" Type="http://schemas.openxmlformats.org/officeDocument/2006/relationships/slide" Target="slide15.xml"/><Relationship Id="rId5" Type="http://schemas.openxmlformats.org/officeDocument/2006/relationships/slide" Target="slide18.xml"/><Relationship Id="rId6" Type="http://schemas.openxmlformats.org/officeDocument/2006/relationships/slide" Target="slide13.xml"/><Relationship Id="rId7" Type="http://schemas.openxmlformats.org/officeDocument/2006/relationships/slide" Target="slide14.xml"/><Relationship Id="rId8" Type="http://schemas.openxmlformats.org/officeDocument/2006/relationships/chart" Target="/ppt/charts/chart10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" Target="slide22.xml"/><Relationship Id="rId4" Type="http://schemas.openxmlformats.org/officeDocument/2006/relationships/slide" Target="slide16.xml"/><Relationship Id="rId5" Type="http://schemas.openxmlformats.org/officeDocument/2006/relationships/slide" Target="slide19.xml"/><Relationship Id="rId6" Type="http://schemas.openxmlformats.org/officeDocument/2006/relationships/slide" Target="slide12.xml"/><Relationship Id="rId7" Type="http://schemas.openxmlformats.org/officeDocument/2006/relationships/slide" Target="slide14.xml"/><Relationship Id="rId8" Type="http://schemas.openxmlformats.org/officeDocument/2006/relationships/chart" Target="/ppt/charts/chart11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23.xml"/><Relationship Id="rId4" Type="http://schemas.openxmlformats.org/officeDocument/2006/relationships/slide" Target="slide17.xml"/><Relationship Id="rId5" Type="http://schemas.openxmlformats.org/officeDocument/2006/relationships/slide" Target="slide20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chart" Target="/ppt/charts/chart12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6.xml"/><Relationship Id="rId3" Type="http://schemas.openxmlformats.org/officeDocument/2006/relationships/slide" Target="slide24.xml"/><Relationship Id="rId4" Type="http://schemas.openxmlformats.org/officeDocument/2006/relationships/slide" Target="slide12.xml"/><Relationship Id="rId5" Type="http://schemas.openxmlformats.org/officeDocument/2006/relationships/slide" Target="slide18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chart" Target="/ppt/charts/chart13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" Target="slide25.xml"/><Relationship Id="rId4" Type="http://schemas.openxmlformats.org/officeDocument/2006/relationships/slide" Target="slide13.xml"/><Relationship Id="rId5" Type="http://schemas.openxmlformats.org/officeDocument/2006/relationships/slide" Target="slide19.xml"/><Relationship Id="rId6" Type="http://schemas.openxmlformats.org/officeDocument/2006/relationships/slide" Target="slide15.xml"/><Relationship Id="rId7" Type="http://schemas.openxmlformats.org/officeDocument/2006/relationships/slide" Target="slide17.xml"/><Relationship Id="rId8" Type="http://schemas.openxmlformats.org/officeDocument/2006/relationships/chart" Target="/ppt/charts/chart14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" Target="slide26.xml"/><Relationship Id="rId4" Type="http://schemas.openxmlformats.org/officeDocument/2006/relationships/slide" Target="slide14.xml"/><Relationship Id="rId5" Type="http://schemas.openxmlformats.org/officeDocument/2006/relationships/slide" Target="slide20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chart" Target="/ppt/charts/chart15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9.xml"/><Relationship Id="rId3" Type="http://schemas.openxmlformats.org/officeDocument/2006/relationships/slide" Target="slide27.xml"/><Relationship Id="rId4" Type="http://schemas.openxmlformats.org/officeDocument/2006/relationships/slide" Target="slide12.xml"/><Relationship Id="rId5" Type="http://schemas.openxmlformats.org/officeDocument/2006/relationships/slide" Target="slide15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chart" Target="/ppt/charts/chart16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0.xml"/><Relationship Id="rId3" Type="http://schemas.openxmlformats.org/officeDocument/2006/relationships/slide" Target="slide28.xml"/><Relationship Id="rId4" Type="http://schemas.openxmlformats.org/officeDocument/2006/relationships/slide" Target="slide13.xml"/><Relationship Id="rId5" Type="http://schemas.openxmlformats.org/officeDocument/2006/relationships/slide" Target="slide16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chart" Target="/ppt/charts/chart17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1.xml"/><Relationship Id="rId3" Type="http://schemas.openxmlformats.org/officeDocument/2006/relationships/slide" Target="slide29.xml"/><Relationship Id="rId4" Type="http://schemas.openxmlformats.org/officeDocument/2006/relationships/slide" Target="slide14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chart" Target="/ppt/charts/chart1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12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chart" Target="/ppt/charts/chart19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" Target="slide13.xml"/><Relationship Id="rId4" Type="http://schemas.openxmlformats.org/officeDocument/2006/relationships/slide" Target="slide25.xml"/><Relationship Id="rId5" Type="http://schemas.openxmlformats.org/officeDocument/2006/relationships/slide" Target="slide28.xml"/><Relationship Id="rId6" Type="http://schemas.openxmlformats.org/officeDocument/2006/relationships/slide" Target="slide21.xml"/><Relationship Id="rId7" Type="http://schemas.openxmlformats.org/officeDocument/2006/relationships/slide" Target="slide23.xml"/><Relationship Id="rId8" Type="http://schemas.openxmlformats.org/officeDocument/2006/relationships/chart" Target="/ppt/charts/chart20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14.xml"/><Relationship Id="rId4" Type="http://schemas.openxmlformats.org/officeDocument/2006/relationships/slide" Target="slide26.xml"/><Relationship Id="rId5" Type="http://schemas.openxmlformats.org/officeDocument/2006/relationships/slide" Target="slide29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chart" Target="/ppt/charts/chart21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6.xml"/><Relationship Id="rId3" Type="http://schemas.openxmlformats.org/officeDocument/2006/relationships/slide" Target="slide15.xml"/><Relationship Id="rId4" Type="http://schemas.openxmlformats.org/officeDocument/2006/relationships/slide" Target="slide21.xml"/><Relationship Id="rId5" Type="http://schemas.openxmlformats.org/officeDocument/2006/relationships/slide" Target="slide27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chart" Target="/ppt/charts/chart22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" Target="slide16.xml"/><Relationship Id="rId4" Type="http://schemas.openxmlformats.org/officeDocument/2006/relationships/slide" Target="slide22.xml"/><Relationship Id="rId5" Type="http://schemas.openxmlformats.org/officeDocument/2006/relationships/slide" Target="slide28.xml"/><Relationship Id="rId6" Type="http://schemas.openxmlformats.org/officeDocument/2006/relationships/slide" Target="slide24.xml"/><Relationship Id="rId7" Type="http://schemas.openxmlformats.org/officeDocument/2006/relationships/slide" Target="slide26.xml"/><Relationship Id="rId8" Type="http://schemas.openxmlformats.org/officeDocument/2006/relationships/chart" Target="/ppt/charts/chart23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" Target="slide17.xml"/><Relationship Id="rId4" Type="http://schemas.openxmlformats.org/officeDocument/2006/relationships/slide" Target="slide23.xml"/><Relationship Id="rId5" Type="http://schemas.openxmlformats.org/officeDocument/2006/relationships/slide" Target="slide29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chart" Target="/ppt/charts/chart24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9.xml"/><Relationship Id="rId3" Type="http://schemas.openxmlformats.org/officeDocument/2006/relationships/slide" Target="slide18.xml"/><Relationship Id="rId4" Type="http://schemas.openxmlformats.org/officeDocument/2006/relationships/slide" Target="slide21.xml"/><Relationship Id="rId5" Type="http://schemas.openxmlformats.org/officeDocument/2006/relationships/slide" Target="slide24.xml"/><Relationship Id="rId6" Type="http://schemas.openxmlformats.org/officeDocument/2006/relationships/slide" Target="slide28.xml"/><Relationship Id="rId7" Type="http://schemas.openxmlformats.org/officeDocument/2006/relationships/slide" Target="slide29.xml"/><Relationship Id="rId8" Type="http://schemas.openxmlformats.org/officeDocument/2006/relationships/chart" Target="/ppt/charts/chart25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0.xml"/><Relationship Id="rId3" Type="http://schemas.openxmlformats.org/officeDocument/2006/relationships/slide" Target="slide19.xml"/><Relationship Id="rId4" Type="http://schemas.openxmlformats.org/officeDocument/2006/relationships/slide" Target="slide22.xml"/><Relationship Id="rId5" Type="http://schemas.openxmlformats.org/officeDocument/2006/relationships/slide" Target="slide25.xml"/><Relationship Id="rId6" Type="http://schemas.openxmlformats.org/officeDocument/2006/relationships/slide" Target="slide27.xml"/><Relationship Id="rId7" Type="http://schemas.openxmlformats.org/officeDocument/2006/relationships/slide" Target="slide29.xml"/><Relationship Id="rId8" Type="http://schemas.openxmlformats.org/officeDocument/2006/relationships/chart" Target="/ppt/charts/chart26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1.xml"/><Relationship Id="rId3" Type="http://schemas.openxmlformats.org/officeDocument/2006/relationships/slide" Target="slide20.xml"/><Relationship Id="rId4" Type="http://schemas.openxmlformats.org/officeDocument/2006/relationships/slide" Target="slide23.xml"/><Relationship Id="rId5" Type="http://schemas.openxmlformats.org/officeDocument/2006/relationships/slide" Target="slide26.xml"/><Relationship Id="rId6" Type="http://schemas.openxmlformats.org/officeDocument/2006/relationships/slide" Target="slide27.xml"/><Relationship Id="rId7" Type="http://schemas.openxmlformats.org/officeDocument/2006/relationships/slide" Target="slide28.xml"/><Relationship Id="rId8" Type="http://schemas.openxmlformats.org/officeDocument/2006/relationships/chart" Target="/ppt/charts/chart27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Color vision slider</a:t>
            </a:r>
            <a:endParaRPr lang="en-US" sz="4800" dirty="0"/>
          </a:p>
        </p:txBody>
      </p:sp>
      <p:sp>
        <p:nvSpPr>
          <p:cNvPr id="3" name="Intro subtitle"/>
          <p:cNvSpPr txBox="1"/>
          <p:nvPr/>
        </p:nvSpPr>
        <p:spPr>
          <a:xfrm>
            <a:off x="731520" y="2743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See how a chart looks to people with different kinds of color blindness, and how a color-blind-safe palette fixes it.</a:t>
            </a:r>
            <a:endParaRPr lang="en-US" sz="1800" dirty="0"/>
          </a:p>
        </p:txBody>
      </p:sp>
      <p:sp>
        <p:nvSpPr>
          <p:cNvPr id="4" name="Start button">
            <a:hlinkClick r:id="rId1" tooltip="How it works" action="ppaction://hlinksldjump"/>
          </p:cNvPr>
          <p:cNvSpPr txBox="1"/>
          <p:nvPr/>
        </p:nvSpPr>
        <p:spPr>
          <a:xfrm>
            <a:off x="731520" y="4297680"/>
            <a:ext cx="23774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chemeClr val="tx1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exploring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Standard palette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Color-blind-safe palette</a:t>
            </a:r>
            <a:endParaRPr lang="en-US" sz="1400" dirty="0"/>
          </a:p>
        </p:txBody>
      </p:sp>
      <p:sp>
        <p:nvSpPr>
          <p:cNvPr id="7" name="Standard CliQ"/>
          <p:cNvSpPr/>
          <p:nvPr/>
        </p:nvSpPr>
        <p:spPr>
          <a:xfrm>
            <a:off x="7498080" y="1737360"/>
            <a:ext cx="1005840" cy="1005840"/>
          </a:xfrm>
          <a:prstGeom prst="ellipse">
            <a:avLst/>
          </a:prstGeom>
          <a:solidFill>
            <a:srgbClr val="D6453D"/>
          </a:solidFill>
          <a:ln w="12700">
            <a:solidFill>
              <a:srgbClr val="D64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CliQ</a:t>
            </a:r>
            <a:endParaRPr lang="en-US" sz="1200" dirty="0"/>
          </a:p>
        </p:txBody>
      </p:sp>
      <p:sp>
        <p:nvSpPr>
          <p:cNvPr id="9" name="Safe CliQ"/>
          <p:cNvSpPr/>
          <p:nvPr/>
        </p:nvSpPr>
        <p:spPr>
          <a:xfrm>
            <a:off x="7498080" y="3931920"/>
            <a:ext cx="1005840" cy="1005840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CliQ</a:t>
            </a:r>
            <a:endParaRPr lang="en-US" sz="1200" dirty="0"/>
          </a:p>
        </p:txBody>
      </p:sp>
      <p:sp>
        <p:nvSpPr>
          <p:cNvPr id="11" name="Standard JoMoPay"/>
          <p:cNvSpPr/>
          <p:nvPr/>
        </p:nvSpPr>
        <p:spPr>
          <a:xfrm>
            <a:off x="8869680" y="1737360"/>
            <a:ext cx="1005840" cy="1005840"/>
          </a:xfrm>
          <a:prstGeom prst="ellipse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JoMoPay</a:t>
            </a:r>
            <a:endParaRPr lang="en-US" sz="1200" dirty="0"/>
          </a:p>
        </p:txBody>
      </p:sp>
      <p:sp>
        <p:nvSpPr>
          <p:cNvPr id="13" name="Safe JoMoPay"/>
          <p:cNvSpPr/>
          <p:nvPr/>
        </p:nvSpPr>
        <p:spPr>
          <a:xfrm>
            <a:off x="8869680" y="3931920"/>
            <a:ext cx="1005840" cy="1005840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JoMoPay</a:t>
            </a:r>
            <a:endParaRPr lang="en-US" sz="1200" dirty="0"/>
          </a:p>
        </p:txBody>
      </p:sp>
      <p:sp>
        <p:nvSpPr>
          <p:cNvPr id="15" name="Standard eFAWATEERcom"/>
          <p:cNvSpPr/>
          <p:nvPr/>
        </p:nvSpPr>
        <p:spPr>
          <a:xfrm>
            <a:off x="10241280" y="1737360"/>
            <a:ext cx="1005840" cy="100584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eFAWATEERcom</a:t>
            </a:r>
            <a:endParaRPr lang="en-US" sz="1200" dirty="0"/>
          </a:p>
        </p:txBody>
      </p:sp>
      <p:sp>
        <p:nvSpPr>
          <p:cNvPr id="17" name="Safe eFAWATEERcom"/>
          <p:cNvSpPr/>
          <p:nvPr/>
        </p:nvSpPr>
        <p:spPr>
          <a:xfrm>
            <a:off x="10241280" y="3931920"/>
            <a:ext cx="1005840" cy="1005840"/>
          </a:xfrm>
          <a:prstGeom prst="ellipse">
            <a:avLst/>
          </a:prstGeom>
          <a:solidFill>
            <a:srgbClr val="CC79A7"/>
          </a:solidFill>
          <a:ln w="12700">
            <a:solidFill>
              <a:srgbClr val="CC79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0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eFAWATEERcom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Three controls, one chart. Every button is a link, so run the deck in Slide Show mode and click.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548640" y="173736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Type of color blindness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Protanopia, deuteranopia and tritanopia each simulate a different missing cone type, using the Machado et al. (2009) model.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4297680" y="173736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Severity of condition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0% is normal vision, 100% is the full deficiency. This deck steps through 0%, 50% and 100%.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8046720" y="173736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Color adjustment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Moves the bars from the standard red, green and orange palette to a blue, amber and pink set that stays distinct for most viewers.</a:t>
            </a:r>
            <a:endParaRPr lang="en-US" sz="1400" dirty="0"/>
          </a:p>
        </p:txBody>
      </p:sp>
      <p:sp>
        <p:nvSpPr>
          <p:cNvPr id="16" name="Open chart button">
            <a:hlinkClick r:id="rId1" tooltip="Deuteranopia, 100% severity, standard palette" action="ppaction://hlinksldjump"/>
          </p:cNvPr>
          <p:cNvSpPr txBox="1"/>
          <p:nvPr/>
        </p:nvSpPr>
        <p:spPr>
          <a:xfrm>
            <a:off x="548640" y="5303520"/>
            <a:ext cx="23774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chemeClr val="tx1"/>
                </a:solidFill>
                <a:hlinkClick r:id="rId1" action="ppaction://hlinksldjump" tooltip="Deuteranopia, 100% severity, standard palet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chart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0% severity, 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0% severity, 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Pro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Pro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Pro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Pro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0% severity, 5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0% severity, 5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Pro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Pro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Pro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Pro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0% severity, 10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0% severity, 10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Pro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Pro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Pro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Pro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50% severity, 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5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50% severity, 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5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Pro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Pro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Pro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Pro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50% severity, 5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5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50% severity, 5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5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Pro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Pro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Pro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Pro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50% severity, 10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5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50% severity, 10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5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Pro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Pro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Pro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Pro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100% severity, 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10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100% severity, 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10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Pro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Pro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Pro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Pro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100% severity, 5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10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100% severity, 5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10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Pro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Pro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Pro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Pro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/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2" tooltip="Deuteranopia, 100% severity, 10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Deuteranopia, 10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100% severity, 10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10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Pro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Pro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Pro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Pro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Pro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Pro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Pro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Pro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0% severity, 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0% severity, 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Deuter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Deuter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Deuter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Deuter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0% severity, 5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0% severity, 5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Deuter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Deuter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Deuter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Deuter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0% severity, 10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0% severity, 10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Deuter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Deuter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Deuter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Deuter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50% severity, 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5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50% severity, 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5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Deuter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Deuter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Deuter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Deuter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50% severity, 5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5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50% severity, 5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5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Deuter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Deuter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Deuter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Deuter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50% severity, 10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5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50% severity, 10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5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Deuter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Deuter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Deuter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Deuter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100% severity, 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10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100% severity, 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10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Deuter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Deuter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Deuter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Deuter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100% severity, 5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10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100% severity, 5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10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Deuter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Deuter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Deuter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Deuter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100% severity, 10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10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/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Deuteranopia</a:t>
            </a:r>
            <a:endParaRPr lang="en-US" sz="1400" dirty="0"/>
          </a:p>
        </p:txBody>
      </p:sp>
      <p:sp>
        <p:nvSpPr>
          <p:cNvPr id="11" name="Type Tritanopia">
            <a:hlinkClick r:id="rId3" tooltip="Tritanopia, 100% severity, 100% adjustment" action="ppaction://hlinksldjump"/>
          </p:cNvPr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Tritanopia, 10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Deuter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Deuter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Deuter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Deuter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Deuter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Deuter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Deuter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Deuter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0% severity, 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0% severity, 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Tri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Tri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Tri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Tri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0% severity, 5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0% severity, 5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Tri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Tri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Tri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Tri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0% severity, 10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0% severity, 10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/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4" tooltip="Tri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Tri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Tri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Tri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50% severity, 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5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50% severity, 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5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Tri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Tri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Tri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Tri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50% severity, 5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5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50% severity, 5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5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Tri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Tri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Tri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Tri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50% severity, 10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5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50% severity, 10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5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Tri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/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4" name="Severity 100">
            <a:hlinkClick r:id="rId5" tooltip="Tritanopia, 100% severity" action="ppaction://hlinksldjump"/>
          </p:cNvPr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10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Tri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Tri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100% severity, 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10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100% severity, 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100% severity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Tri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Tri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/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6" tooltip="Tri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Tri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100% severity, 5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10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100% severity, 5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100% severity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Tri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Tri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Tri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/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50%</a:t>
            </a:r>
            <a:endParaRPr lang="en-US" sz="1400" dirty="0"/>
          </a:p>
        </p:txBody>
      </p:sp>
      <p:sp>
        <p:nvSpPr>
          <p:cNvPr id="17" name="Adjustment 100">
            <a:hlinkClick r:id="rId7" tooltip="Tritanopia, 100% adjustment" action="ppaction://hlinksldjump"/>
          </p:cNvPr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Color vision slider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button to jump to that setting.</a:t>
            </a:r>
            <a:endParaRPr lang="en-US" sz="1400" dirty="0"/>
          </a:p>
        </p:txBody>
      </p:sp>
      <p:sp>
        <p:nvSpPr>
          <p:cNvPr id="4" name="Back button">
            <a:hlinkClick r:id="rId1" tooltip="How it works" action="ppaction://hlinksldjump"/>
          </p:cNvPr>
          <p:cNvSpPr txBox="1"/>
          <p:nvPr/>
        </p:nvSpPr>
        <p:spPr>
          <a:xfrm>
            <a:off x="9994392" y="457200"/>
            <a:ext cx="16459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tx2"/>
                </a:solidFill>
                <a:hlinkClick r:id="rId1" action="ppaction://hlinksldjump" tooltip="How it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intro</a:t>
            </a:r>
            <a:endParaRPr lang="en-US" sz="1200" dirty="0"/>
          </a:p>
        </p:txBody>
      </p:sp>
      <p:sp>
        <p:nvSpPr>
          <p:cNvPr id="5" name="Controls panel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of color blindness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of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 adjustment</a:t>
            </a:r>
            <a:endParaRPr lang="en-US" sz="1400" dirty="0"/>
          </a:p>
        </p:txBody>
      </p:sp>
      <p:sp>
        <p:nvSpPr>
          <p:cNvPr id="9" name="Type Protanopia">
            <a:hlinkClick r:id="rId2" tooltip="Protanopia, 100% severity, 100% adjustment" action="ppaction://hlinksldjump"/>
          </p:cNvPr>
          <p:cNvSpPr txBox="1"/>
          <p:nvPr/>
        </p:nvSpPr>
        <p:spPr>
          <a:xfrm>
            <a:off x="347472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2" action="ppaction://hlinksldjump" tooltip="Protanopia, 10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Protanopia</a:t>
            </a:r>
            <a:endParaRPr lang="en-US" sz="1400" dirty="0"/>
          </a:p>
        </p:txBody>
      </p:sp>
      <p:sp>
        <p:nvSpPr>
          <p:cNvPr id="10" name="Type Deuteranopia">
            <a:hlinkClick r:id="rId3" tooltip="Deuteranopia, 100% severity, 100% adjustment" action="ppaction://hlinksldjump"/>
          </p:cNvPr>
          <p:cNvSpPr txBox="1"/>
          <p:nvPr/>
        </p:nvSpPr>
        <p:spPr>
          <a:xfrm>
            <a:off x="548640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3" action="ppaction://hlinksldjump" tooltip="Deuteranopia, 100% severity, 10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Deuteranopia</a:t>
            </a:r>
            <a:endParaRPr lang="en-US" sz="1400" dirty="0"/>
          </a:p>
        </p:txBody>
      </p:sp>
      <p:sp>
        <p:nvSpPr>
          <p:cNvPr id="11" name="Type Tritanopia"/>
          <p:cNvSpPr txBox="1"/>
          <p:nvPr/>
        </p:nvSpPr>
        <p:spPr>
          <a:xfrm>
            <a:off x="7498080" y="15544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Tritanopia</a:t>
            </a:r>
            <a:endParaRPr lang="en-US" sz="1400" dirty="0"/>
          </a:p>
        </p:txBody>
      </p:sp>
      <p:sp>
        <p:nvSpPr>
          <p:cNvPr id="12" name="Severity 0">
            <a:hlinkClick r:id="rId4" tooltip="Tritanopia, 0% severity" action="ppaction://hlinksldjump"/>
          </p:cNvPr>
          <p:cNvSpPr txBox="1"/>
          <p:nvPr/>
        </p:nvSpPr>
        <p:spPr>
          <a:xfrm>
            <a:off x="347472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action="ppaction://hlinksldjump" tooltip="Tritanopia, 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Normal</a:t>
            </a:r>
            <a:endParaRPr lang="en-US" sz="1400" dirty="0"/>
          </a:p>
        </p:txBody>
      </p:sp>
      <p:sp>
        <p:nvSpPr>
          <p:cNvPr id="13" name="Severity 50">
            <a:hlinkClick r:id="rId5" tooltip="Tritanopia, 50% severity" action="ppaction://hlinksldjump"/>
          </p:cNvPr>
          <p:cNvSpPr txBox="1"/>
          <p:nvPr/>
        </p:nvSpPr>
        <p:spPr>
          <a:xfrm>
            <a:off x="548640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5" action="ppaction://hlinksldjump" tooltip="Tritanopia, 50% seve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4" name="Severity 100"/>
          <p:cNvSpPr txBox="1"/>
          <p:nvPr/>
        </p:nvSpPr>
        <p:spPr>
          <a:xfrm>
            <a:off x="7498080" y="205740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Full</a:t>
            </a:r>
            <a:endParaRPr lang="en-US" sz="1400" dirty="0"/>
          </a:p>
        </p:txBody>
      </p:sp>
      <p:sp>
        <p:nvSpPr>
          <p:cNvPr id="15" name="Adjustment 0">
            <a:hlinkClick r:id="rId6" tooltip="Tritanopia, 0% adjustment" action="ppaction://hlinksldjump"/>
          </p:cNvPr>
          <p:cNvSpPr txBox="1"/>
          <p:nvPr/>
        </p:nvSpPr>
        <p:spPr>
          <a:xfrm>
            <a:off x="347472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6" action="ppaction://hlinksldjump" tooltip="Tritanopia, 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0%  Standard</a:t>
            </a:r>
            <a:endParaRPr lang="en-US" sz="1400" dirty="0"/>
          </a:p>
        </p:txBody>
      </p:sp>
      <p:sp>
        <p:nvSpPr>
          <p:cNvPr id="16" name="Adjustment 50">
            <a:hlinkClick r:id="rId7" tooltip="Tritanopia, 50% adjustment" action="ppaction://hlinksldjump"/>
          </p:cNvPr>
          <p:cNvSpPr txBox="1"/>
          <p:nvPr/>
        </p:nvSpPr>
        <p:spPr>
          <a:xfrm>
            <a:off x="548640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7" action="ppaction://hlinksldjump" tooltip="Tritanopia, 50% adjust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50%</a:t>
            </a:r>
            <a:endParaRPr lang="en-US" sz="1400" dirty="0"/>
          </a:p>
        </p:txBody>
      </p:sp>
      <p:sp>
        <p:nvSpPr>
          <p:cNvPr id="17" name="Adjustment 100"/>
          <p:cNvSpPr txBox="1"/>
          <p:nvPr/>
        </p:nvSpPr>
        <p:spPr>
          <a:xfrm>
            <a:off x="749808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100%  Safe</a:t>
            </a:r>
            <a:endParaRPr lang="en-US" sz="1400" dirty="0"/>
          </a:p>
        </p:txBody>
      </p:sp>
      <p:graphicFrame>
        <p:nvGraphicFramePr>
          <p:cNvPr id="18" name="Transaction value chart" descr=""/>
          <p:cNvGraphicFramePr/>
          <p:nvPr/>
        </p:nvGraphicFramePr>
        <p:xfrm>
          <a:off x="548640" y="3337560"/>
          <a:ext cx="1109167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QoQ change in total transaction value (%). Source: JoPACC quarterly report workbook.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or Vision">
  <a:themeElements>
    <a:clrScheme name="Color Vision">
      <a:dk1>
        <a:srgbClr val="1F3347"/>
      </a:dk1>
      <a:lt1>
        <a:srgbClr val="FFFFFF"/>
      </a:lt1>
      <a:dk2>
        <a:srgbClr val="5B6B7A"/>
      </a:dk2>
      <a:lt2>
        <a:srgbClr val="F6F7F8"/>
      </a:lt2>
      <a:accent1>
        <a:srgbClr val="FFB400"/>
      </a:accent1>
      <a:accent2>
        <a:srgbClr val="D9DDE1"/>
      </a:accent2>
      <a:accent3>
        <a:srgbClr val="0072B2"/>
      </a:accent3>
      <a:accent4>
        <a:srgbClr val="E69F00"/>
      </a:accent4>
      <a:accent5>
        <a:srgbClr val="CC79A7"/>
      </a:accent5>
      <a:accent6>
        <a:srgbClr val="D6453D"/>
      </a:accent6>
      <a:hlink>
        <a:srgbClr val="0072B2"/>
      </a:hlink>
      <a:folHlink>
        <a:srgbClr val="5B6B7A"/>
      </a:folHlink>
    </a:clrScheme>
    <a:fontScheme name="Color Vis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vision slider</dc:title>
  <dc:subject>PptxGenJS Presentation</dc:subject>
  <dc:creator>PptxGenJS</dc:creator>
  <cp:lastModifiedBy>PptxGenJS</cp:lastModifiedBy>
  <cp:revision>1</cp:revision>
  <dcterms:created xsi:type="dcterms:W3CDTF">2026-10-15T06:31:31Z</dcterms:created>
  <dcterms:modified xsi:type="dcterms:W3CDTF">2026-10-15T06:31:31Z</dcterms:modified>
</cp:coreProperties>
</file>